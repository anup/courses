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299" r:id="rId46"/>
    <p:sldId id="301" r:id="rId47"/>
    <p:sldId id="302" r:id="rId48"/>
    <p:sldId id="304" r:id="rId49"/>
    <p:sldId id="303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5" r:id="rId60"/>
    <p:sldId id="314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58"/>
    <p:restoredTop sz="94789"/>
  </p:normalViewPr>
  <p:slideViewPr>
    <p:cSldViewPr snapToGrid="0">
      <p:cViewPr varScale="1">
        <p:scale>
          <a:sx n="66" d="100"/>
          <a:sy n="6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Let us C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2CA7874-B841-4B47-AB39-6D24C7482AA1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EE23CD-BF8D-5A30-8794-ABFB364837A7}"/>
              </a:ext>
            </a:extLst>
          </p:cNvPr>
          <p:cNvSpPr/>
          <p:nvPr/>
        </p:nvSpPr>
        <p:spPr>
          <a:xfrm>
            <a:off x="748359" y="43827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18A04D6-853E-531B-9856-0079458CEDAA}"/>
              </a:ext>
            </a:extLst>
          </p:cNvPr>
          <p:cNvSpPr/>
          <p:nvPr/>
        </p:nvSpPr>
        <p:spPr>
          <a:xfrm rot="10800000">
            <a:off x="5951668" y="4644189"/>
            <a:ext cx="5694900" cy="50532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EEE1C7-B6B8-874D-D5E4-CD41E2F9895C}"/>
              </a:ext>
            </a:extLst>
          </p:cNvPr>
          <p:cNvSpPr/>
          <p:nvPr/>
        </p:nvSpPr>
        <p:spPr>
          <a:xfrm>
            <a:off x="12224086" y="4180060"/>
            <a:ext cx="11514901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standard input output library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Gives access to print and get input from the user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can assume that the file contains the function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printf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and we must include it in our program to use it</a:t>
            </a:r>
          </a:p>
        </p:txBody>
      </p:sp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15ED-5852-282F-CB2E-62676267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327F4921-C831-3880-E9F5-A2F9EFD865B1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0B4A46-618A-CC7F-9641-C25F3A7FDDFA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2FEC3-5F0D-CE76-C277-FB343D93CC22}"/>
              </a:ext>
            </a:extLst>
          </p:cNvPr>
          <p:cNvSpPr/>
          <p:nvPr/>
        </p:nvSpPr>
        <p:spPr>
          <a:xfrm>
            <a:off x="748359" y="43827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DB9AAC6-BE25-DA97-2501-D5C5CE3AC90F}"/>
              </a:ext>
            </a:extLst>
          </p:cNvPr>
          <p:cNvSpPr/>
          <p:nvPr/>
        </p:nvSpPr>
        <p:spPr>
          <a:xfrm rot="10800000">
            <a:off x="3587099" y="5772950"/>
            <a:ext cx="7987279" cy="50753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6819EB-87AE-894D-1787-28332ECAC7AE}"/>
              </a:ext>
            </a:extLst>
          </p:cNvPr>
          <p:cNvSpPr/>
          <p:nvPr/>
        </p:nvSpPr>
        <p:spPr>
          <a:xfrm>
            <a:off x="11861672" y="4272537"/>
            <a:ext cx="11514901" cy="838811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Our main program starts here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is a special function which will be executed if we compile and run this file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function returns an integer and does not take any arguments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function starts with { and ends with }</a:t>
            </a:r>
          </a:p>
        </p:txBody>
      </p:sp>
    </p:spTree>
    <p:extLst>
      <p:ext uri="{BB962C8B-B14F-4D97-AF65-F5344CB8AC3E}">
        <p14:creationId xmlns:p14="http://schemas.microsoft.com/office/powerpoint/2010/main" val="181446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2F4B-1198-E39A-7E03-0CE4BC52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9B62E5A7-3208-4918-B564-4C09EA2C73D8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14EA73-1F55-40B0-AD1D-DF071D58F781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1BBF6D-4F43-B190-617B-E5A1F779793D}"/>
              </a:ext>
            </a:extLst>
          </p:cNvPr>
          <p:cNvSpPr/>
          <p:nvPr/>
        </p:nvSpPr>
        <p:spPr>
          <a:xfrm>
            <a:off x="748359" y="43827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A13F52E-46F8-155F-A369-35D5819FE805}"/>
              </a:ext>
            </a:extLst>
          </p:cNvPr>
          <p:cNvSpPr/>
          <p:nvPr/>
        </p:nvSpPr>
        <p:spPr>
          <a:xfrm rot="10800000">
            <a:off x="5945289" y="6278276"/>
            <a:ext cx="5388458" cy="57972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BBC093-46F3-3226-DED0-0AB65254DAF1}"/>
              </a:ext>
            </a:extLst>
          </p:cNvPr>
          <p:cNvSpPr/>
          <p:nvPr/>
        </p:nvSpPr>
        <p:spPr>
          <a:xfrm>
            <a:off x="11861672" y="5987629"/>
            <a:ext cx="1151490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printing Hello World</a:t>
            </a:r>
          </a:p>
        </p:txBody>
      </p:sp>
    </p:spTree>
    <p:extLst>
      <p:ext uri="{BB962C8B-B14F-4D97-AF65-F5344CB8AC3E}">
        <p14:creationId xmlns:p14="http://schemas.microsoft.com/office/powerpoint/2010/main" val="129556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3CE8-14C2-019B-FAE4-59EBEFEF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AEDAA8C7-4F37-8C78-02E0-111DDA703BF6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8F64A1-9B9C-91E7-F687-C04540B16F5A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9E5AA72-77DD-4145-DD8B-5A55C8AF2F43}"/>
              </a:ext>
            </a:extLst>
          </p:cNvPr>
          <p:cNvSpPr/>
          <p:nvPr/>
        </p:nvSpPr>
        <p:spPr>
          <a:xfrm>
            <a:off x="748359" y="43827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49CFBC4-F7DC-F655-4940-A95D78DD9005}"/>
              </a:ext>
            </a:extLst>
          </p:cNvPr>
          <p:cNvSpPr/>
          <p:nvPr/>
        </p:nvSpPr>
        <p:spPr>
          <a:xfrm rot="10800000">
            <a:off x="3057710" y="6858000"/>
            <a:ext cx="8540586" cy="577516"/>
          </a:xfrm>
          <a:prstGeom prst="rightArrow">
            <a:avLst>
              <a:gd name="adj1" fmla="val 58302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DA19E7-6636-B718-D245-2FED3E1EC6CC}"/>
              </a:ext>
            </a:extLst>
          </p:cNvPr>
          <p:cNvSpPr/>
          <p:nvPr/>
        </p:nvSpPr>
        <p:spPr>
          <a:xfrm>
            <a:off x="11861672" y="5645746"/>
            <a:ext cx="1151490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function should return an integer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let us return 0</a:t>
            </a:r>
          </a:p>
        </p:txBody>
      </p:sp>
    </p:spTree>
    <p:extLst>
      <p:ext uri="{BB962C8B-B14F-4D97-AF65-F5344CB8AC3E}">
        <p14:creationId xmlns:p14="http://schemas.microsoft.com/office/powerpoint/2010/main" val="370020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38FE-53C2-D31B-400D-A92E62D1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69D220E3-8D5B-A450-CA9E-E1C4BCFEBC79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73C3E20-4B35-8B10-621A-C80EE7D25E57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1A63998-821C-0F49-426E-ADAA6659F5F5}"/>
              </a:ext>
            </a:extLst>
          </p:cNvPr>
          <p:cNvSpPr/>
          <p:nvPr/>
        </p:nvSpPr>
        <p:spPr>
          <a:xfrm>
            <a:off x="748359" y="4382722"/>
            <a:ext cx="656684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4D5AAD-CF75-616F-D88F-8CB22A258257}"/>
              </a:ext>
            </a:extLst>
          </p:cNvPr>
          <p:cNvSpPr/>
          <p:nvPr/>
        </p:nvSpPr>
        <p:spPr>
          <a:xfrm>
            <a:off x="10490072" y="3650571"/>
            <a:ext cx="11514901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is no indentation in C, though it is a good practice to indent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statement ends with a semicolon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can write multiple statements on a single line</a:t>
            </a:r>
          </a:p>
        </p:txBody>
      </p:sp>
    </p:spTree>
    <p:extLst>
      <p:ext uri="{BB962C8B-B14F-4D97-AF65-F5344CB8AC3E}">
        <p14:creationId xmlns:p14="http://schemas.microsoft.com/office/powerpoint/2010/main" val="2264015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F904-AA62-4424-3D0C-EE39534A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345A7E46-A94C-E8B4-6C46-C186E5B250B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9E2725E-E368-9DC6-A13A-DF5657145BE7}"/>
              </a:ext>
            </a:extLst>
          </p:cNvPr>
          <p:cNvSpPr/>
          <p:nvPr/>
        </p:nvSpPr>
        <p:spPr>
          <a:xfrm>
            <a:off x="649321" y="1250074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Hello World in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37FFCB-15FD-C2B0-FFD5-7CE78D4B19E0}"/>
              </a:ext>
            </a:extLst>
          </p:cNvPr>
          <p:cNvSpPr/>
          <p:nvPr/>
        </p:nvSpPr>
        <p:spPr>
          <a:xfrm>
            <a:off x="748359" y="4689189"/>
            <a:ext cx="7794062" cy="317817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Hello World\n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730603-1FA7-9549-C7F6-087A6C4FF1B9}"/>
              </a:ext>
            </a:extLst>
          </p:cNvPr>
          <p:cNvSpPr/>
          <p:nvPr/>
        </p:nvSpPr>
        <p:spPr>
          <a:xfrm>
            <a:off x="10490072" y="3650571"/>
            <a:ext cx="11514901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There is no indentation in C, though it is a good practice to indent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statement ends with a semicolon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can write multiple statements on a single line</a:t>
            </a:r>
          </a:p>
        </p:txBody>
      </p:sp>
    </p:spTree>
    <p:extLst>
      <p:ext uri="{BB962C8B-B14F-4D97-AF65-F5344CB8AC3E}">
        <p14:creationId xmlns:p14="http://schemas.microsoft.com/office/powerpoint/2010/main" val="295037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1518-FD92-8FB7-CB7D-F4D04193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736FE069-EA00-6013-2023-24164A8C0CCA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943D1F-E65A-5044-F8E2-C6983B0CE6E4}"/>
              </a:ext>
            </a:extLst>
          </p:cNvPr>
          <p:cNvSpPr/>
          <p:nvPr/>
        </p:nvSpPr>
        <p:spPr>
          <a:xfrm>
            <a:off x="645013" y="2015559"/>
            <a:ext cx="2306188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Unlike python, you have to declare the data type of each variable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see some of them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64D0FA-2F96-9A08-B8BD-ECDC4677113A}"/>
              </a:ext>
            </a:extLst>
          </p:cNvPr>
          <p:cNvSpPr/>
          <p:nvPr/>
        </p:nvSpPr>
        <p:spPr>
          <a:xfrm>
            <a:off x="645013" y="5533727"/>
            <a:ext cx="7794062" cy="62428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5;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float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3.2;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‘M’;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[6] = “ES242”;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[5] = {0,1,2,3,4};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char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[2][6] = {“one”, ”three”};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71A57D-1FDD-5A0D-673D-1A32F45D567A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3822719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BFA2-6EC6-F606-2EC1-5719B27D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93241CEB-83F9-C204-6CE8-F8EB2E8EC0D4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00FD55-469A-D5F1-D9BE-7369683AF6D3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C58C06-7CDE-2498-8C57-396AF9383F9E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7999F40-EB5D-BA53-1BB9-C37FF3D8CD45}"/>
              </a:ext>
            </a:extLst>
          </p:cNvPr>
          <p:cNvSpPr/>
          <p:nvPr/>
        </p:nvSpPr>
        <p:spPr>
          <a:xfrm>
            <a:off x="645011" y="3859583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9BBA79-7068-36EA-38A8-BE3B0D3AA7F0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DFBD04-6938-29D0-5CCB-2606F7DB32E3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974681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4765E-F676-76DA-1DB8-66EE524D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38B69F97-EE72-85B5-EF49-7A86F0F88A9B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F91BBE-060B-B8CF-C415-FF44763D294D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9984CF-CB1E-D409-A501-75098D7584FC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B2A4EE-15D2-C422-1DD3-16E8C867DFF7}"/>
              </a:ext>
            </a:extLst>
          </p:cNvPr>
          <p:cNvSpPr/>
          <p:nvPr/>
        </p:nvSpPr>
        <p:spPr>
          <a:xfrm>
            <a:off x="645013" y="4426048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FC481E-8A3B-3DB8-044F-0CB1BE5EF8F3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54E5C8-7BA2-C340-A642-35287C9ACF50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618EC4-8589-9E48-42DA-9224E60AECDE}"/>
              </a:ext>
            </a:extLst>
          </p:cNvPr>
          <p:cNvSpPr/>
          <p:nvPr/>
        </p:nvSpPr>
        <p:spPr>
          <a:xfrm>
            <a:off x="16905514" y="5617462"/>
            <a:ext cx="1966216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100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DA79B-E69E-F7EB-9AB6-D0AD31335BE4}"/>
              </a:ext>
            </a:extLst>
          </p:cNvPr>
          <p:cNvCxnSpPr/>
          <p:nvPr/>
        </p:nvCxnSpPr>
        <p:spPr>
          <a:xfrm>
            <a:off x="18897601" y="5595230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4BEB4C-9026-1007-3569-E8292B82E225}"/>
              </a:ext>
            </a:extLst>
          </p:cNvPr>
          <p:cNvCxnSpPr/>
          <p:nvPr/>
        </p:nvCxnSpPr>
        <p:spPr>
          <a:xfrm>
            <a:off x="18897601" y="6275798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A4EE6C5-78BA-C6AC-6203-E5C68D43E473}"/>
                  </a:ext>
                </a:extLst>
              </p:cNvPr>
              <p:cNvSpPr/>
              <p:nvPr/>
            </p:nvSpPr>
            <p:spPr>
              <a:xfrm>
                <a:off x="625426" y="8237101"/>
                <a:ext cx="17364862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address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denoted by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address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100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denotes the value stored at address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Currently, the value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some indeterminate value</a:t>
                </a:r>
              </a:p>
            </p:txBody>
          </p:sp>
        </mc:Choice>
        <mc:Fallback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A4EE6C5-78BA-C6AC-6203-E5C68D43E4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26" y="8237101"/>
                <a:ext cx="17364862" cy="3791109"/>
              </a:xfrm>
              <a:prstGeom prst="roundRect">
                <a:avLst/>
              </a:prstGeom>
              <a:blipFill>
                <a:blip r:embed="rId2"/>
                <a:stretch>
                  <a:fillRect l="-729" b="-427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998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4175A-7F44-C5E3-E90E-11D973C3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7D8D0365-FA8A-41E2-6457-E165625336C0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432B8A-1F0D-B27D-9150-269D01B65445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212758-AF2B-F22B-19BD-53E4DFB704FA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CD6D3B-2E3D-96F9-1BC7-40F936B28C37}"/>
              </a:ext>
            </a:extLst>
          </p:cNvPr>
          <p:cNvSpPr/>
          <p:nvPr/>
        </p:nvSpPr>
        <p:spPr>
          <a:xfrm>
            <a:off x="645013" y="4426048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2525C3-529A-7B29-CF1E-E4C3DD1347AA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4C45D3-03C9-255D-4892-259FE528DEEA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C069E-A7D0-317F-FBA0-2EA6160BCC24}"/>
              </a:ext>
            </a:extLst>
          </p:cNvPr>
          <p:cNvSpPr/>
          <p:nvPr/>
        </p:nvSpPr>
        <p:spPr>
          <a:xfrm>
            <a:off x="16905514" y="5617462"/>
            <a:ext cx="1966216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100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6497DA-6F03-B8C4-6EB0-1D3F0B15CD46}"/>
              </a:ext>
            </a:extLst>
          </p:cNvPr>
          <p:cNvCxnSpPr/>
          <p:nvPr/>
        </p:nvCxnSpPr>
        <p:spPr>
          <a:xfrm>
            <a:off x="18897601" y="5595230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B7251B-16B4-1F4A-C44D-EDCA41A6D61D}"/>
              </a:ext>
            </a:extLst>
          </p:cNvPr>
          <p:cNvCxnSpPr/>
          <p:nvPr/>
        </p:nvCxnSpPr>
        <p:spPr>
          <a:xfrm>
            <a:off x="18897601" y="6275798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3BD4DB6A-F0DD-62E0-6043-5E492754C31F}"/>
              </a:ext>
            </a:extLst>
          </p:cNvPr>
          <p:cNvCxnSpPr/>
          <p:nvPr/>
        </p:nvCxnSpPr>
        <p:spPr>
          <a:xfrm rot="16200000" flipH="1">
            <a:off x="2150576" y="5893236"/>
            <a:ext cx="3652002" cy="1913860"/>
          </a:xfrm>
          <a:prstGeom prst="curvedConnector3">
            <a:avLst>
              <a:gd name="adj1" fmla="val 44760"/>
            </a:avLst>
          </a:prstGeom>
          <a:noFill/>
          <a:ln w="63500" cap="flat">
            <a:solidFill>
              <a:schemeClr val="accent2">
                <a:lumMod val="40000"/>
                <a:lumOff val="60000"/>
              </a:schemeClr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BB78D9-BE31-52C2-06E6-72053E4A1582}"/>
              </a:ext>
            </a:extLst>
          </p:cNvPr>
          <p:cNvSpPr/>
          <p:nvPr/>
        </p:nvSpPr>
        <p:spPr>
          <a:xfrm>
            <a:off x="385945" y="8313154"/>
            <a:ext cx="14605962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Format String -- Format of input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“%d” means that the input is an integer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scanf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will take the input from the input stream, then convert it into an integer and then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store it. But where?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2228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90B1-C2A9-37D4-40A6-A7623FED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D52AE7AF-09B0-AAD6-1FE0-2C7F80A0CBF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59F93D-3EAE-2687-1CC6-9AD09793A47C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7802E11-8B38-0F33-46EC-4A668FFAC75A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AC4F4F-BC3F-77F2-B507-04BAEB84906E}"/>
              </a:ext>
            </a:extLst>
          </p:cNvPr>
          <p:cNvSpPr/>
          <p:nvPr/>
        </p:nvSpPr>
        <p:spPr>
          <a:xfrm>
            <a:off x="645013" y="4426048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827445-54D2-EDC8-0236-E9E317690AD4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2EADD8-D7DC-E91D-5F0F-6A6DD2C21FB1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AD97BDE-4DF3-F525-5A63-038FF000D98B}"/>
              </a:ext>
            </a:extLst>
          </p:cNvPr>
          <p:cNvSpPr/>
          <p:nvPr/>
        </p:nvSpPr>
        <p:spPr>
          <a:xfrm>
            <a:off x="16905514" y="5617462"/>
            <a:ext cx="1966216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100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C59AB8-67C4-8B53-BB67-EA8322A8BF2A}"/>
              </a:ext>
            </a:extLst>
          </p:cNvPr>
          <p:cNvCxnSpPr/>
          <p:nvPr/>
        </p:nvCxnSpPr>
        <p:spPr>
          <a:xfrm>
            <a:off x="18897601" y="5595230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99BAB7-665F-37E2-7D31-183768EDCE0A}"/>
              </a:ext>
            </a:extLst>
          </p:cNvPr>
          <p:cNvCxnSpPr/>
          <p:nvPr/>
        </p:nvCxnSpPr>
        <p:spPr>
          <a:xfrm>
            <a:off x="18897601" y="6275798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E2C40E9-174C-EB61-78D0-5E3E7DFC0DC5}"/>
              </a:ext>
            </a:extLst>
          </p:cNvPr>
          <p:cNvCxnSpPr/>
          <p:nvPr/>
        </p:nvCxnSpPr>
        <p:spPr>
          <a:xfrm rot="16200000" flipH="1">
            <a:off x="3192679" y="5855742"/>
            <a:ext cx="3652002" cy="1913860"/>
          </a:xfrm>
          <a:prstGeom prst="curvedConnector3">
            <a:avLst>
              <a:gd name="adj1" fmla="val 44760"/>
            </a:avLst>
          </a:prstGeom>
          <a:noFill/>
          <a:ln w="63500" cap="flat">
            <a:solidFill>
              <a:schemeClr val="accent2">
                <a:lumMod val="40000"/>
                <a:lumOff val="60000"/>
              </a:schemeClr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9229267-F092-38CA-3586-1C4CA9BB483C}"/>
                  </a:ext>
                </a:extLst>
              </p:cNvPr>
              <p:cNvSpPr/>
              <p:nvPr/>
            </p:nvSpPr>
            <p:spPr>
              <a:xfrm>
                <a:off x="1597164" y="7853728"/>
                <a:ext cx="14605962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is exactly our second argument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It is the address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. Or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Assume that the user input is 58.</a:t>
                </a:r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89229267-F092-38CA-3586-1C4CA9BB4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64" y="7853728"/>
                <a:ext cx="14605962" cy="2871708"/>
              </a:xfrm>
              <a:prstGeom prst="roundRect">
                <a:avLst/>
              </a:prstGeom>
              <a:blipFill>
                <a:blip r:embed="rId2"/>
                <a:stretch>
                  <a:fillRect l="-1125" t="-862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606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9DF3-FCDC-2768-DF4D-421914A9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89348A65-290A-B73E-35DC-5A45A2D6007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26FA59-231A-93A2-920C-DD69C5E63C90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D9F269-63F8-EA7C-FE51-823A077491A2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EEDE6B8-8564-2D12-52E9-BDC94F161DF4}"/>
              </a:ext>
            </a:extLst>
          </p:cNvPr>
          <p:cNvSpPr/>
          <p:nvPr/>
        </p:nvSpPr>
        <p:spPr>
          <a:xfrm>
            <a:off x="645012" y="4986670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1D5B7E-E83A-D552-0AC2-4E1CF3EC86E5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83FEDA-15E7-CB60-6A25-7DA9E7CD730A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624696-DCA3-896A-7D90-4A807B314F92}"/>
              </a:ext>
            </a:extLst>
          </p:cNvPr>
          <p:cNvSpPr/>
          <p:nvPr/>
        </p:nvSpPr>
        <p:spPr>
          <a:xfrm>
            <a:off x="16905514" y="5617462"/>
            <a:ext cx="1966216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100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89900C-2B41-0196-4397-5FDAA44396C3}"/>
              </a:ext>
            </a:extLst>
          </p:cNvPr>
          <p:cNvCxnSpPr/>
          <p:nvPr/>
        </p:nvCxnSpPr>
        <p:spPr>
          <a:xfrm>
            <a:off x="18897601" y="5595230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D8BABD-C1FE-0EA2-F857-FAC22C6284D3}"/>
              </a:ext>
            </a:extLst>
          </p:cNvPr>
          <p:cNvCxnSpPr/>
          <p:nvPr/>
        </p:nvCxnSpPr>
        <p:spPr>
          <a:xfrm>
            <a:off x="18897601" y="6275798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B3A9FB73-6150-EA65-0A49-B7DFB347A5F3}"/>
              </a:ext>
            </a:extLst>
          </p:cNvPr>
          <p:cNvCxnSpPr/>
          <p:nvPr/>
        </p:nvCxnSpPr>
        <p:spPr>
          <a:xfrm rot="16200000" flipH="1">
            <a:off x="3192679" y="5855742"/>
            <a:ext cx="3652002" cy="1913860"/>
          </a:xfrm>
          <a:prstGeom prst="curvedConnector3">
            <a:avLst>
              <a:gd name="adj1" fmla="val 44760"/>
            </a:avLst>
          </a:prstGeom>
          <a:noFill/>
          <a:ln w="63500" cap="flat">
            <a:solidFill>
              <a:schemeClr val="accent2">
                <a:lumMod val="40000"/>
                <a:lumOff val="60000"/>
              </a:schemeClr>
            </a:solidFill>
            <a:prstDash val="solid"/>
            <a:miter lim="4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FB5747E-5B43-1319-3916-82E4DC7B24A6}"/>
                  </a:ext>
                </a:extLst>
              </p:cNvPr>
              <p:cNvSpPr/>
              <p:nvPr/>
            </p:nvSpPr>
            <p:spPr>
              <a:xfrm>
                <a:off x="1597164" y="7853728"/>
                <a:ext cx="14605962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is exactly our second argument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It is the address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. Or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Assume that the user input is 58.</a:t>
                </a:r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FB5747E-5B43-1319-3916-82E4DC7B2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64" y="7853728"/>
                <a:ext cx="14605962" cy="2871708"/>
              </a:xfrm>
              <a:prstGeom prst="roundRect">
                <a:avLst/>
              </a:prstGeom>
              <a:blipFill>
                <a:blip r:embed="rId2"/>
                <a:stretch>
                  <a:fillRect l="-1125" t="-862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7076A-1841-8EC0-B211-77D41B93F907}"/>
              </a:ext>
            </a:extLst>
          </p:cNvPr>
          <p:cNvSpPr/>
          <p:nvPr/>
        </p:nvSpPr>
        <p:spPr>
          <a:xfrm>
            <a:off x="19854356" y="5660362"/>
            <a:ext cx="772807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58</a:t>
            </a:r>
            <a:endParaRPr lang="en-US" sz="4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234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AAC00-D924-25E1-79D8-E7883BB8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F372C783-1BD5-B5FA-6089-D8D250646DA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E70E2A-9B50-FA44-6572-97AA35156F0D}"/>
              </a:ext>
            </a:extLst>
          </p:cNvPr>
          <p:cNvSpPr/>
          <p:nvPr/>
        </p:nvSpPr>
        <p:spPr>
          <a:xfrm>
            <a:off x="4170244" y="355274"/>
            <a:ext cx="14605962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int										%d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float										%f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char										%c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String or char[]						%s</a:t>
            </a:r>
          </a:p>
        </p:txBody>
      </p:sp>
    </p:spTree>
    <p:extLst>
      <p:ext uri="{BB962C8B-B14F-4D97-AF65-F5344CB8AC3E}">
        <p14:creationId xmlns:p14="http://schemas.microsoft.com/office/powerpoint/2010/main" val="76878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B2BB-AD21-085E-2A0B-A20E78D99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4D74F9CB-D3C6-0DC1-0AE3-7E1F0D8E848E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D42F9D-FDE0-F993-D849-0BAC6353A495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float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= 5.1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“%f”,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8A287A-DA5A-3F63-631B-15036C59457C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EBB077-83ED-B784-B34D-91F611334E05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EECB1A-ABEB-F91D-6A45-6216A17A9E08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E7C6FE-E6E4-9917-2C58-7346240A2344}"/>
              </a:ext>
            </a:extLst>
          </p:cNvPr>
          <p:cNvSpPr/>
          <p:nvPr/>
        </p:nvSpPr>
        <p:spPr>
          <a:xfrm>
            <a:off x="645012" y="3844151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69432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0DD1-484B-21EE-0982-B81256C8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A4DF8499-3204-ECC7-210E-9BFBF146505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21A0F4-ED7A-8725-F71D-AEB3AE134C14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float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= 5.1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“%f”,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3DC560-8EEA-ACC8-4C1B-CB53452CC657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C8D394-E45E-6178-F5ED-32E00567CF36}"/>
              </a:ext>
            </a:extLst>
          </p:cNvPr>
          <p:cNvSpPr/>
          <p:nvPr/>
        </p:nvSpPr>
        <p:spPr>
          <a:xfrm>
            <a:off x="18871731" y="3069037"/>
            <a:ext cx="2869729" cy="65051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D0C3B3-8228-3C37-EEF1-126C37D110EC}"/>
              </a:ext>
            </a:extLst>
          </p:cNvPr>
          <p:cNvSpPr/>
          <p:nvPr/>
        </p:nvSpPr>
        <p:spPr>
          <a:xfrm>
            <a:off x="18897601" y="1917548"/>
            <a:ext cx="2843859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F1F89E-C53F-846C-2297-03704C915930}"/>
              </a:ext>
            </a:extLst>
          </p:cNvPr>
          <p:cNvSpPr/>
          <p:nvPr/>
        </p:nvSpPr>
        <p:spPr>
          <a:xfrm>
            <a:off x="645012" y="4426048"/>
            <a:ext cx="6833475" cy="598117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D9B4178-0B73-6C3F-69DB-0B866CB4FCF5}"/>
              </a:ext>
            </a:extLst>
          </p:cNvPr>
          <p:cNvSpPr/>
          <p:nvPr/>
        </p:nvSpPr>
        <p:spPr>
          <a:xfrm>
            <a:off x="16905514" y="5617462"/>
            <a:ext cx="1966216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65637C-94EA-5012-8296-1A297B5EB99F}"/>
              </a:ext>
            </a:extLst>
          </p:cNvPr>
          <p:cNvCxnSpPr/>
          <p:nvPr/>
        </p:nvCxnSpPr>
        <p:spPr>
          <a:xfrm>
            <a:off x="18897601" y="5595230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E5F21F-6851-0626-CA0C-6B47C6BD66D5}"/>
              </a:ext>
            </a:extLst>
          </p:cNvPr>
          <p:cNvCxnSpPr/>
          <p:nvPr/>
        </p:nvCxnSpPr>
        <p:spPr>
          <a:xfrm>
            <a:off x="18897601" y="6275798"/>
            <a:ext cx="2843859" cy="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D25C3F-34B9-E30D-2B58-A81287A0C7DE}"/>
              </a:ext>
            </a:extLst>
          </p:cNvPr>
          <p:cNvSpPr/>
          <p:nvPr/>
        </p:nvSpPr>
        <p:spPr>
          <a:xfrm>
            <a:off x="19854356" y="5660362"/>
            <a:ext cx="772807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5.1</a:t>
            </a:r>
            <a:endParaRPr lang="en-US" sz="4400" dirty="0">
              <a:solidFill>
                <a:schemeClr val="bg1"/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1B265BC-0523-8944-6F6E-2FACE6FC9E6E}"/>
                  </a:ext>
                </a:extLst>
              </p:cNvPr>
              <p:cNvSpPr/>
              <p:nvPr/>
            </p:nvSpPr>
            <p:spPr>
              <a:xfrm>
                <a:off x="1597164" y="6934328"/>
                <a:ext cx="14605962" cy="47105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Printf syntax is exactly like 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scanf</a:t>
                </a:r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It reads the value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(the second argument)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And prints it on the output stream. 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But in what format?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That is exactly our first argument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1B265BC-0523-8944-6F6E-2FACE6FC9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64" y="6934328"/>
                <a:ext cx="14605962" cy="4710509"/>
              </a:xfrm>
              <a:prstGeom prst="roundRect">
                <a:avLst/>
              </a:prstGeom>
              <a:blipFill>
                <a:blip r:embed="rId2"/>
                <a:stretch>
                  <a:fillRect l="-519" b="-185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38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70AD-2481-FD82-F701-73FD1A04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4A36EA19-E6FA-9542-1B87-405C2BCCF83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225964-5034-E62C-4790-FC5F3559265B}"/>
              </a:ext>
            </a:extLst>
          </p:cNvPr>
          <p:cNvSpPr/>
          <p:nvPr/>
        </p:nvSpPr>
        <p:spPr>
          <a:xfrm>
            <a:off x="645013" y="2530494"/>
            <a:ext cx="683347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= 65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“%c”,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851F4D-A9C2-5145-768D-C3306B7D8AF4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Input and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7723CFB-47BE-8B05-012D-F0C2B4630AE2}"/>
                  </a:ext>
                </a:extLst>
              </p:cNvPr>
              <p:cNvSpPr/>
              <p:nvPr/>
            </p:nvSpPr>
            <p:spPr>
              <a:xfrm>
                <a:off x="645013" y="7394398"/>
                <a:ext cx="22141823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printf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as a character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is allowed but it is not recommended to print an integer as a character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will print “A” because ascii code for “A” is 65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7723CFB-47BE-8B05-012D-F0C2B4630A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7394398"/>
                <a:ext cx="22141823" cy="3791109"/>
              </a:xfrm>
              <a:prstGeom prst="roundRect">
                <a:avLst/>
              </a:prstGeom>
              <a:blipFill>
                <a:blip r:embed="rId2"/>
                <a:stretch>
                  <a:fillRect l="-515" b="-360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824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0B68F5-B0C7-BAAE-B7E2-48661E38762E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Take multiple inputs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EAC31A4-D015-F4D1-D28F-BFA4D4C216AC}"/>
              </a:ext>
            </a:extLst>
          </p:cNvPr>
          <p:cNvSpPr/>
          <p:nvPr/>
        </p:nvSpPr>
        <p:spPr>
          <a:xfrm>
            <a:off x="645013" y="1917561"/>
            <a:ext cx="6833474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a,b,c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a,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1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c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C4063C5-CB0E-1E85-B6FC-B687E45A6E81}"/>
                  </a:ext>
                </a:extLst>
              </p:cNvPr>
              <p:cNvSpPr/>
              <p:nvPr/>
            </p:nvSpPr>
            <p:spPr>
              <a:xfrm>
                <a:off x="9314121" y="2990195"/>
                <a:ext cx="13600306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scanf is expecting two inputs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That is why there are two more parameters, address of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C4063C5-CB0E-1E85-B6FC-B687E45A6E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121" y="2990195"/>
                <a:ext cx="13600306" cy="2871708"/>
              </a:xfrm>
              <a:prstGeom prst="roundRect">
                <a:avLst/>
              </a:prstGeom>
              <a:blipFill>
                <a:blip r:embed="rId2"/>
                <a:stretch>
                  <a:fillRect l="-1208" t="-1293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15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8C7C-8513-5736-1BE2-9A3DCA89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478311-6430-5CDD-BF3F-13A8C2B77A1B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Else Conditions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9F9DD0-27BD-FEF0-1B91-7F7222A764BB}"/>
              </a:ext>
            </a:extLst>
          </p:cNvPr>
          <p:cNvSpPr/>
          <p:nvPr/>
        </p:nvSpPr>
        <p:spPr>
          <a:xfrm>
            <a:off x="645013" y="2829637"/>
            <a:ext cx="6833474" cy="84665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a,b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a,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d”,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d”,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CB11850-71EF-62F8-D161-AA4377A7E2E0}"/>
              </a:ext>
            </a:extLst>
          </p:cNvPr>
          <p:cNvSpPr/>
          <p:nvPr/>
        </p:nvSpPr>
        <p:spPr>
          <a:xfrm>
            <a:off x="9250326" y="2569893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if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B41E3-1E7D-6466-4378-0FE439AF94E8}"/>
              </a:ext>
            </a:extLst>
          </p:cNvPr>
          <p:cNvSpPr/>
          <p:nvPr/>
        </p:nvSpPr>
        <p:spPr>
          <a:xfrm>
            <a:off x="9217005" y="3869988"/>
            <a:ext cx="13633627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46B7D2-D47D-4B8B-5B2D-D6EBC2FD1D29}"/>
              </a:ext>
            </a:extLst>
          </p:cNvPr>
          <p:cNvSpPr/>
          <p:nvPr/>
        </p:nvSpPr>
        <p:spPr>
          <a:xfrm>
            <a:off x="9250326" y="8021895"/>
            <a:ext cx="1360030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programs prints the maximum of two inputs</a:t>
            </a:r>
          </a:p>
        </p:txBody>
      </p:sp>
    </p:spTree>
    <p:extLst>
      <p:ext uri="{BB962C8B-B14F-4D97-AF65-F5344CB8AC3E}">
        <p14:creationId xmlns:p14="http://schemas.microsoft.com/office/powerpoint/2010/main" val="1162720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A601-3240-6800-7E70-5739751E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DC0E3D-3F0D-757B-A725-434E3B7CDE9A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And and Or operators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06E851-DE51-F198-11F3-5C8707C2B5B3}"/>
              </a:ext>
            </a:extLst>
          </p:cNvPr>
          <p:cNvSpPr/>
          <p:nvPr/>
        </p:nvSpPr>
        <p:spPr>
          <a:xfrm>
            <a:off x="645013" y="2715634"/>
            <a:ext cx="9923750" cy="86945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%2 == 0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%3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not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1E2EA4A-D567-BE2B-F86F-CBD2159BAEA4}"/>
                  </a:ext>
                </a:extLst>
              </p:cNvPr>
              <p:cNvSpPr/>
              <p:nvPr/>
            </p:nvSpPr>
            <p:spPr>
              <a:xfrm>
                <a:off x="11355572" y="4725802"/>
                <a:ext cx="12383415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If</a:t>
                </a:r>
                <a:r>
                  <a:rPr lang="en-US" sz="54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2 and 3, then it is a special number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1E2EA4A-D567-BE2B-F86F-CBD2159BA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572" y="4725802"/>
                <a:ext cx="12383415" cy="1952308"/>
              </a:xfrm>
              <a:prstGeom prst="roundRect">
                <a:avLst/>
              </a:prstGeom>
              <a:blipFill>
                <a:blip r:embed="rId2"/>
                <a:stretch>
                  <a:fillRect r="-1223" b="-119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454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9260-3AFA-E95C-8044-D87EEA54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ACDA9F-D0CB-C701-860B-7170EBF743A4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And and Or operators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ECF3E8-5D0D-F865-0E9C-DCA0C2DF183C}"/>
              </a:ext>
            </a:extLst>
          </p:cNvPr>
          <p:cNvSpPr/>
          <p:nvPr/>
        </p:nvSpPr>
        <p:spPr>
          <a:xfrm>
            <a:off x="645013" y="2715634"/>
            <a:ext cx="9923750" cy="86945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%2 == 0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&amp;&amp;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%3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not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5456628C-7586-9D73-5F60-F2720C889E12}"/>
                  </a:ext>
                </a:extLst>
              </p:cNvPr>
              <p:cNvSpPr/>
              <p:nvPr/>
            </p:nvSpPr>
            <p:spPr>
              <a:xfrm>
                <a:off x="11355572" y="4725802"/>
                <a:ext cx="12383415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If</a:t>
                </a:r>
                <a:r>
                  <a:rPr lang="en-US" sz="54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2 and 3, then it is a special number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5456628C-7586-9D73-5F60-F2720C889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572" y="4725802"/>
                <a:ext cx="12383415" cy="1952308"/>
              </a:xfrm>
              <a:prstGeom prst="roundRect">
                <a:avLst/>
              </a:prstGeom>
              <a:blipFill>
                <a:blip r:embed="rId2"/>
                <a:stretch>
                  <a:fillRect r="-1223" b="-119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789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96C5D-6E31-68C8-4CFF-74895F1A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C347EE-9801-24D4-87F4-EC9F92D2B326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And and Or operators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D46888-2F8C-CBD1-94E6-D12C1AFA208C}"/>
              </a:ext>
            </a:extLst>
          </p:cNvPr>
          <p:cNvSpPr/>
          <p:nvPr/>
        </p:nvSpPr>
        <p:spPr>
          <a:xfrm>
            <a:off x="645012" y="2715634"/>
            <a:ext cx="10710559" cy="86945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%2 == 0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%3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%5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not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D0645C1-EB17-FA30-C22A-DA8FF4C1DEF5}"/>
                  </a:ext>
                </a:extLst>
              </p:cNvPr>
              <p:cNvSpPr/>
              <p:nvPr/>
            </p:nvSpPr>
            <p:spPr>
              <a:xfrm>
                <a:off x="11355572" y="4266102"/>
                <a:ext cx="12383415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2 and 3 or if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5, then it is a special number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D0645C1-EB17-FA30-C22A-DA8FF4C1DE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572" y="4266102"/>
                <a:ext cx="12383415" cy="2871708"/>
              </a:xfrm>
              <a:prstGeom prst="roundRect">
                <a:avLst/>
              </a:prstGeom>
              <a:blipFill>
                <a:blip r:embed="rId2"/>
                <a:stretch>
                  <a:fillRect b="-64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43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4D00-6C6D-2DDB-B679-574AF245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F16DF5-A0B6-047B-9437-B6A20C2A162A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And and Or operators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D5B21F5-4060-A82C-8748-E294DB53C431}"/>
              </a:ext>
            </a:extLst>
          </p:cNvPr>
          <p:cNvSpPr/>
          <p:nvPr/>
        </p:nvSpPr>
        <p:spPr>
          <a:xfrm>
            <a:off x="645012" y="2715634"/>
            <a:ext cx="10710559" cy="86945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scanf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“%d”,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%2 == 0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&amp;&amp;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%3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||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%5 == 0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“%d is not a special number”,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600" dirty="0">
              <a:solidFill>
                <a:schemeClr val="accent4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78571BD-C74B-50F3-6A83-0F4FFA6A9061}"/>
                  </a:ext>
                </a:extLst>
              </p:cNvPr>
              <p:cNvSpPr/>
              <p:nvPr/>
            </p:nvSpPr>
            <p:spPr>
              <a:xfrm>
                <a:off x="11355572" y="4266102"/>
                <a:ext cx="12383415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2 and 3 or if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is divisible by 5, then it is a special number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78571BD-C74B-50F3-6A83-0F4FFA6A90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572" y="4266102"/>
                <a:ext cx="12383415" cy="2871708"/>
              </a:xfrm>
              <a:prstGeom prst="roundRect">
                <a:avLst/>
              </a:prstGeom>
              <a:blipFill>
                <a:blip r:embed="rId2"/>
                <a:stretch>
                  <a:fillRect b="-64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767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33B01D-C841-131A-D868-EDCB868C78D6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While loop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0198B7-21C6-0A83-6585-9BD67E9EE7FD}"/>
              </a:ext>
            </a:extLst>
          </p:cNvPr>
          <p:cNvSpPr/>
          <p:nvPr/>
        </p:nvSpPr>
        <p:spPr>
          <a:xfrm>
            <a:off x="10167115" y="2550843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2100D6-20EF-0953-1F5D-FD7905387AFA}"/>
              </a:ext>
            </a:extLst>
          </p:cNvPr>
          <p:cNvSpPr/>
          <p:nvPr/>
        </p:nvSpPr>
        <p:spPr>
          <a:xfrm>
            <a:off x="10167115" y="3889038"/>
            <a:ext cx="13633627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37F7DD5-55BD-3CC7-795E-1133959DEF4B}"/>
                  </a:ext>
                </a:extLst>
              </p:cNvPr>
              <p:cNvSpPr/>
              <p:nvPr/>
            </p:nvSpPr>
            <p:spPr>
              <a:xfrm>
                <a:off x="645013" y="3328570"/>
                <a:ext cx="8689488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d”,&amp;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3600" i="1" dirty="0" err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3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{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"%d\n",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37F7DD5-55BD-3CC7-795E-1133959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328570"/>
                <a:ext cx="8689488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4A1E6B-99E3-945A-9BFB-D5D71E00CE83}"/>
              </a:ext>
            </a:extLst>
          </p:cNvPr>
          <p:cNvSpPr/>
          <p:nvPr/>
        </p:nvSpPr>
        <p:spPr>
          <a:xfrm>
            <a:off x="9726576" y="8481595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programs prints the first n numbers</a:t>
            </a:r>
          </a:p>
        </p:txBody>
      </p:sp>
    </p:spTree>
    <p:extLst>
      <p:ext uri="{BB962C8B-B14F-4D97-AF65-F5344CB8AC3E}">
        <p14:creationId xmlns:p14="http://schemas.microsoft.com/office/powerpoint/2010/main" val="3020415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782A69-152D-F61D-7A21-6DAFC8A47595}"/>
              </a:ext>
            </a:extLst>
          </p:cNvPr>
          <p:cNvSpPr/>
          <p:nvPr/>
        </p:nvSpPr>
        <p:spPr>
          <a:xfrm>
            <a:off x="659219" y="579104"/>
            <a:ext cx="2300885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that prints the first n Fibonacci numbers using a while loop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D6CA10-F288-C993-EF80-6FB0AC83F79E}"/>
              </a:ext>
            </a:extLst>
          </p:cNvPr>
          <p:cNvSpPr/>
          <p:nvPr/>
        </p:nvSpPr>
        <p:spPr>
          <a:xfrm>
            <a:off x="1831190" y="3736426"/>
            <a:ext cx="3825332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Input: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Output: 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46A9DE-EE04-22CC-8542-523175FE8E15}"/>
              </a:ext>
            </a:extLst>
          </p:cNvPr>
          <p:cNvSpPr/>
          <p:nvPr/>
        </p:nvSpPr>
        <p:spPr>
          <a:xfrm>
            <a:off x="9798520" y="3736426"/>
            <a:ext cx="3825332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Input: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Output: 0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C763D6-D4A2-3777-CEA7-FC477D0CEA75}"/>
              </a:ext>
            </a:extLst>
          </p:cNvPr>
          <p:cNvSpPr/>
          <p:nvPr/>
        </p:nvSpPr>
        <p:spPr>
          <a:xfrm>
            <a:off x="17765850" y="3569849"/>
            <a:ext cx="3825332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Input: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Output: 0 1 1 2 3</a:t>
            </a:r>
          </a:p>
        </p:txBody>
      </p:sp>
    </p:spTree>
    <p:extLst>
      <p:ext uri="{BB962C8B-B14F-4D97-AF65-F5344CB8AC3E}">
        <p14:creationId xmlns:p14="http://schemas.microsoft.com/office/powerpoint/2010/main" val="3402298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570E77-36EF-9829-0162-A999E197EDB8}"/>
                  </a:ext>
                </a:extLst>
              </p:cNvPr>
              <p:cNvSpPr/>
              <p:nvPr/>
            </p:nvSpPr>
            <p:spPr>
              <a:xfrm>
                <a:off x="645012" y="3022103"/>
                <a:ext cx="10710559" cy="808164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570E77-36EF-9829-0162-A999E197ED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2" y="3022103"/>
                <a:ext cx="10710559" cy="808164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>
            <a:extLst>
              <a:ext uri="{FF2B5EF4-FFF2-40B4-BE49-F238E27FC236}">
                <a16:creationId xmlns:a16="http://schemas.microsoft.com/office/drawing/2014/main" id="{95AB3C33-8846-D660-3A5C-7ADF95A01E43}"/>
              </a:ext>
            </a:extLst>
          </p:cNvPr>
          <p:cNvSpPr/>
          <p:nvPr/>
        </p:nvSpPr>
        <p:spPr>
          <a:xfrm rot="10800000">
            <a:off x="9021795" y="8404528"/>
            <a:ext cx="3620476" cy="57972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B9AF0F-B15B-7CD3-4490-4601BA3F55D5}"/>
              </a:ext>
            </a:extLst>
          </p:cNvPr>
          <p:cNvSpPr/>
          <p:nvPr/>
        </p:nvSpPr>
        <p:spPr>
          <a:xfrm>
            <a:off x="12996344" y="7718236"/>
            <a:ext cx="1071055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Unfortunately, we cannot write this in C</a:t>
            </a:r>
          </a:p>
        </p:txBody>
      </p:sp>
    </p:spTree>
    <p:extLst>
      <p:ext uri="{BB962C8B-B14F-4D97-AF65-F5344CB8AC3E}">
        <p14:creationId xmlns:p14="http://schemas.microsoft.com/office/powerpoint/2010/main" val="177542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DBC4-B77A-FD19-C1C9-422876F43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B50536A-F2D5-5D50-2BDD-464CEFD385E3}"/>
                  </a:ext>
                </a:extLst>
              </p:cNvPr>
              <p:cNvSpPr/>
              <p:nvPr/>
            </p:nvSpPr>
            <p:spPr>
              <a:xfrm>
                <a:off x="645012" y="3022103"/>
                <a:ext cx="10710559" cy="808164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B50536A-F2D5-5D50-2BDD-464CEFD3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2" y="3022103"/>
                <a:ext cx="10710559" cy="808164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>
            <a:extLst>
              <a:ext uri="{FF2B5EF4-FFF2-40B4-BE49-F238E27FC236}">
                <a16:creationId xmlns:a16="http://schemas.microsoft.com/office/drawing/2014/main" id="{B7FA3166-F370-B7E0-4CA4-7C9EFD6E06F1}"/>
              </a:ext>
            </a:extLst>
          </p:cNvPr>
          <p:cNvSpPr/>
          <p:nvPr/>
        </p:nvSpPr>
        <p:spPr>
          <a:xfrm rot="10800000">
            <a:off x="9021795" y="8404528"/>
            <a:ext cx="3620476" cy="57972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B09AF09-9C20-69B3-7C24-3D77CE044CC0}"/>
              </a:ext>
            </a:extLst>
          </p:cNvPr>
          <p:cNvSpPr/>
          <p:nvPr/>
        </p:nvSpPr>
        <p:spPr>
          <a:xfrm>
            <a:off x="12996344" y="7718236"/>
            <a:ext cx="1071055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Unfortunately, we cannot write this in C</a:t>
            </a:r>
          </a:p>
        </p:txBody>
      </p:sp>
    </p:spTree>
    <p:extLst>
      <p:ext uri="{BB962C8B-B14F-4D97-AF65-F5344CB8AC3E}">
        <p14:creationId xmlns:p14="http://schemas.microsoft.com/office/powerpoint/2010/main" val="3155968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290B-B8E7-B1D7-8C3E-C36192BE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5750264-7B74-128E-DCF5-5D14B735D4E6}"/>
                  </a:ext>
                </a:extLst>
              </p:cNvPr>
              <p:cNvSpPr/>
              <p:nvPr/>
            </p:nvSpPr>
            <p:spPr>
              <a:xfrm>
                <a:off x="645012" y="210270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5750264-7B74-128E-DCF5-5D14B735D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2" y="210270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042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24E2-0F4E-22DA-8442-B4ADE4B8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2C4ADF-788A-F762-A51C-D765BB9F4616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2C4ADF-788A-F762-A51C-D765BB9F4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D7A152-2AE0-4FFD-BC64-F907F85943FD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F841EA-A942-AE42-E7AD-07862D4832ED}"/>
              </a:ext>
            </a:extLst>
          </p:cNvPr>
          <p:cNvSpPr/>
          <p:nvPr/>
        </p:nvSpPr>
        <p:spPr>
          <a:xfrm>
            <a:off x="12943369" y="307129"/>
            <a:ext cx="10710559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Variables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12A256-0C46-5AF8-3AC4-F945B82984A3}"/>
              </a:ext>
            </a:extLst>
          </p:cNvPr>
          <p:cNvSpPr/>
          <p:nvPr/>
        </p:nvSpPr>
        <p:spPr>
          <a:xfrm>
            <a:off x="730071" y="1630555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66619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534C-9050-552B-2A84-B58FCA51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BAADBA-2101-18CE-7ABE-0FB56FD6613D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1BC7E7FA-F3B2-481F-E84C-6A76EFABAE4E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7886876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1BC7E7FA-F3B2-481F-E84C-6A76EFABAE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54ED47-2651-67B4-3231-63067272A6E6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54ED47-2651-67B4-3231-63067272A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3728FF-5E77-17C7-2558-4070C68F452C}"/>
              </a:ext>
            </a:extLst>
          </p:cNvPr>
          <p:cNvSpPr/>
          <p:nvPr/>
        </p:nvSpPr>
        <p:spPr>
          <a:xfrm>
            <a:off x="737160" y="2202683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53044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E7A99-69FE-8A69-E9CE-937FD7B6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20A9C8-16A8-E5EF-FF41-9DA288A3389C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524B2EA-4609-3B66-93D8-226EEFF6E966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7886876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524B2EA-4609-3B66-93D8-226EEFF6E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67FADFB-61CD-7890-4CEC-DAF895A52793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67FADFB-61CD-7890-4CEC-DAF895A52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412F09-ADAE-FFDA-5A2C-4960E7F499EA}"/>
              </a:ext>
            </a:extLst>
          </p:cNvPr>
          <p:cNvSpPr/>
          <p:nvPr/>
        </p:nvSpPr>
        <p:spPr>
          <a:xfrm>
            <a:off x="730071" y="2202683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59905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C02B3-8F75-8E55-7B05-1460053D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2BECE0-D9DB-5057-A5B8-80456B3D3776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E13F451-71C6-A206-B288-25AA412B8A6A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0E13F451-71C6-A206-B288-25AA412B8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75D4F05-FD2B-82EB-5205-C5FDF7B7AF4E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75D4F05-FD2B-82EB-5205-C5FDF7B7A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159541-342E-7EC8-4C1B-A49B1192A6B3}"/>
              </a:ext>
            </a:extLst>
          </p:cNvPr>
          <p:cNvSpPr/>
          <p:nvPr/>
        </p:nvSpPr>
        <p:spPr>
          <a:xfrm>
            <a:off x="730072" y="2633279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67061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A4CF-CC1D-A9E6-2C81-5703DC08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9DF09B0-7A07-9126-87E5-C3DF8D050C1F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9DF09B0-7A07-9126-87E5-C3DF8D050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4F02D2-67C2-2496-F08E-AFC6B4D13C48}"/>
              </a:ext>
            </a:extLst>
          </p:cNvPr>
          <p:cNvSpPr/>
          <p:nvPr/>
        </p:nvSpPr>
        <p:spPr>
          <a:xfrm>
            <a:off x="730071" y="322927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2F36156-39F9-A250-0944-B560277FC8D1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B1BA545-96C1-1F86-239E-A05B58A87916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bg1"/>
                  </a:solidFill>
                  <a:latin typeface="Bradley Hand" pitchFamily="2" charset="77"/>
                  <a:sym typeface="Helvetica Neue Medium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B1BA545-96C1-1F86-239E-A05B58A87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368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84F0-34BB-6543-A650-3F77960D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B94A5C-2B3E-CD31-57C3-75CA4FEF907A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13670C91-6FD4-A8E1-C934-AA8552F534EF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8787876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13670C91-6FD4-A8E1-C934-AA8552F53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17FC11B-3C94-4AAF-E531-986B52C860BA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17FC11B-3C94-4AAF-E531-986B52C86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7FAB80-58F8-7E0B-C389-91E6570E4329}"/>
              </a:ext>
            </a:extLst>
          </p:cNvPr>
          <p:cNvSpPr/>
          <p:nvPr/>
        </p:nvSpPr>
        <p:spPr>
          <a:xfrm>
            <a:off x="730072" y="374260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13994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0CB3-81BD-9E69-EFB1-25451DF3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1527EE2-B1C5-896E-41DD-FF00A6F0D7CB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1527EE2-B1C5-896E-41DD-FF00A6F0D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D6C47A-9639-6C90-90EC-DB62E4AA04B7}"/>
              </a:ext>
            </a:extLst>
          </p:cNvPr>
          <p:cNvSpPr/>
          <p:nvPr/>
        </p:nvSpPr>
        <p:spPr>
          <a:xfrm>
            <a:off x="730071" y="495768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02FEFF9-6622-6B82-85DE-2ED694CAA101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128CDB0-6C56-16EC-58A4-E381C36D7E21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8787876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128CDB0-6C56-16EC-58A4-E381C36D7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85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8CF2-26BB-66D4-3861-81E63C39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136B2F-A87C-BB81-FED0-1CEF2AAE2DC4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E271747-C2AE-58E6-B711-CC582150BEC0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8787876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E271747-C2AE-58E6-B711-CC582150B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8839A65-C2DB-D4EA-7D7A-AA0401D6F6F5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08839A65-C2DB-D4EA-7D7A-AA0401D6F6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7E9D26-13A5-04C2-8924-379C772A89D2}"/>
              </a:ext>
            </a:extLst>
          </p:cNvPr>
          <p:cNvSpPr/>
          <p:nvPr/>
        </p:nvSpPr>
        <p:spPr>
          <a:xfrm>
            <a:off x="730071" y="5468043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5857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AF69-8457-31FB-39F7-75301FBB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42FFD9FC-FEE9-665A-84E0-B542AC102C60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42FFD9FC-FEE9-665A-84E0-B542AC102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E8AF61-C5CF-1539-E095-A85BB8A5A0DD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ABB15DC-AE09-6D72-FDA3-0724C125FE03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ABB15DC-AE09-6D72-FDA3-0724C125F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932E08-3C22-D543-E46C-EEFB6CA9FA94}"/>
              </a:ext>
            </a:extLst>
          </p:cNvPr>
          <p:cNvSpPr/>
          <p:nvPr/>
        </p:nvSpPr>
        <p:spPr>
          <a:xfrm>
            <a:off x="730071" y="5978406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58370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7649-28C8-7A54-82AF-1D229F5B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49C53E-652E-51B2-FDC9-C808CAC9C9AB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31A0FCE-22AD-93B4-0B7A-6B2B77581C8D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31A0FCE-22AD-93B4-0B7A-6B2B77581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A13CF43-F875-4369-261B-CFCF0E9332D7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A13CF43-F875-4369-261B-CFCF0E9332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016BCB-01C0-61CB-F5AC-992EDD99E5C7}"/>
              </a:ext>
            </a:extLst>
          </p:cNvPr>
          <p:cNvSpPr/>
          <p:nvPr/>
        </p:nvSpPr>
        <p:spPr>
          <a:xfrm>
            <a:off x="730071" y="6502362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59882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5293-EC85-B68E-6ED7-6824EF02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0DFFD6A-F0D8-72F4-DD16-3F42512649CF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A04A1D3-49F4-47AC-B1EE-D13873EAC352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A04A1D3-49F4-47AC-B1EE-D13873EAC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9D01608-950E-8B72-EAE6-768EEFB53E89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9D01608-950E-8B72-EAE6-768EEFB53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8D716B-8E68-D7CB-5F38-17B92EE3A09A}"/>
              </a:ext>
            </a:extLst>
          </p:cNvPr>
          <p:cNvSpPr/>
          <p:nvPr/>
        </p:nvSpPr>
        <p:spPr>
          <a:xfrm>
            <a:off x="730071" y="707652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1229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D4F2-285A-8E61-7145-D276AACD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C64610-F243-D370-8C46-E1419A3E0908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92557B1-A8BC-6A14-E4BE-E16B11B3B03A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92557B1-A8BC-6A14-E4BE-E16B11B3B0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BFF2390-05CF-72B8-C52E-291CA87CC3D5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3BFF2390-05CF-72B8-C52E-291CA87CC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E0C309-C941-5770-A178-A18E1FD519B8}"/>
              </a:ext>
            </a:extLst>
          </p:cNvPr>
          <p:cNvSpPr/>
          <p:nvPr/>
        </p:nvSpPr>
        <p:spPr>
          <a:xfrm>
            <a:off x="730071" y="374260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6383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507C-4D84-E1A5-90EC-44FA1B15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49AAC0-EE2C-1095-CAFE-20FA0C4152BC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CABC99A-140E-D547-6D11-87D0C8D805CF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CABC99A-140E-D547-6D11-87D0C8D80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7E9BB82-4941-B43D-FA48-F73B36D6E52E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7E9BB82-4941-B43D-FA48-F73B36D6E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26061E-01F8-0AC7-137F-99806EB00116}"/>
              </a:ext>
            </a:extLst>
          </p:cNvPr>
          <p:cNvSpPr/>
          <p:nvPr/>
        </p:nvSpPr>
        <p:spPr>
          <a:xfrm>
            <a:off x="730072" y="8101949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54345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0F88-532B-5E9D-A0CD-441C22C8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5E77CE-ED91-2A79-03CF-C616008F7740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BC299DD-8478-C469-254A-F3B45C0222A5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BC299DD-8478-C469-254A-F3B45C0222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2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39CD24-71D1-B968-17F7-1878C4E99E92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39CD24-71D1-B968-17F7-1878C4E99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48F920-D7EE-A840-7B24-EAE727C496BF}"/>
              </a:ext>
            </a:extLst>
          </p:cNvPr>
          <p:cNvSpPr/>
          <p:nvPr/>
        </p:nvSpPr>
        <p:spPr>
          <a:xfrm>
            <a:off x="0" y="1402565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56268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C617F3-58D8-0BF4-8E41-56147BAC6B03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loop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B1A0B7-FF29-52C4-74AC-8E19A70526B9}"/>
              </a:ext>
            </a:extLst>
          </p:cNvPr>
          <p:cNvSpPr/>
          <p:nvPr/>
        </p:nvSpPr>
        <p:spPr>
          <a:xfrm>
            <a:off x="5637646" y="2550844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for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CD0D99B-EAF1-222F-F7EE-F6377B461FAA}"/>
              </a:ext>
            </a:extLst>
          </p:cNvPr>
          <p:cNvSpPr/>
          <p:nvPr/>
        </p:nvSpPr>
        <p:spPr>
          <a:xfrm>
            <a:off x="5637646" y="3889039"/>
            <a:ext cx="13633627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initialization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update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39621E-26BA-1677-2B19-238B588A89EF}"/>
              </a:ext>
            </a:extLst>
          </p:cNvPr>
          <p:cNvSpPr/>
          <p:nvPr/>
        </p:nvSpPr>
        <p:spPr>
          <a:xfrm>
            <a:off x="687572" y="10492894"/>
            <a:ext cx="230088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that prints the first n Fibonacci numbers using a for loop</a:t>
            </a:r>
          </a:p>
        </p:txBody>
      </p:sp>
    </p:spTree>
    <p:extLst>
      <p:ext uri="{BB962C8B-B14F-4D97-AF65-F5344CB8AC3E}">
        <p14:creationId xmlns:p14="http://schemas.microsoft.com/office/powerpoint/2010/main" val="1470393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645B4C7-4280-C74F-C6EE-19B76DCA97A1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645B4C7-4280-C74F-C6EE-19B76DCA9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49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CB8FD1A-0E1F-BC17-0AD7-4640EC4F8505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CB8FD1A-0E1F-BC17-0AD7-4640EC4F8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39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82D6-151A-56E6-89F6-44E009C3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5F421F9-DF47-9FEF-C0A3-092AD39A671F}"/>
                  </a:ext>
                </a:extLst>
              </p:cNvPr>
              <p:cNvSpPr/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5F421F9-DF47-9FEF-C0A3-092AD39A6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-2543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934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92149-CDC9-18CE-3DA6-85A27B32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DE7DFB0-12C8-CFBF-8B18-690E08A4BD23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DE7DFB0-12C8-CFBF-8B18-690E08A4B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D5B14B-CDC2-1620-5DF8-661C041A8E09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E7CFA9-705C-9045-FA8E-EFAD8212DF28}"/>
              </a:ext>
            </a:extLst>
          </p:cNvPr>
          <p:cNvSpPr/>
          <p:nvPr/>
        </p:nvSpPr>
        <p:spPr>
          <a:xfrm>
            <a:off x="730071" y="4092309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100268C-6A05-5211-0F2E-4757CE7CF91B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898989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78766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100268C-6A05-5211-0F2E-4757CE7CF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627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A6E4-0638-521A-CEA2-E1AC38EA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5234360-74C8-702B-2AA4-EED575CE74ED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5234360-74C8-702B-2AA4-EED575CE74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836D1-3FB0-28E5-8934-A0CC8F15F56F}"/>
              </a:ext>
            </a:extLst>
          </p:cNvPr>
          <p:cNvSpPr/>
          <p:nvPr/>
        </p:nvSpPr>
        <p:spPr>
          <a:xfrm>
            <a:off x="2211572" y="4092309"/>
            <a:ext cx="1212112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DB87786-5359-9280-A05E-08488C5FC72C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898989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78766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DB87786-5359-9280-A05E-08488C5FC7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417C85-8B9C-D702-5CA5-205FD84D20C2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1211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5468-79B5-A758-147D-159FC466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A3016A3-D334-EA8E-CC66-566B6DADE4E3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A3016A3-D334-EA8E-CC66-566B6DADE4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F0FD6D-AFED-64C0-9557-C590AC6F0BED}"/>
              </a:ext>
            </a:extLst>
          </p:cNvPr>
          <p:cNvSpPr/>
          <p:nvPr/>
        </p:nvSpPr>
        <p:spPr>
          <a:xfrm>
            <a:off x="3572540" y="4092309"/>
            <a:ext cx="161614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D304B19-282F-C7AB-0FD9-ADF6EBF6F94E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78766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D304B19-282F-C7AB-0FD9-ADF6EBF6F9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7FB2C3-00F3-D842-8EEF-F368DA33533F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5005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AC364-77AB-E27D-2F86-9E9C56DE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C604931-85A1-9A3F-DC87-CF5E45EE8626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C604931-85A1-9A3F-DC87-CF5E45EE86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F96BF3-97FF-76C3-3D15-0374DA6AB5F6}"/>
              </a:ext>
            </a:extLst>
          </p:cNvPr>
          <p:cNvSpPr/>
          <p:nvPr/>
        </p:nvSpPr>
        <p:spPr>
          <a:xfrm>
            <a:off x="730072" y="5155564"/>
            <a:ext cx="1071055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D29F225-B2C4-702A-D0D7-22A11BCFA01A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78766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D29F225-B2C4-702A-D0D7-22A11BCFA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7D59EB-D334-D8F8-C1EC-C3EA7DCEF18B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9111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5719-B469-7CB7-7EDB-0CB44325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D8CAAEB-FAA5-9C01-3104-2A683E359F16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D8CAAEB-FAA5-9C01-3104-2A683E359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8C55D8-02BD-4715-00CE-4AA326BB8A66}"/>
              </a:ext>
            </a:extLst>
          </p:cNvPr>
          <p:cNvSpPr/>
          <p:nvPr/>
        </p:nvSpPr>
        <p:spPr>
          <a:xfrm>
            <a:off x="730072" y="5644662"/>
            <a:ext cx="1071055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BED4132-16CC-A4DC-D04F-DC4B9C7E3151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78766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BED4132-16CC-A4DC-D04F-DC4B9C7E3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537BC9-99F3-522E-5454-27D335B83BA3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1381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7CC4-CE97-ED34-D8E5-58781E95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BABFBB-BA19-D3B0-8F13-FE874C5C8E74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BABFBB-BA19-D3B0-8F13-FE874C5C8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B6A00A1-4DEF-E9F1-71E2-38B61D5D88A7}"/>
              </a:ext>
            </a:extLst>
          </p:cNvPr>
          <p:cNvSpPr/>
          <p:nvPr/>
        </p:nvSpPr>
        <p:spPr>
          <a:xfrm>
            <a:off x="730073" y="6303880"/>
            <a:ext cx="1071055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8E4D89B-A6AF-6607-1DAB-B809F6E5F31C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8E4D89B-A6AF-6607-1DAB-B809F6E5F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6551C9-9966-AF0E-22DB-6C79475C5CA4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4163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3D68-1163-42E7-6A09-82E08CB5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7374B8D-31A1-F058-20E9-E5657F6E20E5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7374B8D-31A1-F058-20E9-E5657F6E2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DC299A-3B2D-8F12-D515-535D21A752CF}"/>
              </a:ext>
            </a:extLst>
          </p:cNvPr>
          <p:cNvSpPr/>
          <p:nvPr/>
        </p:nvSpPr>
        <p:spPr>
          <a:xfrm>
            <a:off x="730073" y="6858000"/>
            <a:ext cx="1071055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700BAC8-08C7-0405-B096-25627F5DBBD5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700BAC8-08C7-0405-B096-25627F5DB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245892-EADE-7A02-9559-567C70B59D10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32050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520C-35A4-9081-433F-BFD0B113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1EA5BB3-E49A-03C3-F078-00E0E4299D1B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1EA5BB3-E49A-03C3-F078-00E0E4299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2B1420-9C07-5B54-5824-6979F0A4C63F}"/>
              </a:ext>
            </a:extLst>
          </p:cNvPr>
          <p:cNvSpPr/>
          <p:nvPr/>
        </p:nvSpPr>
        <p:spPr>
          <a:xfrm>
            <a:off x="730073" y="4098238"/>
            <a:ext cx="1071055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F18F11E-A2CD-CAF4-EA41-185CE24FD492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F18F11E-A2CD-CAF4-EA41-185CE24FD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4EF830-A484-C53B-068E-BC36568AFC63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05677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BD1F1-5CB7-0ABB-3676-5FF06DE6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B82B92C-E31D-B78B-5762-1AE5D3133B63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B82B92C-E31D-B78B-5762-1AE5D3133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BA86F4C-670C-0570-A348-E1137830FA8F}"/>
              </a:ext>
            </a:extLst>
          </p:cNvPr>
          <p:cNvSpPr/>
          <p:nvPr/>
        </p:nvSpPr>
        <p:spPr>
          <a:xfrm>
            <a:off x="5337544" y="4098238"/>
            <a:ext cx="893136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4704BED-6B0B-519C-0BF7-36D47A214058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4704BED-6B0B-519C-0BF7-36D47A214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01BFBE-84CA-174F-5859-F27BF240132C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03402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EF7D-4279-1276-3087-2F9FEF4B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D394AEA-FF2C-E89C-B57B-4E390F031A6E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D394AEA-FF2C-E89C-B57B-4E390F031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C34144-4F5C-6C17-3943-39EC1D426F98}"/>
              </a:ext>
            </a:extLst>
          </p:cNvPr>
          <p:cNvSpPr/>
          <p:nvPr/>
        </p:nvSpPr>
        <p:spPr>
          <a:xfrm>
            <a:off x="3572540" y="4098238"/>
            <a:ext cx="1573618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3E54A83-B638-8BE2-7CA4-48B32AE5698C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3E54A83-B638-8BE2-7CA4-48B32AE56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87D5EF-B95F-E937-F2AB-72FF13EB617D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82180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5115-4272-F096-A231-A5C7F979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F81A8F1-AC8C-BDD1-5F38-58BA26DB0386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F81A8F1-AC8C-BDD1-5F38-58BA26DB0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B3DFEB-7BA2-CB3F-2EF5-CDEBAF2C315F}"/>
              </a:ext>
            </a:extLst>
          </p:cNvPr>
          <p:cNvSpPr/>
          <p:nvPr/>
        </p:nvSpPr>
        <p:spPr>
          <a:xfrm>
            <a:off x="730071" y="5182759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4103E80-0732-1E0D-3FF9-3E1D8BEC3D3D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4103E80-0732-1E0D-3FF9-3E1D8BEC3D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0CF571-D6D5-E66C-6708-4D39582C8F6E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30097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8B85-49ED-4B72-0C5C-BCA6C80B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488746-A08F-005E-DD24-9E1AAFBC9AB5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488746-A08F-005E-DD24-9E1AAFBC9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100D84-9AF5-0784-C361-4CF464BDB083}"/>
              </a:ext>
            </a:extLst>
          </p:cNvPr>
          <p:cNvSpPr/>
          <p:nvPr/>
        </p:nvSpPr>
        <p:spPr>
          <a:xfrm>
            <a:off x="730071" y="5714387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3DB0617-CCCB-FD73-8505-6FBA9CBE0E15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3DB0617-CCCB-FD73-8505-6FBA9CBE0E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D81356-B267-1349-BD93-7DB6860B4CA3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4006121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02FF6-DC85-2191-EC0F-95FA07845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BF34559-75CC-AC14-AA02-21CC2B3D2EC6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BF34559-75CC-AC14-AA02-21CC2B3D2E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A63B27-EEFC-9289-654F-9E69A638CD3C}"/>
              </a:ext>
            </a:extLst>
          </p:cNvPr>
          <p:cNvSpPr/>
          <p:nvPr/>
        </p:nvSpPr>
        <p:spPr>
          <a:xfrm>
            <a:off x="730071" y="630981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CEDFF98-6CD0-FA78-1BF6-FDB54BACAFA6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CEDFF98-6CD0-FA78-1BF6-FDB54BACAF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F7BBE1-42D0-3A54-24C2-338CA943C7D3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4082785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0764B-9E75-4E59-405F-FDB51120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4BAAB0E-254F-B493-564E-FCBCF8D75CC5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4BAAB0E-254F-B493-564E-FCBCF8D75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4CEEE0-F1A3-3074-A251-234CB6567A93}"/>
              </a:ext>
            </a:extLst>
          </p:cNvPr>
          <p:cNvSpPr/>
          <p:nvPr/>
        </p:nvSpPr>
        <p:spPr>
          <a:xfrm>
            <a:off x="730071" y="6858000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EBFE8C4-F6B7-C813-8FC8-E7F0DAF290DE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EBFE8C4-F6B7-C813-8FC8-E7F0DAF29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0D2BF1-ED9A-0419-01AA-714A59CBF06B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51981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153F-5EDD-7D0A-AC6F-865E2E68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D6E7FD-8A46-6DD1-1D15-C7B0A2157AC4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D6E7FD-8A46-6DD1-1D15-C7B0A2157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91F87E-190D-4C60-6301-5EDAADEAB876}"/>
              </a:ext>
            </a:extLst>
          </p:cNvPr>
          <p:cNvSpPr/>
          <p:nvPr/>
        </p:nvSpPr>
        <p:spPr>
          <a:xfrm>
            <a:off x="730071" y="409823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1B9994E-B912-3FE1-E02D-763DB8AC27B9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1B9994E-B912-3FE1-E02D-763DB8AC27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288DBB-F103-6582-AC50-E8234142F488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2380134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2E70-031E-2ECF-AC0A-0B73C8D4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6F80354-4C19-0DC1-71A2-AED415840C32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6F80354-4C19-0DC1-71A2-AED415840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66ABA5-22B8-90E0-8779-E3BC48E4981A}"/>
              </a:ext>
            </a:extLst>
          </p:cNvPr>
          <p:cNvSpPr/>
          <p:nvPr/>
        </p:nvSpPr>
        <p:spPr>
          <a:xfrm>
            <a:off x="5380074" y="4098238"/>
            <a:ext cx="893135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B8B019D-367A-4F04-0315-315920FCC97C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B8B019D-367A-4F04-0315-315920FCC9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4935B8-BE06-2E8F-793E-4CAD90D5465B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194455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BF21-8141-7695-0C77-EA35820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4772387-8CF4-4F20-B6E3-EFE3D7A0E2AC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4772387-8CF4-4F20-B6E3-EFE3D7A0E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5A62D0-CED1-B841-10F8-24B54F3AD545}"/>
              </a:ext>
            </a:extLst>
          </p:cNvPr>
          <p:cNvSpPr/>
          <p:nvPr/>
        </p:nvSpPr>
        <p:spPr>
          <a:xfrm>
            <a:off x="3615070" y="4098238"/>
            <a:ext cx="1509823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95BE99F-3E6A-46E1-C45E-A9B106911C51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195BE99F-3E6A-46E1-C45E-A9B106911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11C8E9-0346-9BF9-F6A8-16D40A0D0CBD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3332971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770F-B1F2-0856-ECEA-B583A3E3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F7A4174-005A-AC70-5B91-B75486945779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F7A4174-005A-AC70-5B91-B75486945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44FBE2-4641-3CD8-EE76-A073B0395D0D}"/>
              </a:ext>
            </a:extLst>
          </p:cNvPr>
          <p:cNvSpPr/>
          <p:nvPr/>
        </p:nvSpPr>
        <p:spPr>
          <a:xfrm>
            <a:off x="730072" y="7925959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665A5BC-4EE7-70FF-3482-E8D29DA26B19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665A5BC-4EE7-70FF-3482-E8D29DA26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6D79AB1-7D60-6A7F-FF7F-C8D122065247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3141136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7578-7B96-24F8-9EAD-FABFAA96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02F201A-2D04-6AF9-B270-F6A3CBF82C83}"/>
                  </a:ext>
                </a:extLst>
              </p:cNvPr>
              <p:cNvSpPr/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=1,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i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”,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36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second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next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02F201A-2D04-6AF9-B270-F6A3CBF82C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303924"/>
                <a:ext cx="10710559" cy="93075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6F688C-3CC9-2742-15C2-62AAEAF9603E}"/>
              </a:ext>
            </a:extLst>
          </p:cNvPr>
          <p:cNvSpPr/>
          <p:nvPr/>
        </p:nvSpPr>
        <p:spPr>
          <a:xfrm>
            <a:off x="-207613" y="13976486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C41C469E-721A-1934-914A-7ECFF64294E9}"/>
                  </a:ext>
                </a:extLst>
              </p:cNvPr>
              <p:cNvSpPr/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first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second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Helvetica Neue Medium"/>
                  </a:rPr>
                  <a:t>next</a:t>
                </a: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C41C469E-721A-1934-914A-7ECFF6429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307129"/>
                <a:ext cx="10710559" cy="3791109"/>
              </a:xfrm>
              <a:prstGeom prst="roundRect">
                <a:avLst/>
              </a:prstGeom>
              <a:blipFill>
                <a:blip r:embed="rId3"/>
                <a:stretch>
                  <a:fillRect b="-65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CDE50D-9BBD-2BA0-31BE-C941AD498204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2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0 1</a:t>
            </a:r>
          </a:p>
        </p:txBody>
      </p:sp>
    </p:spTree>
    <p:extLst>
      <p:ext uri="{BB962C8B-B14F-4D97-AF65-F5344CB8AC3E}">
        <p14:creationId xmlns:p14="http://schemas.microsoft.com/office/powerpoint/2010/main" val="334239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C02CD8-AC57-5495-483A-DCE37CCF2823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Loop Controls: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break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7153CCC-54AF-1853-D4F5-EF5D24992AAC}"/>
              </a:ext>
            </a:extLst>
          </p:cNvPr>
          <p:cNvSpPr/>
          <p:nvPr/>
        </p:nvSpPr>
        <p:spPr>
          <a:xfrm>
            <a:off x="5637646" y="2550844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break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46E261-BBC7-EC86-C126-405EC53785D6}"/>
              </a:ext>
            </a:extLst>
          </p:cNvPr>
          <p:cNvSpPr/>
          <p:nvPr/>
        </p:nvSpPr>
        <p:spPr>
          <a:xfrm>
            <a:off x="5604325" y="3671387"/>
            <a:ext cx="13633627" cy="440404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 for exit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36A052-BC38-AD07-534D-2E875E4C5A1E}"/>
              </a:ext>
            </a:extLst>
          </p:cNvPr>
          <p:cNvSpPr/>
          <p:nvPr/>
        </p:nvSpPr>
        <p:spPr>
          <a:xfrm>
            <a:off x="687572" y="10033194"/>
            <a:ext cx="2300885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that prints the smallest divisor (greater than 1) of a number</a:t>
            </a:r>
          </a:p>
        </p:txBody>
      </p:sp>
    </p:spTree>
    <p:extLst>
      <p:ext uri="{BB962C8B-B14F-4D97-AF65-F5344CB8AC3E}">
        <p14:creationId xmlns:p14="http://schemas.microsoft.com/office/powerpoint/2010/main" val="1981650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D5C7C4D-9FA0-87CC-E1CB-580523465209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D5C7C4D-9FA0-87CC-E1CB-580523465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527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3BD7-0456-1249-BE44-71E46C95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E591710-03A8-3FC8-6C04-38409E1D435A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E591710-03A8-3FC8-6C04-38409E1D43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F36944E-C519-15FE-1E4C-E584D1F2D7A9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F36944E-C519-15FE-1E4C-E584D1F2D7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5ED863-D3C8-7901-6D55-8B934C5DD183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F502D4-8AD7-C26B-5AC7-D14D6B1AD33D}"/>
              </a:ext>
            </a:extLst>
          </p:cNvPr>
          <p:cNvSpPr/>
          <p:nvPr/>
        </p:nvSpPr>
        <p:spPr>
          <a:xfrm>
            <a:off x="730071" y="3885587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466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3973D-F1ED-2331-E33B-14ABA4A6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7818F80-7FF5-98AD-B570-0A057B6B9364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7818F80-7FF5-98AD-B570-0A057B6B9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680CA78-F877-61DE-6AF1-C2E5B3388CF9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680CA78-F877-61DE-6AF1-C2E5B3388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B8BB87-C7D0-2A40-6344-76CF5A9FC8C5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6816A0-A1ED-B517-A959-C6272740D523}"/>
              </a:ext>
            </a:extLst>
          </p:cNvPr>
          <p:cNvSpPr/>
          <p:nvPr/>
        </p:nvSpPr>
        <p:spPr>
          <a:xfrm>
            <a:off x="730071" y="5019924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537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2861-9CF8-CECB-A42C-8C43AF31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89D24DD-7B3D-CC96-DF67-86D5EE656045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89D24DD-7B3D-CC96-DF67-86D5EE656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6FC3E3F-CCA9-9924-1FD1-3C719BE0E423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6FC3E3F-CCA9-9924-1FD1-3C719BE0E4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304987-E313-9228-5A67-EC9DDD8442A4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FB04BC-5832-6DB0-D729-30F08A119BE6}"/>
              </a:ext>
            </a:extLst>
          </p:cNvPr>
          <p:cNvSpPr/>
          <p:nvPr/>
        </p:nvSpPr>
        <p:spPr>
          <a:xfrm>
            <a:off x="730072" y="7665153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15236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BA82-0B45-E198-B2F5-BEA96279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641FE40-BA58-7A59-098F-E35949F42ADF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641FE40-BA58-7A59-098F-E35949F42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56F573B-925B-BDD5-E507-8F5781943D6F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56F573B-925B-BDD5-E507-8F5781943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3C75B7-F4FF-E5EF-CAE1-A2F6BF3E51A2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691144-D87F-E2FD-A256-87AB9084CC94}"/>
              </a:ext>
            </a:extLst>
          </p:cNvPr>
          <p:cNvSpPr/>
          <p:nvPr/>
        </p:nvSpPr>
        <p:spPr>
          <a:xfrm>
            <a:off x="730071" y="395856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72706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FD5B-85D8-BD22-B303-DADC8E54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775E6D-44EC-929F-AC5F-00AB3FA72243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775E6D-44EC-929F-AC5F-00AB3FA72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D85CBC8-4E45-46B4-41FB-D382480175AC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D85CBC8-4E45-46B4-41FB-D38248017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8CCE31-5CAA-3615-3679-1FC7879AD838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B08960-8A6C-5570-142B-2AABF2C87032}"/>
              </a:ext>
            </a:extLst>
          </p:cNvPr>
          <p:cNvSpPr/>
          <p:nvPr/>
        </p:nvSpPr>
        <p:spPr>
          <a:xfrm>
            <a:off x="730072" y="5019925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08448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EAB1-D740-1658-561E-9540D9DD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E7477D8-B202-B17D-D133-9EE48C79BA84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E7477D8-B202-B17D-D133-9EE48C79BA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4EAF4C8-6DAB-07C7-82E8-475EE9DC0A9B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4EAF4C8-6DAB-07C7-82E8-475EE9DC0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069681-C9B1-AC59-01D9-1BC15128D71E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0C3D11-C565-5BC5-4308-78A731C83A81}"/>
              </a:ext>
            </a:extLst>
          </p:cNvPr>
          <p:cNvSpPr/>
          <p:nvPr/>
        </p:nvSpPr>
        <p:spPr>
          <a:xfrm>
            <a:off x="730072" y="6146724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36387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2870-3979-5A40-ACBB-49DFC6CC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F397B7B-55A1-3A4F-F049-F2B65031CA3A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F397B7B-55A1-3A4F-F049-F2B65031C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6C2B2C1-C075-9394-08DE-858C821C6214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6C2B2C1-C075-9394-08DE-858C821C62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C3A509-CC12-EAA8-7009-6AAC0EF54059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E52E97-B3DF-000C-24EF-97C41B40B4A2}"/>
              </a:ext>
            </a:extLst>
          </p:cNvPr>
          <p:cNvSpPr/>
          <p:nvPr/>
        </p:nvSpPr>
        <p:spPr>
          <a:xfrm>
            <a:off x="730072" y="666923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5054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755E-E2FA-EC58-45BC-AC4734B0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462EBD8-A6FA-49CF-E323-5DC9C8F4E21C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462EBD8-A6FA-49CF-E323-5DC9C8F4E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B585841-FD8D-06D2-5E6D-01CE98D10909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B585841-FD8D-06D2-5E6D-01CE98D10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CDF0B6-9533-AD5A-7C42-A263DBA40384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F3E809-03CB-C507-89E1-56599DA05D5E}"/>
              </a:ext>
            </a:extLst>
          </p:cNvPr>
          <p:cNvSpPr/>
          <p:nvPr/>
        </p:nvSpPr>
        <p:spPr>
          <a:xfrm>
            <a:off x="730072" y="8840938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4502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448D-730D-A6C6-8150-4D744016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7CE2E36-A3D5-374F-48E2-4C07E107E379}"/>
                  </a:ext>
                </a:extLst>
              </p:cNvPr>
              <p:cNvSpPr/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while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 =</m:t>
                    </m:r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%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++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7CE2E36-A3D5-374F-48E2-4C07E107E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656677"/>
                <a:ext cx="10710559" cy="99204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6187F93-569A-1470-2346-A4CC41ACF731}"/>
                  </a:ext>
                </a:extLst>
              </p:cNvPr>
              <p:cNvSpPr/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9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6187F93-569A-1470-2346-A4CC41ACF7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3369" y="1226530"/>
                <a:ext cx="10710559" cy="1952308"/>
              </a:xfrm>
              <a:prstGeom prst="roundRect">
                <a:avLst/>
              </a:prstGeom>
              <a:blipFill>
                <a:blip r:embed="rId3"/>
                <a:stretch>
                  <a:fillRect l="-942" b="-566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1DBADA-1229-D2FB-3959-E379E8B7A6C6}"/>
              </a:ext>
            </a:extLst>
          </p:cNvPr>
          <p:cNvSpPr/>
          <p:nvPr/>
        </p:nvSpPr>
        <p:spPr>
          <a:xfrm>
            <a:off x="1205027" y="10689160"/>
            <a:ext cx="9297919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9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36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AEF37D-E778-7BCE-3C19-713C821B2810}"/>
              </a:ext>
            </a:extLst>
          </p:cNvPr>
          <p:cNvSpPr/>
          <p:nvPr/>
        </p:nvSpPr>
        <p:spPr>
          <a:xfrm>
            <a:off x="498706" y="15523092"/>
            <a:ext cx="10710559" cy="71127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4093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2FEE-35AD-7C16-BDE0-8A1A262B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9F1987-B8F2-CD6C-FA58-E459467EED08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Loop Controls: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continue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D3B4E1-4422-DC5A-330D-107687182627}"/>
              </a:ext>
            </a:extLst>
          </p:cNvPr>
          <p:cNvSpPr/>
          <p:nvPr/>
        </p:nvSpPr>
        <p:spPr>
          <a:xfrm>
            <a:off x="5637646" y="2550844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continue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81DE02E-71D3-1202-07CD-F9D209FB7A96}"/>
              </a:ext>
            </a:extLst>
          </p:cNvPr>
          <p:cNvSpPr/>
          <p:nvPr/>
        </p:nvSpPr>
        <p:spPr>
          <a:xfrm>
            <a:off x="5604325" y="3671388"/>
            <a:ext cx="13633627" cy="440404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initialization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condition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update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 for not executing the following statements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continue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217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20B9-E637-FB22-D3B3-DED5732B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94CB9D-414F-26D3-DD0C-BF11C4B0A089}"/>
              </a:ext>
            </a:extLst>
          </p:cNvPr>
          <p:cNvSpPr/>
          <p:nvPr/>
        </p:nvSpPr>
        <p:spPr>
          <a:xfrm>
            <a:off x="645013" y="538897"/>
            <a:ext cx="2299062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Functions</a:t>
            </a:r>
            <a:endParaRPr lang="en-US" sz="5400" dirty="0">
              <a:solidFill>
                <a:schemeClr val="accent5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081277-4B7A-7518-6595-CD99C01F17AA}"/>
              </a:ext>
            </a:extLst>
          </p:cNvPr>
          <p:cNvSpPr/>
          <p:nvPr/>
        </p:nvSpPr>
        <p:spPr>
          <a:xfrm>
            <a:off x="5637646" y="2550844"/>
            <a:ext cx="1360030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Syntax for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functions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42463F-EEB5-1258-14EC-D2ECB1D9271C}"/>
              </a:ext>
            </a:extLst>
          </p:cNvPr>
          <p:cNvSpPr/>
          <p:nvPr/>
        </p:nvSpPr>
        <p:spPr>
          <a:xfrm>
            <a:off x="5604325" y="4284322"/>
            <a:ext cx="13633627" cy="317817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return_type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functionname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parameters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value;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AE75E9-8F78-0DB0-93D3-5023B3A98DFF}"/>
              </a:ext>
            </a:extLst>
          </p:cNvPr>
          <p:cNvSpPr/>
          <p:nvPr/>
        </p:nvSpPr>
        <p:spPr>
          <a:xfrm>
            <a:off x="5604324" y="8097236"/>
            <a:ext cx="13633627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functionname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parameters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statements;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2084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A6DC-0AFE-EFFE-EB3B-03BF352F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1B8E76D-3416-6353-5C2E-1C997423A8BF}"/>
                  </a:ext>
                </a:extLst>
              </p:cNvPr>
              <p:cNvSpPr/>
              <p:nvPr/>
            </p:nvSpPr>
            <p:spPr>
              <a:xfrm>
                <a:off x="730072" y="1882546"/>
                <a:ext cx="10710559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</a:t>
                </a:r>
                <a:endParaRPr lang="en-IN" sz="36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“%d %d”, &amp;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,&amp;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36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1B8E76D-3416-6353-5C2E-1C997423A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2" y="1882546"/>
                <a:ext cx="10710559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01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7570</TotalTime>
  <Words>6881</Words>
  <Application>Microsoft Macintosh PowerPoint</Application>
  <PresentationFormat>Custom</PresentationFormat>
  <Paragraphs>1219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943</cp:revision>
  <dcterms:modified xsi:type="dcterms:W3CDTF">2026-08-07T03:56:53Z</dcterms:modified>
</cp:coreProperties>
</file>