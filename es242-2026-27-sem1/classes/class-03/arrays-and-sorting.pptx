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78"/>
  </p:notesMasterIdLst>
  <p:sldIdLst>
    <p:sldId id="256" r:id="rId2"/>
    <p:sldId id="257" r:id="rId3"/>
    <p:sldId id="259" r:id="rId4"/>
    <p:sldId id="258" r:id="rId5"/>
    <p:sldId id="260" r:id="rId6"/>
    <p:sldId id="261" r:id="rId7"/>
    <p:sldId id="262" r:id="rId8"/>
    <p:sldId id="263" r:id="rId9"/>
    <p:sldId id="264" r:id="rId10"/>
    <p:sldId id="265" r:id="rId11"/>
    <p:sldId id="317" r:id="rId12"/>
    <p:sldId id="318" r:id="rId13"/>
    <p:sldId id="319" r:id="rId14"/>
    <p:sldId id="320" r:id="rId15"/>
    <p:sldId id="321" r:id="rId16"/>
    <p:sldId id="322" r:id="rId17"/>
    <p:sldId id="323" r:id="rId18"/>
    <p:sldId id="324" r:id="rId19"/>
    <p:sldId id="326" r:id="rId20"/>
    <p:sldId id="327" r:id="rId21"/>
    <p:sldId id="328" r:id="rId22"/>
    <p:sldId id="355" r:id="rId23"/>
    <p:sldId id="330" r:id="rId24"/>
    <p:sldId id="356" r:id="rId25"/>
    <p:sldId id="357" r:id="rId26"/>
    <p:sldId id="358" r:id="rId27"/>
    <p:sldId id="359" r:id="rId28"/>
    <p:sldId id="360" r:id="rId29"/>
    <p:sldId id="361" r:id="rId30"/>
    <p:sldId id="362" r:id="rId31"/>
    <p:sldId id="363" r:id="rId32"/>
    <p:sldId id="364" r:id="rId33"/>
    <p:sldId id="408" r:id="rId34"/>
    <p:sldId id="409" r:id="rId35"/>
    <p:sldId id="354" r:id="rId36"/>
    <p:sldId id="371" r:id="rId37"/>
    <p:sldId id="372" r:id="rId38"/>
    <p:sldId id="373" r:id="rId39"/>
    <p:sldId id="374" r:id="rId40"/>
    <p:sldId id="375" r:id="rId41"/>
    <p:sldId id="376" r:id="rId42"/>
    <p:sldId id="377" r:id="rId43"/>
    <p:sldId id="378" r:id="rId44"/>
    <p:sldId id="379" r:id="rId45"/>
    <p:sldId id="380" r:id="rId46"/>
    <p:sldId id="381" r:id="rId47"/>
    <p:sldId id="382" r:id="rId48"/>
    <p:sldId id="383" r:id="rId49"/>
    <p:sldId id="384" r:id="rId50"/>
    <p:sldId id="386" r:id="rId51"/>
    <p:sldId id="387" r:id="rId52"/>
    <p:sldId id="388" r:id="rId53"/>
    <p:sldId id="389" r:id="rId54"/>
    <p:sldId id="390" r:id="rId55"/>
    <p:sldId id="391" r:id="rId56"/>
    <p:sldId id="392" r:id="rId57"/>
    <p:sldId id="393" r:id="rId58"/>
    <p:sldId id="394" r:id="rId59"/>
    <p:sldId id="395" r:id="rId60"/>
    <p:sldId id="396" r:id="rId61"/>
    <p:sldId id="397" r:id="rId62"/>
    <p:sldId id="398" r:id="rId63"/>
    <p:sldId id="400" r:id="rId64"/>
    <p:sldId id="399" r:id="rId65"/>
    <p:sldId id="403" r:id="rId66"/>
    <p:sldId id="401" r:id="rId67"/>
    <p:sldId id="402" r:id="rId68"/>
    <p:sldId id="404" r:id="rId69"/>
    <p:sldId id="405" r:id="rId70"/>
    <p:sldId id="406" r:id="rId71"/>
    <p:sldId id="407" r:id="rId72"/>
    <p:sldId id="370" r:id="rId73"/>
    <p:sldId id="365" r:id="rId74"/>
    <p:sldId id="366" r:id="rId75"/>
    <p:sldId id="367" r:id="rId76"/>
    <p:sldId id="368" r:id="rId77"/>
  </p:sldIdLst>
  <p:sldSz cx="24384000" cy="13716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kumimoji="0" sz="4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1pPr>
    <a:lvl2pPr marL="0" marR="0" indent="4572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kumimoji="0" sz="4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2pPr>
    <a:lvl3pPr marL="0" marR="0" indent="9144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kumimoji="0" sz="4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3pPr>
    <a:lvl4pPr marL="0" marR="0" indent="13716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kumimoji="0" sz="4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4pPr>
    <a:lvl5pPr marL="0" marR="0" indent="18288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kumimoji="0" sz="4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5pPr>
    <a:lvl6pPr marL="0" marR="0" indent="22860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kumimoji="0" sz="4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6pPr>
    <a:lvl7pPr marL="0" marR="0" indent="27432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kumimoji="0" sz="4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7pPr>
    <a:lvl8pPr marL="0" marR="0" indent="32004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kumimoji="0" sz="4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8pPr>
    <a:lvl9pPr marL="0" marR="0" indent="36576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kumimoji="0" sz="4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0CEF2"/>
    <a:srgbClr val="941651"/>
    <a:srgbClr val="42424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940675A-B579-460E-94D1-54222C63F5DA}">
  <a:tblStyle styleId="{4C3C2611-4C71-4FC5-86AE-919BDF0F9419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E3E5E8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381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381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381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Row>
  </a:tblStyle>
  <a:tblStyle styleId="{C7B018BB-80A7-4F77-B60F-C8B233D01FF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36773"/>
              </a:solidFill>
              <a:prstDash val="solid"/>
              <a:miter lim="400000"/>
            </a:ln>
          </a:left>
          <a:right>
            <a:ln w="12700" cap="flat">
              <a:solidFill>
                <a:srgbClr val="536773"/>
              </a:solidFill>
              <a:prstDash val="solid"/>
              <a:miter lim="400000"/>
            </a:ln>
          </a:right>
          <a:top>
            <a:ln w="12700" cap="flat">
              <a:solidFill>
                <a:srgbClr val="536773"/>
              </a:solidFill>
              <a:prstDash val="solid"/>
              <a:miter lim="400000"/>
            </a:ln>
          </a:top>
          <a:bottom>
            <a:ln w="12700" cap="flat">
              <a:solidFill>
                <a:srgbClr val="536773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E3E5E8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254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536773"/>
              </a:solidFill>
              <a:prstDash val="solid"/>
              <a:miter lim="400000"/>
            </a:ln>
          </a:top>
          <a:bottom>
            <a:ln w="12700" cap="flat">
              <a:solidFill>
                <a:srgbClr val="536773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36773"/>
              </a:solidFill>
              <a:prstDash val="solid"/>
              <a:miter lim="400000"/>
            </a:ln>
          </a:left>
          <a:right>
            <a:ln w="12700" cap="flat">
              <a:solidFill>
                <a:srgbClr val="536773"/>
              </a:solidFill>
              <a:prstDash val="solid"/>
              <a:miter lim="400000"/>
            </a:ln>
          </a:right>
          <a:top>
            <a:ln w="381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36773"/>
              </a:solidFill>
              <a:prstDash val="solid"/>
              <a:miter lim="400000"/>
            </a:ln>
          </a:left>
          <a:right>
            <a:ln w="12700" cap="flat">
              <a:solidFill>
                <a:srgbClr val="536773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solidFill>
            <a:schemeClr val="accent1">
              <a:lumOff val="16847"/>
            </a:schemeClr>
          </a:solidFill>
        </a:fill>
      </a:tcStyle>
    </a:firstRow>
  </a:tblStyle>
  <a:tblStyle styleId="{EEE7283C-3CF3-47DC-8721-378D4A62B22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838383"/>
              </a:solidFill>
              <a:prstDash val="solid"/>
              <a:miter lim="400000"/>
            </a:ln>
          </a:left>
          <a:right>
            <a:ln w="12700" cap="flat">
              <a:solidFill>
                <a:srgbClr val="838383"/>
              </a:solidFill>
              <a:prstDash val="solid"/>
              <a:miter lim="400000"/>
            </a:ln>
          </a:right>
          <a:top>
            <a:ln w="12700" cap="flat">
              <a:solidFill>
                <a:srgbClr val="838383"/>
              </a:solidFill>
              <a:prstDash val="solid"/>
              <a:miter lim="400000"/>
            </a:ln>
          </a:top>
          <a:bottom>
            <a:ln w="12700" cap="flat">
              <a:solidFill>
                <a:srgbClr val="838383"/>
              </a:solidFill>
              <a:prstDash val="solid"/>
              <a:miter lim="400000"/>
            </a:ln>
          </a:bottom>
          <a:insideH>
            <a:ln w="12700" cap="flat">
              <a:solidFill>
                <a:srgbClr val="838383"/>
              </a:solidFill>
              <a:prstDash val="solid"/>
              <a:miter lim="400000"/>
            </a:ln>
          </a:insideH>
          <a:insideV>
            <a:ln w="12700" cap="flat">
              <a:solidFill>
                <a:srgbClr val="838383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EDEEEE"/>
          </a:solidFill>
        </a:fill>
      </a:tcStyle>
    </a:band2H>
    <a:firstCol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4D4D4D"/>
              </a:solidFill>
              <a:prstDash val="solid"/>
              <a:miter lim="400000"/>
            </a:ln>
          </a:left>
          <a:right>
            <a:ln w="12700" cap="flat">
              <a:solidFill>
                <a:srgbClr val="808080"/>
              </a:solidFill>
              <a:prstDash val="solid"/>
              <a:miter lim="400000"/>
            </a:ln>
          </a:right>
          <a:top>
            <a:ln w="12700" cap="flat">
              <a:solidFill>
                <a:srgbClr val="808080"/>
              </a:solidFill>
              <a:prstDash val="solid"/>
              <a:miter lim="400000"/>
            </a:ln>
          </a:top>
          <a:bottom>
            <a:ln w="12700" cap="flat">
              <a:solidFill>
                <a:srgbClr val="808080"/>
              </a:solidFill>
              <a:prstDash val="solid"/>
              <a:miter lim="400000"/>
            </a:ln>
          </a:bottom>
          <a:insideH>
            <a:ln w="12700" cap="flat">
              <a:solidFill>
                <a:srgbClr val="808080"/>
              </a:solidFill>
              <a:prstDash val="solid"/>
              <a:miter lim="400000"/>
            </a:ln>
          </a:insideH>
          <a:insideV>
            <a:ln w="12700" cap="flat">
              <a:solidFill>
                <a:srgbClr val="808080"/>
              </a:solidFill>
              <a:prstDash val="solid"/>
              <a:miter lim="400000"/>
            </a:ln>
          </a:insideV>
        </a:tcBdr>
        <a:fill>
          <a:solidFill>
            <a:srgbClr val="88FA4F"/>
          </a:solidFill>
        </a:fill>
      </a:tcStyle>
    </a:firstCol>
    <a:lastRow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38100" cap="flat">
              <a:solidFill>
                <a:schemeClr val="accent3"/>
              </a:solidFill>
              <a:prstDash val="solid"/>
              <a:miter lim="400000"/>
            </a:ln>
          </a:top>
          <a:bottom>
            <a:ln w="12700" cap="flat">
              <a:solidFill>
                <a:srgbClr val="4D4D4D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4D4D4D"/>
              </a:solidFill>
              <a:prstDash val="solid"/>
              <a:miter lim="400000"/>
            </a:ln>
          </a:left>
          <a:right>
            <a:ln w="12700" cap="flat">
              <a:solidFill>
                <a:srgbClr val="4D4D4D"/>
              </a:solidFill>
              <a:prstDash val="solid"/>
              <a:miter lim="400000"/>
            </a:ln>
          </a:right>
          <a:top>
            <a:ln w="12700" cap="flat">
              <a:solidFill>
                <a:srgbClr val="4D4D4D"/>
              </a:solidFill>
              <a:prstDash val="solid"/>
              <a:miter lim="400000"/>
            </a:ln>
          </a:top>
          <a:bottom>
            <a:ln w="12700" cap="flat">
              <a:solidFill>
                <a:srgbClr val="4D4D4D"/>
              </a:solidFill>
              <a:prstDash val="solid"/>
              <a:miter lim="400000"/>
            </a:ln>
          </a:bottom>
          <a:insideH>
            <a:ln w="12700" cap="flat">
              <a:solidFill>
                <a:srgbClr val="4D4D4D"/>
              </a:solidFill>
              <a:prstDash val="solid"/>
              <a:miter lim="400000"/>
            </a:ln>
          </a:insideH>
          <a:insideV>
            <a:ln w="12700" cap="flat">
              <a:solidFill>
                <a:srgbClr val="4D4D4D"/>
              </a:solidFill>
              <a:prstDash val="solid"/>
              <a:miter lim="400000"/>
            </a:ln>
          </a:insideV>
        </a:tcBdr>
        <a:fill>
          <a:solidFill>
            <a:srgbClr val="60D937"/>
          </a:solidFill>
        </a:fill>
      </a:tcStyle>
    </a:firstRow>
  </a:tblStyle>
  <a:tblStyle styleId="{CF821DB8-F4EB-4A41-A1BA-3FCAFE7338EE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12700" cap="flat">
              <a:solidFill>
                <a:srgbClr val="5B5A5A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AF7E9"/>
          </a:solidFill>
        </a:fill>
      </a:tcStyle>
    </a:wholeTbl>
    <a:band2H>
      <a:tcTxStyle/>
      <a:tcStyle>
        <a:tcBdr/>
        <a:fill>
          <a:solidFill>
            <a:schemeClr val="accent4">
              <a:hueOff val="348544"/>
              <a:lumOff val="7139"/>
            </a:schemeClr>
          </a:solidFill>
        </a:fill>
      </a:tcStyle>
    </a:band2H>
    <a:firstCol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12700" cap="flat">
              <a:solidFill>
                <a:srgbClr val="5B5A5A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8BB00"/>
          </a:solidFill>
        </a:fill>
      </a:tcStyle>
    </a:firstCol>
    <a:lastRow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38100" cap="flat">
              <a:solidFill>
                <a:srgbClr val="F8BA00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AF7E9"/>
          </a:solidFill>
        </a:fill>
      </a:tcStyle>
    </a:lastRow>
    <a:firstRow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12700" cap="flat">
              <a:solidFill>
                <a:srgbClr val="5B5A5A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F9400"/>
          </a:solidFill>
        </a:fill>
      </a:tcStyle>
    </a:firstRow>
  </a:tblStyle>
  <a:tblStyle styleId="{33BA23B1-9221-436E-865A-0063620EA4FD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464646"/>
              </a:solidFill>
              <a:prstDash val="solid"/>
              <a:miter lim="400000"/>
            </a:ln>
          </a:left>
          <a:right>
            <a:ln w="12700" cap="flat">
              <a:solidFill>
                <a:srgbClr val="464646"/>
              </a:solidFill>
              <a:prstDash val="solid"/>
              <a:miter lim="400000"/>
            </a:ln>
          </a:right>
          <a:top>
            <a:ln w="12700" cap="flat">
              <a:solidFill>
                <a:srgbClr val="464646"/>
              </a:solidFill>
              <a:prstDash val="solid"/>
              <a:miter lim="400000"/>
            </a:ln>
          </a:top>
          <a:bottom>
            <a:ln w="12700" cap="flat">
              <a:solidFill>
                <a:srgbClr val="464646"/>
              </a:solidFill>
              <a:prstDash val="solid"/>
              <a:miter lim="400000"/>
            </a:ln>
          </a:bottom>
          <a:insideH>
            <a:ln w="12700" cap="flat">
              <a:solidFill>
                <a:srgbClr val="464646"/>
              </a:solidFill>
              <a:prstDash val="solid"/>
              <a:miter lim="400000"/>
            </a:ln>
          </a:insideH>
          <a:insideV>
            <a:ln w="12700" cap="flat">
              <a:solidFill>
                <a:srgbClr val="464646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D4D5D5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5E5E5E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C3C3C3"/>
              </a:solidFill>
              <a:prstDash val="solid"/>
              <a:miter lim="400000"/>
            </a:ln>
          </a:top>
          <a:bottom>
            <a:ln w="12700" cap="flat">
              <a:solidFill>
                <a:srgbClr val="C3C3C3"/>
              </a:solidFill>
              <a:prstDash val="solid"/>
              <a:miter lim="400000"/>
            </a:ln>
          </a:bottom>
          <a:insideH>
            <a:ln w="12700" cap="flat">
              <a:solidFill>
                <a:srgbClr val="C3C3C3"/>
              </a:solidFill>
              <a:prstDash val="solid"/>
              <a:miter lim="400000"/>
            </a:ln>
          </a:insideH>
          <a:insideV>
            <a:ln w="12700" cap="flat">
              <a:solidFill>
                <a:srgbClr val="C3C3C3"/>
              </a:solidFill>
              <a:prstDash val="solid"/>
              <a:miter lim="400000"/>
            </a:ln>
          </a:insideV>
        </a:tcBdr>
        <a:fill>
          <a:solidFill>
            <a:srgbClr val="CB2A7B"/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E5E5E"/>
              </a:solidFill>
              <a:prstDash val="solid"/>
              <a:miter lim="400000"/>
            </a:ln>
          </a:left>
          <a:right>
            <a:ln w="12700" cap="flat">
              <a:solidFill>
                <a:srgbClr val="5E5E5E"/>
              </a:solidFill>
              <a:prstDash val="solid"/>
              <a:miter lim="400000"/>
            </a:ln>
          </a:right>
          <a:top>
            <a:ln w="38100" cap="flat">
              <a:solidFill>
                <a:srgbClr val="CB297B"/>
              </a:solidFill>
              <a:prstDash val="solid"/>
              <a:miter lim="400000"/>
            </a:ln>
          </a:top>
          <a:bottom>
            <a:ln w="12700" cap="flat">
              <a:solidFill>
                <a:srgbClr val="5E5E5E"/>
              </a:solidFill>
              <a:prstDash val="solid"/>
              <a:miter lim="400000"/>
            </a:ln>
          </a:bottom>
          <a:insideH>
            <a:ln w="12700" cap="flat">
              <a:solidFill>
                <a:srgbClr val="5E5E5E"/>
              </a:solidFill>
              <a:prstDash val="solid"/>
              <a:miter lim="400000"/>
            </a:ln>
          </a:insideH>
          <a:insideV>
            <a:ln w="12700" cap="flat">
              <a:solidFill>
                <a:srgbClr val="5E5E5E"/>
              </a:solidFill>
              <a:prstDash val="solid"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A6AAA9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5E5E5E"/>
              </a:solidFill>
              <a:prstDash val="solid"/>
              <a:miter lim="400000"/>
            </a:ln>
          </a:top>
          <a:bottom>
            <a:ln w="12700" cap="flat">
              <a:solidFill>
                <a:srgbClr val="A6AAA9"/>
              </a:solidFill>
              <a:prstDash val="solid"/>
              <a:miter lim="400000"/>
            </a:ln>
          </a:bottom>
          <a:insideH>
            <a:ln w="12700" cap="flat">
              <a:solidFill>
                <a:srgbClr val="A6AAA9"/>
              </a:solidFill>
              <a:prstDash val="solid"/>
              <a:miter lim="400000"/>
            </a:ln>
          </a:insideH>
          <a:insideV>
            <a:ln w="12700" cap="flat">
              <a:solidFill>
                <a:srgbClr val="A6AAA9"/>
              </a:solidFill>
              <a:prstDash val="solid"/>
              <a:miter lim="400000"/>
            </a:ln>
          </a:insideV>
        </a:tcBdr>
        <a:fill>
          <a:solidFill>
            <a:srgbClr val="991A5F"/>
          </a:solidFill>
        </a:fill>
      </a:tcStyle>
    </a:firstRow>
  </a:tblStyle>
  <a:tblStyle styleId="{2708684C-4D16-4618-839F-0558EEFCDFE6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EDEEEE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6C6C6C"/>
              </a:solidFill>
              <a:prstDash val="solid"/>
              <a:miter lim="400000"/>
            </a:ln>
          </a:left>
          <a:right>
            <a:ln w="254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6C6C6C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6C6C6C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D6DCE0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8308"/>
    <p:restoredTop sz="94753"/>
  </p:normalViewPr>
  <p:slideViewPr>
    <p:cSldViewPr snapToGrid="0">
      <p:cViewPr>
        <p:scale>
          <a:sx n="57" d="100"/>
          <a:sy n="57" d="100"/>
        </p:scale>
        <p:origin x="376" y="5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presProps" Target="presProps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82" Type="http://schemas.openxmlformats.org/officeDocument/2006/relationships/tableStyles" Target="tableStyles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slide" Target="slides/slide76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viewProps" Target="view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notesMaster" Target="notesMasters/notesMaster1.xml"/><Relationship Id="rId8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Shape 168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169" name="Shape 169"/>
          <p:cNvSpPr>
            <a:spLocks noGrp="1"/>
          </p:cNvSpPr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1pPr>
    <a:lvl2pPr indent="2286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2pPr>
    <a:lvl3pPr indent="4572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3pPr>
    <a:lvl4pPr indent="6858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4pPr>
    <a:lvl5pPr indent="9144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5pPr>
    <a:lvl6pPr indent="11430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6pPr>
    <a:lvl7pPr indent="13716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7pPr>
    <a:lvl8pPr indent="16002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8pPr>
    <a:lvl9pPr indent="18288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Author and Date"/>
          <p:cNvSpPr txBox="1">
            <a:spLocks noGrp="1"/>
          </p:cNvSpPr>
          <p:nvPr>
            <p:ph type="body" sz="quarter" idx="21" hasCustomPrompt="1"/>
          </p:nvPr>
        </p:nvSpPr>
        <p:spPr>
          <a:xfrm>
            <a:off x="1201340" y="11859862"/>
            <a:ext cx="21971003" cy="636979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sz="3600" b="1"/>
            </a:lvl1pPr>
          </a:lstStyle>
          <a:p>
            <a:r>
              <a:t>Author and Date</a:t>
            </a:r>
          </a:p>
        </p:txBody>
      </p:sp>
      <p:sp>
        <p:nvSpPr>
          <p:cNvPr id="12" name="Presentation Title"/>
          <p:cNvSpPr txBox="1">
            <a:spLocks noGrp="1"/>
          </p:cNvSpPr>
          <p:nvPr>
            <p:ph type="title" hasCustomPrompt="1"/>
          </p:nvPr>
        </p:nvSpPr>
        <p:spPr>
          <a:xfrm>
            <a:off x="1206496" y="2574991"/>
            <a:ext cx="21971004" cy="4648201"/>
          </a:xfrm>
          <a:prstGeom prst="rect">
            <a:avLst/>
          </a:prstGeom>
        </p:spPr>
        <p:txBody>
          <a:bodyPr anchor="b"/>
          <a:lstStyle>
            <a:lvl1pPr>
              <a:defRPr sz="11600" spc="-232"/>
            </a:lvl1pPr>
          </a:lstStyle>
          <a:p>
            <a:r>
              <a:t>Presentation Title</a:t>
            </a:r>
          </a:p>
        </p:txBody>
      </p:sp>
      <p:sp>
        <p:nvSpPr>
          <p:cNvPr id="13" name="Body Level One…"/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1201342" y="7223190"/>
            <a:ext cx="21971001" cy="1905001"/>
          </a:xfrm>
          <a:prstGeom prst="rect">
            <a:avLst/>
          </a:prstGeom>
        </p:spPr>
        <p:txBody>
          <a:bodyPr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1pPr>
            <a:lvl2pPr marL="0" indent="4572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2pPr>
            <a:lvl3pPr marL="0" indent="9144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3pPr>
            <a:lvl4pPr marL="0" indent="13716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4pPr>
            <a:lvl5pPr marL="0" indent="18288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5pPr>
          </a:lstStyle>
          <a:p>
            <a:r>
              <a:t>Presentation Subtitle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14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75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&amp;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Avocados and limes"/>
          <p:cNvSpPr>
            <a:spLocks noGrp="1"/>
          </p:cNvSpPr>
          <p:nvPr>
            <p:ph type="pic" idx="21"/>
          </p:nvPr>
        </p:nvSpPr>
        <p:spPr>
          <a:xfrm>
            <a:off x="-1155700" y="-1295400"/>
            <a:ext cx="26746200" cy="16018933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endParaRPr/>
          </a:p>
        </p:txBody>
      </p:sp>
      <p:sp>
        <p:nvSpPr>
          <p:cNvPr id="22" name="Presentation Title"/>
          <p:cNvSpPr txBox="1">
            <a:spLocks noGrp="1"/>
          </p:cNvSpPr>
          <p:nvPr>
            <p:ph type="title" hasCustomPrompt="1"/>
          </p:nvPr>
        </p:nvSpPr>
        <p:spPr>
          <a:xfrm>
            <a:off x="1206500" y="7124700"/>
            <a:ext cx="21971000" cy="4648200"/>
          </a:xfrm>
          <a:prstGeom prst="rect">
            <a:avLst/>
          </a:prstGeom>
        </p:spPr>
        <p:txBody>
          <a:bodyPr anchor="b"/>
          <a:lstStyle>
            <a:lvl1pPr>
              <a:defRPr sz="11600" spc="-232"/>
            </a:lvl1pPr>
          </a:lstStyle>
          <a:p>
            <a:r>
              <a:t>Presentation Title</a:t>
            </a:r>
          </a:p>
        </p:txBody>
      </p:sp>
      <p:sp>
        <p:nvSpPr>
          <p:cNvPr id="23" name="Author and Date"/>
          <p:cNvSpPr txBox="1">
            <a:spLocks noGrp="1"/>
          </p:cNvSpPr>
          <p:nvPr>
            <p:ph type="body" sz="quarter" idx="22" hasCustomPrompt="1"/>
          </p:nvPr>
        </p:nvSpPr>
        <p:spPr>
          <a:xfrm>
            <a:off x="1207690" y="1106137"/>
            <a:ext cx="21968621" cy="636979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sz="3600" b="1"/>
            </a:lvl1pPr>
          </a:lstStyle>
          <a:p>
            <a:r>
              <a:t>Author and Date</a:t>
            </a:r>
          </a:p>
        </p:txBody>
      </p:sp>
      <p:sp>
        <p:nvSpPr>
          <p:cNvPr id="24" name="Body Level One…"/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1206500" y="11609910"/>
            <a:ext cx="21971000" cy="1116952"/>
          </a:xfrm>
          <a:prstGeom prst="rect">
            <a:avLst/>
          </a:prstGeom>
        </p:spPr>
        <p:txBody>
          <a:bodyPr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1pPr>
            <a:lvl2pPr marL="0" indent="4572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2pPr>
            <a:lvl3pPr marL="0" indent="9144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3pPr>
            <a:lvl4pPr marL="0" indent="13716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4pPr>
            <a:lvl5pPr marL="0" indent="18288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5pPr>
          </a:lstStyle>
          <a:p>
            <a:r>
              <a:t>Presentation Subtitle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25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75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&amp; Photo 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Bowl with salmon cakes, salad and houmous"/>
          <p:cNvSpPr>
            <a:spLocks noGrp="1"/>
          </p:cNvSpPr>
          <p:nvPr>
            <p:ph type="pic" idx="21"/>
          </p:nvPr>
        </p:nvSpPr>
        <p:spPr>
          <a:xfrm>
            <a:off x="10972800" y="-203200"/>
            <a:ext cx="12144837" cy="141351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endParaRPr/>
          </a:p>
        </p:txBody>
      </p:sp>
      <p:sp>
        <p:nvSpPr>
          <p:cNvPr id="33" name="Slide Title"/>
          <p:cNvSpPr txBox="1">
            <a:spLocks noGrp="1"/>
          </p:cNvSpPr>
          <p:nvPr>
            <p:ph type="title" hasCustomPrompt="1"/>
          </p:nvPr>
        </p:nvSpPr>
        <p:spPr>
          <a:xfrm>
            <a:off x="1206500" y="1270000"/>
            <a:ext cx="9779000" cy="5882273"/>
          </a:xfrm>
          <a:prstGeom prst="rect">
            <a:avLst/>
          </a:prstGeom>
        </p:spPr>
        <p:txBody>
          <a:bodyPr anchor="b"/>
          <a:lstStyle/>
          <a:p>
            <a:r>
              <a:t>Slide Title</a:t>
            </a:r>
          </a:p>
        </p:txBody>
      </p:sp>
      <p:sp>
        <p:nvSpPr>
          <p:cNvPr id="34" name="Body Level One…"/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1206500" y="7060576"/>
            <a:ext cx="9779000" cy="5385424"/>
          </a:xfrm>
          <a:prstGeom prst="rect">
            <a:avLst/>
          </a:prstGeom>
        </p:spPr>
        <p:txBody>
          <a:bodyPr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1pPr>
            <a:lvl2pPr marL="0" indent="4572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2pPr>
            <a:lvl3pPr marL="0" indent="9144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3pPr>
            <a:lvl4pPr marL="0" indent="13716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4pPr>
            <a:lvl5pPr marL="0" indent="18288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5pPr>
          </a:lstStyle>
          <a:p>
            <a:r>
              <a:t>Slide Subtitle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35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2001499" y="13085233"/>
            <a:ext cx="368505" cy="374600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75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&amp;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Slide Title"/>
          <p:cNvSpPr txBox="1">
            <a:spLocks noGrp="1"/>
          </p:cNvSpPr>
          <p:nvPr>
            <p:ph type="title" hasCustomPrompt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Slide Title</a:t>
            </a:r>
          </a:p>
        </p:txBody>
      </p:sp>
      <p:sp>
        <p:nvSpPr>
          <p:cNvPr id="43" name="Slide Subtitle"/>
          <p:cNvSpPr txBox="1">
            <a:spLocks noGrp="1"/>
          </p:cNvSpPr>
          <p:nvPr>
            <p:ph type="body" sz="quarter" idx="21" hasCustomPrompt="1"/>
          </p:nvPr>
        </p:nvSpPr>
        <p:spPr>
          <a:xfrm>
            <a:off x="1206500" y="2372962"/>
            <a:ext cx="21971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1pPr>
          </a:lstStyle>
          <a:p>
            <a:r>
              <a:t>Slide Subtitle</a:t>
            </a:r>
          </a:p>
        </p:txBody>
      </p:sp>
      <p:sp>
        <p:nvSpPr>
          <p:cNvPr id="44" name="Body Level One…"/>
          <p:cNvSpPr txBox="1">
            <a:spLocks noGrp="1"/>
          </p:cNvSpPr>
          <p:nvPr>
            <p:ph type="body" idx="1" hasCustomPrompt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Slide bullet text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45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75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Body Level One…"/>
          <p:cNvSpPr txBox="1">
            <a:spLocks noGrp="1"/>
          </p:cNvSpPr>
          <p:nvPr>
            <p:ph type="body" idx="1" hasCustomPrompt="1"/>
          </p:nvPr>
        </p:nvSpPr>
        <p:spPr>
          <a:prstGeom prst="rect">
            <a:avLst/>
          </a:prstGeom>
        </p:spPr>
        <p:txBody>
          <a:bodyPr numCol="2" spcCol="1098550"/>
          <a:lstStyle/>
          <a:p>
            <a:r>
              <a:t>Slide bullet text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53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75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, Bullets &amp;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Slide Subtitle"/>
          <p:cNvSpPr txBox="1">
            <a:spLocks noGrp="1"/>
          </p:cNvSpPr>
          <p:nvPr>
            <p:ph type="body" sz="quarter" idx="21" hasCustomPrompt="1"/>
          </p:nvPr>
        </p:nvSpPr>
        <p:spPr>
          <a:xfrm>
            <a:off x="1206500" y="2372962"/>
            <a:ext cx="9779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1pPr>
          </a:lstStyle>
          <a:p>
            <a:r>
              <a:t>Slide Subtitle</a:t>
            </a:r>
          </a:p>
        </p:txBody>
      </p:sp>
      <p:sp>
        <p:nvSpPr>
          <p:cNvPr id="61" name="Body Level One…"/>
          <p:cNvSpPr txBox="1">
            <a:spLocks noGrp="1"/>
          </p:cNvSpPr>
          <p:nvPr>
            <p:ph type="body" sz="half" idx="1" hasCustomPrompt="1"/>
          </p:nvPr>
        </p:nvSpPr>
        <p:spPr>
          <a:xfrm>
            <a:off x="1206500" y="4248504"/>
            <a:ext cx="9779000" cy="8256630"/>
          </a:xfrm>
          <a:prstGeom prst="rect">
            <a:avLst/>
          </a:prstGeom>
        </p:spPr>
        <p:txBody>
          <a:bodyPr/>
          <a:lstStyle/>
          <a:p>
            <a:r>
              <a:t>Slide bullet text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62" name="Bowl of pappardelle pasta with parsley butter, roasted hazelnuts and shaved parmesan cheese"/>
          <p:cNvSpPr>
            <a:spLocks noGrp="1"/>
          </p:cNvSpPr>
          <p:nvPr>
            <p:ph type="pic" idx="22"/>
          </p:nvPr>
        </p:nvSpPr>
        <p:spPr>
          <a:xfrm>
            <a:off x="12192000" y="-407266"/>
            <a:ext cx="10916874" cy="14555832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endParaRPr/>
          </a:p>
        </p:txBody>
      </p:sp>
      <p:sp>
        <p:nvSpPr>
          <p:cNvPr id="63" name="Slide Title"/>
          <p:cNvSpPr txBox="1">
            <a:spLocks noGrp="1"/>
          </p:cNvSpPr>
          <p:nvPr>
            <p:ph type="title" hasCustomPrompt="1"/>
          </p:nvPr>
        </p:nvSpPr>
        <p:spPr>
          <a:xfrm>
            <a:off x="1206500" y="1079500"/>
            <a:ext cx="9779000" cy="1435100"/>
          </a:xfrm>
          <a:prstGeom prst="rect">
            <a:avLst/>
          </a:prstGeom>
        </p:spPr>
        <p:txBody>
          <a:bodyPr/>
          <a:lstStyle/>
          <a:p>
            <a:r>
              <a:t>Slide Title</a:t>
            </a:r>
          </a:p>
        </p:txBody>
      </p:sp>
      <p:sp>
        <p:nvSpPr>
          <p:cNvPr id="64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75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, Bullets &amp; Live Video Smal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Slide Subtitle"/>
          <p:cNvSpPr txBox="1">
            <a:spLocks noGrp="1"/>
          </p:cNvSpPr>
          <p:nvPr>
            <p:ph type="body" sz="quarter" idx="21" hasCustomPrompt="1"/>
          </p:nvPr>
        </p:nvSpPr>
        <p:spPr>
          <a:xfrm>
            <a:off x="1206500" y="2372962"/>
            <a:ext cx="9779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1pPr>
          </a:lstStyle>
          <a:p>
            <a:r>
              <a:t>Slide Subtitle</a:t>
            </a:r>
          </a:p>
        </p:txBody>
      </p:sp>
      <p:sp>
        <p:nvSpPr>
          <p:cNvPr id="72" name="Body Level One…"/>
          <p:cNvSpPr txBox="1">
            <a:spLocks noGrp="1"/>
          </p:cNvSpPr>
          <p:nvPr>
            <p:ph type="body" sz="half" idx="1" hasCustomPrompt="1"/>
          </p:nvPr>
        </p:nvSpPr>
        <p:spPr>
          <a:xfrm>
            <a:off x="1206500" y="4248504"/>
            <a:ext cx="9779000" cy="8256630"/>
          </a:xfrm>
          <a:prstGeom prst="rect">
            <a:avLst/>
          </a:prstGeom>
        </p:spPr>
        <p:txBody>
          <a:bodyPr/>
          <a:lstStyle/>
          <a:p>
            <a:r>
              <a:t>Slide bullet text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73" name="Slide Title"/>
          <p:cNvSpPr txBox="1">
            <a:spLocks noGrp="1"/>
          </p:cNvSpPr>
          <p:nvPr>
            <p:ph type="title" hasCustomPrompt="1"/>
          </p:nvPr>
        </p:nvSpPr>
        <p:spPr>
          <a:xfrm>
            <a:off x="1206500" y="1079500"/>
            <a:ext cx="9779000" cy="1435100"/>
          </a:xfrm>
          <a:prstGeom prst="rect">
            <a:avLst/>
          </a:prstGeom>
        </p:spPr>
        <p:txBody>
          <a:bodyPr/>
          <a:lstStyle/>
          <a:p>
            <a:r>
              <a:t>Slide Title</a:t>
            </a:r>
          </a:p>
        </p:txBody>
      </p:sp>
      <p:sp>
        <p:nvSpPr>
          <p:cNvPr id="74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75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, Bullets &amp; Live Video Lar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Slide Subtitle"/>
          <p:cNvSpPr txBox="1">
            <a:spLocks noGrp="1"/>
          </p:cNvSpPr>
          <p:nvPr>
            <p:ph type="body" sz="quarter" idx="21" hasCustomPrompt="1"/>
          </p:nvPr>
        </p:nvSpPr>
        <p:spPr>
          <a:xfrm>
            <a:off x="1206500" y="2372962"/>
            <a:ext cx="9779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1pPr>
          </a:lstStyle>
          <a:p>
            <a:r>
              <a:t>Slide Subtitle</a:t>
            </a:r>
          </a:p>
        </p:txBody>
      </p:sp>
      <p:sp>
        <p:nvSpPr>
          <p:cNvPr id="82" name="Body Level One…"/>
          <p:cNvSpPr txBox="1">
            <a:spLocks noGrp="1"/>
          </p:cNvSpPr>
          <p:nvPr>
            <p:ph type="body" sz="half" idx="1" hasCustomPrompt="1"/>
          </p:nvPr>
        </p:nvSpPr>
        <p:spPr>
          <a:xfrm>
            <a:off x="1206500" y="4248504"/>
            <a:ext cx="9779000" cy="8256630"/>
          </a:xfrm>
          <a:prstGeom prst="rect">
            <a:avLst/>
          </a:prstGeom>
        </p:spPr>
        <p:txBody>
          <a:bodyPr/>
          <a:lstStyle/>
          <a:p>
            <a:r>
              <a:t>Slide bullet text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83" name="Slide Title"/>
          <p:cNvSpPr txBox="1">
            <a:spLocks noGrp="1"/>
          </p:cNvSpPr>
          <p:nvPr>
            <p:ph type="title" hasCustomPrompt="1"/>
          </p:nvPr>
        </p:nvSpPr>
        <p:spPr>
          <a:xfrm>
            <a:off x="1206500" y="1079500"/>
            <a:ext cx="9779000" cy="1435100"/>
          </a:xfrm>
          <a:prstGeom prst="rect">
            <a:avLst/>
          </a:prstGeom>
        </p:spPr>
        <p:txBody>
          <a:bodyPr/>
          <a:lstStyle/>
          <a:p>
            <a:r>
              <a:t>Slide Title</a:t>
            </a:r>
          </a:p>
        </p:txBody>
      </p:sp>
      <p:sp>
        <p:nvSpPr>
          <p:cNvPr id="84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75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Section Title"/>
          <p:cNvSpPr txBox="1">
            <a:spLocks noGrp="1"/>
          </p:cNvSpPr>
          <p:nvPr>
            <p:ph type="title" hasCustomPrompt="1"/>
          </p:nvPr>
        </p:nvSpPr>
        <p:spPr>
          <a:xfrm>
            <a:off x="1206496" y="4533900"/>
            <a:ext cx="21971004" cy="4648200"/>
          </a:xfrm>
          <a:prstGeom prst="rect">
            <a:avLst/>
          </a:prstGeom>
        </p:spPr>
        <p:txBody>
          <a:bodyPr anchor="ctr"/>
          <a:lstStyle>
            <a:lvl1pPr>
              <a:defRPr sz="11600" b="0" spc="-232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</a:lstStyle>
          <a:p>
            <a:r>
              <a:t>Section Title</a:t>
            </a:r>
          </a:p>
        </p:txBody>
      </p:sp>
      <p:sp>
        <p:nvSpPr>
          <p:cNvPr id="92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2001499" y="13085233"/>
            <a:ext cx="368505" cy="374600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75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Slide Title"/>
          <p:cNvSpPr txBox="1">
            <a:spLocks noGrp="1"/>
          </p:cNvSpPr>
          <p:nvPr>
            <p:ph type="title" hasCustomPrompt="1"/>
          </p:nvPr>
        </p:nvSpPr>
        <p:spPr>
          <a:xfrm>
            <a:off x="1206500" y="1079500"/>
            <a:ext cx="21971000" cy="1434949"/>
          </a:xfrm>
          <a:prstGeom prst="rect">
            <a:avLst/>
          </a:prstGeom>
        </p:spPr>
        <p:txBody>
          <a:bodyPr/>
          <a:lstStyle/>
          <a:p>
            <a:r>
              <a:t>Slide Title</a:t>
            </a:r>
          </a:p>
        </p:txBody>
      </p:sp>
      <p:sp>
        <p:nvSpPr>
          <p:cNvPr id="100" name="Slide Subtitle"/>
          <p:cNvSpPr txBox="1">
            <a:spLocks noGrp="1"/>
          </p:cNvSpPr>
          <p:nvPr>
            <p:ph type="body" sz="quarter" idx="21" hasCustomPrompt="1"/>
          </p:nvPr>
        </p:nvSpPr>
        <p:spPr>
          <a:xfrm>
            <a:off x="1206500" y="2372962"/>
            <a:ext cx="21971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1pPr>
          </a:lstStyle>
          <a:p>
            <a:r>
              <a:t>Slide Subtitle</a:t>
            </a:r>
          </a:p>
        </p:txBody>
      </p:sp>
      <p:sp>
        <p:nvSpPr>
          <p:cNvPr id="101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75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Agenda Title"/>
          <p:cNvSpPr txBox="1">
            <a:spLocks noGrp="1"/>
          </p:cNvSpPr>
          <p:nvPr>
            <p:ph type="title" hasCustomPrompt="1"/>
          </p:nvPr>
        </p:nvSpPr>
        <p:spPr>
          <a:xfrm>
            <a:off x="1206500" y="1079500"/>
            <a:ext cx="21971000" cy="1435100"/>
          </a:xfrm>
          <a:prstGeom prst="rect">
            <a:avLst/>
          </a:prstGeom>
        </p:spPr>
        <p:txBody>
          <a:bodyPr/>
          <a:lstStyle/>
          <a:p>
            <a:r>
              <a:t>Agenda Title</a:t>
            </a:r>
          </a:p>
        </p:txBody>
      </p:sp>
      <p:sp>
        <p:nvSpPr>
          <p:cNvPr id="109" name="Agenda Subtitle"/>
          <p:cNvSpPr txBox="1">
            <a:spLocks noGrp="1"/>
          </p:cNvSpPr>
          <p:nvPr>
            <p:ph type="body" sz="quarter" idx="21" hasCustomPrompt="1"/>
          </p:nvPr>
        </p:nvSpPr>
        <p:spPr>
          <a:xfrm>
            <a:off x="1206500" y="2372962"/>
            <a:ext cx="21971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1pPr>
          </a:lstStyle>
          <a:p>
            <a:r>
              <a:t>Agenda Subtitle</a:t>
            </a:r>
          </a:p>
        </p:txBody>
      </p:sp>
      <p:sp>
        <p:nvSpPr>
          <p:cNvPr id="110" name="Body Level One…"/>
          <p:cNvSpPr txBox="1">
            <a:spLocks noGrp="1"/>
          </p:cNvSpPr>
          <p:nvPr>
            <p:ph type="body" idx="1" hasCustomPrompt="1"/>
          </p:nvPr>
        </p:nvSpPr>
        <p:spPr>
          <a:prstGeom prst="rect">
            <a:avLst/>
          </a:prstGeom>
        </p:spPr>
        <p:txBody>
          <a:bodyPr/>
          <a:lstStyle>
            <a:lvl1pPr marL="0" indent="0" defTabSz="825500">
              <a:lnSpc>
                <a:spcPct val="100000"/>
              </a:lnSpc>
              <a:spcBef>
                <a:spcPts val="1800"/>
              </a:spcBef>
              <a:buSzTx/>
              <a:buNone/>
              <a:defRPr sz="5500" spc="-55"/>
            </a:lvl1pPr>
            <a:lvl2pPr marL="0" indent="457200" defTabSz="825500">
              <a:lnSpc>
                <a:spcPct val="100000"/>
              </a:lnSpc>
              <a:spcBef>
                <a:spcPts val="1800"/>
              </a:spcBef>
              <a:buSzTx/>
              <a:buNone/>
              <a:defRPr sz="5500" spc="-55"/>
            </a:lvl2pPr>
            <a:lvl3pPr marL="0" indent="914400" defTabSz="825500">
              <a:lnSpc>
                <a:spcPct val="100000"/>
              </a:lnSpc>
              <a:spcBef>
                <a:spcPts val="1800"/>
              </a:spcBef>
              <a:buSzTx/>
              <a:buNone/>
              <a:defRPr sz="5500" spc="-55"/>
            </a:lvl3pPr>
            <a:lvl4pPr marL="0" indent="1371600" defTabSz="825500">
              <a:lnSpc>
                <a:spcPct val="100000"/>
              </a:lnSpc>
              <a:spcBef>
                <a:spcPts val="1800"/>
              </a:spcBef>
              <a:buSzTx/>
              <a:buNone/>
              <a:defRPr sz="5500" spc="-55"/>
            </a:lvl4pPr>
            <a:lvl5pPr marL="0" indent="1828800" defTabSz="825500">
              <a:lnSpc>
                <a:spcPct val="100000"/>
              </a:lnSpc>
              <a:spcBef>
                <a:spcPts val="1800"/>
              </a:spcBef>
              <a:buSzTx/>
              <a:buNone/>
              <a:defRPr sz="5500" spc="-55"/>
            </a:lvl5pPr>
          </a:lstStyle>
          <a:p>
            <a:r>
              <a:t>Agenda Topics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111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75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Body Level One…"/>
          <p:cNvSpPr txBox="1">
            <a:spLocks noGrp="1"/>
          </p:cNvSpPr>
          <p:nvPr>
            <p:ph type="body" sz="half" idx="1" hasCustomPrompt="1"/>
          </p:nvPr>
        </p:nvSpPr>
        <p:spPr>
          <a:xfrm>
            <a:off x="1206500" y="4920843"/>
            <a:ext cx="21971000" cy="3874314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80000"/>
              </a:lnSpc>
              <a:spcBef>
                <a:spcPts val="0"/>
              </a:spcBef>
              <a:buSzTx/>
              <a:buNone/>
              <a:defRPr sz="11600" spc="-232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  <a:lvl2pPr marL="0" indent="457200" algn="ctr">
              <a:lnSpc>
                <a:spcPct val="80000"/>
              </a:lnSpc>
              <a:spcBef>
                <a:spcPts val="0"/>
              </a:spcBef>
              <a:buSzTx/>
              <a:buNone/>
              <a:defRPr sz="11600" spc="-232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2pPr>
            <a:lvl3pPr marL="0" indent="914400" algn="ctr">
              <a:lnSpc>
                <a:spcPct val="80000"/>
              </a:lnSpc>
              <a:spcBef>
                <a:spcPts val="0"/>
              </a:spcBef>
              <a:buSzTx/>
              <a:buNone/>
              <a:defRPr sz="11600" spc="-232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3pPr>
            <a:lvl4pPr marL="0" indent="1371600" algn="ctr">
              <a:lnSpc>
                <a:spcPct val="80000"/>
              </a:lnSpc>
              <a:spcBef>
                <a:spcPts val="0"/>
              </a:spcBef>
              <a:buSzTx/>
              <a:buNone/>
              <a:defRPr sz="11600" spc="-232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4pPr>
            <a:lvl5pPr marL="0" indent="1828800" algn="ctr">
              <a:lnSpc>
                <a:spcPct val="80000"/>
              </a:lnSpc>
              <a:spcBef>
                <a:spcPts val="0"/>
              </a:spcBef>
              <a:buSzTx/>
              <a:buNone/>
              <a:defRPr sz="11600" spc="-232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5pPr>
          </a:lstStyle>
          <a:p>
            <a:r>
              <a:t>Statement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119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75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Big Fa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Body Level One…"/>
          <p:cNvSpPr txBox="1">
            <a:spLocks noGrp="1"/>
          </p:cNvSpPr>
          <p:nvPr>
            <p:ph type="body" idx="1" hasCustomPrompt="1"/>
          </p:nvPr>
        </p:nvSpPr>
        <p:spPr>
          <a:xfrm>
            <a:off x="1206500" y="1075927"/>
            <a:ext cx="21971000" cy="7241584"/>
          </a:xfrm>
          <a:prstGeom prst="rect">
            <a:avLst/>
          </a:prstGeom>
        </p:spPr>
        <p:txBody>
          <a:bodyPr anchor="b"/>
          <a:lstStyle>
            <a:lvl1pPr marL="0" indent="0" algn="ctr">
              <a:lnSpc>
                <a:spcPct val="80000"/>
              </a:lnSpc>
              <a:spcBef>
                <a:spcPts val="0"/>
              </a:spcBef>
              <a:buSzTx/>
              <a:buNone/>
              <a:defRPr sz="25000" b="1" spc="-250"/>
            </a:lvl1pPr>
            <a:lvl2pPr marL="0" indent="457200" algn="ctr">
              <a:lnSpc>
                <a:spcPct val="80000"/>
              </a:lnSpc>
              <a:spcBef>
                <a:spcPts val="0"/>
              </a:spcBef>
              <a:buSzTx/>
              <a:buNone/>
              <a:defRPr sz="25000" b="1" spc="-250"/>
            </a:lvl2pPr>
            <a:lvl3pPr marL="0" indent="914400" algn="ctr">
              <a:lnSpc>
                <a:spcPct val="80000"/>
              </a:lnSpc>
              <a:spcBef>
                <a:spcPts val="0"/>
              </a:spcBef>
              <a:buSzTx/>
              <a:buNone/>
              <a:defRPr sz="25000" b="1" spc="-250"/>
            </a:lvl3pPr>
            <a:lvl4pPr marL="0" indent="1371600" algn="ctr">
              <a:lnSpc>
                <a:spcPct val="80000"/>
              </a:lnSpc>
              <a:spcBef>
                <a:spcPts val="0"/>
              </a:spcBef>
              <a:buSzTx/>
              <a:buNone/>
              <a:defRPr sz="25000" b="1" spc="-250"/>
            </a:lvl4pPr>
            <a:lvl5pPr marL="0" indent="1828800" algn="ctr">
              <a:lnSpc>
                <a:spcPct val="80000"/>
              </a:lnSpc>
              <a:spcBef>
                <a:spcPts val="0"/>
              </a:spcBef>
              <a:buSzTx/>
              <a:buNone/>
              <a:defRPr sz="25000" b="1" spc="-250"/>
            </a:lvl5pPr>
          </a:lstStyle>
          <a:p>
            <a:r>
              <a:t>100%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127" name="Fact information"/>
          <p:cNvSpPr txBox="1">
            <a:spLocks noGrp="1"/>
          </p:cNvSpPr>
          <p:nvPr>
            <p:ph type="body" sz="quarter" idx="21" hasCustomPrompt="1"/>
          </p:nvPr>
        </p:nvSpPr>
        <p:spPr>
          <a:xfrm>
            <a:off x="1206500" y="8262180"/>
            <a:ext cx="21971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algn="ctr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1pPr>
          </a:lstStyle>
          <a:p>
            <a:r>
              <a:t>Fact information</a:t>
            </a:r>
          </a:p>
        </p:txBody>
      </p:sp>
      <p:sp>
        <p:nvSpPr>
          <p:cNvPr id="128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75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Attribution"/>
          <p:cNvSpPr txBox="1">
            <a:spLocks noGrp="1"/>
          </p:cNvSpPr>
          <p:nvPr>
            <p:ph type="body" sz="quarter" idx="21" hasCustomPrompt="1"/>
          </p:nvPr>
        </p:nvSpPr>
        <p:spPr>
          <a:xfrm>
            <a:off x="2430025" y="10675453"/>
            <a:ext cx="20200052" cy="636979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sz="3600" b="1"/>
            </a:lvl1pPr>
          </a:lstStyle>
          <a:p>
            <a:r>
              <a:t>Attribution</a:t>
            </a:r>
          </a:p>
        </p:txBody>
      </p:sp>
      <p:sp>
        <p:nvSpPr>
          <p:cNvPr id="136" name="Body Level One…"/>
          <p:cNvSpPr txBox="1">
            <a:spLocks noGrp="1"/>
          </p:cNvSpPr>
          <p:nvPr>
            <p:ph type="body" sz="half" idx="1" hasCustomPrompt="1"/>
          </p:nvPr>
        </p:nvSpPr>
        <p:spPr>
          <a:xfrm>
            <a:off x="1753923" y="4939860"/>
            <a:ext cx="20876154" cy="3836280"/>
          </a:xfrm>
          <a:prstGeom prst="rect">
            <a:avLst/>
          </a:prstGeom>
        </p:spPr>
        <p:txBody>
          <a:bodyPr/>
          <a:lstStyle>
            <a:lvl1pPr marL="638923" indent="-469900">
              <a:spcBef>
                <a:spcPts val="0"/>
              </a:spcBef>
              <a:buSzTx/>
              <a:buNone/>
              <a:defRPr sz="8500" spc="-17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  <a:lvl2pPr marL="638923" indent="-12700">
              <a:spcBef>
                <a:spcPts val="0"/>
              </a:spcBef>
              <a:buSzTx/>
              <a:buNone/>
              <a:defRPr sz="8500" spc="-17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2pPr>
            <a:lvl3pPr marL="638923" indent="444500">
              <a:spcBef>
                <a:spcPts val="0"/>
              </a:spcBef>
              <a:buSzTx/>
              <a:buNone/>
              <a:defRPr sz="8500" spc="-17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3pPr>
            <a:lvl4pPr marL="638923" indent="901700">
              <a:spcBef>
                <a:spcPts val="0"/>
              </a:spcBef>
              <a:buSzTx/>
              <a:buNone/>
              <a:defRPr sz="8500" spc="-17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4pPr>
            <a:lvl5pPr marL="638923" indent="1358900">
              <a:spcBef>
                <a:spcPts val="0"/>
              </a:spcBef>
              <a:buSzTx/>
              <a:buNone/>
              <a:defRPr sz="8500" spc="-17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5pPr>
          </a:lstStyle>
          <a:p>
            <a:r>
              <a:t>“Notable Quote”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137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75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Photo - 3 U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Bowl of salad with fried rice, boiled eggs and chopsticks"/>
          <p:cNvSpPr>
            <a:spLocks noGrp="1"/>
          </p:cNvSpPr>
          <p:nvPr>
            <p:ph type="pic" sz="quarter" idx="21"/>
          </p:nvPr>
        </p:nvSpPr>
        <p:spPr>
          <a:xfrm>
            <a:off x="15760700" y="1016000"/>
            <a:ext cx="7439099" cy="5949678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endParaRPr/>
          </a:p>
        </p:txBody>
      </p:sp>
      <p:sp>
        <p:nvSpPr>
          <p:cNvPr id="145" name="Bowl with salmon cakes, salad and houmous "/>
          <p:cNvSpPr>
            <a:spLocks noGrp="1"/>
          </p:cNvSpPr>
          <p:nvPr>
            <p:ph type="pic" sz="half" idx="22"/>
          </p:nvPr>
        </p:nvSpPr>
        <p:spPr>
          <a:xfrm>
            <a:off x="13500100" y="3978275"/>
            <a:ext cx="10439400" cy="12150181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endParaRPr/>
          </a:p>
        </p:txBody>
      </p:sp>
      <p:sp>
        <p:nvSpPr>
          <p:cNvPr id="146" name="Bowl of pappardelle pasta with parsley butter, roasted hazelnuts and shaved parmesan cheese"/>
          <p:cNvSpPr>
            <a:spLocks noGrp="1"/>
          </p:cNvSpPr>
          <p:nvPr>
            <p:ph type="pic" idx="23"/>
          </p:nvPr>
        </p:nvSpPr>
        <p:spPr>
          <a:xfrm>
            <a:off x="-139700" y="495300"/>
            <a:ext cx="16611600" cy="124587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endParaRPr/>
          </a:p>
        </p:txBody>
      </p:sp>
      <p:sp>
        <p:nvSpPr>
          <p:cNvPr id="147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75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bowl of salad with fried rice, boiled eggs and chopsticks"/>
          <p:cNvSpPr>
            <a:spLocks noGrp="1"/>
          </p:cNvSpPr>
          <p:nvPr>
            <p:ph type="pic" idx="21"/>
          </p:nvPr>
        </p:nvSpPr>
        <p:spPr>
          <a:xfrm>
            <a:off x="-1333500" y="-5524500"/>
            <a:ext cx="27051000" cy="216408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endParaRPr/>
          </a:p>
        </p:txBody>
      </p:sp>
      <p:sp>
        <p:nvSpPr>
          <p:cNvPr id="155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75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750">
        <p159:morph option="byObject"/>
      </p:transition>
    </mc:Choice>
    <mc:Fallback xmlns="">
      <p:transition spd="slow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jp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9">
            <a:alphaModFix amt="61595"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Title"/>
          <p:cNvSpPr txBox="1">
            <a:spLocks noGrp="1"/>
          </p:cNvSpPr>
          <p:nvPr>
            <p:ph type="title" hasCustomPrompt="1"/>
          </p:nvPr>
        </p:nvSpPr>
        <p:spPr>
          <a:xfrm>
            <a:off x="1206500" y="1079500"/>
            <a:ext cx="21971000" cy="14331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>
            <a:normAutofit/>
          </a:bodyPr>
          <a:lstStyle/>
          <a:p>
            <a:r>
              <a:t>Slide Title</a:t>
            </a:r>
          </a:p>
        </p:txBody>
      </p:sp>
      <p:sp>
        <p:nvSpPr>
          <p:cNvPr id="3" name="Body Level One…"/>
          <p:cNvSpPr txBox="1">
            <a:spLocks noGrp="1"/>
          </p:cNvSpPr>
          <p:nvPr>
            <p:ph type="body" idx="1" hasCustomPrompt="1"/>
          </p:nvPr>
        </p:nvSpPr>
        <p:spPr>
          <a:xfrm>
            <a:off x="1206500" y="4248504"/>
            <a:ext cx="21971000" cy="82560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>
            <a:normAutofit/>
          </a:bodyPr>
          <a:lstStyle/>
          <a:p>
            <a:r>
              <a:t>Slide bullet text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4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2001499" y="13080999"/>
            <a:ext cx="368505" cy="374600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 anchor="b">
            <a:spAutoFit/>
          </a:bodyPr>
          <a:lstStyle>
            <a:lvl1pPr algn="ctr" defTabSz="584200">
              <a:lnSpc>
                <a:spcPct val="100000"/>
              </a:lnSpc>
              <a:spcBef>
                <a:spcPts val="0"/>
              </a:spcBef>
              <a:defRPr sz="1800"/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</p:sldLayoutIdLst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750">
        <p159:morph option="byObject"/>
      </p:transition>
    </mc:Choice>
    <mc:Fallback xmlns="">
      <p:transition spd="slow">
        <p:fade/>
      </p:transition>
    </mc:Fallback>
  </mc:AlternateContent>
  <p:txStyles>
    <p:titleStyle>
      <a:lvl1pPr marL="0" marR="0" indent="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1pPr>
      <a:lvl2pPr marL="0" marR="0" indent="4572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2pPr>
      <a:lvl3pPr marL="0" marR="0" indent="9144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3pPr>
      <a:lvl4pPr marL="0" marR="0" indent="13716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4pPr>
      <a:lvl5pPr marL="0" marR="0" indent="18288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5pPr>
      <a:lvl6pPr marL="0" marR="0" indent="22860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6pPr>
      <a:lvl7pPr marL="0" marR="0" indent="27432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7pPr>
      <a:lvl8pPr marL="0" marR="0" indent="32004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8pPr>
      <a:lvl9pPr marL="0" marR="0" indent="36576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9pPr>
    </p:titleStyle>
    <p:bodyStyle>
      <a:lvl1pPr marL="6096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1pPr>
      <a:lvl2pPr marL="12192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2pPr>
      <a:lvl3pPr marL="18288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3pPr>
      <a:lvl4pPr marL="24384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4pPr>
      <a:lvl5pPr marL="30480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5pPr>
      <a:lvl6pPr marL="36576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6pPr>
      <a:lvl7pPr marL="42672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7pPr>
      <a:lvl8pPr marL="48768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8pPr>
      <a:lvl9pPr marL="54864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9pPr>
    </p:bodyStyle>
    <p:otherStyle>
      <a:lvl1pPr marL="0" marR="0" indent="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1pPr>
      <a:lvl2pPr marL="0" marR="0" indent="4572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2pPr>
      <a:lvl3pPr marL="0" marR="0" indent="9144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3pPr>
      <a:lvl4pPr marL="0" marR="0" indent="13716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4pPr>
      <a:lvl5pPr marL="0" marR="0" indent="18288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5pPr>
      <a:lvl6pPr marL="0" marR="0" indent="22860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6pPr>
      <a:lvl7pPr marL="0" marR="0" indent="27432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7pPr>
      <a:lvl8pPr marL="0" marR="0" indent="32004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8pPr>
      <a:lvl9pPr marL="0" marR="0" indent="36576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7.xml"/><Relationship Id="rId4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0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7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7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7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7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7.xml"/><Relationship Id="rId4" Type="http://schemas.openxmlformats.org/officeDocument/2006/relationships/image" Target="../media/image14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7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7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7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7.xml"/><Relationship Id="rId4" Type="http://schemas.openxmlformats.org/officeDocument/2006/relationships/image" Target="../media/image17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7.xml"/><Relationship Id="rId4" Type="http://schemas.openxmlformats.org/officeDocument/2006/relationships/image" Target="../media/image17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7.xml"/><Relationship Id="rId4" Type="http://schemas.openxmlformats.org/officeDocument/2006/relationships/image" Target="../media/image17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7.xml"/><Relationship Id="rId4" Type="http://schemas.openxmlformats.org/officeDocument/2006/relationships/image" Target="../media/image17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7.xml"/><Relationship Id="rId4" Type="http://schemas.openxmlformats.org/officeDocument/2006/relationships/image" Target="../media/image18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7.xml"/><Relationship Id="rId4" Type="http://schemas.openxmlformats.org/officeDocument/2006/relationships/image" Target="../media/image18.png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7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7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7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7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7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7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7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7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7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7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7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7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7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7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7.xml"/><Relationship Id="rId4" Type="http://schemas.openxmlformats.org/officeDocument/2006/relationships/image" Target="../media/image27.png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7.xml"/><Relationship Id="rId4" Type="http://schemas.openxmlformats.org/officeDocument/2006/relationships/image" Target="../media/image28.png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17.xml"/><Relationship Id="rId6" Type="http://schemas.openxmlformats.org/officeDocument/2006/relationships/image" Target="../media/image33.png"/><Relationship Id="rId5" Type="http://schemas.openxmlformats.org/officeDocument/2006/relationships/image" Target="../media/image32.png"/><Relationship Id="rId4" Type="http://schemas.openxmlformats.org/officeDocument/2006/relationships/image" Target="../media/image31.png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17.xml"/><Relationship Id="rId4" Type="http://schemas.openxmlformats.org/officeDocument/2006/relationships/image" Target="../media/image36.png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17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17.xml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17.xml"/><Relationship Id="rId6" Type="http://schemas.openxmlformats.org/officeDocument/2006/relationships/image" Target="../media/image42.png"/><Relationship Id="rId5" Type="http://schemas.openxmlformats.org/officeDocument/2006/relationships/image" Target="../media/image41.png"/><Relationship Id="rId4" Type="http://schemas.openxmlformats.org/officeDocument/2006/relationships/image" Target="../media/image40.png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17.xml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17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17.xml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1" Type="http://schemas.openxmlformats.org/officeDocument/2006/relationships/slideLayout" Target="../slideLayouts/slideLayout17.xml"/><Relationship Id="rId6" Type="http://schemas.openxmlformats.org/officeDocument/2006/relationships/image" Target="../media/image45.png"/><Relationship Id="rId5" Type="http://schemas.openxmlformats.org/officeDocument/2006/relationships/image" Target="../media/image42.png"/><Relationship Id="rId4" Type="http://schemas.openxmlformats.org/officeDocument/2006/relationships/image" Target="../media/image41.png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image" Target="../media/image450.png"/><Relationship Id="rId1" Type="http://schemas.openxmlformats.org/officeDocument/2006/relationships/slideLayout" Target="../slideLayouts/slideLayout17.xml"/><Relationship Id="rId5" Type="http://schemas.openxmlformats.org/officeDocument/2006/relationships/image" Target="../media/image48.png"/><Relationship Id="rId4" Type="http://schemas.openxmlformats.org/officeDocument/2006/relationships/image" Target="../media/image47.png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17.xml"/><Relationship Id="rId5" Type="http://schemas.openxmlformats.org/officeDocument/2006/relationships/image" Target="../media/image52.png"/><Relationship Id="rId4" Type="http://schemas.openxmlformats.org/officeDocument/2006/relationships/image" Target="../media/image51.png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17.xml"/></Relationships>
</file>

<file path=ppt/slides/_rels/slide6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17.xml"/><Relationship Id="rId5" Type="http://schemas.openxmlformats.org/officeDocument/2006/relationships/image" Target="../media/image57.png"/><Relationship Id="rId4" Type="http://schemas.openxmlformats.org/officeDocument/2006/relationships/image" Target="../media/image56.png"/></Relationships>
</file>

<file path=ppt/slides/_rels/slide69.xml.rels><?xml version="1.0" encoding="UTF-8" standalone="yes"?>
<Relationships xmlns="http://schemas.openxmlformats.org/package/2006/relationships"><Relationship Id="rId8" Type="http://schemas.openxmlformats.org/officeDocument/2006/relationships/image" Target="../media/image64.png"/><Relationship Id="rId3" Type="http://schemas.openxmlformats.org/officeDocument/2006/relationships/image" Target="../media/image59.png"/><Relationship Id="rId7" Type="http://schemas.openxmlformats.org/officeDocument/2006/relationships/image" Target="../media/image63.png"/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17.xml"/><Relationship Id="rId6" Type="http://schemas.openxmlformats.org/officeDocument/2006/relationships/image" Target="../media/image62.png"/><Relationship Id="rId5" Type="http://schemas.openxmlformats.org/officeDocument/2006/relationships/image" Target="../media/image61.png"/><Relationship Id="rId10" Type="http://schemas.openxmlformats.org/officeDocument/2006/relationships/image" Target="../media/image66.png"/><Relationship Id="rId4" Type="http://schemas.openxmlformats.org/officeDocument/2006/relationships/image" Target="../media/image60.png"/><Relationship Id="rId9" Type="http://schemas.openxmlformats.org/officeDocument/2006/relationships/image" Target="../media/image65.png"/></Relationships>
</file>

<file path=ppt/slides/_rels/slide70.xml.rels><?xml version="1.0" encoding="UTF-8" standalone="yes"?>
<Relationships xmlns="http://schemas.openxmlformats.org/package/2006/relationships"><Relationship Id="rId8" Type="http://schemas.openxmlformats.org/officeDocument/2006/relationships/image" Target="../media/image73.png"/><Relationship Id="rId3" Type="http://schemas.openxmlformats.org/officeDocument/2006/relationships/image" Target="../media/image68.png"/><Relationship Id="rId7" Type="http://schemas.openxmlformats.org/officeDocument/2006/relationships/image" Target="../media/image72.png"/><Relationship Id="rId2" Type="http://schemas.openxmlformats.org/officeDocument/2006/relationships/image" Target="../media/image67.png"/><Relationship Id="rId1" Type="http://schemas.openxmlformats.org/officeDocument/2006/relationships/slideLayout" Target="../slideLayouts/slideLayout17.xml"/><Relationship Id="rId6" Type="http://schemas.openxmlformats.org/officeDocument/2006/relationships/image" Target="../media/image71.png"/><Relationship Id="rId5" Type="http://schemas.openxmlformats.org/officeDocument/2006/relationships/image" Target="../media/image70.png"/><Relationship Id="rId10" Type="http://schemas.openxmlformats.org/officeDocument/2006/relationships/image" Target="../media/image75.png"/><Relationship Id="rId4" Type="http://schemas.openxmlformats.org/officeDocument/2006/relationships/image" Target="../media/image69.png"/><Relationship Id="rId9" Type="http://schemas.openxmlformats.org/officeDocument/2006/relationships/image" Target="../media/image74.png"/></Relationships>
</file>

<file path=ppt/slides/_rels/slide7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7.png"/><Relationship Id="rId2" Type="http://schemas.openxmlformats.org/officeDocument/2006/relationships/image" Target="../media/image76.png"/><Relationship Id="rId1" Type="http://schemas.openxmlformats.org/officeDocument/2006/relationships/slideLayout" Target="../slideLayouts/slideLayout17.xml"/><Relationship Id="rId6" Type="http://schemas.openxmlformats.org/officeDocument/2006/relationships/image" Target="../media/image80.png"/><Relationship Id="rId5" Type="http://schemas.openxmlformats.org/officeDocument/2006/relationships/image" Target="../media/image79.png"/><Relationship Id="rId4" Type="http://schemas.openxmlformats.org/officeDocument/2006/relationships/image" Target="../media/image78.png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7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2.png"/><Relationship Id="rId2" Type="http://schemas.openxmlformats.org/officeDocument/2006/relationships/image" Target="../media/image81.png"/><Relationship Id="rId1" Type="http://schemas.openxmlformats.org/officeDocument/2006/relationships/slideLayout" Target="../slideLayouts/slideLayout17.xml"/></Relationships>
</file>

<file path=ppt/slides/_rels/slide7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3.png"/><Relationship Id="rId2" Type="http://schemas.openxmlformats.org/officeDocument/2006/relationships/image" Target="../media/image81.png"/><Relationship Id="rId1" Type="http://schemas.openxmlformats.org/officeDocument/2006/relationships/slideLayout" Target="../slideLayouts/slideLayout17.xml"/></Relationships>
</file>

<file path=ppt/slides/_rels/slide7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4.png"/><Relationship Id="rId2" Type="http://schemas.openxmlformats.org/officeDocument/2006/relationships/image" Target="../media/image81.png"/><Relationship Id="rId1" Type="http://schemas.openxmlformats.org/officeDocument/2006/relationships/slideLayout" Target="../slideLayouts/slideLayout17.xml"/></Relationships>
</file>

<file path=ppt/slides/_rels/slide7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5.png"/><Relationship Id="rId2" Type="http://schemas.openxmlformats.org/officeDocument/2006/relationships/image" Target="../media/image81.png"/><Relationship Id="rId1" Type="http://schemas.openxmlformats.org/officeDocument/2006/relationships/slideLayout" Target="../slideLayouts/slideLayout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Candy: A problem on leetcode"/>
          <p:cNvSpPr/>
          <p:nvPr/>
        </p:nvSpPr>
        <p:spPr>
          <a:xfrm>
            <a:off x="645013" y="1189806"/>
            <a:ext cx="22731560" cy="11470843"/>
          </a:xfrm>
          <a:prstGeom prst="roundRect">
            <a:avLst>
              <a:gd name="adj" fmla="val 1661"/>
            </a:avLst>
          </a:prstGeom>
          <a:noFill/>
          <a:ln w="12700">
            <a:noFill/>
            <a:miter lim="400000"/>
          </a:ln>
          <a:effectLst>
            <a:outerShdw blurRad="355600" dist="114300" rotWithShape="0">
              <a:srgbClr val="000000">
                <a:alpha val="96558"/>
              </a:srgbClr>
            </a:outerShdw>
            <a:reflection stA="50000" endPos="0" dir="5400000" sy="-100000" algn="bl" rotWithShape="0"/>
          </a:effectLst>
          <a:extLst>
            <a:ext uri="{C572A759-6A51-4108-AA02-DFA0A04FC94B}">
              <ma14:wrappingTextBoxFlag xmlns="" xmlns:m="http://schemas.openxmlformats.org/officeDocument/2006/math" xmlns:ma14="http://schemas.microsoft.com/office/mac/drawingml/2011/main" xmlns:a14="http://schemas.microsoft.com/office/drawing/2010/main" xmlns:mc="http://schemas.openxmlformats.org/markup-compatibility/2006" val="1"/>
            </a:ext>
          </a:extLst>
        </p:spPr>
        <p:txBody>
          <a:bodyPr lIns="50800" tIns="50800" rIns="50800" bIns="50800" anchor="ctr"/>
          <a:lstStyle>
            <a:lvl1pPr algn="ctr" defTabSz="825500">
              <a:lnSpc>
                <a:spcPct val="100000"/>
              </a:lnSpc>
              <a:spcBef>
                <a:spcPts val="0"/>
              </a:spcBef>
              <a:defRPr sz="20000">
                <a:solidFill>
                  <a:srgbClr val="FFFFFF"/>
                </a:solidFill>
                <a:latin typeface="Chalkduster"/>
                <a:ea typeface="Chalkduster"/>
                <a:cs typeface="Chalkduster"/>
                <a:sym typeface="Chalkduster"/>
              </a:defRPr>
            </a:lvl1pPr>
          </a:lstStyle>
          <a:p>
            <a:r>
              <a:rPr lang="en-US" sz="14400" dirty="0">
                <a:latin typeface="Chalkduster" panose="03050602040202020205" pitchFamily="66" charset="77"/>
                <a:cs typeface="Fave Script Bold Pro" panose="020F0502020204030204" pitchFamily="34" charset="0"/>
              </a:rPr>
              <a:t>Arrays and Sorting</a:t>
            </a:r>
            <a:endParaRPr sz="14400" dirty="0">
              <a:latin typeface="Chalkduster" panose="03050602040202020205" pitchFamily="66" charset="77"/>
              <a:cs typeface="Fave Script Bold Pro" panose="020F0502020204030204" pitchFamily="34" charset="0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84CC36-73A8-653A-B606-7CB16D2126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Candy: A problem on leetcode">
            <a:extLst>
              <a:ext uri="{FF2B5EF4-FFF2-40B4-BE49-F238E27FC236}">
                <a16:creationId xmlns:a16="http://schemas.microsoft.com/office/drawing/2014/main" id="{CB79C97A-BB23-64BF-20E3-B306CFA83293}"/>
              </a:ext>
            </a:extLst>
          </p:cNvPr>
          <p:cNvSpPr/>
          <p:nvPr/>
        </p:nvSpPr>
        <p:spPr>
          <a:xfrm>
            <a:off x="645013" y="1189806"/>
            <a:ext cx="22731560" cy="11470843"/>
          </a:xfrm>
          <a:prstGeom prst="roundRect">
            <a:avLst>
              <a:gd name="adj" fmla="val 1661"/>
            </a:avLst>
          </a:prstGeom>
          <a:noFill/>
          <a:ln w="12700">
            <a:noFill/>
            <a:miter lim="400000"/>
          </a:ln>
          <a:effectLst>
            <a:outerShdw blurRad="355600" dist="114300" rotWithShape="0">
              <a:srgbClr val="000000">
                <a:alpha val="96558"/>
              </a:srgbClr>
            </a:outerShdw>
            <a:reflection stA="50000" endPos="0" dir="5400000" sy="-100000" algn="bl" rotWithShape="0"/>
          </a:effectLst>
          <a:extLst>
            <a:ext uri="{C572A759-6A51-4108-AA02-DFA0A04FC94B}">
              <ns3:wrappingTextBoxFlag xmlns:ns6="http://schemas.microsoft.com/office/powerpoint/2015/09/main" xmlns:ns5="http://schemas.openxmlformats.org/markup-compatibility/2006" xmlns:ns4="http://schemas.microsoft.com/office/powerpoint/2010/main" xmlns:ns3="http://schemas.microsoft.com/office/mac/drawingml/2011/main" xmlns:ns2="http://schemas.microsoft.com/office/drawing/2014/main" xmlns="" val="1"/>
            </a:ext>
          </a:extLst>
        </p:spPr>
        <p:txBody>
          <a:bodyPr lIns="50800" tIns="50800" rIns="50800" bIns="50800" anchor="ctr"/>
          <a:lstStyle>
            <a:lvl1pPr algn="ctr" defTabSz="825500">
              <a:lnSpc>
                <a:spcPct val="100000"/>
              </a:lnSpc>
              <a:spcBef>
                <a:spcPts val="0"/>
              </a:spcBef>
              <a:defRPr sz="20000">
                <a:solidFill>
                  <a:srgbClr val="FFFFFF"/>
                </a:solidFill>
                <a:latin typeface="Chalkduster"/>
                <a:ea typeface="Chalkduster"/>
                <a:cs typeface="Chalkduster"/>
                <a:sym typeface="Chalkduster"/>
              </a:defRPr>
            </a:lvl1pPr>
          </a:lstStyle>
          <a:p>
            <a:endParaRPr sz="17300" dirty="0">
              <a:latin typeface="Chalkduster" panose="03050602040202020205" pitchFamily="66" charset="77"/>
              <a:cs typeface="Fave Script Bold Pro" panose="020F0502020204030204" pitchFamily="34" charset="0"/>
            </a:endParaRPr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E7EE23CD-BF8D-5A30-8794-ABFB364837A7}"/>
              </a:ext>
            </a:extLst>
          </p:cNvPr>
          <p:cNvSpPr/>
          <p:nvPr/>
        </p:nvSpPr>
        <p:spPr>
          <a:xfrm>
            <a:off x="645013" y="1908251"/>
            <a:ext cx="9543957" cy="5016976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36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#include </a:t>
            </a:r>
            <a:r>
              <a:rPr lang="en-IN" sz="36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&lt;</a:t>
            </a:r>
            <a:r>
              <a:rPr lang="en-IN" sz="3600" dirty="0" err="1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stdio.h</a:t>
            </a:r>
            <a:r>
              <a:rPr lang="en-IN" sz="36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&gt;</a:t>
            </a:r>
            <a:b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</a:br>
            <a:b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</a:br>
            <a:r>
              <a:rPr lang="en-IN" sz="36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int</a:t>
            </a: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36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main</a:t>
            </a:r>
            <a:r>
              <a:rPr lang="en-IN" sz="3600" dirty="0">
                <a:solidFill>
                  <a:schemeClr val="accent4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()</a:t>
            </a: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{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36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int</a:t>
            </a: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36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num</a:t>
            </a: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[5] = {1,2,3,4,5};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36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num</a:t>
            </a: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[2] = 6;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3600" dirty="0" err="1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printf</a:t>
            </a: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(“%d”, </a:t>
            </a:r>
            <a:r>
              <a:rPr lang="en-IN" sz="36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num</a:t>
            </a: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[0]);</a:t>
            </a:r>
            <a:b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</a:br>
            <a:r>
              <a:rPr lang="en-IN" sz="36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return</a:t>
            </a: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0;</a:t>
            </a:r>
            <a:b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</a:b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}</a:t>
            </a:r>
            <a:endParaRPr lang="en-US" sz="3600" dirty="0">
              <a:solidFill>
                <a:schemeClr val="bg1"/>
              </a:solidFill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4678695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3DCDC6-6F22-9BC2-CBDF-CD22ECF45F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Candy: A problem on leetcode">
            <a:extLst>
              <a:ext uri="{FF2B5EF4-FFF2-40B4-BE49-F238E27FC236}">
                <a16:creationId xmlns:a16="http://schemas.microsoft.com/office/drawing/2014/main" id="{DB357E06-E8BC-99D9-F095-D02F7A7B696D}"/>
              </a:ext>
            </a:extLst>
          </p:cNvPr>
          <p:cNvSpPr/>
          <p:nvPr/>
        </p:nvSpPr>
        <p:spPr>
          <a:xfrm>
            <a:off x="645013" y="1189806"/>
            <a:ext cx="22731560" cy="11470843"/>
          </a:xfrm>
          <a:prstGeom prst="roundRect">
            <a:avLst>
              <a:gd name="adj" fmla="val 1661"/>
            </a:avLst>
          </a:prstGeom>
          <a:noFill/>
          <a:ln w="12700">
            <a:noFill/>
            <a:miter lim="400000"/>
          </a:ln>
          <a:effectLst>
            <a:outerShdw blurRad="355600" dist="114300" rotWithShape="0">
              <a:srgbClr val="000000">
                <a:alpha val="96558"/>
              </a:srgbClr>
            </a:outerShdw>
            <a:reflection stA="50000" endPos="0" dir="5400000" sy="-100000" algn="bl" rotWithShape="0"/>
          </a:effectLst>
          <a:extLst>
            <a:ext uri="{C572A759-6A51-4108-AA02-DFA0A04FC94B}">
              <ns3:wrappingTextBoxFlag xmlns:ns6="http://schemas.microsoft.com/office/powerpoint/2015/09/main" xmlns:ns5="http://schemas.openxmlformats.org/markup-compatibility/2006" xmlns:ns4="http://schemas.microsoft.com/office/powerpoint/2010/main" xmlns:ns3="http://schemas.microsoft.com/office/mac/drawingml/2011/main" xmlns:ns2="http://schemas.microsoft.com/office/drawing/2014/main" xmlns="" val="1"/>
            </a:ext>
          </a:extLst>
        </p:spPr>
        <p:txBody>
          <a:bodyPr lIns="50800" tIns="50800" rIns="50800" bIns="50800" anchor="ctr"/>
          <a:lstStyle>
            <a:lvl1pPr algn="ctr" defTabSz="825500">
              <a:lnSpc>
                <a:spcPct val="100000"/>
              </a:lnSpc>
              <a:spcBef>
                <a:spcPts val="0"/>
              </a:spcBef>
              <a:defRPr sz="20000">
                <a:solidFill>
                  <a:srgbClr val="FFFFFF"/>
                </a:solidFill>
                <a:latin typeface="Chalkduster"/>
                <a:ea typeface="Chalkduster"/>
                <a:cs typeface="Chalkduster"/>
                <a:sym typeface="Chalkduster"/>
              </a:defRPr>
            </a:lvl1pPr>
          </a:lstStyle>
          <a:p>
            <a:endParaRPr sz="17300" dirty="0">
              <a:latin typeface="Chalkduster" panose="03050602040202020205" pitchFamily="66" charset="77"/>
              <a:cs typeface="Fave Script Bold Pro" panose="020F050202020403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Rounded Rectangle 2">
                <a:extLst>
                  <a:ext uri="{FF2B5EF4-FFF2-40B4-BE49-F238E27FC236}">
                    <a16:creationId xmlns:a16="http://schemas.microsoft.com/office/drawing/2014/main" id="{741D16DF-6C60-E358-83A1-DE6FA275F787}"/>
                  </a:ext>
                </a:extLst>
              </p:cNvPr>
              <p:cNvSpPr/>
              <p:nvPr/>
            </p:nvSpPr>
            <p:spPr>
              <a:xfrm>
                <a:off x="645013" y="3510645"/>
                <a:ext cx="9543957" cy="7468711"/>
              </a:xfrm>
              <a:prstGeom prst="roundRect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 w="63500" cap="flat">
                <a:solidFill>
                  <a:schemeClr val="tx1"/>
                </a:solidFill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50800" tIns="50800" rIns="50800" bIns="50800" numCol="1" spcCol="38100" rtlCol="0" anchor="ctr">
                <a:spAutoFit/>
              </a:bodyPr>
              <a:lstStyle/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36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#include </a:t>
                </a:r>
                <a:r>
                  <a:rPr lang="en-IN" sz="36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&lt;</a:t>
                </a:r>
                <a:r>
                  <a:rPr lang="en-IN" sz="3600" dirty="0" err="1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stdio.h</a:t>
                </a:r>
                <a:r>
                  <a:rPr lang="en-IN" sz="36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&gt;</a:t>
                </a:r>
                <a:b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</a:br>
                <a:b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</a:br>
                <a:r>
                  <a:rPr lang="en-IN" sz="36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int</a:t>
                </a: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IN" sz="36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main</a:t>
                </a:r>
                <a:r>
                  <a:rPr lang="en-IN" sz="3600" dirty="0">
                    <a:solidFill>
                      <a:schemeClr val="accent4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()</a:t>
                </a: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{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US" sz="36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int</a:t>
                </a:r>
                <a:r>
                  <a:rPr lang="en-US" sz="36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3600" b="0" i="1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,</a:t>
                </a:r>
                <a14:m>
                  <m:oMath xmlns:m="http://schemas.openxmlformats.org/officeDocument/2006/math">
                    <m:r>
                      <a:rPr lang="en-US" sz="3600" b="0" i="1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36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</a:t>
                </a:r>
                <a:r>
                  <a:rPr lang="en-IN" sz="3600" dirty="0" err="1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scanf</a:t>
                </a: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(“%d”, &amp;</a:t>
                </a:r>
                <a14:m>
                  <m:oMath xmlns:m="http://schemas.openxmlformats.org/officeDocument/2006/math">
                    <m:r>
                      <a:rPr lang="en-IN" sz="36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);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36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int</a:t>
                </a: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IN" sz="3600" dirty="0" err="1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num</a:t>
                </a: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</a:t>
                </a:r>
                <a14:m>
                  <m:oMath xmlns:m="http://schemas.openxmlformats.org/officeDocument/2006/math">
                    <m:r>
                      <a:rPr lang="en-IN" sz="3600" i="1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];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</a:t>
                </a:r>
                <a:r>
                  <a:rPr lang="en-IN" sz="36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for</a:t>
                </a: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</a:t>
                </a:r>
                <a14:m>
                  <m:oMath xmlns:m="http://schemas.openxmlformats.org/officeDocument/2006/math">
                    <m:r>
                      <a:rPr lang="en-US" sz="3600" b="0" i="1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=0 ; </a:t>
                </a:r>
                <a14:m>
                  <m:oMath xmlns:m="http://schemas.openxmlformats.org/officeDocument/2006/math">
                    <m:r>
                      <a:rPr lang="en-US" sz="3600" i="1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&lt; </a:t>
                </a:r>
                <a14:m>
                  <m:oMath xmlns:m="http://schemas.openxmlformats.org/officeDocument/2006/math">
                    <m:r>
                      <a:rPr lang="en-IN" sz="36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; </a:t>
                </a:r>
                <a14:m>
                  <m:oMath xmlns:m="http://schemas.openxmlformats.org/officeDocument/2006/math">
                    <m:r>
                      <a:rPr lang="en-US" sz="3600" i="1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++)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{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</a:t>
                </a:r>
                <a:r>
                  <a:rPr lang="en-IN" sz="3600" dirty="0" err="1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scanf</a:t>
                </a: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(“%d”, &amp;</a:t>
                </a:r>
                <a:r>
                  <a:rPr lang="en-IN" sz="3600" dirty="0" err="1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num</a:t>
                </a: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</a:t>
                </a:r>
                <a14:m>
                  <m:oMath xmlns:m="http://schemas.openxmlformats.org/officeDocument/2006/math">
                    <m:r>
                      <a:rPr lang="en-US" sz="3600" i="1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]);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}</a:t>
                </a:r>
                <a:b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</a:b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</a:t>
                </a:r>
                <a:r>
                  <a:rPr lang="en-IN" sz="36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return</a:t>
                </a: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0;</a:t>
                </a:r>
                <a:b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</a:b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}</a:t>
                </a:r>
                <a:endParaRPr lang="en-US" sz="3600" dirty="0">
                  <a:solidFill>
                    <a:schemeClr val="bg1"/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3" name="Rounded Rectangle 2">
                <a:extLst>
                  <a:ext uri="{FF2B5EF4-FFF2-40B4-BE49-F238E27FC236}">
                    <a16:creationId xmlns:a16="http://schemas.microsoft.com/office/drawing/2014/main" id="{741D16DF-6C60-E358-83A1-DE6FA275F78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5013" y="3510645"/>
                <a:ext cx="9543957" cy="7468711"/>
              </a:xfrm>
              <a:prstGeom prst="roundRect">
                <a:avLst/>
              </a:prstGeom>
              <a:blipFill>
                <a:blip r:embed="rId2"/>
                <a:stretch>
                  <a:fillRect/>
                </a:stretch>
              </a:blipFill>
              <a:ln w="63500" cap="flat">
                <a:solidFill>
                  <a:schemeClr val="tx1"/>
                </a:solidFill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AF16800F-F5FD-439B-43B9-63CF85D0FBAB}"/>
              </a:ext>
            </a:extLst>
          </p:cNvPr>
          <p:cNvSpPr/>
          <p:nvPr/>
        </p:nvSpPr>
        <p:spPr>
          <a:xfrm>
            <a:off x="645013" y="1312897"/>
            <a:ext cx="23093974" cy="1032907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bg1"/>
                </a:solidFill>
                <a:latin typeface="Bradley Hand" pitchFamily="2" charset="77"/>
              </a:rPr>
              <a:t>Taking input from the user</a:t>
            </a:r>
          </a:p>
        </p:txBody>
      </p:sp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0EEC79C2-5339-17A8-75CB-0E2DFA8F7EC6}"/>
              </a:ext>
            </a:extLst>
          </p:cNvPr>
          <p:cNvSpPr/>
          <p:nvPr/>
        </p:nvSpPr>
        <p:spPr>
          <a:xfrm>
            <a:off x="13949916" y="3419103"/>
            <a:ext cx="8342136" cy="6549311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685800" indent="-685800" defTabSz="82550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5400" dirty="0">
                <a:solidFill>
                  <a:schemeClr val="bg1"/>
                </a:solidFill>
                <a:latin typeface="Bradley Hand" pitchFamily="2" charset="77"/>
              </a:rPr>
              <a:t>Write a program to add the number 6 at the end of </a:t>
            </a:r>
            <a:r>
              <a:rPr lang="en-US" sz="5400" dirty="0">
                <a:solidFill>
                  <a:schemeClr val="accent1">
                    <a:lumMod val="40000"/>
                    <a:lumOff val="60000"/>
                  </a:schemeClr>
                </a:solidFill>
                <a:latin typeface="Bradley Hand" pitchFamily="2" charset="77"/>
              </a:rPr>
              <a:t>num</a:t>
            </a:r>
          </a:p>
          <a:p>
            <a:pPr marL="685800" indent="-685800" defTabSz="82550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5400" dirty="0">
                <a:solidFill>
                  <a:schemeClr val="bg1"/>
                </a:solidFill>
                <a:latin typeface="Bradley Hand" pitchFamily="2" charset="77"/>
              </a:rPr>
              <a:t>Unfortunately, we cannot write: num += [6]</a:t>
            </a:r>
          </a:p>
          <a:p>
            <a:pPr marL="685800" indent="-685800" defTabSz="82550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5400" dirty="0">
                <a:solidFill>
                  <a:schemeClr val="accent6">
                    <a:lumMod val="40000"/>
                    <a:lumOff val="60000"/>
                  </a:schemeClr>
                </a:solidFill>
                <a:latin typeface="Bradley Hand" pitchFamily="2" charset="77"/>
              </a:rPr>
              <a:t>What to do then?</a:t>
            </a:r>
          </a:p>
        </p:txBody>
      </p:sp>
    </p:spTree>
    <p:extLst>
      <p:ext uri="{BB962C8B-B14F-4D97-AF65-F5344CB8AC3E}">
        <p14:creationId xmlns:p14="http://schemas.microsoft.com/office/powerpoint/2010/main" val="3130975037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D09C3E-8FC5-A17C-44EA-399A8E98DA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3" name="Rounded Rectangle 2">
                <a:extLst>
                  <a:ext uri="{FF2B5EF4-FFF2-40B4-BE49-F238E27FC236}">
                    <a16:creationId xmlns:a16="http://schemas.microsoft.com/office/drawing/2014/main" id="{E1B109DB-F665-C576-DAF6-DD1C73A7DD32}"/>
                  </a:ext>
                </a:extLst>
              </p:cNvPr>
              <p:cNvSpPr/>
              <p:nvPr/>
            </p:nvSpPr>
            <p:spPr>
              <a:xfrm>
                <a:off x="645013" y="834132"/>
                <a:ext cx="9543957" cy="12047736"/>
              </a:xfrm>
              <a:prstGeom prst="roundRect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 w="63500" cap="flat">
                <a:solidFill>
                  <a:schemeClr val="tx1"/>
                </a:solidFill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50800" tIns="50800" rIns="50800" bIns="50800" numCol="1" spcCol="38100" rtlCol="0" anchor="ctr">
                <a:spAutoFit/>
              </a:bodyPr>
              <a:lstStyle/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36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#include </a:t>
                </a:r>
                <a:r>
                  <a:rPr lang="en-IN" sz="36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&lt;</a:t>
                </a:r>
                <a:r>
                  <a:rPr lang="en-IN" sz="3600" dirty="0" err="1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stdio.h</a:t>
                </a:r>
                <a:r>
                  <a:rPr lang="en-IN" sz="36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&gt;</a:t>
                </a:r>
                <a:b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</a:br>
                <a:b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</a:br>
                <a:r>
                  <a:rPr lang="en-IN" sz="36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int</a:t>
                </a: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IN" sz="36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main</a:t>
                </a:r>
                <a:r>
                  <a:rPr lang="en-IN" sz="3600" dirty="0">
                    <a:solidFill>
                      <a:schemeClr val="accent4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()</a:t>
                </a: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{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US" sz="36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 int</a:t>
                </a:r>
                <a:r>
                  <a:rPr lang="en-US" sz="36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3600" i="1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,</a:t>
                </a:r>
                <a14:m>
                  <m:oMath xmlns:m="http://schemas.openxmlformats.org/officeDocument/2006/math">
                    <m:r>
                      <a:rPr lang="en-US" sz="3600" i="1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36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</a:t>
                </a:r>
                <a:r>
                  <a:rPr lang="en-IN" sz="3600" dirty="0" err="1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scanf</a:t>
                </a: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(“%d”, &amp;</a:t>
                </a:r>
                <a14:m>
                  <m:oMath xmlns:m="http://schemas.openxmlformats.org/officeDocument/2006/math">
                    <m:r>
                      <a:rPr lang="en-IN" sz="36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);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36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int</a:t>
                </a: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IN" sz="3600" dirty="0" err="1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num</a:t>
                </a: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</a:t>
                </a:r>
                <a14:m>
                  <m:oMath xmlns:m="http://schemas.openxmlformats.org/officeDocument/2006/math">
                    <m:r>
                      <a:rPr lang="en-IN" sz="36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];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</a:t>
                </a:r>
                <a:r>
                  <a:rPr lang="en-IN" sz="36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for</a:t>
                </a: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</a:t>
                </a:r>
                <a14:m>
                  <m:oMath xmlns:m="http://schemas.openxmlformats.org/officeDocument/2006/math">
                    <m:r>
                      <a:rPr lang="en-US" sz="3600" i="1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=0 ; </a:t>
                </a:r>
                <a14:m>
                  <m:oMath xmlns:m="http://schemas.openxmlformats.org/officeDocument/2006/math">
                    <m:r>
                      <a:rPr lang="en-US" sz="3600" i="1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&lt; </a:t>
                </a:r>
                <a14:m>
                  <m:oMath xmlns:m="http://schemas.openxmlformats.org/officeDocument/2006/math">
                    <m:r>
                      <a:rPr lang="en-IN" sz="36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; </a:t>
                </a:r>
                <a14:m>
                  <m:oMath xmlns:m="http://schemas.openxmlformats.org/officeDocument/2006/math">
                    <m:r>
                      <a:rPr lang="en-US" sz="3600" i="1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++)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{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</a:t>
                </a:r>
                <a:r>
                  <a:rPr lang="en-IN" sz="3600" dirty="0" err="1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scanf</a:t>
                </a: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(“%d”, &amp;</a:t>
                </a:r>
                <a:r>
                  <a:rPr lang="en-IN" sz="3600" dirty="0" err="1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num</a:t>
                </a: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</a:t>
                </a:r>
                <a14:m>
                  <m:oMath xmlns:m="http://schemas.openxmlformats.org/officeDocument/2006/math">
                    <m:r>
                      <a:rPr lang="en-US" sz="3600" i="1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]);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}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endParaRPr lang="en-IN" sz="3600" dirty="0">
                  <a:solidFill>
                    <a:schemeClr val="bg1"/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//Simulate </a:t>
                </a:r>
                <a:r>
                  <a:rPr lang="en-IN" sz="3600" dirty="0" err="1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num</a:t>
                </a: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+= [6]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36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int</a:t>
                </a: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IN" sz="3600" dirty="0" err="1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arr</a:t>
                </a: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</a:t>
                </a:r>
                <a14:m>
                  <m:oMath xmlns:m="http://schemas.openxmlformats.org/officeDocument/2006/math">
                    <m:r>
                      <a:rPr lang="en-IN" sz="3600" i="1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+1];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</a:t>
                </a:r>
                <a:r>
                  <a:rPr lang="en-IN" sz="36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for</a:t>
                </a: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</a:t>
                </a:r>
                <a14:m>
                  <m:oMath xmlns:m="http://schemas.openxmlformats.org/officeDocument/2006/math">
                    <m:r>
                      <a:rPr lang="en-IN" sz="3600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=0; </a:t>
                </a:r>
                <a14:m>
                  <m:oMath xmlns:m="http://schemas.openxmlformats.org/officeDocument/2006/math">
                    <m:r>
                      <a:rPr lang="en-IN" sz="3600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&lt; </a:t>
                </a:r>
                <a14:m>
                  <m:oMath xmlns:m="http://schemas.openxmlformats.org/officeDocument/2006/math">
                    <m:r>
                      <a:rPr lang="en-IN" sz="3600" i="1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; </a:t>
                </a:r>
                <a14:m>
                  <m:oMath xmlns:m="http://schemas.openxmlformats.org/officeDocument/2006/math">
                    <m:r>
                      <a:rPr lang="en-IN" sz="3600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++)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{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</a:t>
                </a:r>
                <a:r>
                  <a:rPr lang="en-IN" sz="3600" dirty="0" err="1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arr</a:t>
                </a: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</a:t>
                </a:r>
                <a14:m>
                  <m:oMath xmlns:m="http://schemas.openxmlformats.org/officeDocument/2006/math">
                    <m:r>
                      <a:rPr lang="en-IN" sz="3600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] = </a:t>
                </a:r>
                <a:r>
                  <a:rPr lang="en-IN" sz="3600" dirty="0" err="1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num</a:t>
                </a: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</a:t>
                </a:r>
                <a14:m>
                  <m:oMath xmlns:m="http://schemas.openxmlformats.org/officeDocument/2006/math">
                    <m:r>
                      <a:rPr lang="en-IN" sz="3600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];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}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</a:t>
                </a:r>
                <a:r>
                  <a:rPr lang="en-IN" sz="3600" dirty="0" err="1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arr</a:t>
                </a: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</a:t>
                </a:r>
                <a14:m>
                  <m:oMath xmlns:m="http://schemas.openxmlformats.org/officeDocument/2006/math">
                    <m:r>
                      <a:rPr lang="en-IN" sz="3600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] = 6;</a:t>
                </a:r>
                <a:b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</a:b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</a:t>
                </a:r>
                <a:r>
                  <a:rPr lang="en-IN" sz="36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return</a:t>
                </a: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0;</a:t>
                </a:r>
                <a:b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</a:b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}</a:t>
                </a:r>
                <a:endParaRPr lang="en-US" sz="3600" dirty="0">
                  <a:solidFill>
                    <a:schemeClr val="bg1"/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>
          <p:sp>
            <p:nvSpPr>
              <p:cNvPr id="3" name="Rounded Rectangle 2">
                <a:extLst>
                  <a:ext uri="{FF2B5EF4-FFF2-40B4-BE49-F238E27FC236}">
                    <a16:creationId xmlns:a16="http://schemas.microsoft.com/office/drawing/2014/main" id="{E1B109DB-F665-C576-DAF6-DD1C73A7DD3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5013" y="834132"/>
                <a:ext cx="9543957" cy="12047736"/>
              </a:xfrm>
              <a:prstGeom prst="roundRect">
                <a:avLst/>
              </a:prstGeom>
              <a:blipFill>
                <a:blip r:embed="rId2"/>
                <a:stretch>
                  <a:fillRect/>
                </a:stretch>
              </a:blipFill>
              <a:ln w="63500" cap="flat">
                <a:solidFill>
                  <a:schemeClr val="tx1"/>
                </a:solidFill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" name="Rounded Rectangle 6">
                <a:extLst>
                  <a:ext uri="{FF2B5EF4-FFF2-40B4-BE49-F238E27FC236}">
                    <a16:creationId xmlns:a16="http://schemas.microsoft.com/office/drawing/2014/main" id="{70F53D61-A992-037B-8A3C-A5270904ABFA}"/>
                  </a:ext>
                </a:extLst>
              </p:cNvPr>
              <p:cNvSpPr/>
              <p:nvPr/>
            </p:nvSpPr>
            <p:spPr>
              <a:xfrm>
                <a:off x="8893731" y="8561298"/>
                <a:ext cx="2105601" cy="1032907"/>
              </a:xfrm>
              <a:prstGeom prst="roundRect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 w="63500" cap="flat">
                <a:solidFill>
                  <a:schemeClr val="tx1"/>
                </a:solidFill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50800" tIns="50800" rIns="50800" bIns="50800" numCol="1" spcCol="38100" rtlCol="0" anchor="ctr">
                <a:spAutoFit/>
              </a:bodyPr>
              <a:lstStyle/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540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c</m:t>
                      </m:r>
                      <m:r>
                        <a:rPr lang="en-US" sz="5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𝑛</m:t>
                      </m:r>
                    </m:oMath>
                  </m:oMathPara>
                </a14:m>
                <a:endParaRPr lang="en-US" sz="5400" dirty="0">
                  <a:solidFill>
                    <a:schemeClr val="bg1"/>
                  </a:solidFill>
                  <a:latin typeface="Bradley Hand" pitchFamily="2" charset="77"/>
                </a:endParaRPr>
              </a:p>
            </p:txBody>
          </p:sp>
        </mc:Choice>
        <mc:Fallback>
          <p:sp>
            <p:nvSpPr>
              <p:cNvPr id="7" name="Rounded Rectangle 6">
                <a:extLst>
                  <a:ext uri="{FF2B5EF4-FFF2-40B4-BE49-F238E27FC236}">
                    <a16:creationId xmlns:a16="http://schemas.microsoft.com/office/drawing/2014/main" id="{70F53D61-A992-037B-8A3C-A5270904ABF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93731" y="8561298"/>
                <a:ext cx="2105601" cy="1032907"/>
              </a:xfrm>
              <a:prstGeom prst="roundRect">
                <a:avLst/>
              </a:prstGeom>
              <a:blipFill>
                <a:blip r:embed="rId3"/>
                <a:stretch>
                  <a:fillRect/>
                </a:stretch>
              </a:blipFill>
              <a:ln w="63500" cap="flat">
                <a:solidFill>
                  <a:schemeClr val="tx1"/>
                </a:solidFill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1" name="Candy: A problem on leetcode">
            <a:extLst>
              <a:ext uri="{FF2B5EF4-FFF2-40B4-BE49-F238E27FC236}">
                <a16:creationId xmlns:a16="http://schemas.microsoft.com/office/drawing/2014/main" id="{FA7EBB3D-29B2-943B-CF4B-07F454DF73B2}"/>
              </a:ext>
            </a:extLst>
          </p:cNvPr>
          <p:cNvSpPr/>
          <p:nvPr/>
        </p:nvSpPr>
        <p:spPr>
          <a:xfrm>
            <a:off x="645013" y="1189806"/>
            <a:ext cx="22731560" cy="11470843"/>
          </a:xfrm>
          <a:prstGeom prst="roundRect">
            <a:avLst>
              <a:gd name="adj" fmla="val 1661"/>
            </a:avLst>
          </a:prstGeom>
          <a:noFill/>
          <a:ln w="12700">
            <a:noFill/>
            <a:miter lim="400000"/>
          </a:ln>
          <a:effectLst>
            <a:outerShdw blurRad="355600" dist="114300" rotWithShape="0">
              <a:srgbClr val="000000">
                <a:alpha val="96558"/>
              </a:srgbClr>
            </a:outerShdw>
            <a:reflection stA="50000" endPos="0" dir="5400000" sy="-100000" algn="bl" rotWithShape="0"/>
          </a:effectLst>
          <a:extLst>
            <a:ext uri="{C572A759-6A51-4108-AA02-DFA0A04FC94B}">
              <ns3:wrappingTextBoxFlag xmlns:ns6="http://schemas.microsoft.com/office/powerpoint/2015/09/main" xmlns:ns5="http://schemas.openxmlformats.org/markup-compatibility/2006" xmlns:ns4="http://schemas.microsoft.com/office/powerpoint/2010/main" xmlns:ns3="http://schemas.microsoft.com/office/mac/drawingml/2011/main" xmlns:ns2="http://schemas.microsoft.com/office/drawing/2014/main" xmlns="" val="1"/>
            </a:ext>
          </a:extLst>
        </p:spPr>
        <p:txBody>
          <a:bodyPr lIns="50800" tIns="50800" rIns="50800" bIns="50800" anchor="ctr"/>
          <a:lstStyle>
            <a:lvl1pPr algn="ctr" defTabSz="825500">
              <a:lnSpc>
                <a:spcPct val="100000"/>
              </a:lnSpc>
              <a:spcBef>
                <a:spcPts val="0"/>
              </a:spcBef>
              <a:defRPr sz="20000">
                <a:solidFill>
                  <a:srgbClr val="FFFFFF"/>
                </a:solidFill>
                <a:latin typeface="Chalkduster"/>
                <a:ea typeface="Chalkduster"/>
                <a:cs typeface="Chalkduster"/>
                <a:sym typeface="Chalkduster"/>
              </a:defRPr>
            </a:lvl1pPr>
          </a:lstStyle>
          <a:p>
            <a:endParaRPr sz="17300" dirty="0">
              <a:latin typeface="Chalkduster" panose="03050602040202020205" pitchFamily="66" charset="77"/>
              <a:cs typeface="Fave Script Bold Pro" panose="020F0502020204030204" pitchFamily="34" charset="0"/>
            </a:endParaRP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74E3C117-C0FA-36D2-5D30-E19D482924E0}"/>
              </a:ext>
            </a:extLst>
          </p:cNvPr>
          <p:cNvSpPr/>
          <p:nvPr/>
        </p:nvSpPr>
        <p:spPr>
          <a:xfrm>
            <a:off x="13949916" y="3419103"/>
            <a:ext cx="8342136" cy="6549311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685800" indent="-685800" defTabSz="82550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5400" dirty="0">
                <a:solidFill>
                  <a:schemeClr val="bg1"/>
                </a:solidFill>
                <a:latin typeface="Bradley Hand" pitchFamily="2" charset="77"/>
              </a:rPr>
              <a:t>Write a program to add the number 6 at the end of </a:t>
            </a:r>
            <a:r>
              <a:rPr lang="en-US" sz="5400" dirty="0">
                <a:solidFill>
                  <a:schemeClr val="accent1">
                    <a:lumMod val="40000"/>
                    <a:lumOff val="60000"/>
                  </a:schemeClr>
                </a:solidFill>
                <a:latin typeface="Bradley Hand" pitchFamily="2" charset="77"/>
              </a:rPr>
              <a:t>num</a:t>
            </a:r>
          </a:p>
          <a:p>
            <a:pPr marL="685800" indent="-685800" defTabSz="82550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5400" dirty="0">
                <a:solidFill>
                  <a:schemeClr val="bg1"/>
                </a:solidFill>
                <a:latin typeface="Bradley Hand" pitchFamily="2" charset="77"/>
              </a:rPr>
              <a:t>Unfortunately, we cannot write: num += [6]</a:t>
            </a:r>
          </a:p>
          <a:p>
            <a:pPr marL="685800" indent="-685800" defTabSz="82550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5400" dirty="0">
                <a:solidFill>
                  <a:schemeClr val="accent6">
                    <a:lumMod val="40000"/>
                    <a:lumOff val="60000"/>
                  </a:schemeClr>
                </a:solidFill>
                <a:latin typeface="Bradley Hand" pitchFamily="2" charset="77"/>
              </a:rPr>
              <a:t>What to do then?</a:t>
            </a:r>
          </a:p>
        </p:txBody>
      </p:sp>
      <p:sp>
        <p:nvSpPr>
          <p:cNvPr id="6" name="Right Brace 5">
            <a:extLst>
              <a:ext uri="{FF2B5EF4-FFF2-40B4-BE49-F238E27FC236}">
                <a16:creationId xmlns:a16="http://schemas.microsoft.com/office/drawing/2014/main" id="{CBE7BABE-D788-4B89-765A-08D8B6849D32}"/>
              </a:ext>
            </a:extLst>
          </p:cNvPr>
          <p:cNvSpPr/>
          <p:nvPr/>
        </p:nvSpPr>
        <p:spPr>
          <a:xfrm>
            <a:off x="7591646" y="7325833"/>
            <a:ext cx="981307" cy="3401123"/>
          </a:xfrm>
          <a:prstGeom prst="rightBrace">
            <a:avLst/>
          </a:prstGeom>
          <a:noFill/>
          <a:ln w="127000" cap="flat">
            <a:solidFill>
              <a:schemeClr val="bg1"/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91439" tIns="45719" rIns="91439" bIns="45719" numCol="1" spcCol="38100" rtlCol="0" anchor="t">
            <a:noAutofit/>
          </a:bodyPr>
          <a:lstStyle/>
          <a:p>
            <a: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</a:endParaRP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C4BB97FD-B7F1-545A-6066-966546E28D07}"/>
              </a:ext>
            </a:extLst>
          </p:cNvPr>
          <p:cNvSpPr/>
          <p:nvPr/>
        </p:nvSpPr>
        <p:spPr>
          <a:xfrm>
            <a:off x="13949916" y="10708341"/>
            <a:ext cx="8342136" cy="1952308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bg1"/>
                </a:solidFill>
                <a:latin typeface="Bradley Hand" pitchFamily="2" charset="77"/>
              </a:rPr>
              <a:t>Adding an element to the array takes O(n) time</a:t>
            </a:r>
            <a:endParaRPr lang="en-US" sz="5400" dirty="0">
              <a:solidFill>
                <a:schemeClr val="accent6">
                  <a:lumMod val="40000"/>
                  <a:lumOff val="60000"/>
                </a:schemeClr>
              </a:solidFill>
              <a:latin typeface="Bradley Hand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1017550901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Word"/>
      </p:transition>
    </mc:Choice>
    <mc:Fallback>
      <p:transition spd="slow">
        <p:fade/>
      </p:transition>
    </mc:Fallback>
  </mc:AlternateContent>
  <mc:AlternateContent xmlns:mc="http://schemas.openxmlformats.org/markup-compatibility/2006">
    <mc:Choice xmlns:p14="http://schemas.microsoft.com/office/powerpoint/2010/main" Requires="p14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1" presetClass="entr" presetSubtype="0" fill="hold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">
                                                <p:txEl>
                                                  <p:pRg st="9" end="9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7" fill="hold">
                          <p:stCondLst>
                            <p:cond delay="indefinite"/>
                          </p:stCondLst>
                          <p:childTnLst>
                            <p:par>
                              <p:cTn id="8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9" presetID="1" presetClass="entr" presetSubtype="0" fill="hold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">
                                                <p:txEl>
                                                  <p:pRg st="10" end="1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11" fill="hold">
                          <p:stCondLst>
                            <p:cond delay="indefinite"/>
                          </p:stCondLst>
                          <p:childTnLst>
                            <p:par>
                              <p:cTn id="12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13" presetID="1" presetClass="entr" presetSubtype="0" fill="hold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">
                                                <p:txEl>
                                                  <p:pRg st="11" end="11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5" presetID="1" presetClass="entr" presetSubtype="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">
                                                <p:txEl>
                                                  <p:pRg st="12" end="12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7" presetID="1" presetClass="entr" presetSubtype="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">
                                                <p:txEl>
                                                  <p:pRg st="13" end="13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9" presetID="1" presetClass="entr" presetSubtype="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">
                                                <p:txEl>
                                                  <p:pRg st="14" end="14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21" fill="hold">
                          <p:stCondLst>
                            <p:cond delay="indefinite"/>
                          </p:stCondLst>
                          <p:childTnLst>
                            <p:par>
                              <p:cTn id="22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23" presetID="1" presetClass="entr" presetSubtype="0" fill="hold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">
                                                <p:txEl>
                                                  <p:pRg st="15" end="15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25" fill="hold">
                          <p:stCondLst>
                            <p:cond delay="indefinite"/>
                          </p:stCondLst>
                          <p:childTnLst>
                            <p:par>
                              <p:cTn id="26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27" presetID="1" presetClass="entr" presetSubtype="0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9" presetID="1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3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31" fill="hold">
                          <p:stCondLst>
                            <p:cond delay="indefinite"/>
                          </p:stCondLst>
                          <p:childTnLst>
                            <p:par>
                              <p:cTn id="32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33" presetID="2" presetClass="entr" presetSubtype="2" fill="hold" nodeType="clickEffect" p14:presetBounceEnd="50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3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7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50000">
                                          <p:cBhvr additive="base">
                                            <p:cTn id="35" dur="500" fill="hold"/>
                                            <p:tgtEl>
                                              <p:spTgt spid="7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50000">
                                          <p:cBhvr additive="base">
                                            <p:cTn id="36" dur="500" fill="hold"/>
                                            <p:tgtEl>
                                              <p:spTgt spid="7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37" fill="hold">
                          <p:stCondLst>
                            <p:cond delay="indefinite"/>
                          </p:stCondLst>
                          <p:childTnLst>
                            <p:par>
                              <p:cTn id="38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39" presetID="1" presetClass="entr" presetSubtype="0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4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7" grpId="0" animBg="1"/>
          <p:bldP spid="6" grpId="0" animBg="1"/>
          <p:bldP spid="8" grpId="0" animBg="1"/>
        </p:bldLst>
      </p:timing>
    </mc:Choice>
    <mc:Fallback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1" presetClass="entr" presetSubtype="0" fill="hold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">
                                                <p:txEl>
                                                  <p:pRg st="9" end="9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7" fill="hold">
                          <p:stCondLst>
                            <p:cond delay="indefinite"/>
                          </p:stCondLst>
                          <p:childTnLst>
                            <p:par>
                              <p:cTn id="8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9" presetID="1" presetClass="entr" presetSubtype="0" fill="hold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">
                                                <p:txEl>
                                                  <p:pRg st="10" end="1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11" fill="hold">
                          <p:stCondLst>
                            <p:cond delay="indefinite"/>
                          </p:stCondLst>
                          <p:childTnLst>
                            <p:par>
                              <p:cTn id="12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13" presetID="1" presetClass="entr" presetSubtype="0" fill="hold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">
                                                <p:txEl>
                                                  <p:pRg st="11" end="11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5" presetID="1" presetClass="entr" presetSubtype="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">
                                                <p:txEl>
                                                  <p:pRg st="12" end="12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7" presetID="1" presetClass="entr" presetSubtype="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">
                                                <p:txEl>
                                                  <p:pRg st="13" end="13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9" presetID="1" presetClass="entr" presetSubtype="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">
                                                <p:txEl>
                                                  <p:pRg st="14" end="14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21" fill="hold">
                          <p:stCondLst>
                            <p:cond delay="indefinite"/>
                          </p:stCondLst>
                          <p:childTnLst>
                            <p:par>
                              <p:cTn id="22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23" presetID="1" presetClass="entr" presetSubtype="0" fill="hold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">
                                                <p:txEl>
                                                  <p:pRg st="15" end="15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25" fill="hold">
                          <p:stCondLst>
                            <p:cond delay="indefinite"/>
                          </p:stCondLst>
                          <p:childTnLst>
                            <p:par>
                              <p:cTn id="26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27" presetID="1" presetClass="entr" presetSubtype="0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9" presetID="1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3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31" fill="hold">
                          <p:stCondLst>
                            <p:cond delay="indefinite"/>
                          </p:stCondLst>
                          <p:childTnLst>
                            <p:par>
                              <p:cTn id="32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33" presetID="2" presetClass="entr" presetSubtype="2" fill="hold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3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7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35" dur="500" fill="hold"/>
                                            <p:tgtEl>
                                              <p:spTgt spid="7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36" dur="500" fill="hold"/>
                                            <p:tgtEl>
                                              <p:spTgt spid="7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37" fill="hold">
                          <p:stCondLst>
                            <p:cond delay="indefinite"/>
                          </p:stCondLst>
                          <p:childTnLst>
                            <p:par>
                              <p:cTn id="38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39" presetID="1" presetClass="entr" presetSubtype="0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4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7" grpId="0" animBg="1"/>
          <p:bldP spid="6" grpId="0" animBg="1"/>
          <p:bldP spid="8" grpId="0" animBg="1"/>
        </p:bldLst>
      </p:timing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4925F3EA-D847-4054-59CA-9C3D1C30E152}"/>
              </a:ext>
            </a:extLst>
          </p:cNvPr>
          <p:cNvSpPr/>
          <p:nvPr/>
        </p:nvSpPr>
        <p:spPr>
          <a:xfrm>
            <a:off x="676939" y="578013"/>
            <a:ext cx="23030121" cy="1032907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bg1"/>
                </a:solidFill>
                <a:latin typeface="Bradley Hand" pitchFamily="2" charset="77"/>
              </a:rPr>
              <a:t>Adding an element to the array takes O(n) time</a:t>
            </a:r>
            <a:endParaRPr lang="en-US" sz="5400" dirty="0">
              <a:solidFill>
                <a:schemeClr val="accent6">
                  <a:lumMod val="40000"/>
                  <a:lumOff val="60000"/>
                </a:schemeClr>
              </a:solidFill>
              <a:latin typeface="Bradley Hand" pitchFamily="2" charset="77"/>
            </a:endParaRPr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C0A503E8-CE21-4F30-864F-94C460155FCF}"/>
              </a:ext>
            </a:extLst>
          </p:cNvPr>
          <p:cNvSpPr/>
          <p:nvPr/>
        </p:nvSpPr>
        <p:spPr>
          <a:xfrm>
            <a:off x="676939" y="2089401"/>
            <a:ext cx="23030121" cy="2871708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685800" indent="-685800" defTabSz="82550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5400" dirty="0">
                <a:solidFill>
                  <a:schemeClr val="bg1"/>
                </a:solidFill>
                <a:latin typeface="Bradley Hand" pitchFamily="2" charset="77"/>
              </a:rPr>
              <a:t>Write a program to delete the element at index j from </a:t>
            </a:r>
            <a:r>
              <a:rPr lang="en-US" sz="5400" dirty="0">
                <a:solidFill>
                  <a:schemeClr val="accent1">
                    <a:lumMod val="40000"/>
                    <a:lumOff val="60000"/>
                  </a:schemeClr>
                </a:solidFill>
                <a:latin typeface="Bradley Hand" pitchFamily="2" charset="77"/>
              </a:rPr>
              <a:t>num</a:t>
            </a:r>
          </a:p>
          <a:p>
            <a:pPr marL="685800" indent="-685800" defTabSz="82550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5400" dirty="0">
                <a:solidFill>
                  <a:schemeClr val="bg1"/>
                </a:solidFill>
                <a:latin typeface="Bradley Hand" pitchFamily="2" charset="77"/>
              </a:rPr>
              <a:t>Unfortunately, there is no slicing in C</a:t>
            </a:r>
          </a:p>
          <a:p>
            <a:pPr marL="685800" indent="-685800" defTabSz="82550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5400" dirty="0">
                <a:solidFill>
                  <a:schemeClr val="accent6">
                    <a:lumMod val="40000"/>
                    <a:lumOff val="60000"/>
                  </a:schemeClr>
                </a:solidFill>
                <a:latin typeface="Bradley Hand" pitchFamily="2" charset="77"/>
              </a:rPr>
              <a:t>What to do then?</a:t>
            </a:r>
          </a:p>
        </p:txBody>
      </p:sp>
    </p:spTree>
    <p:extLst>
      <p:ext uri="{BB962C8B-B14F-4D97-AF65-F5344CB8AC3E}">
        <p14:creationId xmlns:p14="http://schemas.microsoft.com/office/powerpoint/2010/main" val="952575898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Rounded Rectangle 1">
                <a:extLst>
                  <a:ext uri="{FF2B5EF4-FFF2-40B4-BE49-F238E27FC236}">
                    <a16:creationId xmlns:a16="http://schemas.microsoft.com/office/drawing/2014/main" id="{41A2B4D9-6836-0A92-CA35-3C7EC1CE5BA7}"/>
                  </a:ext>
                </a:extLst>
              </p:cNvPr>
              <p:cNvSpPr/>
              <p:nvPr/>
            </p:nvSpPr>
            <p:spPr>
              <a:xfrm>
                <a:off x="623748" y="1382276"/>
                <a:ext cx="9543957" cy="10951448"/>
              </a:xfrm>
              <a:prstGeom prst="roundRect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 w="63500" cap="flat">
                <a:solidFill>
                  <a:schemeClr val="tx1"/>
                </a:solidFill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50800" tIns="50800" rIns="50800" bIns="50800" numCol="1" spcCol="38100" rtlCol="0" anchor="ctr">
                <a:spAutoFit/>
              </a:bodyPr>
              <a:lstStyle/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36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#include </a:t>
                </a:r>
                <a:r>
                  <a:rPr lang="en-IN" sz="36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&lt;</a:t>
                </a:r>
                <a:r>
                  <a:rPr lang="en-IN" sz="3600" dirty="0" err="1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stdio.h</a:t>
                </a:r>
                <a:r>
                  <a:rPr lang="en-IN" sz="36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&gt;</a:t>
                </a:r>
                <a:b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</a:br>
                <a:b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</a:br>
                <a:r>
                  <a:rPr lang="en-IN" sz="36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int</a:t>
                </a: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IN" sz="36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main</a:t>
                </a:r>
                <a:r>
                  <a:rPr lang="en-IN" sz="3600" dirty="0">
                    <a:solidFill>
                      <a:schemeClr val="accent4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()</a:t>
                </a: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{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US" sz="36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 int</a:t>
                </a:r>
                <a:r>
                  <a:rPr lang="en-US" sz="36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3600" i="1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,</a:t>
                </a:r>
                <a14:m>
                  <m:oMath xmlns:m="http://schemas.openxmlformats.org/officeDocument/2006/math">
                    <m:r>
                      <a:rPr lang="en-US" sz="3600" i="1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,</a:t>
                </a:r>
                <a14:m>
                  <m:oMath xmlns:m="http://schemas.openxmlformats.org/officeDocument/2006/math">
                    <m:r>
                      <a:rPr lang="en-US" sz="36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36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</a:t>
                </a:r>
                <a:r>
                  <a:rPr lang="en-IN" sz="3600" dirty="0" err="1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scanf</a:t>
                </a: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(“%d”, &amp;</a:t>
                </a:r>
                <a14:m>
                  <m:oMath xmlns:m="http://schemas.openxmlformats.org/officeDocument/2006/math">
                    <m:r>
                      <a:rPr lang="en-IN" sz="36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);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36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int</a:t>
                </a: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IN" sz="3600" dirty="0" err="1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num</a:t>
                </a: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</a:t>
                </a:r>
                <a14:m>
                  <m:oMath xmlns:m="http://schemas.openxmlformats.org/officeDocument/2006/math">
                    <m:r>
                      <a:rPr lang="en-IN" sz="36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];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</a:t>
                </a:r>
                <a:r>
                  <a:rPr lang="en-IN" sz="36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for</a:t>
                </a: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</a:t>
                </a:r>
                <a14:m>
                  <m:oMath xmlns:m="http://schemas.openxmlformats.org/officeDocument/2006/math">
                    <m:r>
                      <a:rPr lang="en-US" sz="3600" i="1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=0 ; </a:t>
                </a:r>
                <a14:m>
                  <m:oMath xmlns:m="http://schemas.openxmlformats.org/officeDocument/2006/math">
                    <m:r>
                      <a:rPr lang="en-US" sz="3600" i="1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&lt; </a:t>
                </a:r>
                <a14:m>
                  <m:oMath xmlns:m="http://schemas.openxmlformats.org/officeDocument/2006/math">
                    <m:r>
                      <a:rPr lang="en-IN" sz="36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; </a:t>
                </a:r>
                <a14:m>
                  <m:oMath xmlns:m="http://schemas.openxmlformats.org/officeDocument/2006/math">
                    <m:r>
                      <a:rPr lang="en-US" sz="3600" i="1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++)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{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</a:t>
                </a:r>
                <a:r>
                  <a:rPr lang="en-IN" sz="3600" dirty="0" err="1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scanf</a:t>
                </a: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(“%d”, &amp;</a:t>
                </a:r>
                <a:r>
                  <a:rPr lang="en-IN" sz="3600" dirty="0" err="1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num</a:t>
                </a: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</a:t>
                </a:r>
                <a14:m>
                  <m:oMath xmlns:m="http://schemas.openxmlformats.org/officeDocument/2006/math">
                    <m:r>
                      <a:rPr lang="en-US" sz="3600" i="1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]);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}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</a:t>
                </a:r>
                <a:r>
                  <a:rPr lang="en-IN" sz="36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scanf</a:t>
                </a: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(“%d”, &amp;</a:t>
                </a:r>
                <a14:m>
                  <m:oMath xmlns:m="http://schemas.openxmlformats.org/officeDocument/2006/math">
                    <m:r>
                      <a:rPr lang="en-US" sz="3600" b="0" i="1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);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//Simulate the deletion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36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int</a:t>
                </a: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IN" sz="3600" dirty="0" err="1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arr</a:t>
                </a: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</a:t>
                </a:r>
                <a14:m>
                  <m:oMath xmlns:m="http://schemas.openxmlformats.org/officeDocument/2006/math">
                    <m:r>
                      <a:rPr lang="en-IN" sz="3600" i="1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  <m:r>
                      <a:rPr lang="en-US" sz="3600" b="0" i="0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−1</m:t>
                    </m:r>
                  </m:oMath>
                </a14:m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];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</a:t>
                </a:r>
                <a:r>
                  <a:rPr lang="en-IN" sz="36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for</a:t>
                </a: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</a:t>
                </a:r>
                <a14:m>
                  <m:oMath xmlns:m="http://schemas.openxmlformats.org/officeDocument/2006/math">
                    <m:r>
                      <a:rPr lang="en-IN" sz="3600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=0; </a:t>
                </a:r>
                <a14:m>
                  <m:oMath xmlns:m="http://schemas.openxmlformats.org/officeDocument/2006/math">
                    <m:r>
                      <a:rPr lang="en-IN" sz="3600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&lt; </a:t>
                </a:r>
                <a14:m>
                  <m:oMath xmlns:m="http://schemas.openxmlformats.org/officeDocument/2006/math">
                    <m:r>
                      <a:rPr lang="en-IN" sz="3600" i="1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; </a:t>
                </a:r>
                <a14:m>
                  <m:oMath xmlns:m="http://schemas.openxmlformats.org/officeDocument/2006/math">
                    <m:r>
                      <a:rPr lang="en-IN" sz="3600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++)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{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}</a:t>
                </a:r>
                <a:b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</a:b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</a:t>
                </a:r>
                <a:r>
                  <a:rPr lang="en-IN" sz="36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return</a:t>
                </a: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0;</a:t>
                </a:r>
                <a:b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</a:b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}</a:t>
                </a:r>
                <a:endParaRPr lang="en-US" sz="3600" dirty="0">
                  <a:solidFill>
                    <a:schemeClr val="bg1"/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>
          <p:sp>
            <p:nvSpPr>
              <p:cNvPr id="2" name="Rounded Rectangle 1">
                <a:extLst>
                  <a:ext uri="{FF2B5EF4-FFF2-40B4-BE49-F238E27FC236}">
                    <a16:creationId xmlns:a16="http://schemas.microsoft.com/office/drawing/2014/main" id="{41A2B4D9-6836-0A92-CA35-3C7EC1CE5BA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3748" y="1382276"/>
                <a:ext cx="9543957" cy="10951448"/>
              </a:xfrm>
              <a:prstGeom prst="roundRect">
                <a:avLst/>
              </a:prstGeom>
              <a:blipFill>
                <a:blip r:embed="rId2"/>
                <a:stretch>
                  <a:fillRect/>
                </a:stretch>
              </a:blipFill>
              <a:ln w="63500" cap="flat">
                <a:solidFill>
                  <a:schemeClr val="tx1"/>
                </a:solidFill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05072159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750">
        <p159:morph option="byObject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B5FFB2-A1C1-CFBD-5CA7-4E6E288DF5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Rounded Rectangle 1">
                <a:extLst>
                  <a:ext uri="{FF2B5EF4-FFF2-40B4-BE49-F238E27FC236}">
                    <a16:creationId xmlns:a16="http://schemas.microsoft.com/office/drawing/2014/main" id="{AAFC70A3-ECEE-0222-D341-443DCAA0DA3B}"/>
                  </a:ext>
                </a:extLst>
              </p:cNvPr>
              <p:cNvSpPr/>
              <p:nvPr/>
            </p:nvSpPr>
            <p:spPr>
              <a:xfrm>
                <a:off x="623748" y="1382276"/>
                <a:ext cx="9543957" cy="10951448"/>
              </a:xfrm>
              <a:prstGeom prst="roundRect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 w="63500" cap="flat">
                <a:solidFill>
                  <a:schemeClr val="tx1"/>
                </a:solidFill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50800" tIns="50800" rIns="50800" bIns="50800" numCol="1" spcCol="38100" rtlCol="0" anchor="ctr">
                <a:spAutoFit/>
              </a:bodyPr>
              <a:lstStyle/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36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#include </a:t>
                </a:r>
                <a:r>
                  <a:rPr lang="en-IN" sz="36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&lt;</a:t>
                </a:r>
                <a:r>
                  <a:rPr lang="en-IN" sz="3600" dirty="0" err="1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stdio.h</a:t>
                </a:r>
                <a:r>
                  <a:rPr lang="en-IN" sz="36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&gt;</a:t>
                </a:r>
                <a:b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</a:br>
                <a:b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</a:br>
                <a:r>
                  <a:rPr lang="en-IN" sz="36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int</a:t>
                </a: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IN" sz="36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main</a:t>
                </a:r>
                <a:r>
                  <a:rPr lang="en-IN" sz="3600" dirty="0">
                    <a:solidFill>
                      <a:schemeClr val="accent4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()</a:t>
                </a: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{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US" sz="36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 int</a:t>
                </a:r>
                <a:r>
                  <a:rPr lang="en-US" sz="36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3600" i="1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,</a:t>
                </a:r>
                <a14:m>
                  <m:oMath xmlns:m="http://schemas.openxmlformats.org/officeDocument/2006/math">
                    <m:r>
                      <a:rPr lang="en-US" sz="3600" i="1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,</a:t>
                </a:r>
                <a14:m>
                  <m:oMath xmlns:m="http://schemas.openxmlformats.org/officeDocument/2006/math">
                    <m:r>
                      <a:rPr lang="en-US" sz="36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36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</a:t>
                </a:r>
                <a:r>
                  <a:rPr lang="en-IN" sz="3600" dirty="0" err="1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scanf</a:t>
                </a: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(“%d”, &amp;</a:t>
                </a:r>
                <a14:m>
                  <m:oMath xmlns:m="http://schemas.openxmlformats.org/officeDocument/2006/math">
                    <m:r>
                      <a:rPr lang="en-IN" sz="36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);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36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int</a:t>
                </a: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IN" sz="3600" dirty="0" err="1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num</a:t>
                </a: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</a:t>
                </a:r>
                <a14:m>
                  <m:oMath xmlns:m="http://schemas.openxmlformats.org/officeDocument/2006/math">
                    <m:r>
                      <a:rPr lang="en-IN" sz="36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];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</a:t>
                </a:r>
                <a:r>
                  <a:rPr lang="en-IN" sz="36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for</a:t>
                </a: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</a:t>
                </a:r>
                <a14:m>
                  <m:oMath xmlns:m="http://schemas.openxmlformats.org/officeDocument/2006/math">
                    <m:r>
                      <a:rPr lang="en-US" sz="3600" i="1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=0 ; </a:t>
                </a:r>
                <a14:m>
                  <m:oMath xmlns:m="http://schemas.openxmlformats.org/officeDocument/2006/math">
                    <m:r>
                      <a:rPr lang="en-US" sz="3600" i="1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&lt; </a:t>
                </a:r>
                <a14:m>
                  <m:oMath xmlns:m="http://schemas.openxmlformats.org/officeDocument/2006/math">
                    <m:r>
                      <a:rPr lang="en-IN" sz="36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; </a:t>
                </a:r>
                <a14:m>
                  <m:oMath xmlns:m="http://schemas.openxmlformats.org/officeDocument/2006/math">
                    <m:r>
                      <a:rPr lang="en-US" sz="3600" i="1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++)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{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</a:t>
                </a:r>
                <a:r>
                  <a:rPr lang="en-IN" sz="3600" dirty="0" err="1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scanf</a:t>
                </a: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(“%d”, &amp;</a:t>
                </a:r>
                <a:r>
                  <a:rPr lang="en-IN" sz="3600" dirty="0" err="1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num</a:t>
                </a: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</a:t>
                </a:r>
                <a14:m>
                  <m:oMath xmlns:m="http://schemas.openxmlformats.org/officeDocument/2006/math">
                    <m:r>
                      <a:rPr lang="en-US" sz="3600" i="1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]);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}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</a:t>
                </a:r>
                <a:r>
                  <a:rPr lang="en-IN" sz="36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scanf</a:t>
                </a: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(“%d”, &amp;</a:t>
                </a:r>
                <a14:m>
                  <m:oMath xmlns:m="http://schemas.openxmlformats.org/officeDocument/2006/math">
                    <m:r>
                      <a:rPr lang="en-US" sz="3600" b="0" i="1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);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//Simulate the deletion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36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int</a:t>
                </a: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IN" sz="3600" dirty="0" err="1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arr</a:t>
                </a: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</a:t>
                </a:r>
                <a14:m>
                  <m:oMath xmlns:m="http://schemas.openxmlformats.org/officeDocument/2006/math">
                    <m:r>
                      <a:rPr lang="en-IN" sz="3600" i="1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  <m:r>
                      <a:rPr lang="en-US" sz="3600" b="0" i="0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−1</m:t>
                    </m:r>
                  </m:oMath>
                </a14:m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];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</a:t>
                </a:r>
                <a:r>
                  <a:rPr lang="en-IN" sz="36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for</a:t>
                </a: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</a:t>
                </a:r>
                <a14:m>
                  <m:oMath xmlns:m="http://schemas.openxmlformats.org/officeDocument/2006/math">
                    <m:r>
                      <a:rPr lang="en-IN" sz="3600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=0; </a:t>
                </a:r>
                <a14:m>
                  <m:oMath xmlns:m="http://schemas.openxmlformats.org/officeDocument/2006/math">
                    <m:r>
                      <a:rPr lang="en-IN" sz="3600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&lt; </a:t>
                </a:r>
                <a14:m>
                  <m:oMath xmlns:m="http://schemas.openxmlformats.org/officeDocument/2006/math">
                    <m:r>
                      <a:rPr lang="en-IN" sz="3600" i="1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; </a:t>
                </a:r>
                <a14:m>
                  <m:oMath xmlns:m="http://schemas.openxmlformats.org/officeDocument/2006/math">
                    <m:r>
                      <a:rPr lang="en-IN" sz="3600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++)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{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}</a:t>
                </a:r>
                <a:b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</a:b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</a:t>
                </a:r>
                <a:r>
                  <a:rPr lang="en-IN" sz="36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return</a:t>
                </a: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0;</a:t>
                </a:r>
                <a:b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</a:b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}</a:t>
                </a:r>
                <a:endParaRPr lang="en-US" sz="3600" dirty="0">
                  <a:solidFill>
                    <a:schemeClr val="bg1"/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>
          <p:sp>
            <p:nvSpPr>
              <p:cNvPr id="2" name="Rounded Rectangle 1">
                <a:extLst>
                  <a:ext uri="{FF2B5EF4-FFF2-40B4-BE49-F238E27FC236}">
                    <a16:creationId xmlns:a16="http://schemas.microsoft.com/office/drawing/2014/main" id="{AAFC70A3-ECEE-0222-D341-443DCAA0DA3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3748" y="1382276"/>
                <a:ext cx="9543957" cy="10951448"/>
              </a:xfrm>
              <a:prstGeom prst="roundRect">
                <a:avLst/>
              </a:prstGeom>
              <a:blipFill>
                <a:blip r:embed="rId2"/>
                <a:stretch>
                  <a:fillRect/>
                </a:stretch>
              </a:blipFill>
              <a:ln w="63500" cap="flat">
                <a:solidFill>
                  <a:schemeClr val="tx1"/>
                </a:solidFill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AD240BD7-F8F3-5FC1-8EF4-0A25583F4590}"/>
              </a:ext>
            </a:extLst>
          </p:cNvPr>
          <p:cNvCxnSpPr>
            <a:cxnSpLocks/>
          </p:cNvCxnSpPr>
          <p:nvPr/>
        </p:nvCxnSpPr>
        <p:spPr>
          <a:xfrm flipV="1">
            <a:off x="3381153" y="1545771"/>
            <a:ext cx="9834104" cy="8278713"/>
          </a:xfrm>
          <a:prstGeom prst="straightConnector1">
            <a:avLst/>
          </a:prstGeom>
          <a:noFill/>
          <a:ln w="76200" cap="flat">
            <a:solidFill>
              <a:schemeClr val="bg1"/>
            </a:solidFill>
            <a:prstDash val="solid"/>
            <a:miter lim="400000"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48221DA0-B3CB-EF2D-23A6-C7591812ED70}"/>
              </a:ext>
            </a:extLst>
          </p:cNvPr>
          <p:cNvCxnSpPr>
            <a:cxnSpLocks/>
          </p:cNvCxnSpPr>
          <p:nvPr/>
        </p:nvCxnSpPr>
        <p:spPr>
          <a:xfrm flipV="1">
            <a:off x="3381153" y="5173385"/>
            <a:ext cx="10095361" cy="4651099"/>
          </a:xfrm>
          <a:prstGeom prst="straightConnector1">
            <a:avLst/>
          </a:prstGeom>
          <a:noFill/>
          <a:ln w="76200" cap="flat">
            <a:solidFill>
              <a:schemeClr val="bg1"/>
            </a:solidFill>
            <a:prstDash val="solid"/>
            <a:miter lim="400000"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Rounded Rectangle 6">
                <a:extLst>
                  <a:ext uri="{FF2B5EF4-FFF2-40B4-BE49-F238E27FC236}">
                    <a16:creationId xmlns:a16="http://schemas.microsoft.com/office/drawing/2014/main" id="{8A20BD93-0389-0E91-DA63-947D484314DC}"/>
                  </a:ext>
                </a:extLst>
              </p:cNvPr>
              <p:cNvSpPr/>
              <p:nvPr/>
            </p:nvSpPr>
            <p:spPr>
              <a:xfrm>
                <a:off x="13215257" y="1382276"/>
                <a:ext cx="9543957" cy="3791109"/>
              </a:xfrm>
              <a:prstGeom prst="roundRect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 w="63500" cap="flat">
                <a:solidFill>
                  <a:schemeClr val="tx1"/>
                </a:solidFill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50800" tIns="50800" rIns="50800" bIns="50800" numCol="1" spcCol="38100" rtlCol="0" anchor="ctr">
                <a:spAutoFit/>
              </a:bodyPr>
              <a:lstStyle/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36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if</a:t>
                </a: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(</a:t>
                </a:r>
                <a14:m>
                  <m:oMath xmlns:m="http://schemas.openxmlformats.org/officeDocument/2006/math">
                    <m:r>
                      <a:rPr lang="en-US" sz="3600" i="1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&lt; </a:t>
                </a:r>
                <a14:m>
                  <m:oMath xmlns:m="http://schemas.openxmlformats.org/officeDocument/2006/math">
                    <m:r>
                      <a:rPr lang="en-US" sz="36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)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</a:t>
                </a:r>
                <a:r>
                  <a:rPr lang="en-IN" sz="3600" dirty="0" err="1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arr</a:t>
                </a: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</a:t>
                </a:r>
                <a14:m>
                  <m:oMath xmlns:m="http://schemas.openxmlformats.org/officeDocument/2006/math">
                    <m:r>
                      <a:rPr lang="en-US" sz="3600" i="1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] = </a:t>
                </a:r>
                <a:r>
                  <a:rPr lang="en-IN" sz="3600" dirty="0" err="1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num</a:t>
                </a: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</a:t>
                </a:r>
                <a14:m>
                  <m:oMath xmlns:m="http://schemas.openxmlformats.org/officeDocument/2006/math">
                    <m:r>
                      <a:rPr lang="en-US" sz="3600" i="1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];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36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else</a:t>
                </a: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IN" sz="36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if</a:t>
                </a: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(</a:t>
                </a:r>
                <a14:m>
                  <m:oMath xmlns:m="http://schemas.openxmlformats.org/officeDocument/2006/math">
                    <m:r>
                      <a:rPr lang="en-US" sz="3600" i="1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== </a:t>
                </a:r>
                <a14:m>
                  <m:oMath xmlns:m="http://schemas.openxmlformats.org/officeDocument/2006/math">
                    <m:r>
                      <a:rPr lang="en-US" sz="36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)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continue;</a:t>
                </a:r>
                <a:b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</a:br>
                <a:r>
                  <a:rPr lang="en-IN" sz="36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else</a:t>
                </a: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IN" sz="36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if</a:t>
                </a: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( </a:t>
                </a:r>
                <a14:m>
                  <m:oMath xmlns:m="http://schemas.openxmlformats.org/officeDocument/2006/math">
                    <m:r>
                      <a:rPr lang="en-US" sz="3600" i="1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&gt; </a:t>
                </a:r>
                <a14:m>
                  <m:oMath xmlns:m="http://schemas.openxmlformats.org/officeDocument/2006/math">
                    <m:r>
                      <a:rPr lang="en-US" sz="36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)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US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</a:t>
                </a:r>
                <a:r>
                  <a:rPr lang="en-US" sz="3600" dirty="0" err="1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arr</a:t>
                </a:r>
                <a:r>
                  <a:rPr lang="en-US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</a:t>
                </a:r>
                <a14:m>
                  <m:oMath xmlns:m="http://schemas.openxmlformats.org/officeDocument/2006/math">
                    <m:r>
                      <a:rPr lang="en-US" sz="3600" i="1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US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-1] = </a:t>
                </a:r>
                <a:r>
                  <a:rPr lang="en-US" sz="36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num</a:t>
                </a:r>
                <a:r>
                  <a:rPr lang="en-US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</a:t>
                </a:r>
                <a14:m>
                  <m:oMath xmlns:m="http://schemas.openxmlformats.org/officeDocument/2006/math">
                    <m:r>
                      <a:rPr lang="en-US" sz="3600" i="1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US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];</a:t>
                </a:r>
              </a:p>
            </p:txBody>
          </p:sp>
        </mc:Choice>
        <mc:Fallback>
          <p:sp>
            <p:nvSpPr>
              <p:cNvPr id="7" name="Rounded Rectangle 6">
                <a:extLst>
                  <a:ext uri="{FF2B5EF4-FFF2-40B4-BE49-F238E27FC236}">
                    <a16:creationId xmlns:a16="http://schemas.microsoft.com/office/drawing/2014/main" id="{8A20BD93-0389-0E91-DA63-947D484314D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215257" y="1382276"/>
                <a:ext cx="9543957" cy="3791109"/>
              </a:xfrm>
              <a:prstGeom prst="roundRect">
                <a:avLst/>
              </a:prstGeom>
              <a:blipFill>
                <a:blip r:embed="rId3"/>
                <a:stretch>
                  <a:fillRect l="-132" b="-329"/>
                </a:stretch>
              </a:blipFill>
              <a:ln w="63500" cap="flat">
                <a:solidFill>
                  <a:schemeClr val="tx1"/>
                </a:solidFill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Right Brace 12">
            <a:extLst>
              <a:ext uri="{FF2B5EF4-FFF2-40B4-BE49-F238E27FC236}">
                <a16:creationId xmlns:a16="http://schemas.microsoft.com/office/drawing/2014/main" id="{1F16966B-DA40-5011-DFBD-DF6DA8C67949}"/>
              </a:ext>
            </a:extLst>
          </p:cNvPr>
          <p:cNvSpPr/>
          <p:nvPr/>
        </p:nvSpPr>
        <p:spPr>
          <a:xfrm>
            <a:off x="7489372" y="9100457"/>
            <a:ext cx="1083582" cy="1626499"/>
          </a:xfrm>
          <a:prstGeom prst="rightBrace">
            <a:avLst/>
          </a:prstGeom>
          <a:noFill/>
          <a:ln w="127000" cap="flat">
            <a:solidFill>
              <a:schemeClr val="bg1"/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91439" tIns="45719" rIns="91439" bIns="45719" numCol="1" spcCol="38100" rtlCol="0" anchor="t">
            <a:noAutofit/>
          </a:bodyPr>
          <a:lstStyle/>
          <a:p>
            <a: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Rounded Rectangle 13">
                <a:extLst>
                  <a:ext uri="{FF2B5EF4-FFF2-40B4-BE49-F238E27FC236}">
                    <a16:creationId xmlns:a16="http://schemas.microsoft.com/office/drawing/2014/main" id="{69A469FF-CDCF-DDA5-278C-56E631C2960C}"/>
                  </a:ext>
                </a:extLst>
              </p:cNvPr>
              <p:cNvSpPr/>
              <p:nvPr/>
            </p:nvSpPr>
            <p:spPr>
              <a:xfrm>
                <a:off x="8753224" y="9424363"/>
                <a:ext cx="2325054" cy="1032907"/>
              </a:xfrm>
              <a:prstGeom prst="roundRect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 w="63500" cap="flat">
                <a:solidFill>
                  <a:schemeClr val="tx1"/>
                </a:solidFill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50800" tIns="50800" rIns="50800" bIns="50800" numCol="1" spcCol="38100" rtlCol="0" anchor="ctr">
                <a:spAutoFit/>
              </a:bodyPr>
              <a:lstStyle/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540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c</m:t>
                      </m:r>
                      <m:r>
                        <a:rPr lang="en-US" sz="5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𝑛</m:t>
                      </m:r>
                    </m:oMath>
                  </m:oMathPara>
                </a14:m>
                <a:endParaRPr lang="en-US" sz="5400" dirty="0">
                  <a:solidFill>
                    <a:schemeClr val="bg1"/>
                  </a:solidFill>
                  <a:latin typeface="Bradley Hand" pitchFamily="2" charset="77"/>
                </a:endParaRPr>
              </a:p>
            </p:txBody>
          </p:sp>
        </mc:Choice>
        <mc:Fallback xmlns="">
          <p:sp>
            <p:nvSpPr>
              <p:cNvPr id="14" name="Rounded Rectangle 13">
                <a:extLst>
                  <a:ext uri="{FF2B5EF4-FFF2-40B4-BE49-F238E27FC236}">
                    <a16:creationId xmlns:a16="http://schemas.microsoft.com/office/drawing/2014/main" id="{69A469FF-CDCF-DDA5-278C-56E631C2960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53224" y="9424363"/>
                <a:ext cx="2325054" cy="1032907"/>
              </a:xfrm>
              <a:prstGeom prst="roundRect">
                <a:avLst/>
              </a:prstGeom>
              <a:blipFill>
                <a:blip r:embed="rId4"/>
                <a:stretch>
                  <a:fillRect/>
                </a:stretch>
              </a:blipFill>
              <a:ln w="63500" cap="flat">
                <a:solidFill>
                  <a:schemeClr val="tx1"/>
                </a:solidFill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ABDDD9E3-160B-025B-C8C9-A2AB0A315B4B}"/>
              </a:ext>
            </a:extLst>
          </p:cNvPr>
          <p:cNvSpPr/>
          <p:nvPr/>
        </p:nvSpPr>
        <p:spPr>
          <a:xfrm>
            <a:off x="13949916" y="10248641"/>
            <a:ext cx="8342136" cy="2871708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bg1"/>
                </a:solidFill>
                <a:latin typeface="Bradley Hand" pitchFamily="2" charset="77"/>
              </a:rPr>
              <a:t>Removing an element from the array takes O(n) time</a:t>
            </a:r>
            <a:endParaRPr lang="en-US" sz="5400" dirty="0">
              <a:solidFill>
                <a:schemeClr val="accent6">
                  <a:lumMod val="40000"/>
                  <a:lumOff val="60000"/>
                </a:schemeClr>
              </a:solidFill>
              <a:latin typeface="Bradley Hand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210217711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750">
        <p159:morph option="byObject"/>
      </p:transition>
    </mc:Choice>
    <mc:Fallback xmlns="">
      <p:transition spd="slow">
        <p:fade/>
      </p:transition>
    </mc:Fallback>
  </mc:AlternateContent>
  <mc:AlternateContent xmlns:mc="http://schemas.openxmlformats.org/markup-compatibility/2006">
    <mc:Choice xmlns:p14="http://schemas.microsoft.com/office/powerpoint/2010/main" Requires="p14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1" presetClass="entr" presetSubtype="0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7" presetID="1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9" fill="hold">
                          <p:stCondLst>
                            <p:cond delay="indefinite"/>
                          </p:stCondLst>
                          <p:childTnLst>
                            <p:par>
                              <p:cTn id="10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11" presetID="2" presetClass="entr" presetSubtype="2" fill="hold" nodeType="clickEffect" p14:presetBounceEnd="50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4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50000">
                                          <p:cBhvr additive="base">
                                            <p:cTn id="13" dur="500" fill="hold"/>
                                            <p:tgtEl>
                                              <p:spTgt spid="14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50000">
                                          <p:cBhvr additive="base">
                                            <p:cTn id="14" dur="500" fill="hold"/>
                                            <p:tgtEl>
                                              <p:spTgt spid="14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15" fill="hold">
                          <p:stCondLst>
                            <p:cond delay="indefinite"/>
                          </p:stCondLst>
                          <p:childTnLst>
                            <p:par>
                              <p:cTn id="16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17" presetID="1" presetClass="entr" presetSubtype="0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13" grpId="0" animBg="1"/>
          <p:bldP spid="14" grpId="0" animBg="1"/>
          <p:bldP spid="15" grpId="0" animBg="1"/>
        </p:bldLst>
      </p:timing>
    </mc:Choice>
    <mc:Fallback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1" presetClass="entr" presetSubtype="0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7" presetID="1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9" fill="hold">
                          <p:stCondLst>
                            <p:cond delay="indefinite"/>
                          </p:stCondLst>
                          <p:childTnLst>
                            <p:par>
                              <p:cTn id="10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11" presetID="2" presetClass="entr" presetSubtype="2" fill="hold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4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3" dur="500" fill="hold"/>
                                            <p:tgtEl>
                                              <p:spTgt spid="14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4" dur="500" fill="hold"/>
                                            <p:tgtEl>
                                              <p:spTgt spid="14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15" fill="hold">
                          <p:stCondLst>
                            <p:cond delay="indefinite"/>
                          </p:stCondLst>
                          <p:childTnLst>
                            <p:par>
                              <p:cTn id="16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17" presetID="1" presetClass="entr" presetSubtype="0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13" grpId="0" animBg="1"/>
          <p:bldP spid="14" grpId="0" animBg="1"/>
          <p:bldP spid="15" grpId="0" animBg="1"/>
        </p:bldLst>
      </p:timing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1BF52A1F-045D-F3F9-46C0-C2FCB88085B5}"/>
              </a:ext>
            </a:extLst>
          </p:cNvPr>
          <p:cNvSpPr/>
          <p:nvPr/>
        </p:nvSpPr>
        <p:spPr>
          <a:xfrm>
            <a:off x="676939" y="578013"/>
            <a:ext cx="23030121" cy="1032907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bg1"/>
                </a:solidFill>
                <a:latin typeface="Bradley Hand" pitchFamily="2" charset="77"/>
              </a:rPr>
              <a:t>Adding an element to the array takes O(n) time</a:t>
            </a:r>
            <a:endParaRPr lang="en-US" sz="5400" dirty="0">
              <a:solidFill>
                <a:schemeClr val="accent6">
                  <a:lumMod val="40000"/>
                  <a:lumOff val="60000"/>
                </a:schemeClr>
              </a:solidFill>
              <a:latin typeface="Bradley Hand" pitchFamily="2" charset="77"/>
            </a:endParaRPr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95A07E03-0DCF-C2BC-CAD6-836F6FBF841A}"/>
              </a:ext>
            </a:extLst>
          </p:cNvPr>
          <p:cNvSpPr/>
          <p:nvPr/>
        </p:nvSpPr>
        <p:spPr>
          <a:xfrm>
            <a:off x="676938" y="2002269"/>
            <a:ext cx="23030121" cy="1032907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bg1"/>
                </a:solidFill>
                <a:latin typeface="Bradley Hand" pitchFamily="2" charset="77"/>
              </a:rPr>
              <a:t>Removing an element from the array takes O(n) time</a:t>
            </a:r>
            <a:endParaRPr lang="en-US" sz="5400" dirty="0">
              <a:solidFill>
                <a:schemeClr val="accent6">
                  <a:lumMod val="40000"/>
                  <a:lumOff val="60000"/>
                </a:schemeClr>
              </a:solidFill>
              <a:latin typeface="Bradley Hand" pitchFamily="2" charset="77"/>
            </a:endParaRPr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AC86B7EF-9E8D-1865-7D3B-EB2AD49AE22F}"/>
              </a:ext>
            </a:extLst>
          </p:cNvPr>
          <p:cNvSpPr/>
          <p:nvPr/>
        </p:nvSpPr>
        <p:spPr>
          <a:xfrm>
            <a:off x="676938" y="3470770"/>
            <a:ext cx="23030120" cy="1032907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bg1"/>
                </a:solidFill>
                <a:latin typeface="Bradley Hand" pitchFamily="2" charset="77"/>
              </a:rPr>
              <a:t>Searching an element in the array takes </a:t>
            </a:r>
            <a:endParaRPr lang="en-US" sz="5400" dirty="0">
              <a:solidFill>
                <a:schemeClr val="accent6">
                  <a:lumMod val="40000"/>
                  <a:lumOff val="60000"/>
                </a:schemeClr>
              </a:solidFill>
              <a:latin typeface="Bradley Hand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241688855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75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1C6909-4B32-8E87-872F-4A04AC7050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0FE579DB-CFF6-64B2-E43F-AC3BB48665C7}"/>
              </a:ext>
            </a:extLst>
          </p:cNvPr>
          <p:cNvSpPr/>
          <p:nvPr/>
        </p:nvSpPr>
        <p:spPr>
          <a:xfrm>
            <a:off x="676939" y="578013"/>
            <a:ext cx="23030121" cy="1032907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bg1"/>
                </a:solidFill>
                <a:latin typeface="Bradley Hand" pitchFamily="2" charset="77"/>
              </a:rPr>
              <a:t>Adding an element to the array takes O(n) time</a:t>
            </a:r>
            <a:endParaRPr lang="en-US" sz="5400" dirty="0">
              <a:solidFill>
                <a:schemeClr val="accent6">
                  <a:lumMod val="40000"/>
                  <a:lumOff val="60000"/>
                </a:schemeClr>
              </a:solidFill>
              <a:latin typeface="Bradley Hand" pitchFamily="2" charset="77"/>
            </a:endParaRPr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0D7711EF-ACF0-1CDE-BC45-9E50E3328AC5}"/>
              </a:ext>
            </a:extLst>
          </p:cNvPr>
          <p:cNvSpPr/>
          <p:nvPr/>
        </p:nvSpPr>
        <p:spPr>
          <a:xfrm>
            <a:off x="676938" y="2002269"/>
            <a:ext cx="23030121" cy="1032907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bg1"/>
                </a:solidFill>
                <a:latin typeface="Bradley Hand" pitchFamily="2" charset="77"/>
              </a:rPr>
              <a:t>Removing an element from the array takes O(n) time</a:t>
            </a:r>
            <a:endParaRPr lang="en-US" sz="5400" dirty="0">
              <a:solidFill>
                <a:schemeClr val="accent6">
                  <a:lumMod val="40000"/>
                  <a:lumOff val="60000"/>
                </a:schemeClr>
              </a:solidFill>
              <a:latin typeface="Bradley Hand" pitchFamily="2" charset="77"/>
            </a:endParaRPr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471F3EEB-2B12-125D-0501-3DB6BAEBDDA3}"/>
              </a:ext>
            </a:extLst>
          </p:cNvPr>
          <p:cNvSpPr/>
          <p:nvPr/>
        </p:nvSpPr>
        <p:spPr>
          <a:xfrm>
            <a:off x="676938" y="3470770"/>
            <a:ext cx="23030120" cy="1032907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bg1"/>
                </a:solidFill>
                <a:latin typeface="Bradley Hand" pitchFamily="2" charset="77"/>
              </a:rPr>
              <a:t>Searching an element in the array takes O(n) time </a:t>
            </a:r>
            <a:endParaRPr lang="en-US" sz="5400" dirty="0">
              <a:solidFill>
                <a:schemeClr val="accent6">
                  <a:lumMod val="40000"/>
                  <a:lumOff val="60000"/>
                </a:schemeClr>
              </a:solidFill>
              <a:latin typeface="Bradley Hand" pitchFamily="2" charset="77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Rounded Rectangle 5">
                <a:extLst>
                  <a:ext uri="{FF2B5EF4-FFF2-40B4-BE49-F238E27FC236}">
                    <a16:creationId xmlns:a16="http://schemas.microsoft.com/office/drawing/2014/main" id="{76FF8D17-456D-6A28-52F7-1F1BD105E25E}"/>
                  </a:ext>
                </a:extLst>
              </p:cNvPr>
              <p:cNvSpPr/>
              <p:nvPr/>
            </p:nvSpPr>
            <p:spPr>
              <a:xfrm>
                <a:off x="676938" y="6248158"/>
                <a:ext cx="23030120" cy="2871708"/>
              </a:xfrm>
              <a:prstGeom prst="roundRect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 w="63500" cap="flat">
                <a:solidFill>
                  <a:schemeClr val="tx1"/>
                </a:solidFill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50800" tIns="50800" rIns="50800" bIns="50800" numCol="1" spcCol="38100" rtlCol="0" anchor="ctr">
                <a:spAutoFit/>
              </a:bodyPr>
              <a:lstStyle/>
              <a:p>
                <a:pPr marL="685800" indent="-685800" defTabSz="825500">
                  <a:lnSpc>
                    <a:spcPct val="100000"/>
                  </a:lnSpc>
                  <a:spcBef>
                    <a:spcPts val="0"/>
                  </a:spcBef>
                  <a:buFont typeface="Arial" panose="020B0604020202020204" pitchFamily="34" charset="0"/>
                  <a:buChar char="•"/>
                </a:pPr>
                <a:r>
                  <a:rPr lang="en-US" sz="5400" dirty="0">
                    <a:solidFill>
                      <a:schemeClr val="bg1"/>
                    </a:solidFill>
                    <a:latin typeface="Bradley Hand" pitchFamily="2" charset="77"/>
                  </a:rPr>
                  <a:t>The array data-structure is bad is almost everything</a:t>
                </a:r>
              </a:p>
              <a:p>
                <a:pPr marL="685800" indent="-685800" defTabSz="825500">
                  <a:lnSpc>
                    <a:spcPct val="100000"/>
                  </a:lnSpc>
                  <a:spcBef>
                    <a:spcPts val="0"/>
                  </a:spcBef>
                  <a:buFont typeface="Arial" panose="020B0604020202020204" pitchFamily="34" charset="0"/>
                  <a:buChar char="•"/>
                </a:pPr>
                <a:r>
                  <a:rPr lang="en-US" sz="5400" dirty="0">
                    <a:solidFill>
                      <a:schemeClr val="bg1"/>
                    </a:solidFill>
                    <a:latin typeface="Bradley Hand" pitchFamily="2" charset="77"/>
                  </a:rPr>
                  <a:t>But it is good in one aspect. </a:t>
                </a:r>
                <a:r>
                  <a:rPr lang="en-US" sz="5400" dirty="0">
                    <a:solidFill>
                      <a:schemeClr val="accent5">
                        <a:lumMod val="40000"/>
                        <a:lumOff val="60000"/>
                      </a:schemeClr>
                    </a:solidFill>
                    <a:latin typeface="Bradley Hand" pitchFamily="2" charset="77"/>
                  </a:rPr>
                  <a:t>What is it?</a:t>
                </a:r>
              </a:p>
              <a:p>
                <a:pPr marL="685800" indent="-685800" defTabSz="825500">
                  <a:lnSpc>
                    <a:spcPct val="100000"/>
                  </a:lnSpc>
                  <a:spcBef>
                    <a:spcPts val="0"/>
                  </a:spcBef>
                  <a:buFont typeface="Arial" panose="020B0604020202020204" pitchFamily="34" charset="0"/>
                  <a:buChar char="•"/>
                </a:pPr>
                <a:r>
                  <a:rPr lang="en-US" sz="5400" dirty="0">
                    <a:solidFill>
                      <a:schemeClr val="bg1"/>
                    </a:solidFill>
                    <a:latin typeface="Bradley Hand" pitchFamily="2" charset="77"/>
                  </a:rPr>
                  <a:t>We can find the </a:t>
                </a:r>
                <a14:m>
                  <m:oMath xmlns:m="http://schemas.openxmlformats.org/officeDocument/2006/math">
                    <m:r>
                      <a:rPr lang="en-US" sz="5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US" sz="5400" dirty="0">
                    <a:solidFill>
                      <a:schemeClr val="bg1"/>
                    </a:solidFill>
                    <a:latin typeface="Bradley Hand" pitchFamily="2" charset="77"/>
                  </a:rPr>
                  <a:t>-</a:t>
                </a:r>
                <a:r>
                  <a:rPr lang="en-US" sz="5400" dirty="0" err="1">
                    <a:solidFill>
                      <a:schemeClr val="bg1"/>
                    </a:solidFill>
                    <a:latin typeface="Bradley Hand" pitchFamily="2" charset="77"/>
                  </a:rPr>
                  <a:t>th</a:t>
                </a:r>
                <a:r>
                  <a:rPr lang="en-US" sz="5400" dirty="0">
                    <a:solidFill>
                      <a:schemeClr val="bg1"/>
                    </a:solidFill>
                    <a:latin typeface="Bradley Hand" pitchFamily="2" charset="77"/>
                  </a:rPr>
                  <a:t> element of the array in O(1) time</a:t>
                </a:r>
              </a:p>
            </p:txBody>
          </p:sp>
        </mc:Choice>
        <mc:Fallback>
          <p:sp>
            <p:nvSpPr>
              <p:cNvPr id="6" name="Rounded Rectangle 5">
                <a:extLst>
                  <a:ext uri="{FF2B5EF4-FFF2-40B4-BE49-F238E27FC236}">
                    <a16:creationId xmlns:a16="http://schemas.microsoft.com/office/drawing/2014/main" id="{76FF8D17-456D-6A28-52F7-1F1BD105E25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6938" y="6248158"/>
                <a:ext cx="23030120" cy="2871708"/>
              </a:xfrm>
              <a:prstGeom prst="roundRect">
                <a:avLst/>
              </a:prstGeom>
              <a:blipFill>
                <a:blip r:embed="rId2"/>
                <a:stretch>
                  <a:fillRect l="-714" t="-862" b="-7328"/>
                </a:stretch>
              </a:blipFill>
              <a:ln w="63500" cap="flat">
                <a:solidFill>
                  <a:schemeClr val="tx1"/>
                </a:solidFill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106713677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Char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A60EE9F9-2D75-D511-8559-3779F6165FFC}"/>
              </a:ext>
            </a:extLst>
          </p:cNvPr>
          <p:cNvSpPr/>
          <p:nvPr/>
        </p:nvSpPr>
        <p:spPr>
          <a:xfrm>
            <a:off x="1700197" y="1122299"/>
            <a:ext cx="5266660" cy="1032907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bg1"/>
                </a:solidFill>
                <a:latin typeface="Bradley Hand" pitchFamily="2" charset="77"/>
              </a:rPr>
              <a:t>Insert</a:t>
            </a:r>
            <a:endParaRPr lang="en-US" sz="5400" dirty="0">
              <a:solidFill>
                <a:schemeClr val="accent6">
                  <a:lumMod val="40000"/>
                  <a:lumOff val="60000"/>
                </a:schemeClr>
              </a:solidFill>
              <a:latin typeface="Bradley Hand" pitchFamily="2" charset="77"/>
            </a:endParaRPr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1F4C147F-57ED-10D3-6C79-E4863B1881C9}"/>
              </a:ext>
            </a:extLst>
          </p:cNvPr>
          <p:cNvSpPr/>
          <p:nvPr/>
        </p:nvSpPr>
        <p:spPr>
          <a:xfrm>
            <a:off x="8405797" y="1122299"/>
            <a:ext cx="3089518" cy="1032907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bg1"/>
                </a:solidFill>
                <a:latin typeface="Bradley Hand" pitchFamily="2" charset="77"/>
              </a:rPr>
              <a:t>O(n)</a:t>
            </a:r>
            <a:endParaRPr lang="en-US" sz="5400" dirty="0">
              <a:solidFill>
                <a:schemeClr val="accent6">
                  <a:lumMod val="40000"/>
                  <a:lumOff val="60000"/>
                </a:schemeClr>
              </a:solidFill>
              <a:latin typeface="Bradley Hand" pitchFamily="2" charset="77"/>
            </a:endParaRPr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3E9AADA8-F5BB-C1B8-A520-80D02917C562}"/>
              </a:ext>
            </a:extLst>
          </p:cNvPr>
          <p:cNvSpPr/>
          <p:nvPr/>
        </p:nvSpPr>
        <p:spPr>
          <a:xfrm>
            <a:off x="1700197" y="2755156"/>
            <a:ext cx="5266660" cy="1032907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bg1"/>
                </a:solidFill>
                <a:latin typeface="Bradley Hand" pitchFamily="2" charset="77"/>
              </a:rPr>
              <a:t>Delete</a:t>
            </a:r>
            <a:endParaRPr lang="en-US" sz="5400" dirty="0">
              <a:solidFill>
                <a:schemeClr val="accent6">
                  <a:lumMod val="40000"/>
                  <a:lumOff val="60000"/>
                </a:schemeClr>
              </a:solidFill>
              <a:latin typeface="Bradley Hand" pitchFamily="2" charset="77"/>
            </a:endParaRP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143FA0C4-BC5D-5A1B-6ACC-E6FC26311A29}"/>
              </a:ext>
            </a:extLst>
          </p:cNvPr>
          <p:cNvSpPr/>
          <p:nvPr/>
        </p:nvSpPr>
        <p:spPr>
          <a:xfrm>
            <a:off x="8405797" y="2755156"/>
            <a:ext cx="3089518" cy="1032907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bg1"/>
                </a:solidFill>
                <a:latin typeface="Bradley Hand" pitchFamily="2" charset="77"/>
              </a:rPr>
              <a:t>O(n)</a:t>
            </a:r>
            <a:endParaRPr lang="en-US" sz="5400" dirty="0">
              <a:solidFill>
                <a:schemeClr val="accent6">
                  <a:lumMod val="40000"/>
                  <a:lumOff val="60000"/>
                </a:schemeClr>
              </a:solidFill>
              <a:latin typeface="Bradley Hand" pitchFamily="2" charset="77"/>
            </a:endParaRP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89CD5497-8F44-8218-53AE-EA0D0F2447F7}"/>
              </a:ext>
            </a:extLst>
          </p:cNvPr>
          <p:cNvSpPr/>
          <p:nvPr/>
        </p:nvSpPr>
        <p:spPr>
          <a:xfrm>
            <a:off x="1700196" y="4388013"/>
            <a:ext cx="5266659" cy="1032907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bg1"/>
                </a:solidFill>
                <a:latin typeface="Bradley Hand" pitchFamily="2" charset="77"/>
              </a:rPr>
              <a:t>search</a:t>
            </a:r>
            <a:endParaRPr lang="en-US" sz="5400" dirty="0">
              <a:solidFill>
                <a:schemeClr val="accent6">
                  <a:lumMod val="40000"/>
                  <a:lumOff val="60000"/>
                </a:schemeClr>
              </a:solidFill>
              <a:latin typeface="Bradley Hand" pitchFamily="2" charset="77"/>
            </a:endParaRP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770F6C4C-EA91-1A67-E361-670ECCC18A7C}"/>
              </a:ext>
            </a:extLst>
          </p:cNvPr>
          <p:cNvSpPr/>
          <p:nvPr/>
        </p:nvSpPr>
        <p:spPr>
          <a:xfrm>
            <a:off x="8405797" y="4388013"/>
            <a:ext cx="3089518" cy="1032907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bg1"/>
                </a:solidFill>
                <a:latin typeface="Bradley Hand" pitchFamily="2" charset="77"/>
              </a:rPr>
              <a:t>O(n)</a:t>
            </a:r>
            <a:endParaRPr lang="en-US" sz="5400" dirty="0">
              <a:solidFill>
                <a:schemeClr val="accent6">
                  <a:lumMod val="40000"/>
                  <a:lumOff val="60000"/>
                </a:schemeClr>
              </a:solidFill>
              <a:latin typeface="Bradley Hand" pitchFamily="2" charset="77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Rounded Rectangle 7">
                <a:extLst>
                  <a:ext uri="{FF2B5EF4-FFF2-40B4-BE49-F238E27FC236}">
                    <a16:creationId xmlns:a16="http://schemas.microsoft.com/office/drawing/2014/main" id="{C936580B-CAC1-9939-952E-24942D04BEED}"/>
                  </a:ext>
                </a:extLst>
              </p:cNvPr>
              <p:cNvSpPr/>
              <p:nvPr/>
            </p:nvSpPr>
            <p:spPr>
              <a:xfrm>
                <a:off x="1547797" y="5701419"/>
                <a:ext cx="5419058" cy="1952308"/>
              </a:xfrm>
              <a:prstGeom prst="roundRect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 w="63500" cap="flat">
                <a:solidFill>
                  <a:schemeClr val="tx1"/>
                </a:solidFill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50800" tIns="50800" rIns="50800" bIns="50800" numCol="1" spcCol="38100" rtlCol="0" anchor="ctr">
                <a:spAutoFit/>
              </a:bodyPr>
              <a:lstStyle/>
              <a:p>
                <a:pPr algn="ctr"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US" sz="5400" dirty="0">
                    <a:solidFill>
                      <a:schemeClr val="bg1"/>
                    </a:solidFill>
                    <a:latin typeface="Bradley Hand" pitchFamily="2" charset="77"/>
                  </a:rPr>
                  <a:t>Get the </a:t>
                </a:r>
                <a14:m>
                  <m:oMath xmlns:m="http://schemas.openxmlformats.org/officeDocument/2006/math">
                    <m:r>
                      <a:rPr lang="en-US" sz="5400" dirty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US" sz="5400" dirty="0">
                    <a:solidFill>
                      <a:schemeClr val="bg1"/>
                    </a:solidFill>
                    <a:latin typeface="Bradley Hand" pitchFamily="2" charset="77"/>
                  </a:rPr>
                  <a:t>-</a:t>
                </a:r>
                <a:r>
                  <a:rPr lang="en-US" sz="5400" dirty="0" err="1">
                    <a:solidFill>
                      <a:schemeClr val="bg1"/>
                    </a:solidFill>
                    <a:latin typeface="Bradley Hand" pitchFamily="2" charset="77"/>
                  </a:rPr>
                  <a:t>th</a:t>
                </a:r>
                <a:r>
                  <a:rPr lang="en-US" sz="5400" dirty="0">
                    <a:solidFill>
                      <a:schemeClr val="bg1"/>
                    </a:solidFill>
                    <a:latin typeface="Bradley Hand" pitchFamily="2" charset="77"/>
                  </a:rPr>
                  <a:t> element</a:t>
                </a:r>
              </a:p>
            </p:txBody>
          </p:sp>
        </mc:Choice>
        <mc:Fallback xmlns="">
          <p:sp>
            <p:nvSpPr>
              <p:cNvPr id="8" name="Rounded Rectangle 7">
                <a:extLst>
                  <a:ext uri="{FF2B5EF4-FFF2-40B4-BE49-F238E27FC236}">
                    <a16:creationId xmlns:a16="http://schemas.microsoft.com/office/drawing/2014/main" id="{C936580B-CAC1-9939-952E-24942D04BEE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47797" y="5701419"/>
                <a:ext cx="5419058" cy="1952308"/>
              </a:xfrm>
              <a:prstGeom prst="roundRect">
                <a:avLst/>
              </a:prstGeom>
              <a:blipFill>
                <a:blip r:embed="rId2"/>
                <a:stretch>
                  <a:fillRect b="-11250"/>
                </a:stretch>
              </a:blipFill>
              <a:ln w="63500" cap="flat">
                <a:solidFill>
                  <a:schemeClr val="tx1"/>
                </a:solidFill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74D419EC-284B-482E-D16F-08BA71AECF26}"/>
              </a:ext>
            </a:extLst>
          </p:cNvPr>
          <p:cNvSpPr/>
          <p:nvPr/>
        </p:nvSpPr>
        <p:spPr>
          <a:xfrm>
            <a:off x="8253397" y="6020870"/>
            <a:ext cx="3089518" cy="1032907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bg1"/>
                </a:solidFill>
                <a:latin typeface="Bradley Hand" pitchFamily="2" charset="77"/>
              </a:rPr>
              <a:t>O(1)</a:t>
            </a:r>
            <a:endParaRPr lang="en-US" sz="5400" dirty="0">
              <a:solidFill>
                <a:schemeClr val="accent6">
                  <a:lumMod val="40000"/>
                  <a:lumOff val="60000"/>
                </a:schemeClr>
              </a:solidFill>
              <a:latin typeface="Bradley Hand" pitchFamily="2" charset="77"/>
            </a:endParaRP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4A608EB1-03A3-06B6-95B3-0EA7857FC8E0}"/>
              </a:ext>
            </a:extLst>
          </p:cNvPr>
          <p:cNvSpPr/>
          <p:nvPr/>
        </p:nvSpPr>
        <p:spPr>
          <a:xfrm>
            <a:off x="676938" y="8015984"/>
            <a:ext cx="23030120" cy="1952308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accent5">
                    <a:lumMod val="40000"/>
                    <a:lumOff val="60000"/>
                  </a:schemeClr>
                </a:solidFill>
                <a:latin typeface="Bradley Hand" pitchFamily="2" charset="77"/>
              </a:rPr>
              <a:t>Is there any other data-structure that can perform all these operations in O(1) time?</a:t>
            </a: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4DC6C72C-AA76-E610-A415-4F727662CE2F}"/>
              </a:ext>
            </a:extLst>
          </p:cNvPr>
          <p:cNvSpPr/>
          <p:nvPr/>
        </p:nvSpPr>
        <p:spPr>
          <a:xfrm>
            <a:off x="676938" y="11101093"/>
            <a:ext cx="23030120" cy="1032907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bg1"/>
                </a:solidFill>
                <a:latin typeface="Bradley Hand" pitchFamily="2" charset="77"/>
              </a:rPr>
              <a:t>We will revisit this question later in the course</a:t>
            </a:r>
          </a:p>
        </p:txBody>
      </p:sp>
    </p:spTree>
    <p:extLst>
      <p:ext uri="{BB962C8B-B14F-4D97-AF65-F5344CB8AC3E}">
        <p14:creationId xmlns:p14="http://schemas.microsoft.com/office/powerpoint/2010/main" val="152956181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75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1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8F40D5-42CC-4E8B-529B-3E4F2A0D8F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Candy: A problem on leetcode">
            <a:extLst>
              <a:ext uri="{FF2B5EF4-FFF2-40B4-BE49-F238E27FC236}">
                <a16:creationId xmlns:a16="http://schemas.microsoft.com/office/drawing/2014/main" id="{E12D184E-C203-745B-192E-84EB0A458517}"/>
              </a:ext>
            </a:extLst>
          </p:cNvPr>
          <p:cNvSpPr/>
          <p:nvPr/>
        </p:nvSpPr>
        <p:spPr>
          <a:xfrm>
            <a:off x="645013" y="1189806"/>
            <a:ext cx="22731560" cy="11470843"/>
          </a:xfrm>
          <a:prstGeom prst="roundRect">
            <a:avLst>
              <a:gd name="adj" fmla="val 1661"/>
            </a:avLst>
          </a:prstGeom>
          <a:noFill/>
          <a:ln w="12700">
            <a:noFill/>
            <a:miter lim="400000"/>
          </a:ln>
          <a:effectLst>
            <a:outerShdw blurRad="355600" dist="114300" rotWithShape="0">
              <a:srgbClr val="000000">
                <a:alpha val="96558"/>
              </a:srgbClr>
            </a:outerShdw>
            <a:reflection stA="50000" endPos="0" dir="5400000" sy="-100000" algn="bl" rotWithShape="0"/>
          </a:effectLst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 algn="ctr" defTabSz="825500">
              <a:lnSpc>
                <a:spcPct val="100000"/>
              </a:lnSpc>
              <a:spcBef>
                <a:spcPts val="0"/>
              </a:spcBef>
              <a:defRPr sz="20000">
                <a:solidFill>
                  <a:srgbClr val="FFFFFF"/>
                </a:solidFill>
                <a:latin typeface="Chalkduster"/>
                <a:ea typeface="Chalkduster"/>
                <a:cs typeface="Chalkduster"/>
                <a:sym typeface="Chalkduster"/>
              </a:defRPr>
            </a:lvl1pPr>
          </a:lstStyle>
          <a:p>
            <a:r>
              <a:rPr lang="en-US" sz="17300" dirty="0">
                <a:latin typeface="Chalkduster" panose="03050602040202020205" pitchFamily="66" charset="77"/>
                <a:cs typeface="Fave Script Bold Pro" panose="020F0502020204030204" pitchFamily="34" charset="0"/>
              </a:rPr>
              <a:t>Insertion Sort</a:t>
            </a:r>
            <a:endParaRPr sz="17300" dirty="0">
              <a:latin typeface="Chalkduster" panose="03050602040202020205" pitchFamily="66" charset="77"/>
              <a:cs typeface="Fave Script Bold Pro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2596859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Word"/>
      </p:transition>
    </mc:Choice>
    <mc:Fallback xmlns="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88EB6E53-10B3-AEDE-4592-1F53451FC37A}"/>
              </a:ext>
            </a:extLst>
          </p:cNvPr>
          <p:cNvSpPr/>
          <p:nvPr/>
        </p:nvSpPr>
        <p:spPr>
          <a:xfrm>
            <a:off x="4464325" y="1923214"/>
            <a:ext cx="1080000" cy="1080000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54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15</a:t>
            </a:r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BB53B2E5-770E-A7CB-13A3-8789F03AA4FB}"/>
              </a:ext>
            </a:extLst>
          </p:cNvPr>
          <p:cNvSpPr/>
          <p:nvPr/>
        </p:nvSpPr>
        <p:spPr>
          <a:xfrm>
            <a:off x="6474106" y="1923214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54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7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A41B091C-BC28-7FDA-16F3-CA69D13AE5A1}"/>
              </a:ext>
            </a:extLst>
          </p:cNvPr>
          <p:cNvSpPr/>
          <p:nvPr/>
        </p:nvSpPr>
        <p:spPr>
          <a:xfrm>
            <a:off x="8483887" y="1923214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35</a:t>
            </a: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05B38FC6-C4CF-780D-6C6E-40C445735F66}"/>
              </a:ext>
            </a:extLst>
          </p:cNvPr>
          <p:cNvSpPr/>
          <p:nvPr/>
        </p:nvSpPr>
        <p:spPr>
          <a:xfrm>
            <a:off x="10493668" y="1923214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54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8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09BED200-F6C3-376E-F813-D64C26B57DB8}"/>
              </a:ext>
            </a:extLst>
          </p:cNvPr>
          <p:cNvSpPr/>
          <p:nvPr/>
        </p:nvSpPr>
        <p:spPr>
          <a:xfrm>
            <a:off x="12503449" y="1923214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54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80</a:t>
            </a: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23DF241A-189E-C0A1-6ECD-3D7F5D1915CB}"/>
              </a:ext>
            </a:extLst>
          </p:cNvPr>
          <p:cNvSpPr/>
          <p:nvPr/>
        </p:nvSpPr>
        <p:spPr>
          <a:xfrm>
            <a:off x="14513230" y="1923214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55</a:t>
            </a: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FD78DBD3-62B9-6B3F-BA7E-3A3B97B7C381}"/>
              </a:ext>
            </a:extLst>
          </p:cNvPr>
          <p:cNvSpPr/>
          <p:nvPr/>
        </p:nvSpPr>
        <p:spPr>
          <a:xfrm>
            <a:off x="16523011" y="1923214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54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23</a:t>
            </a:r>
          </a:p>
        </p:txBody>
      </p:sp>
    </p:spTree>
    <p:extLst>
      <p:ext uri="{BB962C8B-B14F-4D97-AF65-F5344CB8AC3E}">
        <p14:creationId xmlns:p14="http://schemas.microsoft.com/office/powerpoint/2010/main" val="320202784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750">
        <p159:morph option="byObject"/>
      </p:transition>
    </mc:Choice>
    <mc:Fallback xmlns=""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29036B-3509-052E-C668-B518F1EB51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E540A817-E2EA-90B8-7F0F-C4C54E1C4FB1}"/>
              </a:ext>
            </a:extLst>
          </p:cNvPr>
          <p:cNvSpPr/>
          <p:nvPr/>
        </p:nvSpPr>
        <p:spPr>
          <a:xfrm>
            <a:off x="4145281" y="1543815"/>
            <a:ext cx="1706879" cy="1770434"/>
          </a:xfrm>
          <a:prstGeom prst="roundRect">
            <a:avLst/>
          </a:prstGeom>
          <a:solidFill>
            <a:schemeClr val="accent2">
              <a:lumMod val="50000"/>
              <a:alpha val="29955"/>
            </a:schemeClr>
          </a:solidFill>
          <a:ln w="63500" cap="flat">
            <a:solidFill>
              <a:schemeClr val="accent2">
                <a:lumMod val="5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587F10F2-0A74-103F-45D0-AAA397C22928}"/>
              </a:ext>
            </a:extLst>
          </p:cNvPr>
          <p:cNvSpPr/>
          <p:nvPr/>
        </p:nvSpPr>
        <p:spPr>
          <a:xfrm>
            <a:off x="4464325" y="1923214"/>
            <a:ext cx="1080000" cy="1080000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54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15</a:t>
            </a:r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783130DD-DBB3-9FE0-D652-DD7C4A9611C5}"/>
              </a:ext>
            </a:extLst>
          </p:cNvPr>
          <p:cNvSpPr/>
          <p:nvPr/>
        </p:nvSpPr>
        <p:spPr>
          <a:xfrm>
            <a:off x="6474106" y="1923214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  <a:alpha val="30000"/>
            </a:schemeClr>
          </a:solidFill>
          <a:ln w="63500" cap="flat">
            <a:solidFill>
              <a:schemeClr val="accent1">
                <a:lumMod val="60000"/>
                <a:lumOff val="40000"/>
                <a:alpha val="3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5400" b="0" i="0" u="none" strike="noStrike" cap="none" spc="0" normalizeH="0" baseline="0" dirty="0">
                <a:ln>
                  <a:noFill/>
                </a:ln>
                <a:solidFill>
                  <a:schemeClr val="tx1">
                    <a:alpha val="30000"/>
                  </a:schemeClr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7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61094650-48D8-1C18-5F39-F12716D2818C}"/>
              </a:ext>
            </a:extLst>
          </p:cNvPr>
          <p:cNvSpPr/>
          <p:nvPr/>
        </p:nvSpPr>
        <p:spPr>
          <a:xfrm>
            <a:off x="8483887" y="1923214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  <a:alpha val="30000"/>
            </a:schemeClr>
          </a:solidFill>
          <a:ln w="63500" cap="flat">
            <a:solidFill>
              <a:schemeClr val="accent1">
                <a:lumMod val="60000"/>
                <a:lumOff val="40000"/>
                <a:alpha val="3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5400" dirty="0">
                <a:solidFill>
                  <a:schemeClr val="tx1">
                    <a:alpha val="30000"/>
                  </a:schemeClr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35</a:t>
            </a: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>
                  <a:alpha val="30000"/>
                </a:schemeClr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FC57B355-8B51-4CE4-2B32-FA44DA5D95E6}"/>
              </a:ext>
            </a:extLst>
          </p:cNvPr>
          <p:cNvSpPr/>
          <p:nvPr/>
        </p:nvSpPr>
        <p:spPr>
          <a:xfrm>
            <a:off x="10493668" y="1923214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  <a:alpha val="30000"/>
            </a:schemeClr>
          </a:solidFill>
          <a:ln w="63500" cap="flat">
            <a:solidFill>
              <a:schemeClr val="accent1">
                <a:lumMod val="60000"/>
                <a:lumOff val="40000"/>
                <a:alpha val="3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5400" b="0" i="0" u="none" strike="noStrike" cap="none" spc="0" normalizeH="0" baseline="0" dirty="0">
                <a:ln>
                  <a:noFill/>
                </a:ln>
                <a:solidFill>
                  <a:schemeClr val="tx1">
                    <a:alpha val="30000"/>
                  </a:schemeClr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8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7ED42617-3FF0-F54F-EA4B-7DD71423D88A}"/>
              </a:ext>
            </a:extLst>
          </p:cNvPr>
          <p:cNvSpPr/>
          <p:nvPr/>
        </p:nvSpPr>
        <p:spPr>
          <a:xfrm>
            <a:off x="12503449" y="1923214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  <a:alpha val="30000"/>
            </a:schemeClr>
          </a:solidFill>
          <a:ln w="63500" cap="flat">
            <a:solidFill>
              <a:schemeClr val="accent1">
                <a:lumMod val="60000"/>
                <a:lumOff val="40000"/>
                <a:alpha val="3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5400" b="0" i="0" u="none" strike="noStrike" cap="none" spc="0" normalizeH="0" baseline="0" dirty="0">
                <a:ln>
                  <a:noFill/>
                </a:ln>
                <a:solidFill>
                  <a:schemeClr val="tx1">
                    <a:alpha val="30000"/>
                  </a:schemeClr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80</a:t>
            </a: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3889D2EB-F8B6-4F72-6058-E4D43B98FFDE}"/>
              </a:ext>
            </a:extLst>
          </p:cNvPr>
          <p:cNvSpPr/>
          <p:nvPr/>
        </p:nvSpPr>
        <p:spPr>
          <a:xfrm>
            <a:off x="14513230" y="1923214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  <a:alpha val="30000"/>
            </a:schemeClr>
          </a:solidFill>
          <a:ln w="63500" cap="flat">
            <a:solidFill>
              <a:schemeClr val="accent1">
                <a:lumMod val="60000"/>
                <a:lumOff val="40000"/>
                <a:alpha val="3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5400" dirty="0">
                <a:solidFill>
                  <a:schemeClr val="tx1">
                    <a:alpha val="30000"/>
                  </a:schemeClr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55</a:t>
            </a: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>
                  <a:alpha val="30000"/>
                </a:schemeClr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2CADBB19-4ACE-37FE-0801-FACEB44F72A4}"/>
              </a:ext>
            </a:extLst>
          </p:cNvPr>
          <p:cNvSpPr/>
          <p:nvPr/>
        </p:nvSpPr>
        <p:spPr>
          <a:xfrm>
            <a:off x="16523011" y="1923214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  <a:alpha val="30000"/>
            </a:schemeClr>
          </a:solidFill>
          <a:ln w="63500" cap="flat">
            <a:solidFill>
              <a:schemeClr val="accent1">
                <a:lumMod val="60000"/>
                <a:lumOff val="40000"/>
                <a:alpha val="3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5400" b="0" i="0" u="none" strike="noStrike" cap="none" spc="0" normalizeH="0" baseline="0" dirty="0">
                <a:ln>
                  <a:noFill/>
                </a:ln>
                <a:solidFill>
                  <a:schemeClr val="tx1">
                    <a:alpha val="30000"/>
                  </a:schemeClr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23</a:t>
            </a: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C006F827-9DA9-FB01-8182-01690B37FBD8}"/>
              </a:ext>
            </a:extLst>
          </p:cNvPr>
          <p:cNvSpPr/>
          <p:nvPr/>
        </p:nvSpPr>
        <p:spPr>
          <a:xfrm>
            <a:off x="2723605" y="8302866"/>
            <a:ext cx="19483251" cy="2871708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685800" indent="-685800" defTabSz="82550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5400" dirty="0">
                <a:solidFill>
                  <a:schemeClr val="bg1"/>
                </a:solidFill>
                <a:latin typeface="Bradley Hand" pitchFamily="2" charset="77"/>
              </a:rPr>
              <a:t>Imagine that there is one element in the array</a:t>
            </a:r>
          </a:p>
          <a:p>
            <a:pPr marL="685800" indent="-685800" defTabSz="82550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5400" dirty="0">
                <a:solidFill>
                  <a:schemeClr val="bg1"/>
                </a:solidFill>
                <a:latin typeface="Bradley Hand" pitchFamily="2" charset="77"/>
              </a:rPr>
              <a:t>So, the first element of the array is already sorted</a:t>
            </a:r>
          </a:p>
          <a:p>
            <a:pPr marL="685800" indent="-685800" defTabSz="82550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5400" dirty="0">
                <a:solidFill>
                  <a:schemeClr val="bg1"/>
                </a:solidFill>
                <a:latin typeface="Bradley Hand" pitchFamily="2" charset="77"/>
              </a:rPr>
              <a:t>Imagine adding the next element in the array</a:t>
            </a:r>
          </a:p>
        </p:txBody>
      </p:sp>
    </p:spTree>
    <p:extLst>
      <p:ext uri="{BB962C8B-B14F-4D97-AF65-F5344CB8AC3E}">
        <p14:creationId xmlns:p14="http://schemas.microsoft.com/office/powerpoint/2010/main" val="351170708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75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C90456-49F6-C021-A886-4627AE12CF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5FD42697-7D31-3DD7-69EE-EDCF0E98DFC0}"/>
              </a:ext>
            </a:extLst>
          </p:cNvPr>
          <p:cNvSpPr/>
          <p:nvPr/>
        </p:nvSpPr>
        <p:spPr>
          <a:xfrm>
            <a:off x="4145281" y="1543815"/>
            <a:ext cx="3715709" cy="1770434"/>
          </a:xfrm>
          <a:prstGeom prst="roundRect">
            <a:avLst/>
          </a:prstGeom>
          <a:solidFill>
            <a:schemeClr val="accent2">
              <a:lumMod val="50000"/>
              <a:alpha val="29955"/>
            </a:schemeClr>
          </a:solidFill>
          <a:ln w="63500" cap="flat">
            <a:solidFill>
              <a:schemeClr val="accent2">
                <a:lumMod val="5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82CD608C-0DAE-B12A-5FBA-002ABA308118}"/>
              </a:ext>
            </a:extLst>
          </p:cNvPr>
          <p:cNvSpPr/>
          <p:nvPr/>
        </p:nvSpPr>
        <p:spPr>
          <a:xfrm>
            <a:off x="4464325" y="1923214"/>
            <a:ext cx="1080000" cy="1080000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54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15</a:t>
            </a:r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73A2748F-F326-CAEF-E1A6-777A3BC778A9}"/>
              </a:ext>
            </a:extLst>
          </p:cNvPr>
          <p:cNvSpPr/>
          <p:nvPr/>
        </p:nvSpPr>
        <p:spPr>
          <a:xfrm>
            <a:off x="6474106" y="1923214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7</a:t>
            </a:r>
            <a:endParaRPr lang="en-US" sz="5400" dirty="0">
              <a:solidFill>
                <a:schemeClr val="tx1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F7423490-1743-91A3-0AE8-70B362A1A04F}"/>
              </a:ext>
            </a:extLst>
          </p:cNvPr>
          <p:cNvSpPr/>
          <p:nvPr/>
        </p:nvSpPr>
        <p:spPr>
          <a:xfrm>
            <a:off x="8483887" y="1923214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  <a:alpha val="30000"/>
            </a:schemeClr>
          </a:solidFill>
          <a:ln w="63500" cap="flat">
            <a:solidFill>
              <a:schemeClr val="accent1">
                <a:lumMod val="60000"/>
                <a:lumOff val="40000"/>
                <a:alpha val="3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5400" dirty="0">
                <a:solidFill>
                  <a:schemeClr val="tx1">
                    <a:alpha val="30000"/>
                  </a:schemeClr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35</a:t>
            </a: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>
                  <a:alpha val="30000"/>
                </a:schemeClr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9C58CA8C-C7C0-34D1-6500-95EAE2A92499}"/>
              </a:ext>
            </a:extLst>
          </p:cNvPr>
          <p:cNvSpPr/>
          <p:nvPr/>
        </p:nvSpPr>
        <p:spPr>
          <a:xfrm>
            <a:off x="10493668" y="1923214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  <a:alpha val="30000"/>
            </a:schemeClr>
          </a:solidFill>
          <a:ln w="63500" cap="flat">
            <a:solidFill>
              <a:schemeClr val="accent1">
                <a:lumMod val="60000"/>
                <a:lumOff val="40000"/>
                <a:alpha val="3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5400" b="0" i="0" u="none" strike="noStrike" cap="none" spc="0" normalizeH="0" baseline="0" dirty="0">
                <a:ln>
                  <a:noFill/>
                </a:ln>
                <a:solidFill>
                  <a:schemeClr val="tx1">
                    <a:alpha val="30000"/>
                  </a:schemeClr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8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00DE6739-E1AA-128E-8356-F22C4FBEE38C}"/>
              </a:ext>
            </a:extLst>
          </p:cNvPr>
          <p:cNvSpPr/>
          <p:nvPr/>
        </p:nvSpPr>
        <p:spPr>
          <a:xfrm>
            <a:off x="12503449" y="1923214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  <a:alpha val="30000"/>
            </a:schemeClr>
          </a:solidFill>
          <a:ln w="63500" cap="flat">
            <a:solidFill>
              <a:schemeClr val="accent1">
                <a:lumMod val="60000"/>
                <a:lumOff val="40000"/>
                <a:alpha val="3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5400" b="0" i="0" u="none" strike="noStrike" cap="none" spc="0" normalizeH="0" baseline="0" dirty="0">
                <a:ln>
                  <a:noFill/>
                </a:ln>
                <a:solidFill>
                  <a:schemeClr val="tx1">
                    <a:alpha val="30000"/>
                  </a:schemeClr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80</a:t>
            </a: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223B6174-695E-DCC8-FD7B-78B225C7866E}"/>
              </a:ext>
            </a:extLst>
          </p:cNvPr>
          <p:cNvSpPr/>
          <p:nvPr/>
        </p:nvSpPr>
        <p:spPr>
          <a:xfrm>
            <a:off x="14513230" y="1923214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  <a:alpha val="30000"/>
            </a:schemeClr>
          </a:solidFill>
          <a:ln w="63500" cap="flat">
            <a:solidFill>
              <a:schemeClr val="accent1">
                <a:lumMod val="60000"/>
                <a:lumOff val="40000"/>
                <a:alpha val="3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5400" dirty="0">
                <a:solidFill>
                  <a:schemeClr val="tx1">
                    <a:alpha val="30000"/>
                  </a:schemeClr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55</a:t>
            </a: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>
                  <a:alpha val="30000"/>
                </a:schemeClr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AEE4CC1E-C29F-4B6D-B12D-C25AE347F79F}"/>
              </a:ext>
            </a:extLst>
          </p:cNvPr>
          <p:cNvSpPr/>
          <p:nvPr/>
        </p:nvSpPr>
        <p:spPr>
          <a:xfrm>
            <a:off x="16523011" y="1923214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  <a:alpha val="30000"/>
            </a:schemeClr>
          </a:solidFill>
          <a:ln w="63500" cap="flat">
            <a:solidFill>
              <a:schemeClr val="accent1">
                <a:lumMod val="60000"/>
                <a:lumOff val="40000"/>
                <a:alpha val="3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5400" b="0" i="0" u="none" strike="noStrike" cap="none" spc="0" normalizeH="0" baseline="0" dirty="0">
                <a:ln>
                  <a:noFill/>
                </a:ln>
                <a:solidFill>
                  <a:schemeClr val="tx1">
                    <a:alpha val="30000"/>
                  </a:schemeClr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23</a:t>
            </a: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F1EAEF08-F8D8-D6DC-E36B-2D364F6E1F32}"/>
              </a:ext>
            </a:extLst>
          </p:cNvPr>
          <p:cNvSpPr/>
          <p:nvPr/>
        </p:nvSpPr>
        <p:spPr>
          <a:xfrm>
            <a:off x="2723605" y="7689933"/>
            <a:ext cx="19483251" cy="4097576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685800" indent="-685800" defTabSz="82550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5400" dirty="0">
                <a:solidFill>
                  <a:schemeClr val="bg1"/>
                </a:solidFill>
                <a:latin typeface="Bradley Hand" pitchFamily="2" charset="77"/>
              </a:rPr>
              <a:t>Put this new element in its correct place in this array</a:t>
            </a:r>
          </a:p>
          <a:p>
            <a:pPr marL="685800" indent="-685800" defTabSz="82550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5400" dirty="0">
                <a:solidFill>
                  <a:schemeClr val="bg1"/>
                </a:solidFill>
                <a:latin typeface="Bradley Hand" pitchFamily="2" charset="77"/>
              </a:rPr>
              <a:t>Compare it with the previous element and swap if required</a:t>
            </a:r>
          </a:p>
          <a:p>
            <a:pPr marL="685800" indent="-685800" defTabSz="82550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5400" dirty="0">
                <a:solidFill>
                  <a:schemeClr val="accent6">
                    <a:lumMod val="40000"/>
                    <a:lumOff val="60000"/>
                  </a:schemeClr>
                </a:solidFill>
                <a:latin typeface="Bradley Hand" pitchFamily="2" charset="77"/>
              </a:rPr>
              <a:t>Can you see that in this process, you will </a:t>
            </a:r>
            <a:r>
              <a:rPr lang="en-US" sz="7200" dirty="0">
                <a:solidFill>
                  <a:schemeClr val="accent3">
                    <a:lumMod val="60000"/>
                    <a:lumOff val="40000"/>
                  </a:schemeClr>
                </a:solidFill>
                <a:latin typeface="Bradley Hand" pitchFamily="2" charset="77"/>
              </a:rPr>
              <a:t>insert</a:t>
            </a:r>
            <a:r>
              <a:rPr lang="en-US" sz="5400" dirty="0">
                <a:solidFill>
                  <a:schemeClr val="accent6">
                    <a:lumMod val="40000"/>
                    <a:lumOff val="60000"/>
                  </a:schemeClr>
                </a:solidFill>
                <a:latin typeface="Bradley Hand" pitchFamily="2" charset="77"/>
              </a:rPr>
              <a:t> the new element to its correct place?</a:t>
            </a:r>
          </a:p>
        </p:txBody>
      </p:sp>
      <p:sp>
        <p:nvSpPr>
          <p:cNvPr id="11" name="Right Arrow 10">
            <a:extLst>
              <a:ext uri="{FF2B5EF4-FFF2-40B4-BE49-F238E27FC236}">
                <a16:creationId xmlns:a16="http://schemas.microsoft.com/office/drawing/2014/main" id="{5DF8E3AC-BA5B-58BA-D17D-C369A39906E7}"/>
              </a:ext>
            </a:extLst>
          </p:cNvPr>
          <p:cNvSpPr/>
          <p:nvPr/>
        </p:nvSpPr>
        <p:spPr>
          <a:xfrm rot="16200000">
            <a:off x="6287547" y="4029049"/>
            <a:ext cx="1453118" cy="782316"/>
          </a:xfrm>
          <a:prstGeom prst="rightArrow">
            <a:avLst/>
          </a:prstGeom>
          <a:solidFill>
            <a:schemeClr val="accent2">
              <a:lumMod val="60000"/>
              <a:lumOff val="40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</p:spTree>
    <p:extLst>
      <p:ext uri="{BB962C8B-B14F-4D97-AF65-F5344CB8AC3E}">
        <p14:creationId xmlns:p14="http://schemas.microsoft.com/office/powerpoint/2010/main" val="284894497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75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1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65443B-B197-575A-90DC-7A81F48663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34129703-4265-1CEF-FC18-B48D7A41CF5C}"/>
              </a:ext>
            </a:extLst>
          </p:cNvPr>
          <p:cNvSpPr/>
          <p:nvPr/>
        </p:nvSpPr>
        <p:spPr>
          <a:xfrm>
            <a:off x="4145281" y="1543815"/>
            <a:ext cx="3715709" cy="1770434"/>
          </a:xfrm>
          <a:prstGeom prst="roundRect">
            <a:avLst/>
          </a:prstGeom>
          <a:solidFill>
            <a:schemeClr val="accent2">
              <a:lumMod val="50000"/>
              <a:alpha val="29955"/>
            </a:schemeClr>
          </a:solidFill>
          <a:ln w="63500" cap="flat">
            <a:solidFill>
              <a:schemeClr val="accent2">
                <a:lumMod val="5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6F7A8C71-09DA-70A2-0297-5ECD3145F751}"/>
              </a:ext>
            </a:extLst>
          </p:cNvPr>
          <p:cNvSpPr/>
          <p:nvPr/>
        </p:nvSpPr>
        <p:spPr>
          <a:xfrm>
            <a:off x="4464325" y="1946760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54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7</a:t>
            </a:r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2E65A7FE-4F70-7908-F1BD-0D8DE311B275}"/>
              </a:ext>
            </a:extLst>
          </p:cNvPr>
          <p:cNvSpPr/>
          <p:nvPr/>
        </p:nvSpPr>
        <p:spPr>
          <a:xfrm>
            <a:off x="6474106" y="1923214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15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3679DD14-8040-6641-79BD-0CABDE0E167A}"/>
              </a:ext>
            </a:extLst>
          </p:cNvPr>
          <p:cNvSpPr/>
          <p:nvPr/>
        </p:nvSpPr>
        <p:spPr>
          <a:xfrm>
            <a:off x="8483887" y="1923214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  <a:alpha val="30000"/>
            </a:schemeClr>
          </a:solidFill>
          <a:ln w="63500" cap="flat">
            <a:solidFill>
              <a:schemeClr val="accent1">
                <a:lumMod val="60000"/>
                <a:lumOff val="40000"/>
                <a:alpha val="3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5400" dirty="0">
                <a:solidFill>
                  <a:schemeClr val="tx1">
                    <a:alpha val="30000"/>
                  </a:schemeClr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35</a:t>
            </a: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>
                  <a:alpha val="30000"/>
                </a:schemeClr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5A81B5F2-765F-4096-A1F8-9189EC1CF7D0}"/>
              </a:ext>
            </a:extLst>
          </p:cNvPr>
          <p:cNvSpPr/>
          <p:nvPr/>
        </p:nvSpPr>
        <p:spPr>
          <a:xfrm>
            <a:off x="10493668" y="1923214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  <a:alpha val="30000"/>
            </a:schemeClr>
          </a:solidFill>
          <a:ln w="63500" cap="flat">
            <a:solidFill>
              <a:schemeClr val="accent1">
                <a:lumMod val="60000"/>
                <a:lumOff val="40000"/>
                <a:alpha val="3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5400" b="0" i="0" u="none" strike="noStrike" cap="none" spc="0" normalizeH="0" baseline="0" dirty="0">
                <a:ln>
                  <a:noFill/>
                </a:ln>
                <a:solidFill>
                  <a:schemeClr val="tx1">
                    <a:alpha val="30000"/>
                  </a:schemeClr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8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29D643B0-B6B5-63E4-F961-C0638BA2D3D3}"/>
              </a:ext>
            </a:extLst>
          </p:cNvPr>
          <p:cNvSpPr/>
          <p:nvPr/>
        </p:nvSpPr>
        <p:spPr>
          <a:xfrm>
            <a:off x="12503449" y="1923214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  <a:alpha val="30000"/>
            </a:schemeClr>
          </a:solidFill>
          <a:ln w="63500" cap="flat">
            <a:solidFill>
              <a:schemeClr val="accent1">
                <a:lumMod val="60000"/>
                <a:lumOff val="40000"/>
                <a:alpha val="3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5400" b="0" i="0" u="none" strike="noStrike" cap="none" spc="0" normalizeH="0" baseline="0" dirty="0">
                <a:ln>
                  <a:noFill/>
                </a:ln>
                <a:solidFill>
                  <a:schemeClr val="tx1">
                    <a:alpha val="30000"/>
                  </a:schemeClr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80</a:t>
            </a: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4F58EAF1-F687-661B-F105-1CA8D9223025}"/>
              </a:ext>
            </a:extLst>
          </p:cNvPr>
          <p:cNvSpPr/>
          <p:nvPr/>
        </p:nvSpPr>
        <p:spPr>
          <a:xfrm>
            <a:off x="14513230" y="1923214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  <a:alpha val="30000"/>
            </a:schemeClr>
          </a:solidFill>
          <a:ln w="63500" cap="flat">
            <a:solidFill>
              <a:schemeClr val="accent1">
                <a:lumMod val="60000"/>
                <a:lumOff val="40000"/>
                <a:alpha val="3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5400" dirty="0">
                <a:solidFill>
                  <a:schemeClr val="tx1">
                    <a:alpha val="30000"/>
                  </a:schemeClr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55</a:t>
            </a: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>
                  <a:alpha val="30000"/>
                </a:schemeClr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68AF54C1-9B4B-8D63-4B6D-4BA6024C6211}"/>
              </a:ext>
            </a:extLst>
          </p:cNvPr>
          <p:cNvSpPr/>
          <p:nvPr/>
        </p:nvSpPr>
        <p:spPr>
          <a:xfrm>
            <a:off x="16523011" y="1923214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  <a:alpha val="30000"/>
            </a:schemeClr>
          </a:solidFill>
          <a:ln w="63500" cap="flat">
            <a:solidFill>
              <a:schemeClr val="accent1">
                <a:lumMod val="60000"/>
                <a:lumOff val="40000"/>
                <a:alpha val="3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5400" b="0" i="0" u="none" strike="noStrike" cap="none" spc="0" normalizeH="0" baseline="0" dirty="0">
                <a:ln>
                  <a:noFill/>
                </a:ln>
                <a:solidFill>
                  <a:schemeClr val="tx1">
                    <a:alpha val="30000"/>
                  </a:schemeClr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23</a:t>
            </a:r>
          </a:p>
        </p:txBody>
      </p:sp>
      <p:sp>
        <p:nvSpPr>
          <p:cNvPr id="11" name="Right Arrow 10">
            <a:extLst>
              <a:ext uri="{FF2B5EF4-FFF2-40B4-BE49-F238E27FC236}">
                <a16:creationId xmlns:a16="http://schemas.microsoft.com/office/drawing/2014/main" id="{6580CB34-24B8-296C-1E42-2CC368E2FAC8}"/>
              </a:ext>
            </a:extLst>
          </p:cNvPr>
          <p:cNvSpPr/>
          <p:nvPr/>
        </p:nvSpPr>
        <p:spPr>
          <a:xfrm rot="16200000">
            <a:off x="4277766" y="4052595"/>
            <a:ext cx="1453118" cy="782316"/>
          </a:xfrm>
          <a:prstGeom prst="rightArrow">
            <a:avLst/>
          </a:prstGeom>
          <a:solidFill>
            <a:schemeClr val="accent2">
              <a:lumMod val="60000"/>
              <a:lumOff val="40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</p:spTree>
    <p:extLst>
      <p:ext uri="{BB962C8B-B14F-4D97-AF65-F5344CB8AC3E}">
        <p14:creationId xmlns:p14="http://schemas.microsoft.com/office/powerpoint/2010/main" val="93510529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750">
        <p159:morph option="byObject"/>
      </p:transition>
    </mc:Choice>
    <mc:Fallback xmlns=""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53C651-545A-BDA3-3213-FDFDF293D8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D5DD53DE-14B3-B991-4EA1-462BDABE86D5}"/>
              </a:ext>
            </a:extLst>
          </p:cNvPr>
          <p:cNvSpPr/>
          <p:nvPr/>
        </p:nvSpPr>
        <p:spPr>
          <a:xfrm>
            <a:off x="4145281" y="1543815"/>
            <a:ext cx="3715709" cy="1770434"/>
          </a:xfrm>
          <a:prstGeom prst="roundRect">
            <a:avLst/>
          </a:prstGeom>
          <a:solidFill>
            <a:schemeClr val="accent2">
              <a:lumMod val="50000"/>
              <a:alpha val="29955"/>
            </a:schemeClr>
          </a:solidFill>
          <a:ln w="63500" cap="flat">
            <a:solidFill>
              <a:schemeClr val="accent2">
                <a:lumMod val="5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EFD19B8C-10E3-72A2-DB2C-2D4F203C70C7}"/>
              </a:ext>
            </a:extLst>
          </p:cNvPr>
          <p:cNvSpPr/>
          <p:nvPr/>
        </p:nvSpPr>
        <p:spPr>
          <a:xfrm>
            <a:off x="4464325" y="1946760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54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7</a:t>
            </a:r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6AF2E90D-51D6-69E7-850D-E8383F28D304}"/>
              </a:ext>
            </a:extLst>
          </p:cNvPr>
          <p:cNvSpPr/>
          <p:nvPr/>
        </p:nvSpPr>
        <p:spPr>
          <a:xfrm>
            <a:off x="6474106" y="1923214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15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C40D7172-6C0B-D7E8-06B2-F1A1987F736C}"/>
              </a:ext>
            </a:extLst>
          </p:cNvPr>
          <p:cNvSpPr/>
          <p:nvPr/>
        </p:nvSpPr>
        <p:spPr>
          <a:xfrm>
            <a:off x="8483887" y="1923214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  <a:alpha val="30000"/>
            </a:schemeClr>
          </a:solidFill>
          <a:ln w="63500" cap="flat">
            <a:solidFill>
              <a:schemeClr val="accent1">
                <a:lumMod val="60000"/>
                <a:lumOff val="40000"/>
                <a:alpha val="3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5400" dirty="0">
                <a:solidFill>
                  <a:schemeClr val="tx1">
                    <a:alpha val="30000"/>
                  </a:schemeClr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35</a:t>
            </a: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>
                  <a:alpha val="30000"/>
                </a:schemeClr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D533D600-4970-26FC-E4A9-C1333B1213A9}"/>
              </a:ext>
            </a:extLst>
          </p:cNvPr>
          <p:cNvSpPr/>
          <p:nvPr/>
        </p:nvSpPr>
        <p:spPr>
          <a:xfrm>
            <a:off x="10493668" y="1923214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  <a:alpha val="30000"/>
            </a:schemeClr>
          </a:solidFill>
          <a:ln w="63500" cap="flat">
            <a:solidFill>
              <a:schemeClr val="accent1">
                <a:lumMod val="60000"/>
                <a:lumOff val="40000"/>
                <a:alpha val="3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5400" b="0" i="0" u="none" strike="noStrike" cap="none" spc="0" normalizeH="0" baseline="0" dirty="0">
                <a:ln>
                  <a:noFill/>
                </a:ln>
                <a:solidFill>
                  <a:schemeClr val="tx1">
                    <a:alpha val="30000"/>
                  </a:schemeClr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8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366767C0-A86A-4909-D724-74A6A0ED3CDA}"/>
              </a:ext>
            </a:extLst>
          </p:cNvPr>
          <p:cNvSpPr/>
          <p:nvPr/>
        </p:nvSpPr>
        <p:spPr>
          <a:xfrm>
            <a:off x="12503449" y="1923214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  <a:alpha val="30000"/>
            </a:schemeClr>
          </a:solidFill>
          <a:ln w="63500" cap="flat">
            <a:solidFill>
              <a:schemeClr val="accent1">
                <a:lumMod val="60000"/>
                <a:lumOff val="40000"/>
                <a:alpha val="3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5400" b="0" i="0" u="none" strike="noStrike" cap="none" spc="0" normalizeH="0" baseline="0" dirty="0">
                <a:ln>
                  <a:noFill/>
                </a:ln>
                <a:solidFill>
                  <a:schemeClr val="tx1">
                    <a:alpha val="30000"/>
                  </a:schemeClr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80</a:t>
            </a: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EDAAA58A-42EA-DCCD-CB1F-3EA945CED06D}"/>
              </a:ext>
            </a:extLst>
          </p:cNvPr>
          <p:cNvSpPr/>
          <p:nvPr/>
        </p:nvSpPr>
        <p:spPr>
          <a:xfrm>
            <a:off x="14513230" y="1923214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  <a:alpha val="30000"/>
            </a:schemeClr>
          </a:solidFill>
          <a:ln w="63500" cap="flat">
            <a:solidFill>
              <a:schemeClr val="accent1">
                <a:lumMod val="60000"/>
                <a:lumOff val="40000"/>
                <a:alpha val="3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5400" dirty="0">
                <a:solidFill>
                  <a:schemeClr val="tx1">
                    <a:alpha val="30000"/>
                  </a:schemeClr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55</a:t>
            </a: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>
                  <a:alpha val="30000"/>
                </a:schemeClr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ACC6F388-870F-8359-8848-4E6354D5CCAA}"/>
              </a:ext>
            </a:extLst>
          </p:cNvPr>
          <p:cNvSpPr/>
          <p:nvPr/>
        </p:nvSpPr>
        <p:spPr>
          <a:xfrm>
            <a:off x="16523011" y="1923214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  <a:alpha val="30000"/>
            </a:schemeClr>
          </a:solidFill>
          <a:ln w="63500" cap="flat">
            <a:solidFill>
              <a:schemeClr val="accent1">
                <a:lumMod val="60000"/>
                <a:lumOff val="40000"/>
                <a:alpha val="3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5400" b="0" i="0" u="none" strike="noStrike" cap="none" spc="0" normalizeH="0" baseline="0" dirty="0">
                <a:ln>
                  <a:noFill/>
                </a:ln>
                <a:solidFill>
                  <a:schemeClr val="tx1">
                    <a:alpha val="30000"/>
                  </a:schemeClr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23</a:t>
            </a: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8EB72733-3CB1-941D-4BA9-0DDA0755553D}"/>
              </a:ext>
            </a:extLst>
          </p:cNvPr>
          <p:cNvSpPr/>
          <p:nvPr/>
        </p:nvSpPr>
        <p:spPr>
          <a:xfrm>
            <a:off x="2723605" y="8762566"/>
            <a:ext cx="19483251" cy="1952308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685800" indent="-685800" defTabSz="82550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5400" dirty="0">
                <a:solidFill>
                  <a:schemeClr val="bg1"/>
                </a:solidFill>
                <a:latin typeface="Bradley Hand" pitchFamily="2" charset="77"/>
              </a:rPr>
              <a:t>Now, the first two elements of the array are already sorted</a:t>
            </a:r>
          </a:p>
          <a:p>
            <a:pPr marL="685800" indent="-685800" defTabSz="82550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5400" dirty="0">
                <a:solidFill>
                  <a:schemeClr val="bg1"/>
                </a:solidFill>
                <a:latin typeface="Bradley Hand" pitchFamily="2" charset="77"/>
              </a:rPr>
              <a:t>Let us now add the next element</a:t>
            </a:r>
          </a:p>
        </p:txBody>
      </p:sp>
    </p:spTree>
    <p:extLst>
      <p:ext uri="{BB962C8B-B14F-4D97-AF65-F5344CB8AC3E}">
        <p14:creationId xmlns:p14="http://schemas.microsoft.com/office/powerpoint/2010/main" val="115584287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750">
        <p159:morph option="byObject"/>
      </p:transition>
    </mc:Choice>
    <mc:Fallback xmlns="">
      <p:transition spd="slow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7DDF0B-6698-D076-6115-4A0713EFF1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2A71E8DD-667D-BCDA-1F60-2995E760ADC9}"/>
              </a:ext>
            </a:extLst>
          </p:cNvPr>
          <p:cNvSpPr/>
          <p:nvPr/>
        </p:nvSpPr>
        <p:spPr>
          <a:xfrm>
            <a:off x="4145281" y="1543815"/>
            <a:ext cx="5725490" cy="1770434"/>
          </a:xfrm>
          <a:prstGeom prst="roundRect">
            <a:avLst/>
          </a:prstGeom>
          <a:solidFill>
            <a:schemeClr val="accent2">
              <a:lumMod val="50000"/>
              <a:alpha val="29955"/>
            </a:schemeClr>
          </a:solidFill>
          <a:ln w="63500" cap="flat">
            <a:solidFill>
              <a:schemeClr val="accent2">
                <a:lumMod val="5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181A3F9B-212D-0F19-8EC8-39A78DD2DABE}"/>
              </a:ext>
            </a:extLst>
          </p:cNvPr>
          <p:cNvSpPr/>
          <p:nvPr/>
        </p:nvSpPr>
        <p:spPr>
          <a:xfrm>
            <a:off x="4464325" y="1946760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54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7</a:t>
            </a:r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EAF59D13-FAFE-12CA-CF77-67F7A0BACF09}"/>
              </a:ext>
            </a:extLst>
          </p:cNvPr>
          <p:cNvSpPr/>
          <p:nvPr/>
        </p:nvSpPr>
        <p:spPr>
          <a:xfrm>
            <a:off x="6474106" y="1923214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15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066D3273-51BE-33EB-037F-0EBBB6371AC5}"/>
              </a:ext>
            </a:extLst>
          </p:cNvPr>
          <p:cNvSpPr/>
          <p:nvPr/>
        </p:nvSpPr>
        <p:spPr>
          <a:xfrm>
            <a:off x="8483887" y="1923214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35</a:t>
            </a:r>
            <a:endParaRPr lang="en-US" sz="5400" dirty="0">
              <a:solidFill>
                <a:schemeClr val="tx1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69F2FFD2-8B7A-0F79-F758-2CF0F3F36D6D}"/>
              </a:ext>
            </a:extLst>
          </p:cNvPr>
          <p:cNvSpPr/>
          <p:nvPr/>
        </p:nvSpPr>
        <p:spPr>
          <a:xfrm>
            <a:off x="10493668" y="1923214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  <a:alpha val="30000"/>
            </a:schemeClr>
          </a:solidFill>
          <a:ln w="63500" cap="flat">
            <a:solidFill>
              <a:schemeClr val="accent1">
                <a:lumMod val="60000"/>
                <a:lumOff val="40000"/>
                <a:alpha val="3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5400" b="0" i="0" u="none" strike="noStrike" cap="none" spc="0" normalizeH="0" baseline="0" dirty="0">
                <a:ln>
                  <a:noFill/>
                </a:ln>
                <a:solidFill>
                  <a:schemeClr val="tx1">
                    <a:alpha val="30000"/>
                  </a:schemeClr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8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504CDD58-DB27-44A7-274B-483EC9E1289F}"/>
              </a:ext>
            </a:extLst>
          </p:cNvPr>
          <p:cNvSpPr/>
          <p:nvPr/>
        </p:nvSpPr>
        <p:spPr>
          <a:xfrm>
            <a:off x="12503449" y="1923214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  <a:alpha val="30000"/>
            </a:schemeClr>
          </a:solidFill>
          <a:ln w="63500" cap="flat">
            <a:solidFill>
              <a:schemeClr val="accent1">
                <a:lumMod val="60000"/>
                <a:lumOff val="40000"/>
                <a:alpha val="3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5400" b="0" i="0" u="none" strike="noStrike" cap="none" spc="0" normalizeH="0" baseline="0" dirty="0">
                <a:ln>
                  <a:noFill/>
                </a:ln>
                <a:solidFill>
                  <a:schemeClr val="tx1">
                    <a:alpha val="30000"/>
                  </a:schemeClr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80</a:t>
            </a: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0DD866A1-D64E-F32F-43A9-BE7369F5FCEF}"/>
              </a:ext>
            </a:extLst>
          </p:cNvPr>
          <p:cNvSpPr/>
          <p:nvPr/>
        </p:nvSpPr>
        <p:spPr>
          <a:xfrm>
            <a:off x="14513230" y="1923214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  <a:alpha val="30000"/>
            </a:schemeClr>
          </a:solidFill>
          <a:ln w="63500" cap="flat">
            <a:solidFill>
              <a:schemeClr val="accent1">
                <a:lumMod val="60000"/>
                <a:lumOff val="40000"/>
                <a:alpha val="3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5400" dirty="0">
                <a:solidFill>
                  <a:schemeClr val="tx1">
                    <a:alpha val="30000"/>
                  </a:schemeClr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55</a:t>
            </a: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>
                  <a:alpha val="30000"/>
                </a:schemeClr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4D2A5242-5037-75A7-3825-5103A0D42AD0}"/>
              </a:ext>
            </a:extLst>
          </p:cNvPr>
          <p:cNvSpPr/>
          <p:nvPr/>
        </p:nvSpPr>
        <p:spPr>
          <a:xfrm>
            <a:off x="16523011" y="1923214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  <a:alpha val="30000"/>
            </a:schemeClr>
          </a:solidFill>
          <a:ln w="63500" cap="flat">
            <a:solidFill>
              <a:schemeClr val="accent1">
                <a:lumMod val="60000"/>
                <a:lumOff val="40000"/>
                <a:alpha val="3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5400" b="0" i="0" u="none" strike="noStrike" cap="none" spc="0" normalizeH="0" baseline="0" dirty="0">
                <a:ln>
                  <a:noFill/>
                </a:ln>
                <a:solidFill>
                  <a:schemeClr val="tx1">
                    <a:alpha val="30000"/>
                  </a:schemeClr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23</a:t>
            </a:r>
          </a:p>
        </p:txBody>
      </p:sp>
      <p:sp>
        <p:nvSpPr>
          <p:cNvPr id="11" name="Right Arrow 10">
            <a:extLst>
              <a:ext uri="{FF2B5EF4-FFF2-40B4-BE49-F238E27FC236}">
                <a16:creationId xmlns:a16="http://schemas.microsoft.com/office/drawing/2014/main" id="{46B0A550-F946-90B3-5A92-144252015A58}"/>
              </a:ext>
            </a:extLst>
          </p:cNvPr>
          <p:cNvSpPr/>
          <p:nvPr/>
        </p:nvSpPr>
        <p:spPr>
          <a:xfrm rot="16200000">
            <a:off x="8297328" y="4029049"/>
            <a:ext cx="1453118" cy="782316"/>
          </a:xfrm>
          <a:prstGeom prst="rightArrow">
            <a:avLst/>
          </a:prstGeom>
          <a:solidFill>
            <a:schemeClr val="accent2">
              <a:lumMod val="60000"/>
              <a:lumOff val="40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5CB416AF-B170-63F4-AE2F-7D564775265D}"/>
              </a:ext>
            </a:extLst>
          </p:cNvPr>
          <p:cNvSpPr/>
          <p:nvPr/>
        </p:nvSpPr>
        <p:spPr>
          <a:xfrm>
            <a:off x="2723605" y="7843167"/>
            <a:ext cx="19483251" cy="3791109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685800" indent="-685800" defTabSz="82550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5400" dirty="0">
                <a:solidFill>
                  <a:schemeClr val="bg1"/>
                </a:solidFill>
                <a:latin typeface="Bradley Hand" pitchFamily="2" charset="77"/>
              </a:rPr>
              <a:t>Put this new element in its correct place in this array</a:t>
            </a:r>
          </a:p>
          <a:p>
            <a:pPr marL="685800" indent="-685800" defTabSz="82550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5400" dirty="0">
                <a:solidFill>
                  <a:schemeClr val="bg1"/>
                </a:solidFill>
                <a:latin typeface="Bradley Hand" pitchFamily="2" charset="77"/>
              </a:rPr>
              <a:t>But 15 itself is less than 35. So, 35 is already at its correct place</a:t>
            </a:r>
          </a:p>
          <a:p>
            <a:pPr marL="685800" indent="-685800" defTabSz="82550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5400" dirty="0">
                <a:solidFill>
                  <a:schemeClr val="bg1"/>
                </a:solidFill>
                <a:latin typeface="Bradley Hand" pitchFamily="2" charset="77"/>
              </a:rPr>
              <a:t>Let us add the next element</a:t>
            </a:r>
            <a:endParaRPr lang="en-US" sz="5400" dirty="0">
              <a:solidFill>
                <a:schemeClr val="accent6">
                  <a:lumMod val="40000"/>
                  <a:lumOff val="60000"/>
                </a:schemeClr>
              </a:solidFill>
              <a:latin typeface="Bradley Hand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64249575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75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C87CD2-5E98-88CD-2B0B-18EFC93FF0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83157973-56A6-020D-9511-9B70A1453593}"/>
              </a:ext>
            </a:extLst>
          </p:cNvPr>
          <p:cNvSpPr/>
          <p:nvPr/>
        </p:nvSpPr>
        <p:spPr>
          <a:xfrm>
            <a:off x="4145280" y="1543815"/>
            <a:ext cx="7735271" cy="1770434"/>
          </a:xfrm>
          <a:prstGeom prst="roundRect">
            <a:avLst/>
          </a:prstGeom>
          <a:solidFill>
            <a:schemeClr val="accent2">
              <a:lumMod val="50000"/>
              <a:alpha val="29955"/>
            </a:schemeClr>
          </a:solidFill>
          <a:ln w="63500" cap="flat">
            <a:solidFill>
              <a:schemeClr val="accent2">
                <a:lumMod val="5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4B6B4C52-08A4-B6D3-A92E-3438B873A4D7}"/>
              </a:ext>
            </a:extLst>
          </p:cNvPr>
          <p:cNvSpPr/>
          <p:nvPr/>
        </p:nvSpPr>
        <p:spPr>
          <a:xfrm>
            <a:off x="4464325" y="1946760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54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7</a:t>
            </a:r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5E0A624A-3E32-4492-5A41-C0145AAE57B5}"/>
              </a:ext>
            </a:extLst>
          </p:cNvPr>
          <p:cNvSpPr/>
          <p:nvPr/>
        </p:nvSpPr>
        <p:spPr>
          <a:xfrm>
            <a:off x="6474106" y="1923214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15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F6492CFD-0C47-911E-8335-994B7771A11C}"/>
              </a:ext>
            </a:extLst>
          </p:cNvPr>
          <p:cNvSpPr/>
          <p:nvPr/>
        </p:nvSpPr>
        <p:spPr>
          <a:xfrm>
            <a:off x="8483887" y="1923214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35</a:t>
            </a:r>
            <a:endParaRPr lang="en-US" sz="5400" dirty="0">
              <a:solidFill>
                <a:schemeClr val="tx1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DCCD458A-5DBE-5C0C-A39F-92392AB6E33F}"/>
              </a:ext>
            </a:extLst>
          </p:cNvPr>
          <p:cNvSpPr/>
          <p:nvPr/>
        </p:nvSpPr>
        <p:spPr>
          <a:xfrm>
            <a:off x="10493668" y="1923214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8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AF611B16-B9DE-898E-7C5E-84CA5A83F3DD}"/>
              </a:ext>
            </a:extLst>
          </p:cNvPr>
          <p:cNvSpPr/>
          <p:nvPr/>
        </p:nvSpPr>
        <p:spPr>
          <a:xfrm>
            <a:off x="12503449" y="1923214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  <a:alpha val="30000"/>
            </a:schemeClr>
          </a:solidFill>
          <a:ln w="63500" cap="flat">
            <a:solidFill>
              <a:schemeClr val="accent1">
                <a:lumMod val="60000"/>
                <a:lumOff val="40000"/>
                <a:alpha val="3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5400" b="0" i="0" u="none" strike="noStrike" cap="none" spc="0" normalizeH="0" baseline="0" dirty="0">
                <a:ln>
                  <a:noFill/>
                </a:ln>
                <a:solidFill>
                  <a:schemeClr val="tx1">
                    <a:alpha val="30000"/>
                  </a:schemeClr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80</a:t>
            </a: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12235B15-1072-8B2D-145A-A3D41B10138E}"/>
              </a:ext>
            </a:extLst>
          </p:cNvPr>
          <p:cNvSpPr/>
          <p:nvPr/>
        </p:nvSpPr>
        <p:spPr>
          <a:xfrm>
            <a:off x="14513230" y="1923214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  <a:alpha val="30000"/>
            </a:schemeClr>
          </a:solidFill>
          <a:ln w="63500" cap="flat">
            <a:solidFill>
              <a:schemeClr val="accent1">
                <a:lumMod val="60000"/>
                <a:lumOff val="40000"/>
                <a:alpha val="3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5400" dirty="0">
                <a:solidFill>
                  <a:schemeClr val="tx1">
                    <a:alpha val="30000"/>
                  </a:schemeClr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55</a:t>
            </a: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>
                  <a:alpha val="30000"/>
                </a:schemeClr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99E032DF-4092-D9F9-B312-5B1675DC1D10}"/>
              </a:ext>
            </a:extLst>
          </p:cNvPr>
          <p:cNvSpPr/>
          <p:nvPr/>
        </p:nvSpPr>
        <p:spPr>
          <a:xfrm>
            <a:off x="16523011" y="1923214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  <a:alpha val="30000"/>
            </a:schemeClr>
          </a:solidFill>
          <a:ln w="63500" cap="flat">
            <a:solidFill>
              <a:schemeClr val="accent1">
                <a:lumMod val="60000"/>
                <a:lumOff val="40000"/>
                <a:alpha val="3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5400" b="0" i="0" u="none" strike="noStrike" cap="none" spc="0" normalizeH="0" baseline="0" dirty="0">
                <a:ln>
                  <a:noFill/>
                </a:ln>
                <a:solidFill>
                  <a:schemeClr val="tx1">
                    <a:alpha val="30000"/>
                  </a:schemeClr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23</a:t>
            </a:r>
          </a:p>
        </p:txBody>
      </p:sp>
      <p:sp>
        <p:nvSpPr>
          <p:cNvPr id="10" name="Right Arrow 9">
            <a:extLst>
              <a:ext uri="{FF2B5EF4-FFF2-40B4-BE49-F238E27FC236}">
                <a16:creationId xmlns:a16="http://schemas.microsoft.com/office/drawing/2014/main" id="{1F6892D6-6A6D-7C6D-ECC9-87B4D9499F6D}"/>
              </a:ext>
            </a:extLst>
          </p:cNvPr>
          <p:cNvSpPr/>
          <p:nvPr/>
        </p:nvSpPr>
        <p:spPr>
          <a:xfrm rot="16200000">
            <a:off x="10307109" y="4029049"/>
            <a:ext cx="1453118" cy="782316"/>
          </a:xfrm>
          <a:prstGeom prst="rightArrow">
            <a:avLst/>
          </a:prstGeom>
          <a:solidFill>
            <a:schemeClr val="accent2">
              <a:lumMod val="60000"/>
              <a:lumOff val="40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3ABEEE84-7128-8986-67D3-D3C300B72392}"/>
              </a:ext>
            </a:extLst>
          </p:cNvPr>
          <p:cNvSpPr/>
          <p:nvPr/>
        </p:nvSpPr>
        <p:spPr>
          <a:xfrm>
            <a:off x="2723605" y="8762568"/>
            <a:ext cx="19483251" cy="1952308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685800" indent="-685800" defTabSz="82550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5400" dirty="0">
                <a:solidFill>
                  <a:schemeClr val="bg1"/>
                </a:solidFill>
                <a:latin typeface="Bradley Hand" pitchFamily="2" charset="77"/>
              </a:rPr>
              <a:t>Put this new element in its correct place in this array</a:t>
            </a:r>
          </a:p>
          <a:p>
            <a:pPr marL="685800" indent="-685800" defTabSz="82550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5400" dirty="0">
                <a:solidFill>
                  <a:schemeClr val="bg1"/>
                </a:solidFill>
                <a:latin typeface="Bradley Hand" pitchFamily="2" charset="77"/>
              </a:rPr>
              <a:t>Compare it with the previous element and swap if required</a:t>
            </a:r>
          </a:p>
        </p:txBody>
      </p:sp>
    </p:spTree>
    <p:extLst>
      <p:ext uri="{BB962C8B-B14F-4D97-AF65-F5344CB8AC3E}">
        <p14:creationId xmlns:p14="http://schemas.microsoft.com/office/powerpoint/2010/main" val="228097062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750">
        <p159:morph option="byObject"/>
      </p:transition>
    </mc:Choice>
    <mc:Fallback xmlns="">
      <p:transition spd="slow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17E969-CF36-ACA3-7D7C-6A1E3E935D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B8422CA5-6D55-357C-139D-AEC8614AC4FD}"/>
              </a:ext>
            </a:extLst>
          </p:cNvPr>
          <p:cNvSpPr/>
          <p:nvPr/>
        </p:nvSpPr>
        <p:spPr>
          <a:xfrm>
            <a:off x="4145280" y="1543815"/>
            <a:ext cx="7735271" cy="1770434"/>
          </a:xfrm>
          <a:prstGeom prst="roundRect">
            <a:avLst/>
          </a:prstGeom>
          <a:solidFill>
            <a:schemeClr val="accent2">
              <a:lumMod val="50000"/>
              <a:alpha val="29955"/>
            </a:schemeClr>
          </a:solidFill>
          <a:ln w="63500" cap="flat">
            <a:solidFill>
              <a:schemeClr val="accent2">
                <a:lumMod val="5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099214F0-D6F6-0E7F-AAB2-2E2245C27CAD}"/>
              </a:ext>
            </a:extLst>
          </p:cNvPr>
          <p:cNvSpPr/>
          <p:nvPr/>
        </p:nvSpPr>
        <p:spPr>
          <a:xfrm>
            <a:off x="4464325" y="1946760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54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7</a:t>
            </a:r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D120399B-A97F-7254-2424-99BB4B9F9092}"/>
              </a:ext>
            </a:extLst>
          </p:cNvPr>
          <p:cNvSpPr/>
          <p:nvPr/>
        </p:nvSpPr>
        <p:spPr>
          <a:xfrm>
            <a:off x="6474106" y="1923214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15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E6A25671-1B33-4A99-0A78-DE882E24659B}"/>
              </a:ext>
            </a:extLst>
          </p:cNvPr>
          <p:cNvSpPr/>
          <p:nvPr/>
        </p:nvSpPr>
        <p:spPr>
          <a:xfrm>
            <a:off x="8483887" y="1923214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8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7C22ACB4-9B4E-A338-B07D-978C88A5B5A1}"/>
              </a:ext>
            </a:extLst>
          </p:cNvPr>
          <p:cNvSpPr/>
          <p:nvPr/>
        </p:nvSpPr>
        <p:spPr>
          <a:xfrm>
            <a:off x="10493668" y="1923214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35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48CC37EC-B9A8-57A8-EA4D-03C920ACECE7}"/>
              </a:ext>
            </a:extLst>
          </p:cNvPr>
          <p:cNvSpPr/>
          <p:nvPr/>
        </p:nvSpPr>
        <p:spPr>
          <a:xfrm>
            <a:off x="12503449" y="1923214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  <a:alpha val="30000"/>
            </a:schemeClr>
          </a:solidFill>
          <a:ln w="63500" cap="flat">
            <a:solidFill>
              <a:schemeClr val="accent1">
                <a:lumMod val="60000"/>
                <a:lumOff val="40000"/>
                <a:alpha val="3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5400" b="0" i="0" u="none" strike="noStrike" cap="none" spc="0" normalizeH="0" baseline="0" dirty="0">
                <a:ln>
                  <a:noFill/>
                </a:ln>
                <a:solidFill>
                  <a:schemeClr val="tx1">
                    <a:alpha val="30000"/>
                  </a:schemeClr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80</a:t>
            </a: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5B04AAE9-A231-036C-9D53-26AF8EA2E1D8}"/>
              </a:ext>
            </a:extLst>
          </p:cNvPr>
          <p:cNvSpPr/>
          <p:nvPr/>
        </p:nvSpPr>
        <p:spPr>
          <a:xfrm>
            <a:off x="14513230" y="1923214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  <a:alpha val="30000"/>
            </a:schemeClr>
          </a:solidFill>
          <a:ln w="63500" cap="flat">
            <a:solidFill>
              <a:schemeClr val="accent1">
                <a:lumMod val="60000"/>
                <a:lumOff val="40000"/>
                <a:alpha val="3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5400" dirty="0">
                <a:solidFill>
                  <a:schemeClr val="tx1">
                    <a:alpha val="30000"/>
                  </a:schemeClr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55</a:t>
            </a: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>
                  <a:alpha val="30000"/>
                </a:schemeClr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A2764FC8-5C33-09DA-30C4-04C340F6DC10}"/>
              </a:ext>
            </a:extLst>
          </p:cNvPr>
          <p:cNvSpPr/>
          <p:nvPr/>
        </p:nvSpPr>
        <p:spPr>
          <a:xfrm>
            <a:off x="16523011" y="1923214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  <a:alpha val="30000"/>
            </a:schemeClr>
          </a:solidFill>
          <a:ln w="63500" cap="flat">
            <a:solidFill>
              <a:schemeClr val="accent1">
                <a:lumMod val="60000"/>
                <a:lumOff val="40000"/>
                <a:alpha val="3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5400" b="0" i="0" u="none" strike="noStrike" cap="none" spc="0" normalizeH="0" baseline="0" dirty="0">
                <a:ln>
                  <a:noFill/>
                </a:ln>
                <a:solidFill>
                  <a:schemeClr val="tx1">
                    <a:alpha val="30000"/>
                  </a:schemeClr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23</a:t>
            </a:r>
          </a:p>
        </p:txBody>
      </p:sp>
      <p:sp>
        <p:nvSpPr>
          <p:cNvPr id="10" name="Right Arrow 9">
            <a:extLst>
              <a:ext uri="{FF2B5EF4-FFF2-40B4-BE49-F238E27FC236}">
                <a16:creationId xmlns:a16="http://schemas.microsoft.com/office/drawing/2014/main" id="{CD11CF60-9894-20F9-434E-30D7080FD723}"/>
              </a:ext>
            </a:extLst>
          </p:cNvPr>
          <p:cNvSpPr/>
          <p:nvPr/>
        </p:nvSpPr>
        <p:spPr>
          <a:xfrm rot="16200000">
            <a:off x="8297328" y="4029049"/>
            <a:ext cx="1453118" cy="782316"/>
          </a:xfrm>
          <a:prstGeom prst="rightArrow">
            <a:avLst/>
          </a:prstGeom>
          <a:solidFill>
            <a:schemeClr val="accent2">
              <a:lumMod val="60000"/>
              <a:lumOff val="40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</p:spTree>
    <p:extLst>
      <p:ext uri="{BB962C8B-B14F-4D97-AF65-F5344CB8AC3E}">
        <p14:creationId xmlns:p14="http://schemas.microsoft.com/office/powerpoint/2010/main" val="241981777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750">
        <p159:morph option="byObject"/>
      </p:transition>
    </mc:Choice>
    <mc:Fallback xmlns="">
      <p:transition spd="slow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67D96F-87A2-8E83-F266-95BB336F14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0634D526-BD3D-1C11-C6DC-E63085F4B80B}"/>
              </a:ext>
            </a:extLst>
          </p:cNvPr>
          <p:cNvSpPr/>
          <p:nvPr/>
        </p:nvSpPr>
        <p:spPr>
          <a:xfrm>
            <a:off x="4145280" y="1543815"/>
            <a:ext cx="7735271" cy="1770434"/>
          </a:xfrm>
          <a:prstGeom prst="roundRect">
            <a:avLst/>
          </a:prstGeom>
          <a:solidFill>
            <a:schemeClr val="accent2">
              <a:lumMod val="50000"/>
              <a:alpha val="29955"/>
            </a:schemeClr>
          </a:solidFill>
          <a:ln w="63500" cap="flat">
            <a:solidFill>
              <a:schemeClr val="accent2">
                <a:lumMod val="5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A88B3817-8F7B-E693-1507-B765A36ADF5E}"/>
              </a:ext>
            </a:extLst>
          </p:cNvPr>
          <p:cNvSpPr/>
          <p:nvPr/>
        </p:nvSpPr>
        <p:spPr>
          <a:xfrm>
            <a:off x="4464325" y="1946760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54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7</a:t>
            </a:r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4954F15A-8631-1940-2105-4D42A0DCE8B5}"/>
              </a:ext>
            </a:extLst>
          </p:cNvPr>
          <p:cNvSpPr/>
          <p:nvPr/>
        </p:nvSpPr>
        <p:spPr>
          <a:xfrm>
            <a:off x="6474106" y="1923214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8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2E566651-1547-0B37-18AE-5E721DEB90C5}"/>
              </a:ext>
            </a:extLst>
          </p:cNvPr>
          <p:cNvSpPr/>
          <p:nvPr/>
        </p:nvSpPr>
        <p:spPr>
          <a:xfrm>
            <a:off x="8483887" y="1923214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15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1A35B93F-0026-5403-59D9-3C05DE2473AF}"/>
              </a:ext>
            </a:extLst>
          </p:cNvPr>
          <p:cNvSpPr/>
          <p:nvPr/>
        </p:nvSpPr>
        <p:spPr>
          <a:xfrm>
            <a:off x="10493668" y="1923214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35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C5CA27E7-DF60-51A3-C36F-C313BC9B9CCC}"/>
              </a:ext>
            </a:extLst>
          </p:cNvPr>
          <p:cNvSpPr/>
          <p:nvPr/>
        </p:nvSpPr>
        <p:spPr>
          <a:xfrm>
            <a:off x="12503449" y="1923214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  <a:alpha val="30000"/>
            </a:schemeClr>
          </a:solidFill>
          <a:ln w="63500" cap="flat">
            <a:solidFill>
              <a:schemeClr val="accent1">
                <a:lumMod val="60000"/>
                <a:lumOff val="40000"/>
                <a:alpha val="3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5400" b="0" i="0" u="none" strike="noStrike" cap="none" spc="0" normalizeH="0" baseline="0" dirty="0">
                <a:ln>
                  <a:noFill/>
                </a:ln>
                <a:solidFill>
                  <a:schemeClr val="tx1">
                    <a:alpha val="30000"/>
                  </a:schemeClr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80</a:t>
            </a: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A3BB40DE-BED3-EE8B-D95E-69BB28F13A1D}"/>
              </a:ext>
            </a:extLst>
          </p:cNvPr>
          <p:cNvSpPr/>
          <p:nvPr/>
        </p:nvSpPr>
        <p:spPr>
          <a:xfrm>
            <a:off x="14513230" y="1923214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  <a:alpha val="30000"/>
            </a:schemeClr>
          </a:solidFill>
          <a:ln w="63500" cap="flat">
            <a:solidFill>
              <a:schemeClr val="accent1">
                <a:lumMod val="60000"/>
                <a:lumOff val="40000"/>
                <a:alpha val="3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5400" dirty="0">
                <a:solidFill>
                  <a:schemeClr val="tx1">
                    <a:alpha val="30000"/>
                  </a:schemeClr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55</a:t>
            </a: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>
                  <a:alpha val="30000"/>
                </a:schemeClr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2DA1A393-C225-85A9-51AA-E32593DAE195}"/>
              </a:ext>
            </a:extLst>
          </p:cNvPr>
          <p:cNvSpPr/>
          <p:nvPr/>
        </p:nvSpPr>
        <p:spPr>
          <a:xfrm>
            <a:off x="16523011" y="1923214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  <a:alpha val="30000"/>
            </a:schemeClr>
          </a:solidFill>
          <a:ln w="63500" cap="flat">
            <a:solidFill>
              <a:schemeClr val="accent1">
                <a:lumMod val="60000"/>
                <a:lumOff val="40000"/>
                <a:alpha val="3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5400" b="0" i="0" u="none" strike="noStrike" cap="none" spc="0" normalizeH="0" baseline="0" dirty="0">
                <a:ln>
                  <a:noFill/>
                </a:ln>
                <a:solidFill>
                  <a:schemeClr val="tx1">
                    <a:alpha val="30000"/>
                  </a:schemeClr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23</a:t>
            </a:r>
          </a:p>
        </p:txBody>
      </p:sp>
      <p:sp>
        <p:nvSpPr>
          <p:cNvPr id="10" name="Right Arrow 9">
            <a:extLst>
              <a:ext uri="{FF2B5EF4-FFF2-40B4-BE49-F238E27FC236}">
                <a16:creationId xmlns:a16="http://schemas.microsoft.com/office/drawing/2014/main" id="{0E6D93B3-FCE3-0F3A-1477-057B8425C156}"/>
              </a:ext>
            </a:extLst>
          </p:cNvPr>
          <p:cNvSpPr/>
          <p:nvPr/>
        </p:nvSpPr>
        <p:spPr>
          <a:xfrm rot="16200000">
            <a:off x="6287547" y="4029049"/>
            <a:ext cx="1453118" cy="782316"/>
          </a:xfrm>
          <a:prstGeom prst="rightArrow">
            <a:avLst/>
          </a:prstGeom>
          <a:solidFill>
            <a:schemeClr val="accent2">
              <a:lumMod val="60000"/>
              <a:lumOff val="40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A51C3949-CBDD-E9D7-117A-DB40FF2B3764}"/>
              </a:ext>
            </a:extLst>
          </p:cNvPr>
          <p:cNvSpPr/>
          <p:nvPr/>
        </p:nvSpPr>
        <p:spPr>
          <a:xfrm>
            <a:off x="2723605" y="8302868"/>
            <a:ext cx="19483251" cy="2871708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685800" indent="-685800" defTabSz="82550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5400" dirty="0">
                <a:solidFill>
                  <a:schemeClr val="bg1"/>
                </a:solidFill>
                <a:latin typeface="Bradley Hand" pitchFamily="2" charset="77"/>
              </a:rPr>
              <a:t>7 is less than 8</a:t>
            </a:r>
          </a:p>
          <a:p>
            <a:pPr marL="685800" indent="-685800" defTabSz="82550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5400" dirty="0">
                <a:solidFill>
                  <a:schemeClr val="bg1"/>
                </a:solidFill>
                <a:latin typeface="Bradley Hand" pitchFamily="2" charset="77"/>
              </a:rPr>
              <a:t>So, 8 is at its correct place in this sub-array of size 4</a:t>
            </a:r>
          </a:p>
          <a:p>
            <a:pPr marL="685800" indent="-685800" defTabSz="82550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5400" dirty="0">
                <a:solidFill>
                  <a:schemeClr val="bg1"/>
                </a:solidFill>
                <a:latin typeface="Bradley Hand" pitchFamily="2" charset="77"/>
              </a:rPr>
              <a:t>Completely visualize the algorithm</a:t>
            </a:r>
          </a:p>
        </p:txBody>
      </p:sp>
    </p:spTree>
    <p:extLst>
      <p:ext uri="{BB962C8B-B14F-4D97-AF65-F5344CB8AC3E}">
        <p14:creationId xmlns:p14="http://schemas.microsoft.com/office/powerpoint/2010/main" val="402448157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75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2DA2FE-31FA-08A9-9464-E38E9A1827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4" name="Rounded Rectangle 3">
                <a:extLst>
                  <a:ext uri="{FF2B5EF4-FFF2-40B4-BE49-F238E27FC236}">
                    <a16:creationId xmlns:a16="http://schemas.microsoft.com/office/drawing/2014/main" id="{6D46AD37-313E-37F8-5DBC-E4D2D12426BA}"/>
                  </a:ext>
                </a:extLst>
              </p:cNvPr>
              <p:cNvSpPr/>
              <p:nvPr/>
            </p:nvSpPr>
            <p:spPr>
              <a:xfrm>
                <a:off x="16342242" y="6002645"/>
                <a:ext cx="7602279" cy="5629910"/>
              </a:xfrm>
              <a:prstGeom prst="roundRect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 w="63500" cap="flat">
                <a:solidFill>
                  <a:schemeClr val="tx1"/>
                </a:solidFill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50800" tIns="50800" rIns="50800" bIns="50800" numCol="1" spcCol="38100" rtlCol="0" anchor="ctr">
                <a:spAutoFit/>
              </a:bodyPr>
              <a:lstStyle/>
              <a:p>
                <a:pPr marL="685800" indent="-685800" defTabSz="825500">
                  <a:lnSpc>
                    <a:spcPct val="100000"/>
                  </a:lnSpc>
                  <a:spcBef>
                    <a:spcPts val="0"/>
                  </a:spcBef>
                  <a:buFont typeface="Arial" panose="020B0604020202020204" pitchFamily="34" charset="0"/>
                  <a:buChar char="•"/>
                </a:pPr>
                <a:r>
                  <a:rPr lang="en-US" sz="5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Bradley Hand" pitchFamily="2" charset="77"/>
                  </a:rPr>
                  <a:t>What code will you write to put the </a:t>
                </a:r>
                <a14:m>
                  <m:oMath xmlns:m="http://schemas.openxmlformats.org/officeDocument/2006/math">
                    <m:r>
                      <a:rPr lang="en-US" sz="5400" b="0" i="1" smtClean="0">
                        <a:solidFill>
                          <a:schemeClr val="accent6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US" sz="5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Bradley Hand" pitchFamily="2" charset="77"/>
                  </a:rPr>
                  <a:t>-</a:t>
                </a:r>
                <a:r>
                  <a:rPr lang="en-US" sz="5400" dirty="0" err="1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Bradley Hand" pitchFamily="2" charset="77"/>
                  </a:rPr>
                  <a:t>th</a:t>
                </a:r>
                <a:r>
                  <a:rPr lang="en-US" sz="5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Bradley Hand" pitchFamily="2" charset="77"/>
                  </a:rPr>
                  <a:t>  element at its correct place in the array? </a:t>
                </a:r>
              </a:p>
              <a:p>
                <a:pPr marL="685800" indent="-685800" defTabSz="825500">
                  <a:lnSpc>
                    <a:spcPct val="100000"/>
                  </a:lnSpc>
                  <a:spcBef>
                    <a:spcPts val="0"/>
                  </a:spcBef>
                  <a:buFont typeface="Arial" panose="020B0604020202020204" pitchFamily="34" charset="0"/>
                  <a:buChar char="•"/>
                </a:pPr>
                <a:r>
                  <a:rPr lang="en-US" sz="5400" dirty="0">
                    <a:solidFill>
                      <a:schemeClr val="bg1"/>
                    </a:solidFill>
                    <a:latin typeface="Bradley Hand" pitchFamily="2" charset="77"/>
                  </a:rPr>
                  <a:t>Try to do this on your own</a:t>
                </a:r>
              </a:p>
            </p:txBody>
          </p:sp>
        </mc:Choice>
        <mc:Fallback>
          <p:sp>
            <p:nvSpPr>
              <p:cNvPr id="4" name="Rounded Rectangle 3">
                <a:extLst>
                  <a:ext uri="{FF2B5EF4-FFF2-40B4-BE49-F238E27FC236}">
                    <a16:creationId xmlns:a16="http://schemas.microsoft.com/office/drawing/2014/main" id="{6D46AD37-313E-37F8-5DBC-E4D2D12426B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342242" y="6002645"/>
                <a:ext cx="7602279" cy="5629910"/>
              </a:xfrm>
              <a:prstGeom prst="roundRect">
                <a:avLst/>
              </a:prstGeom>
              <a:blipFill>
                <a:blip r:embed="rId2"/>
                <a:stretch>
                  <a:fillRect l="-331" r="-1490" b="-668"/>
                </a:stretch>
              </a:blipFill>
              <a:ln w="63500" cap="flat">
                <a:solidFill>
                  <a:schemeClr val="tx1"/>
                </a:solidFill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Rounded Rectangle 2">
                <a:extLst>
                  <a:ext uri="{FF2B5EF4-FFF2-40B4-BE49-F238E27FC236}">
                    <a16:creationId xmlns:a16="http://schemas.microsoft.com/office/drawing/2014/main" id="{32492981-0144-4DAC-6430-CE4FDB7274B9}"/>
                  </a:ext>
                </a:extLst>
              </p:cNvPr>
              <p:cNvSpPr/>
              <p:nvPr/>
            </p:nvSpPr>
            <p:spPr>
              <a:xfrm>
                <a:off x="649321" y="5312987"/>
                <a:ext cx="9543957" cy="6310948"/>
              </a:xfrm>
              <a:prstGeom prst="roundRect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 w="63500" cap="flat">
                <a:solidFill>
                  <a:schemeClr val="tx1"/>
                </a:solidFill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50800" tIns="50800" rIns="50800" bIns="50800" numCol="1" spcCol="38100" rtlCol="0" anchor="ctr">
                <a:spAutoFit/>
              </a:bodyPr>
              <a:lstStyle/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#include </a:t>
                </a:r>
                <a:r>
                  <a:rPr lang="en-IN" sz="28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&lt;</a:t>
                </a:r>
                <a:r>
                  <a:rPr lang="en-IN" sz="2800" dirty="0" err="1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stdio.h</a:t>
                </a:r>
                <a:r>
                  <a:rPr lang="en-IN" sz="28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&gt;</a:t>
                </a:r>
                <a:b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</a:br>
                <a:b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</a:br>
                <a:r>
                  <a:rPr lang="en-IN" sz="28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int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IN" sz="28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main</a:t>
                </a:r>
                <a:r>
                  <a:rPr lang="en-IN" sz="2800" dirty="0">
                    <a:solidFill>
                      <a:schemeClr val="accent4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()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{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US" sz="28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 int</a:t>
                </a:r>
                <a:r>
                  <a:rPr lang="en-US" sz="28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800" i="1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,</a:t>
                </a:r>
                <a14:m>
                  <m:oMath xmlns:m="http://schemas.openxmlformats.org/officeDocument/2006/math">
                    <m:r>
                      <a:rPr lang="en-US" sz="2800" i="1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</a:t>
                </a:r>
                <a:r>
                  <a:rPr lang="en-IN" sz="2800" dirty="0" err="1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scanf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(“%d”, &amp;</a:t>
                </a:r>
                <a14:m>
                  <m:oMath xmlns:m="http://schemas.openxmlformats.org/officeDocument/2006/math">
                    <m:r>
                      <a:rPr lang="en-IN" sz="28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);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int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IN" sz="2800" dirty="0" err="1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num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</a:t>
                </a:r>
                <a14:m>
                  <m:oMath xmlns:m="http://schemas.openxmlformats.org/officeDocument/2006/math">
                    <m:r>
                      <a:rPr lang="en-IN" sz="28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];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</a:t>
                </a:r>
                <a:r>
                  <a:rPr lang="en-IN" sz="28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for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</a:t>
                </a:r>
                <a14:m>
                  <m:oMath xmlns:m="http://schemas.openxmlformats.org/officeDocument/2006/math">
                    <m:r>
                      <a:rPr lang="en-US" sz="2800" i="1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=0 ; </a:t>
                </a:r>
                <a14:m>
                  <m:oMath xmlns:m="http://schemas.openxmlformats.org/officeDocument/2006/math">
                    <m:r>
                      <a:rPr lang="en-US" sz="2800" i="1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&lt; </a:t>
                </a:r>
                <a14:m>
                  <m:oMath xmlns:m="http://schemas.openxmlformats.org/officeDocument/2006/math">
                    <m:r>
                      <a:rPr lang="en-IN" sz="28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; </a:t>
                </a:r>
                <a14:m>
                  <m:oMath xmlns:m="http://schemas.openxmlformats.org/officeDocument/2006/math">
                    <m:r>
                      <a:rPr lang="en-US" sz="2800" i="1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++)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{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</a:t>
                </a:r>
                <a:r>
                  <a:rPr lang="en-IN" sz="2800" dirty="0" err="1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scanf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(“%d”, &amp;</a:t>
                </a:r>
                <a:r>
                  <a:rPr lang="en-IN" sz="2800" dirty="0" err="1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num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</a:t>
                </a:r>
                <a14:m>
                  <m:oMath xmlns:m="http://schemas.openxmlformats.org/officeDocument/2006/math">
                    <m:r>
                      <a:rPr lang="en-US" sz="2800" i="1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]);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//write some code here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}</a:t>
                </a:r>
                <a:b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</a:b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</a:t>
                </a:r>
                <a:r>
                  <a:rPr lang="en-IN" sz="28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return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0;</a:t>
                </a:r>
                <a:b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</a:b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}</a:t>
                </a:r>
                <a:endParaRPr lang="en-US" sz="2800" dirty="0">
                  <a:solidFill>
                    <a:schemeClr val="bg1"/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3" name="Rounded Rectangle 2">
                <a:extLst>
                  <a:ext uri="{FF2B5EF4-FFF2-40B4-BE49-F238E27FC236}">
                    <a16:creationId xmlns:a16="http://schemas.microsoft.com/office/drawing/2014/main" id="{32492981-0144-4DAC-6430-CE4FDB7274B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9321" y="5312987"/>
                <a:ext cx="9543957" cy="6310948"/>
              </a:xfrm>
              <a:prstGeom prst="roundRect">
                <a:avLst/>
              </a:prstGeom>
              <a:blipFill>
                <a:blip r:embed="rId3"/>
                <a:stretch>
                  <a:fillRect/>
                </a:stretch>
              </a:blipFill>
              <a:ln w="63500" cap="flat">
                <a:solidFill>
                  <a:schemeClr val="tx1"/>
                </a:solidFill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9722326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75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70AAC7-CF46-14B0-4196-D40D167413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4" name="Rounded Rectangle 3">
                <a:extLst>
                  <a:ext uri="{FF2B5EF4-FFF2-40B4-BE49-F238E27FC236}">
                    <a16:creationId xmlns:a16="http://schemas.microsoft.com/office/drawing/2014/main" id="{A3EEA0A3-3B42-1F89-96CB-5DAFA3CD9C2F}"/>
                  </a:ext>
                </a:extLst>
              </p:cNvPr>
              <p:cNvSpPr/>
              <p:nvPr/>
            </p:nvSpPr>
            <p:spPr>
              <a:xfrm>
                <a:off x="16342242" y="6002645"/>
                <a:ext cx="7602279" cy="5629910"/>
              </a:xfrm>
              <a:prstGeom prst="roundRect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 w="63500" cap="flat">
                <a:solidFill>
                  <a:schemeClr val="tx1"/>
                </a:solidFill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50800" tIns="50800" rIns="50800" bIns="50800" numCol="1" spcCol="38100" rtlCol="0" anchor="ctr">
                <a:spAutoFit/>
              </a:bodyPr>
              <a:lstStyle/>
              <a:p>
                <a:pPr marL="685800" indent="-685800" defTabSz="825500">
                  <a:lnSpc>
                    <a:spcPct val="100000"/>
                  </a:lnSpc>
                  <a:spcBef>
                    <a:spcPts val="0"/>
                  </a:spcBef>
                  <a:buFont typeface="Arial" panose="020B0604020202020204" pitchFamily="34" charset="0"/>
                  <a:buChar char="•"/>
                </a:pPr>
                <a:r>
                  <a:rPr lang="en-US" sz="5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Bradley Hand" pitchFamily="2" charset="77"/>
                  </a:rPr>
                  <a:t>What code will you write to put the </a:t>
                </a:r>
                <a14:m>
                  <m:oMath xmlns:m="http://schemas.openxmlformats.org/officeDocument/2006/math">
                    <m:r>
                      <a:rPr lang="en-US" sz="5400" b="0" i="1" smtClean="0">
                        <a:solidFill>
                          <a:schemeClr val="accent6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US" sz="5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Bradley Hand" pitchFamily="2" charset="77"/>
                  </a:rPr>
                  <a:t>-</a:t>
                </a:r>
                <a:r>
                  <a:rPr lang="en-US" sz="5400" dirty="0" err="1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Bradley Hand" pitchFamily="2" charset="77"/>
                  </a:rPr>
                  <a:t>th</a:t>
                </a:r>
                <a:r>
                  <a:rPr lang="en-US" sz="5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Bradley Hand" pitchFamily="2" charset="77"/>
                  </a:rPr>
                  <a:t>  element at its correct place in the array? </a:t>
                </a:r>
              </a:p>
              <a:p>
                <a:pPr marL="685800" indent="-685800" defTabSz="825500">
                  <a:lnSpc>
                    <a:spcPct val="100000"/>
                  </a:lnSpc>
                  <a:spcBef>
                    <a:spcPts val="0"/>
                  </a:spcBef>
                  <a:buFont typeface="Arial" panose="020B0604020202020204" pitchFamily="34" charset="0"/>
                  <a:buChar char="•"/>
                </a:pPr>
                <a:r>
                  <a:rPr lang="en-US" sz="5400" dirty="0">
                    <a:solidFill>
                      <a:schemeClr val="bg1"/>
                    </a:solidFill>
                    <a:latin typeface="Bradley Hand" pitchFamily="2" charset="77"/>
                  </a:rPr>
                  <a:t>Try to do this on your own</a:t>
                </a:r>
              </a:p>
            </p:txBody>
          </p:sp>
        </mc:Choice>
        <mc:Fallback>
          <p:sp>
            <p:nvSpPr>
              <p:cNvPr id="4" name="Rounded Rectangle 3">
                <a:extLst>
                  <a:ext uri="{FF2B5EF4-FFF2-40B4-BE49-F238E27FC236}">
                    <a16:creationId xmlns:a16="http://schemas.microsoft.com/office/drawing/2014/main" id="{A3EEA0A3-3B42-1F89-96CB-5DAFA3CD9C2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342242" y="6002645"/>
                <a:ext cx="7602279" cy="5629910"/>
              </a:xfrm>
              <a:prstGeom prst="roundRect">
                <a:avLst/>
              </a:prstGeom>
              <a:blipFill>
                <a:blip r:embed="rId2"/>
                <a:stretch>
                  <a:fillRect l="-331" r="-1490" b="-668"/>
                </a:stretch>
              </a:blipFill>
              <a:ln w="63500" cap="flat">
                <a:solidFill>
                  <a:schemeClr val="tx1"/>
                </a:solidFill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Rounded Rectangle 2">
                <a:extLst>
                  <a:ext uri="{FF2B5EF4-FFF2-40B4-BE49-F238E27FC236}">
                    <a16:creationId xmlns:a16="http://schemas.microsoft.com/office/drawing/2014/main" id="{2903506D-DF4A-6EA4-92D8-47E9EBA6B00A}"/>
                  </a:ext>
                </a:extLst>
              </p:cNvPr>
              <p:cNvSpPr/>
              <p:nvPr/>
            </p:nvSpPr>
            <p:spPr>
              <a:xfrm>
                <a:off x="649321" y="3450335"/>
                <a:ext cx="9543957" cy="10036254"/>
              </a:xfrm>
              <a:prstGeom prst="roundRect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 w="63500" cap="flat">
                <a:solidFill>
                  <a:schemeClr val="tx1"/>
                </a:solidFill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50800" tIns="50800" rIns="50800" bIns="50800" numCol="1" spcCol="38100" rtlCol="0" anchor="ctr">
                <a:spAutoFit/>
              </a:bodyPr>
              <a:lstStyle/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#include </a:t>
                </a:r>
                <a:r>
                  <a:rPr lang="en-IN" sz="28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&lt;</a:t>
                </a:r>
                <a:r>
                  <a:rPr lang="en-IN" sz="2800" dirty="0" err="1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stdio.h</a:t>
                </a:r>
                <a:r>
                  <a:rPr lang="en-IN" sz="28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&gt;</a:t>
                </a:r>
                <a:b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</a:br>
                <a:b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</a:br>
                <a:r>
                  <a:rPr lang="en-IN" sz="28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int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IN" sz="28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main</a:t>
                </a:r>
                <a:r>
                  <a:rPr lang="en-IN" sz="2800" dirty="0">
                    <a:solidFill>
                      <a:schemeClr val="accent4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()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{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US" sz="28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 int</a:t>
                </a:r>
                <a:r>
                  <a:rPr lang="en-US" sz="28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800" i="1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,</a:t>
                </a:r>
                <a14:m>
                  <m:oMath xmlns:m="http://schemas.openxmlformats.org/officeDocument/2006/math">
                    <m:r>
                      <a:rPr lang="en-US" sz="2800" i="1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,</a:t>
                </a:r>
                <a14:m>
                  <m:oMath xmlns:m="http://schemas.openxmlformats.org/officeDocument/2006/math">
                    <m:r>
                      <a:rPr lang="en-IN" sz="28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</a:t>
                </a:r>
                <a:r>
                  <a:rPr lang="en-IN" sz="2800" dirty="0" err="1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scanf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(“%d”, &amp;</a:t>
                </a:r>
                <a14:m>
                  <m:oMath xmlns:m="http://schemas.openxmlformats.org/officeDocument/2006/math">
                    <m:r>
                      <a:rPr lang="en-IN" sz="28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);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int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IN" sz="2800" dirty="0" err="1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num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</a:t>
                </a:r>
                <a14:m>
                  <m:oMath xmlns:m="http://schemas.openxmlformats.org/officeDocument/2006/math">
                    <m:r>
                      <a:rPr lang="en-IN" sz="28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];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</a:t>
                </a:r>
                <a:r>
                  <a:rPr lang="en-IN" sz="28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for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</a:t>
                </a:r>
                <a14:m>
                  <m:oMath xmlns:m="http://schemas.openxmlformats.org/officeDocument/2006/math">
                    <m:r>
                      <a:rPr lang="en-US" sz="2800" i="1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=0 ; </a:t>
                </a:r>
                <a14:m>
                  <m:oMath xmlns:m="http://schemas.openxmlformats.org/officeDocument/2006/math">
                    <m:r>
                      <a:rPr lang="en-US" sz="2800" i="1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&lt; </a:t>
                </a:r>
                <a14:m>
                  <m:oMath xmlns:m="http://schemas.openxmlformats.org/officeDocument/2006/math">
                    <m:r>
                      <a:rPr lang="en-IN" sz="28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; </a:t>
                </a:r>
                <a14:m>
                  <m:oMath xmlns:m="http://schemas.openxmlformats.org/officeDocument/2006/math">
                    <m:r>
                      <a:rPr lang="en-US" sz="2800" i="1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++)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{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</a:t>
                </a:r>
                <a:r>
                  <a:rPr lang="en-IN" sz="2800" dirty="0" err="1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scanf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(“%d”, &amp;</a:t>
                </a:r>
                <a:r>
                  <a:rPr lang="en-IN" sz="2800" dirty="0" err="1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num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</a:t>
                </a:r>
                <a14:m>
                  <m:oMath xmlns:m="http://schemas.openxmlformats.org/officeDocument/2006/math">
                    <m:r>
                      <a:rPr lang="en-US" sz="2800" i="1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]);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for( </a:t>
                </a:r>
                <a14:m>
                  <m:oMath xmlns:m="http://schemas.openxmlformats.org/officeDocument/2006/math">
                    <m:r>
                      <a:rPr lang="en-IN" sz="2800" i="1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= </a:t>
                </a:r>
                <a14:m>
                  <m:oMath xmlns:m="http://schemas.openxmlformats.org/officeDocument/2006/math">
                    <m:r>
                      <a:rPr lang="en-US" sz="2800" i="1">
                        <a:ln w="0"/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effectLst>
                          <a:outerShdw blurRad="38100" dist="19050" dir="2700000" algn="tl" rotWithShape="0">
                            <a:schemeClr val="dk1">
                              <a:alpha val="40000"/>
                            </a:schemeClr>
                          </a:outerShdw>
                        </a:effectLst>
                        <a:latin typeface="Cambria Math" panose="02040503050406030204" pitchFamily="18" charset="0"/>
                        <a:ea typeface="Cambria Math" panose="02040503050406030204" pitchFamily="18" charset="0"/>
                        <a:cs typeface="Helvetica Neue Medium"/>
                        <a:sym typeface="Helvetica Neue Medium"/>
                      </a:rPr>
                      <m:t>𝑖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; </a:t>
                </a:r>
                <a14:m>
                  <m:oMath xmlns:m="http://schemas.openxmlformats.org/officeDocument/2006/math">
                    <m:r>
                      <a:rPr lang="en-IN" sz="28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&gt; 0; </a:t>
                </a:r>
                <a14:m>
                  <m:oMath xmlns:m="http://schemas.openxmlformats.org/officeDocument/2006/math">
                    <m:r>
                      <a:rPr lang="en-IN" sz="28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𝑗</m:t>
                    </m:r>
                    <m:r>
                      <a:rPr lang="en-IN" sz="28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--)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{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	</a:t>
                </a:r>
                <a:r>
                  <a:rPr lang="en-IN" sz="28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if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( </a:t>
                </a:r>
                <a:r>
                  <a:rPr lang="en-IN" sz="2800" dirty="0" err="1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num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</a:t>
                </a:r>
                <a14:m>
                  <m:oMath xmlns:m="http://schemas.openxmlformats.org/officeDocument/2006/math">
                    <m:r>
                      <a:rPr lang="en-IN" sz="2800" i="1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] &lt; </a:t>
                </a:r>
                <a:r>
                  <a:rPr lang="en-IN" sz="2800" dirty="0" err="1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num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</a:t>
                </a:r>
                <a14:m>
                  <m:oMath xmlns:m="http://schemas.openxmlformats.org/officeDocument/2006/math">
                    <m:r>
                      <a:rPr lang="en-IN" sz="28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𝑗</m:t>
                    </m:r>
                    <m:r>
                      <a:rPr lang="en-IN" sz="28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-1] )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	{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		</a:t>
                </a:r>
                <a:r>
                  <a:rPr lang="en-IN" sz="28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int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IN" sz="28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temp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= </a:t>
                </a:r>
                <a:r>
                  <a:rPr lang="en-IN" sz="2800" dirty="0" err="1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num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</a:t>
                </a:r>
                <a14:m>
                  <m:oMath xmlns:m="http://schemas.openxmlformats.org/officeDocument/2006/math">
                    <m:r>
                      <a:rPr lang="en-IN" sz="2800" i="1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];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		</a:t>
                </a:r>
                <a:r>
                  <a:rPr lang="en-IN" sz="2800" dirty="0" err="1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num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</a:t>
                </a:r>
                <a14:m>
                  <m:oMath xmlns:m="http://schemas.openxmlformats.org/officeDocument/2006/math">
                    <m:r>
                      <a:rPr lang="en-IN" sz="28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] = </a:t>
                </a:r>
                <a:r>
                  <a:rPr lang="en-IN" sz="2800" dirty="0" err="1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num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</a:t>
                </a:r>
                <a14:m>
                  <m:oMath xmlns:m="http://schemas.openxmlformats.org/officeDocument/2006/math">
                    <m:r>
                      <a:rPr lang="en-IN" sz="2800" i="1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𝑗</m:t>
                    </m:r>
                    <m:r>
                      <a:rPr lang="en-IN" sz="2800" i="1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-1];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		</a:t>
                </a:r>
                <a:r>
                  <a:rPr lang="en-IN" sz="2800" dirty="0" err="1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num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</a:t>
                </a:r>
                <a14:m>
                  <m:oMath xmlns:m="http://schemas.openxmlformats.org/officeDocument/2006/math">
                    <m:r>
                      <a:rPr lang="en-IN" sz="2800" i="1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𝑗</m:t>
                    </m:r>
                    <m:r>
                      <a:rPr lang="en-IN" sz="2800" i="1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-1] = </a:t>
                </a:r>
                <a:r>
                  <a:rPr lang="en-IN" sz="28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temp;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	}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} 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}</a:t>
                </a:r>
                <a:b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</a:b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</a:t>
                </a:r>
                <a:r>
                  <a:rPr lang="en-IN" sz="28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return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0;</a:t>
                </a:r>
                <a:b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</a:b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}</a:t>
                </a:r>
                <a:endParaRPr lang="en-US" sz="2800" dirty="0">
                  <a:solidFill>
                    <a:schemeClr val="bg1"/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3" name="Rounded Rectangle 2">
                <a:extLst>
                  <a:ext uri="{FF2B5EF4-FFF2-40B4-BE49-F238E27FC236}">
                    <a16:creationId xmlns:a16="http://schemas.microsoft.com/office/drawing/2014/main" id="{2903506D-DF4A-6EA4-92D8-47E9EBA6B00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9321" y="3450335"/>
                <a:ext cx="9543957" cy="10036254"/>
              </a:xfrm>
              <a:prstGeom prst="roundRect">
                <a:avLst/>
              </a:prstGeom>
              <a:blipFill>
                <a:blip r:embed="rId3"/>
                <a:stretch>
                  <a:fillRect/>
                </a:stretch>
              </a:blipFill>
              <a:ln w="63500" cap="flat">
                <a:solidFill>
                  <a:schemeClr val="tx1"/>
                </a:solidFill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058388049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Word"/>
      </p:transition>
    </mc:Choice>
    <mc:Fallback>
      <p:transition spd="slow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D47CA75D-35FB-1018-2A05-4444E5AA2204}"/>
              </a:ext>
            </a:extLst>
          </p:cNvPr>
          <p:cNvSpPr/>
          <p:nvPr/>
        </p:nvSpPr>
        <p:spPr>
          <a:xfrm>
            <a:off x="12192001" y="477475"/>
            <a:ext cx="9239250" cy="1747996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3200" dirty="0">
                <a:solidFill>
                  <a:schemeClr val="bg1"/>
                </a:solidFill>
                <a:latin typeface="Bradley Hand" pitchFamily="2" charset="77"/>
                <a:sym typeface="Helvetica Neue Medium"/>
              </a:rPr>
              <a:t>Input/Output</a:t>
            </a:r>
          </a:p>
          <a:p>
            <a:pPr marL="0" marR="0" indent="0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3200" dirty="0">
                <a:solidFill>
                  <a:schemeClr val="accent6">
                    <a:lumMod val="40000"/>
                    <a:lumOff val="60000"/>
                  </a:schemeClr>
                </a:solidFill>
                <a:latin typeface="Bradley Hand" pitchFamily="2" charset="77"/>
                <a:sym typeface="Helvetica Neue Medium"/>
              </a:rPr>
              <a:t>4</a:t>
            </a:r>
            <a:endParaRPr lang="en-US" sz="3200" dirty="0">
              <a:solidFill>
                <a:schemeClr val="bg1"/>
              </a:solidFill>
              <a:latin typeface="Bradley Hand" pitchFamily="2" charset="77"/>
              <a:sym typeface="Helvetica Neue Medium"/>
            </a:endParaRP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US" sz="3200" dirty="0">
                <a:solidFill>
                  <a:schemeClr val="accent6">
                    <a:lumMod val="40000"/>
                    <a:lumOff val="60000"/>
                  </a:schemeClr>
                </a:solidFill>
                <a:latin typeface="Bradley Hand" pitchFamily="2" charset="77"/>
                <a:sym typeface="Helvetica Neue Medium"/>
              </a:rPr>
              <a:t>15 2 47 8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Rounded Rectangle 10">
                <a:extLst>
                  <a:ext uri="{FF2B5EF4-FFF2-40B4-BE49-F238E27FC236}">
                    <a16:creationId xmlns:a16="http://schemas.microsoft.com/office/drawing/2014/main" id="{DC57BFFA-B59D-FB88-F1E8-0FC8CE4EF84F}"/>
                  </a:ext>
                </a:extLst>
              </p:cNvPr>
              <p:cNvSpPr/>
              <p:nvPr/>
            </p:nvSpPr>
            <p:spPr>
              <a:xfrm>
                <a:off x="12192000" y="2877285"/>
                <a:ext cx="9297919" cy="1747996"/>
              </a:xfrm>
              <a:prstGeom prst="roundRect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 w="63500" cap="flat">
                <a:solidFill>
                  <a:schemeClr val="tx1"/>
                </a:solidFill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50800" tIns="50800" rIns="50800" bIns="50800" numCol="1" spcCol="38100" rtlCol="0" anchor="ctr">
                <a:spAutoFit/>
              </a:bodyPr>
              <a:lstStyle/>
              <a:p>
                <a:pPr marL="0" marR="0" indent="0" defTabSz="8255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r>
                  <a:rPr lang="en-US" sz="3200" dirty="0">
                    <a:solidFill>
                      <a:schemeClr val="bg1"/>
                    </a:solidFill>
                    <a:latin typeface="Bradley Hand" pitchFamily="2" charset="77"/>
                    <a:sym typeface="Helvetica Neue Medium"/>
                  </a:rPr>
                  <a:t>Variables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14:m>
                  <m:oMath xmlns:m="http://schemas.openxmlformats.org/officeDocument/2006/math">
                    <m:r>
                      <a:rPr lang="en-US" sz="3200" i="1" smtClean="0">
                        <a:ln w="0"/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effectLst>
                          <a:outerShdw blurRad="38100" dist="19050" dir="2700000" algn="tl" rotWithShape="0">
                            <a:schemeClr val="dk1">
                              <a:alpha val="40000"/>
                            </a:schemeClr>
                          </a:outerShdw>
                        </a:effectLst>
                        <a:latin typeface="Cambria Math" panose="02040503050406030204" pitchFamily="18" charset="0"/>
                        <a:ea typeface="Cambria Math" panose="02040503050406030204" pitchFamily="18" charset="0"/>
                        <a:cs typeface="Helvetica Neue Medium"/>
                        <a:sym typeface="Helvetica Neue Medium"/>
                      </a:rPr>
                      <m:t>𝑛</m:t>
                    </m:r>
                  </m:oMath>
                </a14:m>
                <a:r>
                  <a:rPr lang="en-US" sz="3200" dirty="0">
                    <a:solidFill>
                      <a:schemeClr val="bg1"/>
                    </a:solidFill>
                    <a:latin typeface="Bradley Hand" pitchFamily="2" charset="77"/>
                    <a:sym typeface="Helvetica Neue Medium"/>
                  </a:rPr>
                  <a:t>=4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14:m>
                  <m:oMath xmlns:m="http://schemas.openxmlformats.org/officeDocument/2006/math">
                    <m:r>
                      <a:rPr lang="en-US" sz="3200" i="1">
                        <a:ln w="0"/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effectLst>
                          <a:outerShdw blurRad="38100" dist="19050" dir="2700000" algn="tl" rotWithShape="0">
                            <a:schemeClr val="dk1">
                              <a:alpha val="40000"/>
                            </a:schemeClr>
                          </a:outerShdw>
                        </a:effectLst>
                        <a:latin typeface="Cambria Math" panose="02040503050406030204" pitchFamily="18" charset="0"/>
                        <a:ea typeface="Cambria Math" panose="02040503050406030204" pitchFamily="18" charset="0"/>
                        <a:cs typeface="Helvetica Neue Medium"/>
                        <a:sym typeface="Helvetica Neue Medium"/>
                      </a:rPr>
                      <m:t>𝑖</m:t>
                    </m:r>
                  </m:oMath>
                </a14:m>
                <a:r>
                  <a:rPr lang="en-US" sz="3200" dirty="0">
                    <a:solidFill>
                      <a:schemeClr val="bg1"/>
                    </a:solidFill>
                    <a:latin typeface="Bradley Hand" pitchFamily="2" charset="77"/>
                    <a:sym typeface="Helvetica Neue Medium"/>
                  </a:rPr>
                  <a:t>=0</a:t>
                </a:r>
              </a:p>
            </p:txBody>
          </p:sp>
        </mc:Choice>
        <mc:Fallback xmlns="">
          <p:sp>
            <p:nvSpPr>
              <p:cNvPr id="11" name="Rounded Rectangle 10">
                <a:extLst>
                  <a:ext uri="{FF2B5EF4-FFF2-40B4-BE49-F238E27FC236}">
                    <a16:creationId xmlns:a16="http://schemas.microsoft.com/office/drawing/2014/main" id="{DC57BFFA-B59D-FB88-F1E8-0FC8CE4EF84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192000" y="2877285"/>
                <a:ext cx="9297919" cy="1747996"/>
              </a:xfrm>
              <a:prstGeom prst="roundRect">
                <a:avLst/>
              </a:prstGeom>
              <a:blipFill>
                <a:blip r:embed="rId2"/>
                <a:stretch>
                  <a:fillRect l="-813" b="-4196"/>
                </a:stretch>
              </a:blipFill>
              <a:ln w="63500" cap="flat">
                <a:solidFill>
                  <a:schemeClr val="tx1"/>
                </a:solidFill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Rounded Rectangle 13">
                <a:extLst>
                  <a:ext uri="{FF2B5EF4-FFF2-40B4-BE49-F238E27FC236}">
                    <a16:creationId xmlns:a16="http://schemas.microsoft.com/office/drawing/2014/main" id="{CE19F617-95E5-983B-CD3C-26354373FEDC}"/>
                  </a:ext>
                </a:extLst>
              </p:cNvPr>
              <p:cNvSpPr/>
              <p:nvPr/>
            </p:nvSpPr>
            <p:spPr>
              <a:xfrm>
                <a:off x="948986" y="209566"/>
                <a:ext cx="9543957" cy="10036254"/>
              </a:xfrm>
              <a:prstGeom prst="roundRect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 w="63500" cap="flat">
                <a:solidFill>
                  <a:schemeClr val="tx1"/>
                </a:solidFill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50800" tIns="50800" rIns="50800" bIns="50800" numCol="1" spcCol="38100" rtlCol="0" anchor="ctr">
                <a:spAutoFit/>
              </a:bodyPr>
              <a:lstStyle/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#include </a:t>
                </a:r>
                <a:r>
                  <a:rPr lang="en-IN" sz="28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&lt;</a:t>
                </a:r>
                <a:r>
                  <a:rPr lang="en-IN" sz="2800" dirty="0" err="1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stdio.h</a:t>
                </a:r>
                <a:r>
                  <a:rPr lang="en-IN" sz="28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&gt;</a:t>
                </a:r>
                <a:b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</a:br>
                <a:b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</a:br>
                <a:r>
                  <a:rPr lang="en-IN" sz="28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int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IN" sz="28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main</a:t>
                </a:r>
                <a:r>
                  <a:rPr lang="en-IN" sz="2800" dirty="0">
                    <a:solidFill>
                      <a:schemeClr val="accent4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()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{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US" sz="28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 int</a:t>
                </a:r>
                <a:r>
                  <a:rPr lang="en-US" sz="28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800" i="1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,</a:t>
                </a:r>
                <a14:m>
                  <m:oMath xmlns:m="http://schemas.openxmlformats.org/officeDocument/2006/math">
                    <m:r>
                      <a:rPr lang="en-US" sz="2800" i="1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,</a:t>
                </a:r>
                <a14:m>
                  <m:oMath xmlns:m="http://schemas.openxmlformats.org/officeDocument/2006/math">
                    <m:r>
                      <a:rPr lang="en-IN" sz="28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</a:t>
                </a:r>
                <a:r>
                  <a:rPr lang="en-IN" sz="2800" dirty="0" err="1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scanf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(“%d”, &amp;</a:t>
                </a:r>
                <a14:m>
                  <m:oMath xmlns:m="http://schemas.openxmlformats.org/officeDocument/2006/math">
                    <m:r>
                      <a:rPr lang="en-IN" sz="28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);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int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IN" sz="2800" dirty="0" err="1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num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</a:t>
                </a:r>
                <a14:m>
                  <m:oMath xmlns:m="http://schemas.openxmlformats.org/officeDocument/2006/math">
                    <m:r>
                      <a:rPr lang="en-IN" sz="28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];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</a:t>
                </a:r>
                <a:r>
                  <a:rPr lang="en-IN" sz="28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for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</a:t>
                </a:r>
                <a14:m>
                  <m:oMath xmlns:m="http://schemas.openxmlformats.org/officeDocument/2006/math">
                    <m:r>
                      <a:rPr lang="en-US" sz="2800" i="1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=0 ; </a:t>
                </a:r>
                <a14:m>
                  <m:oMath xmlns:m="http://schemas.openxmlformats.org/officeDocument/2006/math">
                    <m:r>
                      <a:rPr lang="en-US" sz="2800" i="1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&lt; </a:t>
                </a:r>
                <a14:m>
                  <m:oMath xmlns:m="http://schemas.openxmlformats.org/officeDocument/2006/math">
                    <m:r>
                      <a:rPr lang="en-IN" sz="28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; </a:t>
                </a:r>
                <a14:m>
                  <m:oMath xmlns:m="http://schemas.openxmlformats.org/officeDocument/2006/math">
                    <m:r>
                      <a:rPr lang="en-US" sz="2800" i="1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++)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{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</a:t>
                </a:r>
                <a:r>
                  <a:rPr lang="en-IN" sz="2800" dirty="0" err="1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scanf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(“%d”, &amp;</a:t>
                </a:r>
                <a:r>
                  <a:rPr lang="en-IN" sz="2800" dirty="0" err="1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num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</a:t>
                </a:r>
                <a14:m>
                  <m:oMath xmlns:m="http://schemas.openxmlformats.org/officeDocument/2006/math">
                    <m:r>
                      <a:rPr lang="en-US" sz="2800" i="1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]);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for( </a:t>
                </a:r>
                <a14:m>
                  <m:oMath xmlns:m="http://schemas.openxmlformats.org/officeDocument/2006/math">
                    <m:r>
                      <a:rPr lang="en-IN" sz="2800" i="1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= </a:t>
                </a:r>
                <a14:m>
                  <m:oMath xmlns:m="http://schemas.openxmlformats.org/officeDocument/2006/math">
                    <m:r>
                      <a:rPr lang="en-US" sz="2800" i="1">
                        <a:ln w="0"/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effectLst>
                          <a:outerShdw blurRad="38100" dist="19050" dir="2700000" algn="tl" rotWithShape="0">
                            <a:schemeClr val="dk1">
                              <a:alpha val="40000"/>
                            </a:schemeClr>
                          </a:outerShdw>
                        </a:effectLst>
                        <a:latin typeface="Cambria Math" panose="02040503050406030204" pitchFamily="18" charset="0"/>
                        <a:ea typeface="Cambria Math" panose="02040503050406030204" pitchFamily="18" charset="0"/>
                        <a:cs typeface="Helvetica Neue Medium"/>
                        <a:sym typeface="Helvetica Neue Medium"/>
                      </a:rPr>
                      <m:t>𝑖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; </a:t>
                </a:r>
                <a14:m>
                  <m:oMath xmlns:m="http://schemas.openxmlformats.org/officeDocument/2006/math">
                    <m:r>
                      <a:rPr lang="en-IN" sz="28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&gt; 0; </a:t>
                </a:r>
                <a14:m>
                  <m:oMath xmlns:m="http://schemas.openxmlformats.org/officeDocument/2006/math">
                    <m:r>
                      <a:rPr lang="en-IN" sz="28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𝑗</m:t>
                    </m:r>
                    <m:r>
                      <a:rPr lang="en-IN" sz="28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--)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{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	</a:t>
                </a:r>
                <a:r>
                  <a:rPr lang="en-IN" sz="28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if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( </a:t>
                </a:r>
                <a:r>
                  <a:rPr lang="en-IN" sz="2800" dirty="0" err="1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num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</a:t>
                </a:r>
                <a14:m>
                  <m:oMath xmlns:m="http://schemas.openxmlformats.org/officeDocument/2006/math">
                    <m:r>
                      <a:rPr lang="en-IN" sz="2800" i="1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] &lt; </a:t>
                </a:r>
                <a:r>
                  <a:rPr lang="en-IN" sz="2800" dirty="0" err="1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num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</a:t>
                </a:r>
                <a14:m>
                  <m:oMath xmlns:m="http://schemas.openxmlformats.org/officeDocument/2006/math">
                    <m:r>
                      <a:rPr lang="en-IN" sz="28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𝑗</m:t>
                    </m:r>
                    <m:r>
                      <a:rPr lang="en-IN" sz="28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-1] )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	{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		</a:t>
                </a:r>
                <a:r>
                  <a:rPr lang="en-IN" sz="28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int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IN" sz="28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temp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= </a:t>
                </a:r>
                <a:r>
                  <a:rPr lang="en-IN" sz="2800" dirty="0" err="1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num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</a:t>
                </a:r>
                <a14:m>
                  <m:oMath xmlns:m="http://schemas.openxmlformats.org/officeDocument/2006/math">
                    <m:r>
                      <a:rPr lang="en-IN" sz="2800" i="1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];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		</a:t>
                </a:r>
                <a:r>
                  <a:rPr lang="en-IN" sz="2800" dirty="0" err="1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num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</a:t>
                </a:r>
                <a14:m>
                  <m:oMath xmlns:m="http://schemas.openxmlformats.org/officeDocument/2006/math">
                    <m:r>
                      <a:rPr lang="en-IN" sz="28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] = </a:t>
                </a:r>
                <a:r>
                  <a:rPr lang="en-IN" sz="2800" dirty="0" err="1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num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</a:t>
                </a:r>
                <a14:m>
                  <m:oMath xmlns:m="http://schemas.openxmlformats.org/officeDocument/2006/math">
                    <m:r>
                      <a:rPr lang="en-IN" sz="2800" i="1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𝑗</m:t>
                    </m:r>
                    <m:r>
                      <a:rPr lang="en-IN" sz="2800" i="1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-1];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		</a:t>
                </a:r>
                <a:r>
                  <a:rPr lang="en-IN" sz="2800" dirty="0" err="1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num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</a:t>
                </a:r>
                <a14:m>
                  <m:oMath xmlns:m="http://schemas.openxmlformats.org/officeDocument/2006/math">
                    <m:r>
                      <a:rPr lang="en-IN" sz="2800" i="1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𝑗</m:t>
                    </m:r>
                    <m:r>
                      <a:rPr lang="en-IN" sz="2800" i="1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-1] = </a:t>
                </a:r>
                <a:r>
                  <a:rPr lang="en-IN" sz="28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temp;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	}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} 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}</a:t>
                </a:r>
                <a:b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</a:b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</a:t>
                </a:r>
                <a:r>
                  <a:rPr lang="en-IN" sz="28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return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0;</a:t>
                </a:r>
                <a:b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</a:b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}</a:t>
                </a:r>
                <a:endParaRPr lang="en-US" sz="2800" dirty="0">
                  <a:solidFill>
                    <a:schemeClr val="bg1"/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14" name="Rounded Rectangle 13">
                <a:extLst>
                  <a:ext uri="{FF2B5EF4-FFF2-40B4-BE49-F238E27FC236}">
                    <a16:creationId xmlns:a16="http://schemas.microsoft.com/office/drawing/2014/main" id="{CE19F617-95E5-983B-CD3C-26354373FED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48986" y="209566"/>
                <a:ext cx="9543957" cy="10036254"/>
              </a:xfrm>
              <a:prstGeom prst="roundRect">
                <a:avLst/>
              </a:prstGeom>
              <a:blipFill>
                <a:blip r:embed="rId3"/>
                <a:stretch>
                  <a:fillRect/>
                </a:stretch>
              </a:blipFill>
              <a:ln w="63500" cap="flat">
                <a:solidFill>
                  <a:schemeClr val="tx1"/>
                </a:solidFill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9DAB2D7D-9B89-F5C0-1736-3B0A7964C3A8}"/>
              </a:ext>
            </a:extLst>
          </p:cNvPr>
          <p:cNvSpPr/>
          <p:nvPr/>
        </p:nvSpPr>
        <p:spPr>
          <a:xfrm>
            <a:off x="964874" y="4087393"/>
            <a:ext cx="9512180" cy="614473"/>
          </a:xfrm>
          <a:prstGeom prst="roundRect">
            <a:avLst/>
          </a:prstGeom>
          <a:solidFill>
            <a:schemeClr val="accent4">
              <a:lumMod val="60000"/>
              <a:lumOff val="40000"/>
              <a:alpha val="41668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</p:spTree>
    <p:extLst>
      <p:ext uri="{BB962C8B-B14F-4D97-AF65-F5344CB8AC3E}">
        <p14:creationId xmlns:p14="http://schemas.microsoft.com/office/powerpoint/2010/main" val="333017791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750">
        <p159:morph option="byObject"/>
      </p:transition>
    </mc:Choice>
    <mc:Fallback xmlns="">
      <p:transition spd="slow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0825BD-E9C4-EC7C-8EE3-10E8E74FAD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ECFE13CA-C442-E973-63E8-0E85BDD4A856}"/>
              </a:ext>
            </a:extLst>
          </p:cNvPr>
          <p:cNvSpPr/>
          <p:nvPr/>
        </p:nvSpPr>
        <p:spPr>
          <a:xfrm>
            <a:off x="12192001" y="477475"/>
            <a:ext cx="9239250" cy="1747996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3200" dirty="0">
                <a:solidFill>
                  <a:schemeClr val="bg1"/>
                </a:solidFill>
                <a:latin typeface="Bradley Hand" pitchFamily="2" charset="77"/>
                <a:sym typeface="Helvetica Neue Medium"/>
              </a:rPr>
              <a:t>Input/Output</a:t>
            </a:r>
          </a:p>
          <a:p>
            <a:pPr marL="0" marR="0" indent="0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3200" dirty="0">
                <a:solidFill>
                  <a:schemeClr val="accent6">
                    <a:lumMod val="40000"/>
                    <a:lumOff val="60000"/>
                  </a:schemeClr>
                </a:solidFill>
                <a:latin typeface="Bradley Hand" pitchFamily="2" charset="77"/>
                <a:sym typeface="Helvetica Neue Medium"/>
              </a:rPr>
              <a:t>4</a:t>
            </a:r>
            <a:endParaRPr lang="en-US" sz="3200" dirty="0">
              <a:solidFill>
                <a:schemeClr val="bg1"/>
              </a:solidFill>
              <a:latin typeface="Bradley Hand" pitchFamily="2" charset="77"/>
              <a:sym typeface="Helvetica Neue Medium"/>
            </a:endParaRP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US" sz="3200" dirty="0">
                <a:solidFill>
                  <a:schemeClr val="accent6">
                    <a:lumMod val="40000"/>
                    <a:lumOff val="60000"/>
                  </a:schemeClr>
                </a:solidFill>
                <a:latin typeface="Bradley Hand" pitchFamily="2" charset="77"/>
                <a:sym typeface="Helvetica Neue Medium"/>
              </a:rPr>
              <a:t>15 2 47 8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Rounded Rectangle 8">
                <a:extLst>
                  <a:ext uri="{FF2B5EF4-FFF2-40B4-BE49-F238E27FC236}">
                    <a16:creationId xmlns:a16="http://schemas.microsoft.com/office/drawing/2014/main" id="{D7B232AC-E2D7-61DB-4493-7A26422B137A}"/>
                  </a:ext>
                </a:extLst>
              </p:cNvPr>
              <p:cNvSpPr/>
              <p:nvPr/>
            </p:nvSpPr>
            <p:spPr>
              <a:xfrm>
                <a:off x="948986" y="209566"/>
                <a:ext cx="9543957" cy="10036254"/>
              </a:xfrm>
              <a:prstGeom prst="roundRect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 w="63500" cap="flat">
                <a:solidFill>
                  <a:schemeClr val="tx1"/>
                </a:solidFill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50800" tIns="50800" rIns="50800" bIns="50800" numCol="1" spcCol="38100" rtlCol="0" anchor="ctr">
                <a:spAutoFit/>
              </a:bodyPr>
              <a:lstStyle/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#include </a:t>
                </a:r>
                <a:r>
                  <a:rPr lang="en-IN" sz="28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&lt;</a:t>
                </a:r>
                <a:r>
                  <a:rPr lang="en-IN" sz="2800" dirty="0" err="1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stdio.h</a:t>
                </a:r>
                <a:r>
                  <a:rPr lang="en-IN" sz="28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&gt;</a:t>
                </a:r>
                <a:b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</a:br>
                <a:b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</a:br>
                <a:r>
                  <a:rPr lang="en-IN" sz="28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int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IN" sz="28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main</a:t>
                </a:r>
                <a:r>
                  <a:rPr lang="en-IN" sz="2800" dirty="0">
                    <a:solidFill>
                      <a:schemeClr val="accent4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()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{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US" sz="28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 int</a:t>
                </a:r>
                <a:r>
                  <a:rPr lang="en-US" sz="28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800" i="1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,</a:t>
                </a:r>
                <a14:m>
                  <m:oMath xmlns:m="http://schemas.openxmlformats.org/officeDocument/2006/math">
                    <m:r>
                      <a:rPr lang="en-US" sz="2800" i="1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,</a:t>
                </a:r>
                <a14:m>
                  <m:oMath xmlns:m="http://schemas.openxmlformats.org/officeDocument/2006/math">
                    <m:r>
                      <a:rPr lang="en-IN" sz="28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</a:t>
                </a:r>
                <a:r>
                  <a:rPr lang="en-IN" sz="2800" dirty="0" err="1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scanf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(“%d”, &amp;</a:t>
                </a:r>
                <a14:m>
                  <m:oMath xmlns:m="http://schemas.openxmlformats.org/officeDocument/2006/math">
                    <m:r>
                      <a:rPr lang="en-IN" sz="28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);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int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IN" sz="2800" dirty="0" err="1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num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</a:t>
                </a:r>
                <a14:m>
                  <m:oMath xmlns:m="http://schemas.openxmlformats.org/officeDocument/2006/math">
                    <m:r>
                      <a:rPr lang="en-IN" sz="28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];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</a:t>
                </a:r>
                <a:r>
                  <a:rPr lang="en-IN" sz="28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for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</a:t>
                </a:r>
                <a14:m>
                  <m:oMath xmlns:m="http://schemas.openxmlformats.org/officeDocument/2006/math">
                    <m:r>
                      <a:rPr lang="en-US" sz="2800" i="1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=0 ; </a:t>
                </a:r>
                <a14:m>
                  <m:oMath xmlns:m="http://schemas.openxmlformats.org/officeDocument/2006/math">
                    <m:r>
                      <a:rPr lang="en-US" sz="2800" i="1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&lt; </a:t>
                </a:r>
                <a14:m>
                  <m:oMath xmlns:m="http://schemas.openxmlformats.org/officeDocument/2006/math">
                    <m:r>
                      <a:rPr lang="en-IN" sz="28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; </a:t>
                </a:r>
                <a14:m>
                  <m:oMath xmlns:m="http://schemas.openxmlformats.org/officeDocument/2006/math">
                    <m:r>
                      <a:rPr lang="en-US" sz="2800" i="1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++)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{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</a:t>
                </a:r>
                <a:r>
                  <a:rPr lang="en-IN" sz="2800" dirty="0" err="1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scanf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(“%d”, &amp;</a:t>
                </a:r>
                <a:r>
                  <a:rPr lang="en-IN" sz="2800" dirty="0" err="1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num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</a:t>
                </a:r>
                <a14:m>
                  <m:oMath xmlns:m="http://schemas.openxmlformats.org/officeDocument/2006/math">
                    <m:r>
                      <a:rPr lang="en-US" sz="2800" i="1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]);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for( </a:t>
                </a:r>
                <a14:m>
                  <m:oMath xmlns:m="http://schemas.openxmlformats.org/officeDocument/2006/math">
                    <m:r>
                      <a:rPr lang="en-IN" sz="2800" i="1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= </a:t>
                </a:r>
                <a14:m>
                  <m:oMath xmlns:m="http://schemas.openxmlformats.org/officeDocument/2006/math">
                    <m:r>
                      <a:rPr lang="en-US" sz="2800" i="1">
                        <a:ln w="0"/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effectLst>
                          <a:outerShdw blurRad="38100" dist="19050" dir="2700000" algn="tl" rotWithShape="0">
                            <a:schemeClr val="dk1">
                              <a:alpha val="40000"/>
                            </a:schemeClr>
                          </a:outerShdw>
                        </a:effectLst>
                        <a:latin typeface="Cambria Math" panose="02040503050406030204" pitchFamily="18" charset="0"/>
                        <a:ea typeface="Cambria Math" panose="02040503050406030204" pitchFamily="18" charset="0"/>
                        <a:cs typeface="Helvetica Neue Medium"/>
                        <a:sym typeface="Helvetica Neue Medium"/>
                      </a:rPr>
                      <m:t>𝑖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; </a:t>
                </a:r>
                <a14:m>
                  <m:oMath xmlns:m="http://schemas.openxmlformats.org/officeDocument/2006/math">
                    <m:r>
                      <a:rPr lang="en-IN" sz="28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&gt; 0; </a:t>
                </a:r>
                <a14:m>
                  <m:oMath xmlns:m="http://schemas.openxmlformats.org/officeDocument/2006/math">
                    <m:r>
                      <a:rPr lang="en-IN" sz="28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𝑗</m:t>
                    </m:r>
                    <m:r>
                      <a:rPr lang="en-IN" sz="28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--)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{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	</a:t>
                </a:r>
                <a:r>
                  <a:rPr lang="en-IN" sz="28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if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( </a:t>
                </a:r>
                <a:r>
                  <a:rPr lang="en-IN" sz="2800" dirty="0" err="1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num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</a:t>
                </a:r>
                <a14:m>
                  <m:oMath xmlns:m="http://schemas.openxmlformats.org/officeDocument/2006/math">
                    <m:r>
                      <a:rPr lang="en-IN" sz="2800" i="1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] &lt; </a:t>
                </a:r>
                <a:r>
                  <a:rPr lang="en-IN" sz="2800" dirty="0" err="1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num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</a:t>
                </a:r>
                <a14:m>
                  <m:oMath xmlns:m="http://schemas.openxmlformats.org/officeDocument/2006/math">
                    <m:r>
                      <a:rPr lang="en-IN" sz="28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𝑗</m:t>
                    </m:r>
                    <m:r>
                      <a:rPr lang="en-IN" sz="28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-1] )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	{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		</a:t>
                </a:r>
                <a:r>
                  <a:rPr lang="en-IN" sz="28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int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IN" sz="28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temp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= </a:t>
                </a:r>
                <a:r>
                  <a:rPr lang="en-IN" sz="2800" dirty="0" err="1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num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</a:t>
                </a:r>
                <a14:m>
                  <m:oMath xmlns:m="http://schemas.openxmlformats.org/officeDocument/2006/math">
                    <m:r>
                      <a:rPr lang="en-IN" sz="2800" i="1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];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		</a:t>
                </a:r>
                <a:r>
                  <a:rPr lang="en-IN" sz="2800" dirty="0" err="1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num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</a:t>
                </a:r>
                <a14:m>
                  <m:oMath xmlns:m="http://schemas.openxmlformats.org/officeDocument/2006/math">
                    <m:r>
                      <a:rPr lang="en-IN" sz="28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] = </a:t>
                </a:r>
                <a:r>
                  <a:rPr lang="en-IN" sz="2800" dirty="0" err="1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num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</a:t>
                </a:r>
                <a14:m>
                  <m:oMath xmlns:m="http://schemas.openxmlformats.org/officeDocument/2006/math">
                    <m:r>
                      <a:rPr lang="en-IN" sz="2800" i="1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𝑗</m:t>
                    </m:r>
                    <m:r>
                      <a:rPr lang="en-IN" sz="2800" i="1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-1];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		</a:t>
                </a:r>
                <a:r>
                  <a:rPr lang="en-IN" sz="2800" dirty="0" err="1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num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</a:t>
                </a:r>
                <a14:m>
                  <m:oMath xmlns:m="http://schemas.openxmlformats.org/officeDocument/2006/math">
                    <m:r>
                      <a:rPr lang="en-IN" sz="2800" i="1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𝑗</m:t>
                    </m:r>
                    <m:r>
                      <a:rPr lang="en-IN" sz="2800" i="1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-1] = </a:t>
                </a:r>
                <a:r>
                  <a:rPr lang="en-IN" sz="28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temp;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	}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} 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}</a:t>
                </a:r>
                <a:b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</a:b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</a:t>
                </a:r>
                <a:r>
                  <a:rPr lang="en-IN" sz="28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return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0;</a:t>
                </a:r>
                <a:b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</a:b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}</a:t>
                </a:r>
                <a:endParaRPr lang="en-US" sz="2800" dirty="0">
                  <a:solidFill>
                    <a:schemeClr val="bg1"/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9" name="Rounded Rectangle 8">
                <a:extLst>
                  <a:ext uri="{FF2B5EF4-FFF2-40B4-BE49-F238E27FC236}">
                    <a16:creationId xmlns:a16="http://schemas.microsoft.com/office/drawing/2014/main" id="{D7B232AC-E2D7-61DB-4493-7A26422B137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48986" y="209566"/>
                <a:ext cx="9543957" cy="10036254"/>
              </a:xfrm>
              <a:prstGeom prst="roundRect">
                <a:avLst/>
              </a:prstGeom>
              <a:blipFill>
                <a:blip r:embed="rId2"/>
                <a:stretch>
                  <a:fillRect/>
                </a:stretch>
              </a:blipFill>
              <a:ln w="63500" cap="flat">
                <a:solidFill>
                  <a:schemeClr val="tx1"/>
                </a:solidFill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3D17490E-D39F-45F8-C717-28AB2B0ADA03}"/>
              </a:ext>
            </a:extLst>
          </p:cNvPr>
          <p:cNvSpPr/>
          <p:nvPr/>
        </p:nvSpPr>
        <p:spPr>
          <a:xfrm>
            <a:off x="964874" y="4590459"/>
            <a:ext cx="9512180" cy="614473"/>
          </a:xfrm>
          <a:prstGeom prst="roundRect">
            <a:avLst/>
          </a:prstGeom>
          <a:solidFill>
            <a:schemeClr val="accent4">
              <a:lumMod val="60000"/>
              <a:lumOff val="40000"/>
              <a:alpha val="41668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ACDA5C39-B275-E5C6-CC24-68A29910FE4E}"/>
              </a:ext>
            </a:extLst>
          </p:cNvPr>
          <p:cNvSpPr/>
          <p:nvPr/>
        </p:nvSpPr>
        <p:spPr>
          <a:xfrm>
            <a:off x="12995393" y="8388300"/>
            <a:ext cx="1791332" cy="1770434"/>
          </a:xfrm>
          <a:prstGeom prst="roundRect">
            <a:avLst/>
          </a:prstGeom>
          <a:solidFill>
            <a:schemeClr val="accent2">
              <a:lumMod val="50000"/>
              <a:alpha val="29955"/>
            </a:schemeClr>
          </a:solidFill>
          <a:ln w="63500" cap="flat">
            <a:solidFill>
              <a:schemeClr val="accent2">
                <a:lumMod val="5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6ADA5587-5121-C96B-0F9E-F3E59142B954}"/>
              </a:ext>
            </a:extLst>
          </p:cNvPr>
          <p:cNvSpPr/>
          <p:nvPr/>
        </p:nvSpPr>
        <p:spPr>
          <a:xfrm>
            <a:off x="13314436" y="8767699"/>
            <a:ext cx="1080000" cy="1080000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54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15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Rounded Rectangle 5">
                <a:extLst>
                  <a:ext uri="{FF2B5EF4-FFF2-40B4-BE49-F238E27FC236}">
                    <a16:creationId xmlns:a16="http://schemas.microsoft.com/office/drawing/2014/main" id="{665F611E-CB7F-D500-10C2-AC933AF36065}"/>
                  </a:ext>
                </a:extLst>
              </p:cNvPr>
              <p:cNvSpPr/>
              <p:nvPr/>
            </p:nvSpPr>
            <p:spPr>
              <a:xfrm>
                <a:off x="12192000" y="2877285"/>
                <a:ext cx="9297919" cy="1747996"/>
              </a:xfrm>
              <a:prstGeom prst="roundRect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 w="63500" cap="flat">
                <a:solidFill>
                  <a:schemeClr val="tx1"/>
                </a:solidFill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50800" tIns="50800" rIns="50800" bIns="50800" numCol="1" spcCol="38100" rtlCol="0" anchor="ctr">
                <a:spAutoFit/>
              </a:bodyPr>
              <a:lstStyle/>
              <a:p>
                <a:pPr marL="0" marR="0" indent="0" defTabSz="8255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r>
                  <a:rPr lang="en-US" sz="3200" dirty="0">
                    <a:solidFill>
                      <a:schemeClr val="bg1"/>
                    </a:solidFill>
                    <a:latin typeface="Bradley Hand" pitchFamily="2" charset="77"/>
                    <a:sym typeface="Helvetica Neue Medium"/>
                  </a:rPr>
                  <a:t>Variables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14:m>
                  <m:oMath xmlns:m="http://schemas.openxmlformats.org/officeDocument/2006/math">
                    <m:r>
                      <a:rPr lang="en-US" sz="3200" i="1" smtClean="0">
                        <a:ln w="0"/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effectLst>
                          <a:outerShdw blurRad="38100" dist="19050" dir="2700000" algn="tl" rotWithShape="0">
                            <a:schemeClr val="dk1">
                              <a:alpha val="40000"/>
                            </a:schemeClr>
                          </a:outerShdw>
                        </a:effectLst>
                        <a:latin typeface="Cambria Math" panose="02040503050406030204" pitchFamily="18" charset="0"/>
                        <a:ea typeface="Cambria Math" panose="02040503050406030204" pitchFamily="18" charset="0"/>
                        <a:cs typeface="Helvetica Neue Medium"/>
                        <a:sym typeface="Helvetica Neue Medium"/>
                      </a:rPr>
                      <m:t>𝑛</m:t>
                    </m:r>
                  </m:oMath>
                </a14:m>
                <a:r>
                  <a:rPr lang="en-US" sz="3200" dirty="0">
                    <a:solidFill>
                      <a:schemeClr val="bg1"/>
                    </a:solidFill>
                    <a:latin typeface="Bradley Hand" pitchFamily="2" charset="77"/>
                    <a:sym typeface="Helvetica Neue Medium"/>
                  </a:rPr>
                  <a:t>=4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14:m>
                  <m:oMath xmlns:m="http://schemas.openxmlformats.org/officeDocument/2006/math">
                    <m:r>
                      <a:rPr lang="en-US" sz="3200" i="1">
                        <a:ln w="0"/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effectLst>
                          <a:outerShdw blurRad="38100" dist="19050" dir="2700000" algn="tl" rotWithShape="0">
                            <a:schemeClr val="dk1">
                              <a:alpha val="40000"/>
                            </a:schemeClr>
                          </a:outerShdw>
                        </a:effectLst>
                        <a:latin typeface="Cambria Math" panose="02040503050406030204" pitchFamily="18" charset="0"/>
                        <a:ea typeface="Cambria Math" panose="02040503050406030204" pitchFamily="18" charset="0"/>
                        <a:cs typeface="Helvetica Neue Medium"/>
                        <a:sym typeface="Helvetica Neue Medium"/>
                      </a:rPr>
                      <m:t>𝑖</m:t>
                    </m:r>
                  </m:oMath>
                </a14:m>
                <a:r>
                  <a:rPr lang="en-US" sz="3200" dirty="0">
                    <a:solidFill>
                      <a:schemeClr val="bg1"/>
                    </a:solidFill>
                    <a:latin typeface="Bradley Hand" pitchFamily="2" charset="77"/>
                    <a:sym typeface="Helvetica Neue Medium"/>
                  </a:rPr>
                  <a:t>=0</a:t>
                </a:r>
              </a:p>
            </p:txBody>
          </p:sp>
        </mc:Choice>
        <mc:Fallback xmlns="">
          <p:sp>
            <p:nvSpPr>
              <p:cNvPr id="6" name="Rounded Rectangle 5">
                <a:extLst>
                  <a:ext uri="{FF2B5EF4-FFF2-40B4-BE49-F238E27FC236}">
                    <a16:creationId xmlns:a16="http://schemas.microsoft.com/office/drawing/2014/main" id="{665F611E-CB7F-D500-10C2-AC933AF3606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192000" y="2877285"/>
                <a:ext cx="9297919" cy="1747996"/>
              </a:xfrm>
              <a:prstGeom prst="roundRect">
                <a:avLst/>
              </a:prstGeom>
              <a:blipFill>
                <a:blip r:embed="rId3"/>
                <a:stretch>
                  <a:fillRect l="-813" b="-4196"/>
                </a:stretch>
              </a:blipFill>
              <a:ln w="63500" cap="flat">
                <a:solidFill>
                  <a:schemeClr val="tx1"/>
                </a:solidFill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83584849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750">
        <p159:morph option="byObject"/>
      </p:transition>
    </mc:Choice>
    <mc:Fallback xmlns="">
      <p:transition spd="slow"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C3E178-4D3B-0B3A-1F1C-E39DD07C2D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32C44D09-BA9F-0544-E220-6ABA8FEA87D4}"/>
              </a:ext>
            </a:extLst>
          </p:cNvPr>
          <p:cNvSpPr/>
          <p:nvPr/>
        </p:nvSpPr>
        <p:spPr>
          <a:xfrm>
            <a:off x="12192001" y="477475"/>
            <a:ext cx="9239250" cy="1747996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3200" dirty="0">
                <a:solidFill>
                  <a:schemeClr val="bg1"/>
                </a:solidFill>
                <a:latin typeface="Bradley Hand" pitchFamily="2" charset="77"/>
                <a:sym typeface="Helvetica Neue Medium"/>
              </a:rPr>
              <a:t>Input/Output</a:t>
            </a:r>
          </a:p>
          <a:p>
            <a:pPr marL="0" marR="0" indent="0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3200" dirty="0">
                <a:solidFill>
                  <a:schemeClr val="accent6">
                    <a:lumMod val="40000"/>
                    <a:lumOff val="60000"/>
                  </a:schemeClr>
                </a:solidFill>
                <a:latin typeface="Bradley Hand" pitchFamily="2" charset="77"/>
                <a:sym typeface="Helvetica Neue Medium"/>
              </a:rPr>
              <a:t>4</a:t>
            </a:r>
            <a:endParaRPr lang="en-US" sz="3200" dirty="0">
              <a:solidFill>
                <a:schemeClr val="bg1"/>
              </a:solidFill>
              <a:latin typeface="Bradley Hand" pitchFamily="2" charset="77"/>
              <a:sym typeface="Helvetica Neue Medium"/>
            </a:endParaRP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US" sz="3200" dirty="0">
                <a:solidFill>
                  <a:schemeClr val="accent6">
                    <a:lumMod val="40000"/>
                    <a:lumOff val="60000"/>
                  </a:schemeClr>
                </a:solidFill>
                <a:latin typeface="Bradley Hand" pitchFamily="2" charset="77"/>
                <a:sym typeface="Helvetica Neue Medium"/>
              </a:rPr>
              <a:t>15 2 47 8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>
                <a:extLst>
                  <a:ext uri="{FF2B5EF4-FFF2-40B4-BE49-F238E27FC236}">
                    <a16:creationId xmlns:a16="http://schemas.microsoft.com/office/drawing/2014/main" id="{F61A3908-0CA7-BCEB-DD06-640D58455026}"/>
                  </a:ext>
                </a:extLst>
              </p:cNvPr>
              <p:cNvSpPr/>
              <p:nvPr/>
            </p:nvSpPr>
            <p:spPr>
              <a:xfrm>
                <a:off x="12192000" y="2877285"/>
                <a:ext cx="9297919" cy="1747996"/>
              </a:xfrm>
              <a:prstGeom prst="roundRect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 w="63500" cap="flat">
                <a:solidFill>
                  <a:schemeClr val="tx1"/>
                </a:solidFill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50800" tIns="50800" rIns="50800" bIns="50800" numCol="1" spcCol="38100" rtlCol="0" anchor="ctr">
                <a:spAutoFit/>
              </a:bodyPr>
              <a:lstStyle/>
              <a:p>
                <a:pPr marL="0" marR="0" indent="0" defTabSz="8255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r>
                  <a:rPr lang="en-US" sz="3200" dirty="0">
                    <a:solidFill>
                      <a:schemeClr val="bg1"/>
                    </a:solidFill>
                    <a:latin typeface="Bradley Hand" pitchFamily="2" charset="77"/>
                    <a:sym typeface="Helvetica Neue Medium"/>
                  </a:rPr>
                  <a:t>Variables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14:m>
                  <m:oMath xmlns:m="http://schemas.openxmlformats.org/officeDocument/2006/math">
                    <m:r>
                      <a:rPr lang="en-US" sz="3200" i="1" smtClean="0">
                        <a:ln w="0"/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effectLst>
                          <a:outerShdw blurRad="38100" dist="19050" dir="2700000" algn="tl" rotWithShape="0">
                            <a:schemeClr val="dk1">
                              <a:alpha val="40000"/>
                            </a:schemeClr>
                          </a:outerShdw>
                        </a:effectLst>
                        <a:latin typeface="Cambria Math" panose="02040503050406030204" pitchFamily="18" charset="0"/>
                        <a:ea typeface="Cambria Math" panose="02040503050406030204" pitchFamily="18" charset="0"/>
                        <a:cs typeface="Helvetica Neue Medium"/>
                        <a:sym typeface="Helvetica Neue Medium"/>
                      </a:rPr>
                      <m:t>𝑛</m:t>
                    </m:r>
                  </m:oMath>
                </a14:m>
                <a:r>
                  <a:rPr lang="en-US" sz="3200" dirty="0">
                    <a:solidFill>
                      <a:schemeClr val="bg1"/>
                    </a:solidFill>
                    <a:latin typeface="Bradley Hand" pitchFamily="2" charset="77"/>
                    <a:sym typeface="Helvetica Neue Medium"/>
                  </a:rPr>
                  <a:t>=4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14:m>
                  <m:oMath xmlns:m="http://schemas.openxmlformats.org/officeDocument/2006/math">
                    <m:r>
                      <a:rPr lang="en-US" sz="3200" i="1">
                        <a:ln w="0"/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effectLst>
                          <a:outerShdw blurRad="38100" dist="19050" dir="2700000" algn="tl" rotWithShape="0">
                            <a:schemeClr val="dk1">
                              <a:alpha val="40000"/>
                            </a:schemeClr>
                          </a:outerShdw>
                        </a:effectLst>
                        <a:latin typeface="Cambria Math" panose="02040503050406030204" pitchFamily="18" charset="0"/>
                        <a:ea typeface="Cambria Math" panose="02040503050406030204" pitchFamily="18" charset="0"/>
                        <a:cs typeface="Helvetica Neue Medium"/>
                        <a:sym typeface="Helvetica Neue Medium"/>
                      </a:rPr>
                      <m:t>𝑖</m:t>
                    </m:r>
                  </m:oMath>
                </a14:m>
                <a:r>
                  <a:rPr lang="en-US" sz="3200" dirty="0">
                    <a:solidFill>
                      <a:schemeClr val="bg1"/>
                    </a:solidFill>
                    <a:latin typeface="Bradley Hand" pitchFamily="2" charset="77"/>
                    <a:sym typeface="Helvetica Neue Medium"/>
                  </a:rPr>
                  <a:t>=0</a:t>
                </a:r>
              </a:p>
            </p:txBody>
          </p:sp>
        </mc:Choice>
        <mc:Fallback xmlns="">
          <p:sp>
            <p:nvSpPr>
              <p:cNvPr id="4" name="Rounded Rectangle 3">
                <a:extLst>
                  <a:ext uri="{FF2B5EF4-FFF2-40B4-BE49-F238E27FC236}">
                    <a16:creationId xmlns:a16="http://schemas.microsoft.com/office/drawing/2014/main" id="{F61A3908-0CA7-BCEB-DD06-640D5845502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192000" y="2877285"/>
                <a:ext cx="9297919" cy="1747996"/>
              </a:xfrm>
              <a:prstGeom prst="roundRect">
                <a:avLst/>
              </a:prstGeom>
              <a:blipFill>
                <a:blip r:embed="rId2"/>
                <a:stretch>
                  <a:fillRect l="-813" b="-4196"/>
                </a:stretch>
              </a:blipFill>
              <a:ln w="63500" cap="flat">
                <a:solidFill>
                  <a:schemeClr val="tx1"/>
                </a:solidFill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Rounded Rectangle 8">
                <a:extLst>
                  <a:ext uri="{FF2B5EF4-FFF2-40B4-BE49-F238E27FC236}">
                    <a16:creationId xmlns:a16="http://schemas.microsoft.com/office/drawing/2014/main" id="{12CD06C4-57B3-0CF7-0B84-687C65453C40}"/>
                  </a:ext>
                </a:extLst>
              </p:cNvPr>
              <p:cNvSpPr/>
              <p:nvPr/>
            </p:nvSpPr>
            <p:spPr>
              <a:xfrm>
                <a:off x="948986" y="209566"/>
                <a:ext cx="9543957" cy="10036254"/>
              </a:xfrm>
              <a:prstGeom prst="roundRect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 w="63500" cap="flat">
                <a:solidFill>
                  <a:schemeClr val="tx1"/>
                </a:solidFill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50800" tIns="50800" rIns="50800" bIns="50800" numCol="1" spcCol="38100" rtlCol="0" anchor="ctr">
                <a:spAutoFit/>
              </a:bodyPr>
              <a:lstStyle/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#include </a:t>
                </a:r>
                <a:r>
                  <a:rPr lang="en-IN" sz="28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&lt;</a:t>
                </a:r>
                <a:r>
                  <a:rPr lang="en-IN" sz="2800" dirty="0" err="1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stdio.h</a:t>
                </a:r>
                <a:r>
                  <a:rPr lang="en-IN" sz="28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&gt;</a:t>
                </a:r>
                <a:b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</a:br>
                <a:b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</a:br>
                <a:r>
                  <a:rPr lang="en-IN" sz="28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int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IN" sz="28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main</a:t>
                </a:r>
                <a:r>
                  <a:rPr lang="en-IN" sz="2800" dirty="0">
                    <a:solidFill>
                      <a:schemeClr val="accent4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()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{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US" sz="28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 int</a:t>
                </a:r>
                <a:r>
                  <a:rPr lang="en-US" sz="28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800" i="1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,</a:t>
                </a:r>
                <a14:m>
                  <m:oMath xmlns:m="http://schemas.openxmlformats.org/officeDocument/2006/math">
                    <m:r>
                      <a:rPr lang="en-US" sz="2800" i="1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,</a:t>
                </a:r>
                <a14:m>
                  <m:oMath xmlns:m="http://schemas.openxmlformats.org/officeDocument/2006/math">
                    <m:r>
                      <a:rPr lang="en-IN" sz="28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</a:t>
                </a:r>
                <a:r>
                  <a:rPr lang="en-IN" sz="2800" dirty="0" err="1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scanf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(“%d”, &amp;</a:t>
                </a:r>
                <a14:m>
                  <m:oMath xmlns:m="http://schemas.openxmlformats.org/officeDocument/2006/math">
                    <m:r>
                      <a:rPr lang="en-IN" sz="28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);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int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IN" sz="2800" dirty="0" err="1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num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</a:t>
                </a:r>
                <a14:m>
                  <m:oMath xmlns:m="http://schemas.openxmlformats.org/officeDocument/2006/math">
                    <m:r>
                      <a:rPr lang="en-IN" sz="28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];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</a:t>
                </a:r>
                <a:r>
                  <a:rPr lang="en-IN" sz="28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for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</a:t>
                </a:r>
                <a14:m>
                  <m:oMath xmlns:m="http://schemas.openxmlformats.org/officeDocument/2006/math">
                    <m:r>
                      <a:rPr lang="en-US" sz="2800" i="1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=0 ; </a:t>
                </a:r>
                <a14:m>
                  <m:oMath xmlns:m="http://schemas.openxmlformats.org/officeDocument/2006/math">
                    <m:r>
                      <a:rPr lang="en-US" sz="2800" i="1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&lt; </a:t>
                </a:r>
                <a14:m>
                  <m:oMath xmlns:m="http://schemas.openxmlformats.org/officeDocument/2006/math">
                    <m:r>
                      <a:rPr lang="en-IN" sz="28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; </a:t>
                </a:r>
                <a14:m>
                  <m:oMath xmlns:m="http://schemas.openxmlformats.org/officeDocument/2006/math">
                    <m:r>
                      <a:rPr lang="en-US" sz="2800" i="1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++)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{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</a:t>
                </a:r>
                <a:r>
                  <a:rPr lang="en-IN" sz="2800" dirty="0" err="1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scanf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(“%d”, &amp;</a:t>
                </a:r>
                <a:r>
                  <a:rPr lang="en-IN" sz="2800" dirty="0" err="1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num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</a:t>
                </a:r>
                <a14:m>
                  <m:oMath xmlns:m="http://schemas.openxmlformats.org/officeDocument/2006/math">
                    <m:r>
                      <a:rPr lang="en-US" sz="2800" i="1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]);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for( </a:t>
                </a:r>
                <a14:m>
                  <m:oMath xmlns:m="http://schemas.openxmlformats.org/officeDocument/2006/math">
                    <m:r>
                      <a:rPr lang="en-IN" sz="2800" i="1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= </a:t>
                </a:r>
                <a14:m>
                  <m:oMath xmlns:m="http://schemas.openxmlformats.org/officeDocument/2006/math">
                    <m:r>
                      <a:rPr lang="en-US" sz="2800" i="1">
                        <a:ln w="0"/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effectLst>
                          <a:outerShdw blurRad="38100" dist="19050" dir="2700000" algn="tl" rotWithShape="0">
                            <a:schemeClr val="dk1">
                              <a:alpha val="40000"/>
                            </a:schemeClr>
                          </a:outerShdw>
                        </a:effectLst>
                        <a:latin typeface="Cambria Math" panose="02040503050406030204" pitchFamily="18" charset="0"/>
                        <a:ea typeface="Cambria Math" panose="02040503050406030204" pitchFamily="18" charset="0"/>
                        <a:cs typeface="Helvetica Neue Medium"/>
                        <a:sym typeface="Helvetica Neue Medium"/>
                      </a:rPr>
                      <m:t>𝑖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; </a:t>
                </a:r>
                <a14:m>
                  <m:oMath xmlns:m="http://schemas.openxmlformats.org/officeDocument/2006/math">
                    <m:r>
                      <a:rPr lang="en-IN" sz="28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&gt; 0; </a:t>
                </a:r>
                <a14:m>
                  <m:oMath xmlns:m="http://schemas.openxmlformats.org/officeDocument/2006/math">
                    <m:r>
                      <a:rPr lang="en-IN" sz="28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𝑗</m:t>
                    </m:r>
                    <m:r>
                      <a:rPr lang="en-IN" sz="28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--)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{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	</a:t>
                </a:r>
                <a:r>
                  <a:rPr lang="en-IN" sz="28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if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( </a:t>
                </a:r>
                <a:r>
                  <a:rPr lang="en-IN" sz="2800" dirty="0" err="1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num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</a:t>
                </a:r>
                <a14:m>
                  <m:oMath xmlns:m="http://schemas.openxmlformats.org/officeDocument/2006/math">
                    <m:r>
                      <a:rPr lang="en-IN" sz="2800" i="1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] &lt; </a:t>
                </a:r>
                <a:r>
                  <a:rPr lang="en-IN" sz="2800" dirty="0" err="1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num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</a:t>
                </a:r>
                <a14:m>
                  <m:oMath xmlns:m="http://schemas.openxmlformats.org/officeDocument/2006/math">
                    <m:r>
                      <a:rPr lang="en-IN" sz="28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𝑗</m:t>
                    </m:r>
                    <m:r>
                      <a:rPr lang="en-IN" sz="28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-1] )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	{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		</a:t>
                </a:r>
                <a:r>
                  <a:rPr lang="en-IN" sz="28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int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IN" sz="28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temp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= </a:t>
                </a:r>
                <a:r>
                  <a:rPr lang="en-IN" sz="2800" dirty="0" err="1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num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</a:t>
                </a:r>
                <a14:m>
                  <m:oMath xmlns:m="http://schemas.openxmlformats.org/officeDocument/2006/math">
                    <m:r>
                      <a:rPr lang="en-IN" sz="2800" i="1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];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		</a:t>
                </a:r>
                <a:r>
                  <a:rPr lang="en-IN" sz="2800" dirty="0" err="1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num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</a:t>
                </a:r>
                <a14:m>
                  <m:oMath xmlns:m="http://schemas.openxmlformats.org/officeDocument/2006/math">
                    <m:r>
                      <a:rPr lang="en-IN" sz="28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] = </a:t>
                </a:r>
                <a:r>
                  <a:rPr lang="en-IN" sz="2800" dirty="0" err="1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num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</a:t>
                </a:r>
                <a14:m>
                  <m:oMath xmlns:m="http://schemas.openxmlformats.org/officeDocument/2006/math">
                    <m:r>
                      <a:rPr lang="en-IN" sz="2800" i="1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𝑗</m:t>
                    </m:r>
                    <m:r>
                      <a:rPr lang="en-IN" sz="2800" i="1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-1];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		</a:t>
                </a:r>
                <a:r>
                  <a:rPr lang="en-IN" sz="2800" dirty="0" err="1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num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</a:t>
                </a:r>
                <a14:m>
                  <m:oMath xmlns:m="http://schemas.openxmlformats.org/officeDocument/2006/math">
                    <m:r>
                      <a:rPr lang="en-IN" sz="2800" i="1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𝑗</m:t>
                    </m:r>
                    <m:r>
                      <a:rPr lang="en-IN" sz="2800" i="1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-1] = </a:t>
                </a:r>
                <a:r>
                  <a:rPr lang="en-IN" sz="28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temp;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	}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} 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}</a:t>
                </a:r>
                <a:b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</a:b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</a:t>
                </a:r>
                <a:r>
                  <a:rPr lang="en-IN" sz="28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return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0;</a:t>
                </a:r>
                <a:b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</a:b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}</a:t>
                </a:r>
                <a:endParaRPr lang="en-US" sz="2800" dirty="0">
                  <a:solidFill>
                    <a:schemeClr val="bg1"/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9" name="Rounded Rectangle 8">
                <a:extLst>
                  <a:ext uri="{FF2B5EF4-FFF2-40B4-BE49-F238E27FC236}">
                    <a16:creationId xmlns:a16="http://schemas.microsoft.com/office/drawing/2014/main" id="{12CD06C4-57B3-0CF7-0B84-687C65453C4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48986" y="209566"/>
                <a:ext cx="9543957" cy="10036254"/>
              </a:xfrm>
              <a:prstGeom prst="roundRect">
                <a:avLst/>
              </a:prstGeom>
              <a:blipFill>
                <a:blip r:embed="rId3"/>
                <a:stretch>
                  <a:fillRect/>
                </a:stretch>
              </a:blipFill>
              <a:ln w="63500" cap="flat">
                <a:solidFill>
                  <a:schemeClr val="tx1"/>
                </a:solidFill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C6CDF50D-E0CF-D418-853C-5C6173EA84C4}"/>
              </a:ext>
            </a:extLst>
          </p:cNvPr>
          <p:cNvSpPr/>
          <p:nvPr/>
        </p:nvSpPr>
        <p:spPr>
          <a:xfrm>
            <a:off x="948986" y="4590459"/>
            <a:ext cx="9512180" cy="614473"/>
          </a:xfrm>
          <a:prstGeom prst="roundRect">
            <a:avLst/>
          </a:prstGeom>
          <a:solidFill>
            <a:schemeClr val="accent4">
              <a:lumMod val="60000"/>
              <a:lumOff val="40000"/>
              <a:alpha val="41668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6D7B4018-0904-952E-87F2-98A5C482BE98}"/>
              </a:ext>
            </a:extLst>
          </p:cNvPr>
          <p:cNvSpPr/>
          <p:nvPr/>
        </p:nvSpPr>
        <p:spPr>
          <a:xfrm>
            <a:off x="12995393" y="8388300"/>
            <a:ext cx="1791332" cy="1770434"/>
          </a:xfrm>
          <a:prstGeom prst="roundRect">
            <a:avLst/>
          </a:prstGeom>
          <a:solidFill>
            <a:schemeClr val="accent2">
              <a:lumMod val="50000"/>
              <a:alpha val="29955"/>
            </a:schemeClr>
          </a:solidFill>
          <a:ln w="63500" cap="flat">
            <a:solidFill>
              <a:schemeClr val="accent2">
                <a:lumMod val="5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2CF0CC7A-0F42-4363-E986-01CB2F40D17D}"/>
              </a:ext>
            </a:extLst>
          </p:cNvPr>
          <p:cNvSpPr/>
          <p:nvPr/>
        </p:nvSpPr>
        <p:spPr>
          <a:xfrm>
            <a:off x="13314436" y="8767699"/>
            <a:ext cx="1080000" cy="1080000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54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15</a:t>
            </a:r>
          </a:p>
        </p:txBody>
      </p:sp>
      <p:sp>
        <p:nvSpPr>
          <p:cNvPr id="6" name="Right Arrow 5">
            <a:extLst>
              <a:ext uri="{FF2B5EF4-FFF2-40B4-BE49-F238E27FC236}">
                <a16:creationId xmlns:a16="http://schemas.microsoft.com/office/drawing/2014/main" id="{F1CDFCE7-8F74-D9B9-6461-B58D55717296}"/>
              </a:ext>
            </a:extLst>
          </p:cNvPr>
          <p:cNvSpPr/>
          <p:nvPr/>
        </p:nvSpPr>
        <p:spPr>
          <a:xfrm rot="16200000">
            <a:off x="13202777" y="10581221"/>
            <a:ext cx="1453118" cy="782316"/>
          </a:xfrm>
          <a:prstGeom prst="rightArrow">
            <a:avLst/>
          </a:prstGeom>
          <a:solidFill>
            <a:schemeClr val="accent2">
              <a:lumMod val="60000"/>
              <a:lumOff val="40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!!box">
                <a:extLst>
                  <a:ext uri="{FF2B5EF4-FFF2-40B4-BE49-F238E27FC236}">
                    <a16:creationId xmlns:a16="http://schemas.microsoft.com/office/drawing/2014/main" id="{1DF91AAA-6206-5BF8-F8D4-4D16F1C2F8BF}"/>
                  </a:ext>
                </a:extLst>
              </p:cNvPr>
              <p:cNvSpPr/>
              <p:nvPr/>
            </p:nvSpPr>
            <p:spPr>
              <a:xfrm>
                <a:off x="13314436" y="12042387"/>
                <a:ext cx="1243401" cy="658336"/>
              </a:xfrm>
              <a:prstGeom prst="roundRect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 w="63500" cap="flat">
                <a:solidFill>
                  <a:schemeClr val="tx1"/>
                </a:solidFill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50800" tIns="50800" rIns="50800" bIns="50800" numCol="1" spcCol="38100" rtlCol="0" anchor="ctr">
                <a:spAutoFit/>
              </a:bodyPr>
              <a:lstStyle/>
              <a:p>
                <a:pPr marL="0" marR="0" indent="0" defTabSz="8255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14:m>
                  <m:oMath xmlns:m="http://schemas.openxmlformats.org/officeDocument/2006/math">
                    <m:r>
                      <a:rPr lang="en-US" sz="3200" i="1" dirty="0">
                        <a:ln w="0"/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effectLst>
                          <a:outerShdw blurRad="38100" dist="19050" dir="2700000" algn="tl" rotWithShape="0">
                            <a:schemeClr val="dk1">
                              <a:alpha val="40000"/>
                            </a:schemeClr>
                          </a:outerShdw>
                        </a:effectLst>
                        <a:latin typeface="Cambria Math" panose="02040503050406030204" pitchFamily="18" charset="0"/>
                        <a:ea typeface="Cambria Math" panose="02040503050406030204" pitchFamily="18" charset="0"/>
                        <a:cs typeface="Helvetica Neue Medium"/>
                        <a:sym typeface="Helvetica Neue Medium"/>
                      </a:rPr>
                      <m:t>𝑗</m:t>
                    </m:r>
                  </m:oMath>
                </a14:m>
                <a:r>
                  <a:rPr lang="en-US" sz="3200" dirty="0">
                    <a:solidFill>
                      <a:schemeClr val="bg1"/>
                    </a:solidFill>
                    <a:latin typeface="Bradley Hand" pitchFamily="2" charset="77"/>
                    <a:sym typeface="Helvetica Neue Medium"/>
                  </a:rPr>
                  <a:t> = 0</a:t>
                </a:r>
              </a:p>
            </p:txBody>
          </p:sp>
        </mc:Choice>
        <mc:Fallback xmlns="">
          <p:sp>
            <p:nvSpPr>
              <p:cNvPr id="7" name="!!box">
                <a:extLst>
                  <a:ext uri="{FF2B5EF4-FFF2-40B4-BE49-F238E27FC236}">
                    <a16:creationId xmlns:a16="http://schemas.microsoft.com/office/drawing/2014/main" id="{1DF91AAA-6206-5BF8-F8D4-4D16F1C2F8B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314436" y="12042387"/>
                <a:ext cx="1243401" cy="658336"/>
              </a:xfrm>
              <a:prstGeom prst="roundRect">
                <a:avLst/>
              </a:prstGeom>
              <a:blipFill>
                <a:blip r:embed="rId4"/>
                <a:stretch>
                  <a:fillRect l="-5769" b="-18966"/>
                </a:stretch>
              </a:blipFill>
              <a:ln w="63500" cap="flat">
                <a:solidFill>
                  <a:schemeClr val="tx1"/>
                </a:solidFill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453017114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Word"/>
      </p:transition>
    </mc:Choice>
    <mc:Fallback>
      <p:transition spd="slow">
        <p:fade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EF222C-F3AC-3798-4F54-6547BB1768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D99555FD-2BD2-B0F0-FBB8-87F4A6047C73}"/>
              </a:ext>
            </a:extLst>
          </p:cNvPr>
          <p:cNvSpPr/>
          <p:nvPr/>
        </p:nvSpPr>
        <p:spPr>
          <a:xfrm>
            <a:off x="12192001" y="477475"/>
            <a:ext cx="9239250" cy="1747996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3200" dirty="0">
                <a:solidFill>
                  <a:schemeClr val="bg1"/>
                </a:solidFill>
                <a:latin typeface="Bradley Hand" pitchFamily="2" charset="77"/>
                <a:sym typeface="Helvetica Neue Medium"/>
              </a:rPr>
              <a:t>Input/Output</a:t>
            </a:r>
          </a:p>
          <a:p>
            <a:pPr marL="0" marR="0" indent="0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3200" dirty="0">
                <a:solidFill>
                  <a:schemeClr val="accent6">
                    <a:lumMod val="40000"/>
                    <a:lumOff val="60000"/>
                  </a:schemeClr>
                </a:solidFill>
                <a:latin typeface="Bradley Hand" pitchFamily="2" charset="77"/>
                <a:sym typeface="Helvetica Neue Medium"/>
              </a:rPr>
              <a:t>4</a:t>
            </a:r>
            <a:endParaRPr lang="en-US" sz="3200" dirty="0">
              <a:solidFill>
                <a:schemeClr val="bg1"/>
              </a:solidFill>
              <a:latin typeface="Bradley Hand" pitchFamily="2" charset="77"/>
              <a:sym typeface="Helvetica Neue Medium"/>
            </a:endParaRP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US" sz="3200" dirty="0">
                <a:solidFill>
                  <a:schemeClr val="accent6">
                    <a:lumMod val="40000"/>
                    <a:lumOff val="60000"/>
                  </a:schemeClr>
                </a:solidFill>
                <a:latin typeface="Bradley Hand" pitchFamily="2" charset="77"/>
                <a:sym typeface="Helvetica Neue Medium"/>
              </a:rPr>
              <a:t>15 2 47 8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>
                <a:extLst>
                  <a:ext uri="{FF2B5EF4-FFF2-40B4-BE49-F238E27FC236}">
                    <a16:creationId xmlns:a16="http://schemas.microsoft.com/office/drawing/2014/main" id="{2CFD2767-ECBE-5FB0-9045-BE8B0BE92EC4}"/>
                  </a:ext>
                </a:extLst>
              </p:cNvPr>
              <p:cNvSpPr/>
              <p:nvPr/>
            </p:nvSpPr>
            <p:spPr>
              <a:xfrm>
                <a:off x="12192000" y="2877285"/>
                <a:ext cx="9297919" cy="1747996"/>
              </a:xfrm>
              <a:prstGeom prst="roundRect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 w="63500" cap="flat">
                <a:solidFill>
                  <a:schemeClr val="tx1"/>
                </a:solidFill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50800" tIns="50800" rIns="50800" bIns="50800" numCol="1" spcCol="38100" rtlCol="0" anchor="ctr">
                <a:spAutoFit/>
              </a:bodyPr>
              <a:lstStyle/>
              <a:p>
                <a:pPr marL="0" marR="0" indent="0" defTabSz="8255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r>
                  <a:rPr lang="en-US" sz="3200" dirty="0">
                    <a:solidFill>
                      <a:schemeClr val="bg1"/>
                    </a:solidFill>
                    <a:latin typeface="Bradley Hand" pitchFamily="2" charset="77"/>
                    <a:sym typeface="Helvetica Neue Medium"/>
                  </a:rPr>
                  <a:t>Variables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14:m>
                  <m:oMath xmlns:m="http://schemas.openxmlformats.org/officeDocument/2006/math">
                    <m:r>
                      <a:rPr lang="en-US" sz="3200" i="1" smtClean="0">
                        <a:ln w="0"/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effectLst>
                          <a:outerShdw blurRad="38100" dist="19050" dir="2700000" algn="tl" rotWithShape="0">
                            <a:schemeClr val="dk1">
                              <a:alpha val="40000"/>
                            </a:schemeClr>
                          </a:outerShdw>
                        </a:effectLst>
                        <a:latin typeface="Cambria Math" panose="02040503050406030204" pitchFamily="18" charset="0"/>
                        <a:ea typeface="Cambria Math" panose="02040503050406030204" pitchFamily="18" charset="0"/>
                        <a:cs typeface="Helvetica Neue Medium"/>
                        <a:sym typeface="Helvetica Neue Medium"/>
                      </a:rPr>
                      <m:t>𝑛</m:t>
                    </m:r>
                  </m:oMath>
                </a14:m>
                <a:r>
                  <a:rPr lang="en-US" sz="3200" dirty="0">
                    <a:solidFill>
                      <a:schemeClr val="bg1"/>
                    </a:solidFill>
                    <a:latin typeface="Bradley Hand" pitchFamily="2" charset="77"/>
                    <a:sym typeface="Helvetica Neue Medium"/>
                  </a:rPr>
                  <a:t>=4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14:m>
                  <m:oMath xmlns:m="http://schemas.openxmlformats.org/officeDocument/2006/math">
                    <m:r>
                      <a:rPr lang="en-US" sz="3200" i="1">
                        <a:ln w="0"/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effectLst>
                          <a:outerShdw blurRad="38100" dist="19050" dir="2700000" algn="tl" rotWithShape="0">
                            <a:schemeClr val="dk1">
                              <a:alpha val="40000"/>
                            </a:schemeClr>
                          </a:outerShdw>
                        </a:effectLst>
                        <a:latin typeface="Cambria Math" panose="02040503050406030204" pitchFamily="18" charset="0"/>
                        <a:ea typeface="Cambria Math" panose="02040503050406030204" pitchFamily="18" charset="0"/>
                        <a:cs typeface="Helvetica Neue Medium"/>
                        <a:sym typeface="Helvetica Neue Medium"/>
                      </a:rPr>
                      <m:t>𝑖</m:t>
                    </m:r>
                  </m:oMath>
                </a14:m>
                <a:r>
                  <a:rPr lang="en-US" sz="3200" dirty="0">
                    <a:solidFill>
                      <a:schemeClr val="bg1"/>
                    </a:solidFill>
                    <a:latin typeface="Bradley Hand" pitchFamily="2" charset="77"/>
                    <a:sym typeface="Helvetica Neue Medium"/>
                  </a:rPr>
                  <a:t>=0</a:t>
                </a:r>
              </a:p>
            </p:txBody>
          </p:sp>
        </mc:Choice>
        <mc:Fallback xmlns="">
          <p:sp>
            <p:nvSpPr>
              <p:cNvPr id="4" name="Rounded Rectangle 3">
                <a:extLst>
                  <a:ext uri="{FF2B5EF4-FFF2-40B4-BE49-F238E27FC236}">
                    <a16:creationId xmlns:a16="http://schemas.microsoft.com/office/drawing/2014/main" id="{2CFD2767-ECBE-5FB0-9045-BE8B0BE92EC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192000" y="2877285"/>
                <a:ext cx="9297919" cy="1747996"/>
              </a:xfrm>
              <a:prstGeom prst="roundRect">
                <a:avLst/>
              </a:prstGeom>
              <a:blipFill>
                <a:blip r:embed="rId2"/>
                <a:stretch>
                  <a:fillRect l="-813" b="-4196"/>
                </a:stretch>
              </a:blipFill>
              <a:ln w="63500" cap="flat">
                <a:solidFill>
                  <a:schemeClr val="tx1"/>
                </a:solidFill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9" name="Rounded Rectangle 8">
                <a:extLst>
                  <a:ext uri="{FF2B5EF4-FFF2-40B4-BE49-F238E27FC236}">
                    <a16:creationId xmlns:a16="http://schemas.microsoft.com/office/drawing/2014/main" id="{B6A4B2DD-3B59-37A0-A5CE-80787116523A}"/>
                  </a:ext>
                </a:extLst>
              </p:cNvPr>
              <p:cNvSpPr/>
              <p:nvPr/>
            </p:nvSpPr>
            <p:spPr>
              <a:xfrm>
                <a:off x="948986" y="209566"/>
                <a:ext cx="9543957" cy="10036254"/>
              </a:xfrm>
              <a:prstGeom prst="roundRect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 w="63500" cap="flat">
                <a:solidFill>
                  <a:schemeClr val="tx1"/>
                </a:solidFill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50800" tIns="50800" rIns="50800" bIns="50800" numCol="1" spcCol="38100" rtlCol="0" anchor="ctr">
                <a:spAutoFit/>
              </a:bodyPr>
              <a:lstStyle/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#include </a:t>
                </a:r>
                <a:r>
                  <a:rPr lang="en-IN" sz="28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&lt;</a:t>
                </a:r>
                <a:r>
                  <a:rPr lang="en-IN" sz="2800" dirty="0" err="1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stdio.h</a:t>
                </a:r>
                <a:r>
                  <a:rPr lang="en-IN" sz="28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&gt;</a:t>
                </a:r>
                <a:b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</a:br>
                <a:b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</a:br>
                <a:r>
                  <a:rPr lang="en-IN" sz="28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int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IN" sz="28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main</a:t>
                </a:r>
                <a:r>
                  <a:rPr lang="en-IN" sz="2800" dirty="0">
                    <a:solidFill>
                      <a:schemeClr val="accent4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()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{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US" sz="28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 int</a:t>
                </a:r>
                <a:r>
                  <a:rPr lang="en-US" sz="28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800" i="1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,</a:t>
                </a:r>
                <a14:m>
                  <m:oMath xmlns:m="http://schemas.openxmlformats.org/officeDocument/2006/math">
                    <m:r>
                      <a:rPr lang="en-US" sz="2800" i="1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,</a:t>
                </a:r>
                <a14:m>
                  <m:oMath xmlns:m="http://schemas.openxmlformats.org/officeDocument/2006/math">
                    <m:r>
                      <a:rPr lang="en-IN" sz="28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</a:t>
                </a:r>
                <a:r>
                  <a:rPr lang="en-IN" sz="2800" dirty="0" err="1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scanf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(“%d”, &amp;</a:t>
                </a:r>
                <a14:m>
                  <m:oMath xmlns:m="http://schemas.openxmlformats.org/officeDocument/2006/math">
                    <m:r>
                      <a:rPr lang="en-IN" sz="28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);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int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IN" sz="2800" dirty="0" err="1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num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</a:t>
                </a:r>
                <a14:m>
                  <m:oMath xmlns:m="http://schemas.openxmlformats.org/officeDocument/2006/math">
                    <m:r>
                      <a:rPr lang="en-IN" sz="28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];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</a:t>
                </a:r>
                <a:r>
                  <a:rPr lang="en-IN" sz="28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for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</a:t>
                </a:r>
                <a14:m>
                  <m:oMath xmlns:m="http://schemas.openxmlformats.org/officeDocument/2006/math">
                    <m:r>
                      <a:rPr lang="en-US" sz="2800" i="1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=0 ; </a:t>
                </a:r>
                <a14:m>
                  <m:oMath xmlns:m="http://schemas.openxmlformats.org/officeDocument/2006/math">
                    <m:r>
                      <a:rPr lang="en-US" sz="2800" i="1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&lt; </a:t>
                </a:r>
                <a14:m>
                  <m:oMath xmlns:m="http://schemas.openxmlformats.org/officeDocument/2006/math">
                    <m:r>
                      <a:rPr lang="en-IN" sz="28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; </a:t>
                </a:r>
                <a14:m>
                  <m:oMath xmlns:m="http://schemas.openxmlformats.org/officeDocument/2006/math">
                    <m:r>
                      <a:rPr lang="en-US" sz="2800" i="1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++)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{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</a:t>
                </a:r>
                <a:r>
                  <a:rPr lang="en-IN" sz="2800" dirty="0" err="1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scanf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(“%d”, &amp;</a:t>
                </a:r>
                <a:r>
                  <a:rPr lang="en-IN" sz="2800" dirty="0" err="1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num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</a:t>
                </a:r>
                <a14:m>
                  <m:oMath xmlns:m="http://schemas.openxmlformats.org/officeDocument/2006/math">
                    <m:r>
                      <a:rPr lang="en-US" sz="2800" i="1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]);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for( </a:t>
                </a:r>
                <a14:m>
                  <m:oMath xmlns:m="http://schemas.openxmlformats.org/officeDocument/2006/math">
                    <m:r>
                      <a:rPr lang="en-IN" sz="2800" i="1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= </a:t>
                </a:r>
                <a14:m>
                  <m:oMath xmlns:m="http://schemas.openxmlformats.org/officeDocument/2006/math">
                    <m:r>
                      <a:rPr lang="en-US" sz="2800" i="1">
                        <a:ln w="0"/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effectLst>
                          <a:outerShdw blurRad="38100" dist="19050" dir="2700000" algn="tl" rotWithShape="0">
                            <a:schemeClr val="dk1">
                              <a:alpha val="40000"/>
                            </a:schemeClr>
                          </a:outerShdw>
                        </a:effectLst>
                        <a:latin typeface="Cambria Math" panose="02040503050406030204" pitchFamily="18" charset="0"/>
                        <a:ea typeface="Cambria Math" panose="02040503050406030204" pitchFamily="18" charset="0"/>
                        <a:cs typeface="Helvetica Neue Medium"/>
                        <a:sym typeface="Helvetica Neue Medium"/>
                      </a:rPr>
                      <m:t>𝑖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; </a:t>
                </a:r>
                <a14:m>
                  <m:oMath xmlns:m="http://schemas.openxmlformats.org/officeDocument/2006/math">
                    <m:r>
                      <a:rPr lang="en-IN" sz="28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&gt; 0; </a:t>
                </a:r>
                <a14:m>
                  <m:oMath xmlns:m="http://schemas.openxmlformats.org/officeDocument/2006/math">
                    <m:r>
                      <a:rPr lang="en-IN" sz="28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𝑗</m:t>
                    </m:r>
                    <m:r>
                      <a:rPr lang="en-IN" sz="28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--)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{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	</a:t>
                </a:r>
                <a:r>
                  <a:rPr lang="en-IN" sz="28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if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( </a:t>
                </a:r>
                <a:r>
                  <a:rPr lang="en-IN" sz="2800" dirty="0" err="1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num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</a:t>
                </a:r>
                <a14:m>
                  <m:oMath xmlns:m="http://schemas.openxmlformats.org/officeDocument/2006/math">
                    <m:r>
                      <a:rPr lang="en-IN" sz="2800" i="1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] &lt; </a:t>
                </a:r>
                <a:r>
                  <a:rPr lang="en-IN" sz="2800" dirty="0" err="1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num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</a:t>
                </a:r>
                <a14:m>
                  <m:oMath xmlns:m="http://schemas.openxmlformats.org/officeDocument/2006/math">
                    <m:r>
                      <a:rPr lang="en-IN" sz="28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𝑗</m:t>
                    </m:r>
                    <m:r>
                      <a:rPr lang="en-IN" sz="28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-1] )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	{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		</a:t>
                </a:r>
                <a:r>
                  <a:rPr lang="en-IN" sz="28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int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IN" sz="28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temp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= </a:t>
                </a:r>
                <a:r>
                  <a:rPr lang="en-IN" sz="2800" dirty="0" err="1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num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</a:t>
                </a:r>
                <a14:m>
                  <m:oMath xmlns:m="http://schemas.openxmlformats.org/officeDocument/2006/math">
                    <m:r>
                      <a:rPr lang="en-IN" sz="2800" i="1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];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		</a:t>
                </a:r>
                <a:r>
                  <a:rPr lang="en-IN" sz="2800" dirty="0" err="1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num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</a:t>
                </a:r>
                <a14:m>
                  <m:oMath xmlns:m="http://schemas.openxmlformats.org/officeDocument/2006/math">
                    <m:r>
                      <a:rPr lang="en-IN" sz="28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] = </a:t>
                </a:r>
                <a:r>
                  <a:rPr lang="en-IN" sz="2800" dirty="0" err="1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num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</a:t>
                </a:r>
                <a14:m>
                  <m:oMath xmlns:m="http://schemas.openxmlformats.org/officeDocument/2006/math">
                    <m:r>
                      <a:rPr lang="en-IN" sz="2800" i="1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𝑗</m:t>
                    </m:r>
                    <m:r>
                      <a:rPr lang="en-IN" sz="2800" i="1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-1];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		</a:t>
                </a:r>
                <a:r>
                  <a:rPr lang="en-IN" sz="2800" dirty="0" err="1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num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</a:t>
                </a:r>
                <a14:m>
                  <m:oMath xmlns:m="http://schemas.openxmlformats.org/officeDocument/2006/math">
                    <m:r>
                      <a:rPr lang="en-IN" sz="2800" i="1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𝑗</m:t>
                    </m:r>
                    <m:r>
                      <a:rPr lang="en-IN" sz="2800" i="1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-1] = </a:t>
                </a:r>
                <a:r>
                  <a:rPr lang="en-IN" sz="28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temp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;</a:t>
                </a:r>
                <a:endParaRPr lang="en-IN" sz="2800" dirty="0">
                  <a:solidFill>
                    <a:schemeClr val="accent1">
                      <a:lumMod val="40000"/>
                      <a:lumOff val="60000"/>
                    </a:schemeClr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	}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} 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}</a:t>
                </a:r>
                <a:b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</a:b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</a:t>
                </a:r>
                <a:r>
                  <a:rPr lang="en-IN" sz="28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return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0;</a:t>
                </a:r>
                <a:b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</a:b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}</a:t>
                </a:r>
                <a:endParaRPr lang="en-US" sz="2800" dirty="0">
                  <a:solidFill>
                    <a:schemeClr val="bg1"/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>
          <p:sp>
            <p:nvSpPr>
              <p:cNvPr id="9" name="Rounded Rectangle 8">
                <a:extLst>
                  <a:ext uri="{FF2B5EF4-FFF2-40B4-BE49-F238E27FC236}">
                    <a16:creationId xmlns:a16="http://schemas.microsoft.com/office/drawing/2014/main" id="{B6A4B2DD-3B59-37A0-A5CE-80787116523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48986" y="209566"/>
                <a:ext cx="9543957" cy="10036254"/>
              </a:xfrm>
              <a:prstGeom prst="roundRect">
                <a:avLst/>
              </a:prstGeom>
              <a:blipFill>
                <a:blip r:embed="rId3"/>
                <a:stretch>
                  <a:fillRect/>
                </a:stretch>
              </a:blipFill>
              <a:ln w="63500" cap="flat">
                <a:solidFill>
                  <a:schemeClr val="tx1"/>
                </a:solidFill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05BDFC3F-6ACD-9A39-E45A-C22349347678}"/>
              </a:ext>
            </a:extLst>
          </p:cNvPr>
          <p:cNvSpPr/>
          <p:nvPr/>
        </p:nvSpPr>
        <p:spPr>
          <a:xfrm>
            <a:off x="948986" y="3249931"/>
            <a:ext cx="9512180" cy="614473"/>
          </a:xfrm>
          <a:prstGeom prst="roundRect">
            <a:avLst/>
          </a:prstGeom>
          <a:solidFill>
            <a:schemeClr val="accent4">
              <a:lumMod val="60000"/>
              <a:lumOff val="40000"/>
              <a:alpha val="41668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F7AF89A7-31C5-3064-9AAD-D8D5D453B413}"/>
              </a:ext>
            </a:extLst>
          </p:cNvPr>
          <p:cNvSpPr/>
          <p:nvPr/>
        </p:nvSpPr>
        <p:spPr>
          <a:xfrm>
            <a:off x="13314436" y="8767699"/>
            <a:ext cx="1080000" cy="1080000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54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15</a:t>
            </a:r>
          </a:p>
        </p:txBody>
      </p:sp>
    </p:spTree>
    <p:extLst>
      <p:ext uri="{BB962C8B-B14F-4D97-AF65-F5344CB8AC3E}">
        <p14:creationId xmlns:p14="http://schemas.microsoft.com/office/powerpoint/2010/main" val="2236627830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Word"/>
      </p:transition>
    </mc:Choice>
    <mc:Fallback>
      <p:transition spd="slow">
        <p:fade/>
      </p:transition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6E56D0-31D0-66A8-545B-6922602640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163BC1E0-420A-C288-D2AE-6962D3789F56}"/>
              </a:ext>
            </a:extLst>
          </p:cNvPr>
          <p:cNvSpPr/>
          <p:nvPr/>
        </p:nvSpPr>
        <p:spPr>
          <a:xfrm>
            <a:off x="12192001" y="477475"/>
            <a:ext cx="9239250" cy="1747996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3200" dirty="0">
                <a:solidFill>
                  <a:schemeClr val="bg1"/>
                </a:solidFill>
                <a:latin typeface="Bradley Hand" pitchFamily="2" charset="77"/>
                <a:sym typeface="Helvetica Neue Medium"/>
              </a:rPr>
              <a:t>Input/Output</a:t>
            </a:r>
          </a:p>
          <a:p>
            <a:pPr marL="0" marR="0" indent="0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3200" dirty="0">
                <a:solidFill>
                  <a:schemeClr val="accent6">
                    <a:lumMod val="40000"/>
                    <a:lumOff val="60000"/>
                  </a:schemeClr>
                </a:solidFill>
                <a:latin typeface="Bradley Hand" pitchFamily="2" charset="77"/>
                <a:sym typeface="Helvetica Neue Medium"/>
              </a:rPr>
              <a:t>4</a:t>
            </a:r>
            <a:endParaRPr lang="en-US" sz="3200" dirty="0">
              <a:solidFill>
                <a:schemeClr val="bg1"/>
              </a:solidFill>
              <a:latin typeface="Bradley Hand" pitchFamily="2" charset="77"/>
              <a:sym typeface="Helvetica Neue Medium"/>
            </a:endParaRP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US" sz="3200" dirty="0">
                <a:solidFill>
                  <a:schemeClr val="accent6">
                    <a:lumMod val="40000"/>
                    <a:lumOff val="60000"/>
                  </a:schemeClr>
                </a:solidFill>
                <a:latin typeface="Bradley Hand" pitchFamily="2" charset="77"/>
                <a:sym typeface="Helvetica Neue Medium"/>
              </a:rPr>
              <a:t>15 2 47 8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>
                <a:extLst>
                  <a:ext uri="{FF2B5EF4-FFF2-40B4-BE49-F238E27FC236}">
                    <a16:creationId xmlns:a16="http://schemas.microsoft.com/office/drawing/2014/main" id="{AECF60FE-1BD9-B769-B8F8-0D979E101838}"/>
                  </a:ext>
                </a:extLst>
              </p:cNvPr>
              <p:cNvSpPr/>
              <p:nvPr/>
            </p:nvSpPr>
            <p:spPr>
              <a:xfrm>
                <a:off x="12192000" y="2877285"/>
                <a:ext cx="9297919" cy="1747996"/>
              </a:xfrm>
              <a:prstGeom prst="roundRect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 w="63500" cap="flat">
                <a:solidFill>
                  <a:schemeClr val="tx1"/>
                </a:solidFill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50800" tIns="50800" rIns="50800" bIns="50800" numCol="1" spcCol="38100" rtlCol="0" anchor="ctr">
                <a:spAutoFit/>
              </a:bodyPr>
              <a:lstStyle/>
              <a:p>
                <a:pPr marL="0" marR="0" indent="0" defTabSz="8255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r>
                  <a:rPr lang="en-US" sz="3200" dirty="0">
                    <a:solidFill>
                      <a:schemeClr val="bg1"/>
                    </a:solidFill>
                    <a:latin typeface="Bradley Hand" pitchFamily="2" charset="77"/>
                    <a:sym typeface="Helvetica Neue Medium"/>
                  </a:rPr>
                  <a:t>Variables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14:m>
                  <m:oMath xmlns:m="http://schemas.openxmlformats.org/officeDocument/2006/math">
                    <m:r>
                      <a:rPr lang="en-US" sz="3200" i="1" smtClean="0">
                        <a:ln w="0"/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effectLst>
                          <a:outerShdw blurRad="38100" dist="19050" dir="2700000" algn="tl" rotWithShape="0">
                            <a:schemeClr val="dk1">
                              <a:alpha val="40000"/>
                            </a:schemeClr>
                          </a:outerShdw>
                        </a:effectLst>
                        <a:latin typeface="Cambria Math" panose="02040503050406030204" pitchFamily="18" charset="0"/>
                        <a:ea typeface="Cambria Math" panose="02040503050406030204" pitchFamily="18" charset="0"/>
                        <a:cs typeface="Helvetica Neue Medium"/>
                        <a:sym typeface="Helvetica Neue Medium"/>
                      </a:rPr>
                      <m:t>𝑛</m:t>
                    </m:r>
                  </m:oMath>
                </a14:m>
                <a:r>
                  <a:rPr lang="en-US" sz="3200" dirty="0">
                    <a:solidFill>
                      <a:schemeClr val="bg1"/>
                    </a:solidFill>
                    <a:latin typeface="Bradley Hand" pitchFamily="2" charset="77"/>
                    <a:sym typeface="Helvetica Neue Medium"/>
                  </a:rPr>
                  <a:t>=4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14:m>
                  <m:oMath xmlns:m="http://schemas.openxmlformats.org/officeDocument/2006/math">
                    <m:r>
                      <a:rPr lang="en-US" sz="3200" i="1">
                        <a:ln w="0"/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effectLst>
                          <a:outerShdw blurRad="38100" dist="19050" dir="2700000" algn="tl" rotWithShape="0">
                            <a:schemeClr val="dk1">
                              <a:alpha val="40000"/>
                            </a:schemeClr>
                          </a:outerShdw>
                        </a:effectLst>
                        <a:latin typeface="Cambria Math" panose="02040503050406030204" pitchFamily="18" charset="0"/>
                        <a:ea typeface="Cambria Math" panose="02040503050406030204" pitchFamily="18" charset="0"/>
                        <a:cs typeface="Helvetica Neue Medium"/>
                        <a:sym typeface="Helvetica Neue Medium"/>
                      </a:rPr>
                      <m:t>𝑖</m:t>
                    </m:r>
                  </m:oMath>
                </a14:m>
                <a:r>
                  <a:rPr lang="en-US" sz="3200" dirty="0">
                    <a:solidFill>
                      <a:schemeClr val="bg1"/>
                    </a:solidFill>
                    <a:latin typeface="Bradley Hand" pitchFamily="2" charset="77"/>
                    <a:sym typeface="Helvetica Neue Medium"/>
                  </a:rPr>
                  <a:t>=1</a:t>
                </a:r>
              </a:p>
            </p:txBody>
          </p:sp>
        </mc:Choice>
        <mc:Fallback xmlns="">
          <p:sp>
            <p:nvSpPr>
              <p:cNvPr id="4" name="Rounded Rectangle 3">
                <a:extLst>
                  <a:ext uri="{FF2B5EF4-FFF2-40B4-BE49-F238E27FC236}">
                    <a16:creationId xmlns:a16="http://schemas.microsoft.com/office/drawing/2014/main" id="{AECF60FE-1BD9-B769-B8F8-0D979E10183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192000" y="2877285"/>
                <a:ext cx="9297919" cy="1747996"/>
              </a:xfrm>
              <a:prstGeom prst="roundRect">
                <a:avLst/>
              </a:prstGeom>
              <a:blipFill>
                <a:blip r:embed="rId2"/>
                <a:stretch>
                  <a:fillRect l="-813" b="-4196"/>
                </a:stretch>
              </a:blipFill>
              <a:ln w="63500" cap="flat">
                <a:solidFill>
                  <a:schemeClr val="tx1"/>
                </a:solidFill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9" name="Rounded Rectangle 8">
                <a:extLst>
                  <a:ext uri="{FF2B5EF4-FFF2-40B4-BE49-F238E27FC236}">
                    <a16:creationId xmlns:a16="http://schemas.microsoft.com/office/drawing/2014/main" id="{83E318E1-6860-CA67-A973-11C36CB0C1E4}"/>
                  </a:ext>
                </a:extLst>
              </p:cNvPr>
              <p:cNvSpPr/>
              <p:nvPr/>
            </p:nvSpPr>
            <p:spPr>
              <a:xfrm>
                <a:off x="948986" y="209566"/>
                <a:ext cx="9543957" cy="10036254"/>
              </a:xfrm>
              <a:prstGeom prst="roundRect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 w="63500" cap="flat">
                <a:solidFill>
                  <a:schemeClr val="tx1"/>
                </a:solidFill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50800" tIns="50800" rIns="50800" bIns="50800" numCol="1" spcCol="38100" rtlCol="0" anchor="ctr">
                <a:spAutoFit/>
              </a:bodyPr>
              <a:lstStyle/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#include </a:t>
                </a:r>
                <a:r>
                  <a:rPr lang="en-IN" sz="28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&lt;</a:t>
                </a:r>
                <a:r>
                  <a:rPr lang="en-IN" sz="2800" dirty="0" err="1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stdio.h</a:t>
                </a:r>
                <a:r>
                  <a:rPr lang="en-IN" sz="28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&gt;</a:t>
                </a:r>
                <a:b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</a:br>
                <a:b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</a:br>
                <a:r>
                  <a:rPr lang="en-IN" sz="28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int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IN" sz="28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main</a:t>
                </a:r>
                <a:r>
                  <a:rPr lang="en-IN" sz="2800" dirty="0">
                    <a:solidFill>
                      <a:schemeClr val="accent4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()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{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US" sz="28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 int</a:t>
                </a:r>
                <a:r>
                  <a:rPr lang="en-US" sz="28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800" i="1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,</a:t>
                </a:r>
                <a14:m>
                  <m:oMath xmlns:m="http://schemas.openxmlformats.org/officeDocument/2006/math">
                    <m:r>
                      <a:rPr lang="en-US" sz="2800" i="1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,</a:t>
                </a:r>
                <a14:m>
                  <m:oMath xmlns:m="http://schemas.openxmlformats.org/officeDocument/2006/math">
                    <m:r>
                      <a:rPr lang="en-IN" sz="28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</a:t>
                </a:r>
                <a:r>
                  <a:rPr lang="en-IN" sz="2800" dirty="0" err="1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scanf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(“%d”, &amp;</a:t>
                </a:r>
                <a14:m>
                  <m:oMath xmlns:m="http://schemas.openxmlformats.org/officeDocument/2006/math">
                    <m:r>
                      <a:rPr lang="en-IN" sz="28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);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int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IN" sz="2800" dirty="0" err="1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num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</a:t>
                </a:r>
                <a14:m>
                  <m:oMath xmlns:m="http://schemas.openxmlformats.org/officeDocument/2006/math">
                    <m:r>
                      <a:rPr lang="en-IN" sz="28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];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</a:t>
                </a:r>
                <a:r>
                  <a:rPr lang="en-IN" sz="28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for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</a:t>
                </a:r>
                <a14:m>
                  <m:oMath xmlns:m="http://schemas.openxmlformats.org/officeDocument/2006/math">
                    <m:r>
                      <a:rPr lang="en-US" sz="2800" i="1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=0 ; </a:t>
                </a:r>
                <a14:m>
                  <m:oMath xmlns:m="http://schemas.openxmlformats.org/officeDocument/2006/math">
                    <m:r>
                      <a:rPr lang="en-US" sz="2800" i="1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&lt; </a:t>
                </a:r>
                <a14:m>
                  <m:oMath xmlns:m="http://schemas.openxmlformats.org/officeDocument/2006/math">
                    <m:r>
                      <a:rPr lang="en-IN" sz="28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; </a:t>
                </a:r>
                <a14:m>
                  <m:oMath xmlns:m="http://schemas.openxmlformats.org/officeDocument/2006/math">
                    <m:r>
                      <a:rPr lang="en-US" sz="2800" i="1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++)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{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</a:t>
                </a:r>
                <a:r>
                  <a:rPr lang="en-IN" sz="2800" dirty="0" err="1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scanf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(“%d”, &amp;</a:t>
                </a:r>
                <a:r>
                  <a:rPr lang="en-IN" sz="2800" dirty="0" err="1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num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</a:t>
                </a:r>
                <a14:m>
                  <m:oMath xmlns:m="http://schemas.openxmlformats.org/officeDocument/2006/math">
                    <m:r>
                      <a:rPr lang="en-US" sz="2800" i="1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]);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for( </a:t>
                </a:r>
                <a14:m>
                  <m:oMath xmlns:m="http://schemas.openxmlformats.org/officeDocument/2006/math">
                    <m:r>
                      <a:rPr lang="en-IN" sz="2800" i="1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= </a:t>
                </a:r>
                <a14:m>
                  <m:oMath xmlns:m="http://schemas.openxmlformats.org/officeDocument/2006/math">
                    <m:r>
                      <a:rPr lang="en-US" sz="2800" i="1">
                        <a:ln w="0"/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effectLst>
                          <a:outerShdw blurRad="38100" dist="19050" dir="2700000" algn="tl" rotWithShape="0">
                            <a:schemeClr val="dk1">
                              <a:alpha val="40000"/>
                            </a:schemeClr>
                          </a:outerShdw>
                        </a:effectLst>
                        <a:latin typeface="Cambria Math" panose="02040503050406030204" pitchFamily="18" charset="0"/>
                        <a:ea typeface="Cambria Math" panose="02040503050406030204" pitchFamily="18" charset="0"/>
                        <a:cs typeface="Helvetica Neue Medium"/>
                        <a:sym typeface="Helvetica Neue Medium"/>
                      </a:rPr>
                      <m:t>𝑖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; </a:t>
                </a:r>
                <a14:m>
                  <m:oMath xmlns:m="http://schemas.openxmlformats.org/officeDocument/2006/math">
                    <m:r>
                      <a:rPr lang="en-IN" sz="28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&gt; 0; </a:t>
                </a:r>
                <a14:m>
                  <m:oMath xmlns:m="http://schemas.openxmlformats.org/officeDocument/2006/math">
                    <m:r>
                      <a:rPr lang="en-IN" sz="28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𝑗</m:t>
                    </m:r>
                    <m:r>
                      <a:rPr lang="en-IN" sz="28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--)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{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	</a:t>
                </a:r>
                <a:r>
                  <a:rPr lang="en-IN" sz="28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if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( </a:t>
                </a:r>
                <a:r>
                  <a:rPr lang="en-IN" sz="2800" dirty="0" err="1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num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</a:t>
                </a:r>
                <a14:m>
                  <m:oMath xmlns:m="http://schemas.openxmlformats.org/officeDocument/2006/math">
                    <m:r>
                      <a:rPr lang="en-IN" sz="2800" i="1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] &lt; </a:t>
                </a:r>
                <a:r>
                  <a:rPr lang="en-IN" sz="2800" dirty="0" err="1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num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</a:t>
                </a:r>
                <a14:m>
                  <m:oMath xmlns:m="http://schemas.openxmlformats.org/officeDocument/2006/math">
                    <m:r>
                      <a:rPr lang="en-IN" sz="28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𝑗</m:t>
                    </m:r>
                    <m:r>
                      <a:rPr lang="en-IN" sz="28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-1] )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	{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		</a:t>
                </a:r>
                <a:r>
                  <a:rPr lang="en-IN" sz="28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int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IN" sz="28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temp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= </a:t>
                </a:r>
                <a:r>
                  <a:rPr lang="en-IN" sz="2800" dirty="0" err="1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num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</a:t>
                </a:r>
                <a14:m>
                  <m:oMath xmlns:m="http://schemas.openxmlformats.org/officeDocument/2006/math">
                    <m:r>
                      <a:rPr lang="en-IN" sz="2800" i="1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];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		</a:t>
                </a:r>
                <a:r>
                  <a:rPr lang="en-IN" sz="2800" dirty="0" err="1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num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</a:t>
                </a:r>
                <a14:m>
                  <m:oMath xmlns:m="http://schemas.openxmlformats.org/officeDocument/2006/math">
                    <m:r>
                      <a:rPr lang="en-IN" sz="28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] = </a:t>
                </a:r>
                <a:r>
                  <a:rPr lang="en-IN" sz="2800" dirty="0" err="1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num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</a:t>
                </a:r>
                <a14:m>
                  <m:oMath xmlns:m="http://schemas.openxmlformats.org/officeDocument/2006/math">
                    <m:r>
                      <a:rPr lang="en-IN" sz="2800" i="1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𝑗</m:t>
                    </m:r>
                    <m:r>
                      <a:rPr lang="en-IN" sz="2800" i="1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-1];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		</a:t>
                </a:r>
                <a:r>
                  <a:rPr lang="en-IN" sz="2800" dirty="0" err="1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num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</a:t>
                </a:r>
                <a14:m>
                  <m:oMath xmlns:m="http://schemas.openxmlformats.org/officeDocument/2006/math">
                    <m:r>
                      <a:rPr lang="en-IN" sz="2800" i="1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𝑗</m:t>
                    </m:r>
                    <m:r>
                      <a:rPr lang="en-IN" sz="2800" i="1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-1] = </a:t>
                </a:r>
                <a:r>
                  <a:rPr lang="en-IN" sz="28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temp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;</a:t>
                </a:r>
                <a:endParaRPr lang="en-IN" sz="2800" dirty="0">
                  <a:solidFill>
                    <a:schemeClr val="accent1">
                      <a:lumMod val="40000"/>
                      <a:lumOff val="60000"/>
                    </a:schemeClr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	}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} 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}</a:t>
                </a:r>
                <a:b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</a:b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</a:t>
                </a:r>
                <a:r>
                  <a:rPr lang="en-IN" sz="28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return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0;</a:t>
                </a:r>
                <a:b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</a:b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}</a:t>
                </a:r>
                <a:endParaRPr lang="en-US" sz="2800" dirty="0">
                  <a:solidFill>
                    <a:schemeClr val="bg1"/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>
          <p:sp>
            <p:nvSpPr>
              <p:cNvPr id="9" name="Rounded Rectangle 8">
                <a:extLst>
                  <a:ext uri="{FF2B5EF4-FFF2-40B4-BE49-F238E27FC236}">
                    <a16:creationId xmlns:a16="http://schemas.microsoft.com/office/drawing/2014/main" id="{83E318E1-6860-CA67-A973-11C36CB0C1E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48986" y="209566"/>
                <a:ext cx="9543957" cy="10036254"/>
              </a:xfrm>
              <a:prstGeom prst="roundRect">
                <a:avLst/>
              </a:prstGeom>
              <a:blipFill>
                <a:blip r:embed="rId3"/>
                <a:stretch>
                  <a:fillRect/>
                </a:stretch>
              </a:blipFill>
              <a:ln w="63500" cap="flat">
                <a:solidFill>
                  <a:schemeClr val="tx1"/>
                </a:solidFill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EE0EF704-4DC9-B465-44C7-5FD856F60578}"/>
              </a:ext>
            </a:extLst>
          </p:cNvPr>
          <p:cNvSpPr/>
          <p:nvPr/>
        </p:nvSpPr>
        <p:spPr>
          <a:xfrm>
            <a:off x="948986" y="3249931"/>
            <a:ext cx="9512180" cy="614473"/>
          </a:xfrm>
          <a:prstGeom prst="roundRect">
            <a:avLst/>
          </a:prstGeom>
          <a:solidFill>
            <a:schemeClr val="accent4">
              <a:lumMod val="60000"/>
              <a:lumOff val="40000"/>
              <a:alpha val="41668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134075E8-3B92-398E-9E9A-0317B259BF0A}"/>
              </a:ext>
            </a:extLst>
          </p:cNvPr>
          <p:cNvSpPr/>
          <p:nvPr/>
        </p:nvSpPr>
        <p:spPr>
          <a:xfrm>
            <a:off x="13314436" y="8767699"/>
            <a:ext cx="1080000" cy="1080000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54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15</a:t>
            </a:r>
          </a:p>
        </p:txBody>
      </p:sp>
    </p:spTree>
    <p:extLst>
      <p:ext uri="{BB962C8B-B14F-4D97-AF65-F5344CB8AC3E}">
        <p14:creationId xmlns:p14="http://schemas.microsoft.com/office/powerpoint/2010/main" val="3303439729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Word"/>
      </p:transition>
    </mc:Choice>
    <mc:Fallback>
      <p:transition spd="slow">
        <p:fade/>
      </p:transition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7C87C2-8CC2-0CB2-E411-0249EC31C6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4F7A47FD-E031-9E88-7B29-DCE7F3478EE9}"/>
              </a:ext>
            </a:extLst>
          </p:cNvPr>
          <p:cNvSpPr/>
          <p:nvPr/>
        </p:nvSpPr>
        <p:spPr>
          <a:xfrm>
            <a:off x="12192001" y="477475"/>
            <a:ext cx="9239250" cy="1747996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3200" dirty="0">
                <a:solidFill>
                  <a:schemeClr val="bg1"/>
                </a:solidFill>
                <a:latin typeface="Bradley Hand" pitchFamily="2" charset="77"/>
                <a:sym typeface="Helvetica Neue Medium"/>
              </a:rPr>
              <a:t>Input/Output</a:t>
            </a:r>
          </a:p>
          <a:p>
            <a:pPr marL="0" marR="0" indent="0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3200" dirty="0">
                <a:solidFill>
                  <a:schemeClr val="accent6">
                    <a:lumMod val="40000"/>
                    <a:lumOff val="60000"/>
                  </a:schemeClr>
                </a:solidFill>
                <a:latin typeface="Bradley Hand" pitchFamily="2" charset="77"/>
                <a:sym typeface="Helvetica Neue Medium"/>
              </a:rPr>
              <a:t>4</a:t>
            </a:r>
            <a:endParaRPr lang="en-US" sz="3200" dirty="0">
              <a:solidFill>
                <a:schemeClr val="bg1"/>
              </a:solidFill>
              <a:latin typeface="Bradley Hand" pitchFamily="2" charset="77"/>
              <a:sym typeface="Helvetica Neue Medium"/>
            </a:endParaRP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US" sz="3200" dirty="0">
                <a:solidFill>
                  <a:schemeClr val="accent6">
                    <a:lumMod val="40000"/>
                    <a:lumOff val="60000"/>
                  </a:schemeClr>
                </a:solidFill>
                <a:latin typeface="Bradley Hand" pitchFamily="2" charset="77"/>
                <a:sym typeface="Helvetica Neue Medium"/>
              </a:rPr>
              <a:t>15 2 47 8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>
                <a:extLst>
                  <a:ext uri="{FF2B5EF4-FFF2-40B4-BE49-F238E27FC236}">
                    <a16:creationId xmlns:a16="http://schemas.microsoft.com/office/drawing/2014/main" id="{EADC23FA-7078-8293-9786-29441B258694}"/>
                  </a:ext>
                </a:extLst>
              </p:cNvPr>
              <p:cNvSpPr/>
              <p:nvPr/>
            </p:nvSpPr>
            <p:spPr>
              <a:xfrm>
                <a:off x="12192000" y="2877285"/>
                <a:ext cx="9297919" cy="1747996"/>
              </a:xfrm>
              <a:prstGeom prst="roundRect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 w="63500" cap="flat">
                <a:solidFill>
                  <a:schemeClr val="tx1"/>
                </a:solidFill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50800" tIns="50800" rIns="50800" bIns="50800" numCol="1" spcCol="38100" rtlCol="0" anchor="ctr">
                <a:spAutoFit/>
              </a:bodyPr>
              <a:lstStyle/>
              <a:p>
                <a:pPr marL="0" marR="0" indent="0" defTabSz="8255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r>
                  <a:rPr lang="en-US" sz="3200" dirty="0">
                    <a:solidFill>
                      <a:schemeClr val="bg1"/>
                    </a:solidFill>
                    <a:latin typeface="Bradley Hand" pitchFamily="2" charset="77"/>
                    <a:sym typeface="Helvetica Neue Medium"/>
                  </a:rPr>
                  <a:t>Variables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14:m>
                  <m:oMath xmlns:m="http://schemas.openxmlformats.org/officeDocument/2006/math">
                    <m:r>
                      <a:rPr lang="en-US" sz="3200" i="1" smtClean="0">
                        <a:ln w="0"/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effectLst>
                          <a:outerShdw blurRad="38100" dist="19050" dir="2700000" algn="tl" rotWithShape="0">
                            <a:schemeClr val="dk1">
                              <a:alpha val="40000"/>
                            </a:schemeClr>
                          </a:outerShdw>
                        </a:effectLst>
                        <a:latin typeface="Cambria Math" panose="02040503050406030204" pitchFamily="18" charset="0"/>
                        <a:ea typeface="Cambria Math" panose="02040503050406030204" pitchFamily="18" charset="0"/>
                        <a:cs typeface="Helvetica Neue Medium"/>
                        <a:sym typeface="Helvetica Neue Medium"/>
                      </a:rPr>
                      <m:t>𝑛</m:t>
                    </m:r>
                  </m:oMath>
                </a14:m>
                <a:r>
                  <a:rPr lang="en-US" sz="3200" dirty="0">
                    <a:solidFill>
                      <a:schemeClr val="bg1"/>
                    </a:solidFill>
                    <a:latin typeface="Bradley Hand" pitchFamily="2" charset="77"/>
                    <a:sym typeface="Helvetica Neue Medium"/>
                  </a:rPr>
                  <a:t>=4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14:m>
                  <m:oMath xmlns:m="http://schemas.openxmlformats.org/officeDocument/2006/math">
                    <m:r>
                      <a:rPr lang="en-US" sz="3200" i="1">
                        <a:ln w="0"/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effectLst>
                          <a:outerShdw blurRad="38100" dist="19050" dir="2700000" algn="tl" rotWithShape="0">
                            <a:schemeClr val="dk1">
                              <a:alpha val="40000"/>
                            </a:schemeClr>
                          </a:outerShdw>
                        </a:effectLst>
                        <a:latin typeface="Cambria Math" panose="02040503050406030204" pitchFamily="18" charset="0"/>
                        <a:ea typeface="Cambria Math" panose="02040503050406030204" pitchFamily="18" charset="0"/>
                        <a:cs typeface="Helvetica Neue Medium"/>
                        <a:sym typeface="Helvetica Neue Medium"/>
                      </a:rPr>
                      <m:t>𝑖</m:t>
                    </m:r>
                  </m:oMath>
                </a14:m>
                <a:r>
                  <a:rPr lang="en-US" sz="3200" dirty="0">
                    <a:solidFill>
                      <a:schemeClr val="bg1"/>
                    </a:solidFill>
                    <a:latin typeface="Bradley Hand" pitchFamily="2" charset="77"/>
                    <a:sym typeface="Helvetica Neue Medium"/>
                  </a:rPr>
                  <a:t>=1</a:t>
                </a:r>
              </a:p>
            </p:txBody>
          </p:sp>
        </mc:Choice>
        <mc:Fallback xmlns="">
          <p:sp>
            <p:nvSpPr>
              <p:cNvPr id="4" name="Rounded Rectangle 3">
                <a:extLst>
                  <a:ext uri="{FF2B5EF4-FFF2-40B4-BE49-F238E27FC236}">
                    <a16:creationId xmlns:a16="http://schemas.microsoft.com/office/drawing/2014/main" id="{EADC23FA-7078-8293-9786-29441B25869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192000" y="2877285"/>
                <a:ext cx="9297919" cy="1747996"/>
              </a:xfrm>
              <a:prstGeom prst="roundRect">
                <a:avLst/>
              </a:prstGeom>
              <a:blipFill>
                <a:blip r:embed="rId2"/>
                <a:stretch>
                  <a:fillRect l="-813" b="-4196"/>
                </a:stretch>
              </a:blipFill>
              <a:ln w="63500" cap="flat">
                <a:solidFill>
                  <a:schemeClr val="tx1"/>
                </a:solidFill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9" name="Rounded Rectangle 8">
                <a:extLst>
                  <a:ext uri="{FF2B5EF4-FFF2-40B4-BE49-F238E27FC236}">
                    <a16:creationId xmlns:a16="http://schemas.microsoft.com/office/drawing/2014/main" id="{DE5E02BC-B1ED-AA28-CC83-415063F4D7E2}"/>
                  </a:ext>
                </a:extLst>
              </p:cNvPr>
              <p:cNvSpPr/>
              <p:nvPr/>
            </p:nvSpPr>
            <p:spPr>
              <a:xfrm>
                <a:off x="948986" y="209566"/>
                <a:ext cx="9543957" cy="10036254"/>
              </a:xfrm>
              <a:prstGeom prst="roundRect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 w="63500" cap="flat">
                <a:solidFill>
                  <a:schemeClr val="tx1"/>
                </a:solidFill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50800" tIns="50800" rIns="50800" bIns="50800" numCol="1" spcCol="38100" rtlCol="0" anchor="ctr">
                <a:spAutoFit/>
              </a:bodyPr>
              <a:lstStyle/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#include </a:t>
                </a:r>
                <a:r>
                  <a:rPr lang="en-IN" sz="28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&lt;</a:t>
                </a:r>
                <a:r>
                  <a:rPr lang="en-IN" sz="2800" dirty="0" err="1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stdio.h</a:t>
                </a:r>
                <a:r>
                  <a:rPr lang="en-IN" sz="28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&gt;</a:t>
                </a:r>
                <a:b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</a:br>
                <a:b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</a:br>
                <a:r>
                  <a:rPr lang="en-IN" sz="28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int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IN" sz="28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main</a:t>
                </a:r>
                <a:r>
                  <a:rPr lang="en-IN" sz="2800" dirty="0">
                    <a:solidFill>
                      <a:schemeClr val="accent4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()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{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US" sz="28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 int</a:t>
                </a:r>
                <a:r>
                  <a:rPr lang="en-US" sz="28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800" i="1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,</a:t>
                </a:r>
                <a14:m>
                  <m:oMath xmlns:m="http://schemas.openxmlformats.org/officeDocument/2006/math">
                    <m:r>
                      <a:rPr lang="en-US" sz="2800" i="1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,</a:t>
                </a:r>
                <a14:m>
                  <m:oMath xmlns:m="http://schemas.openxmlformats.org/officeDocument/2006/math">
                    <m:r>
                      <a:rPr lang="en-IN" sz="28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</a:t>
                </a:r>
                <a:r>
                  <a:rPr lang="en-IN" sz="2800" dirty="0" err="1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scanf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(“%d”, &amp;</a:t>
                </a:r>
                <a14:m>
                  <m:oMath xmlns:m="http://schemas.openxmlformats.org/officeDocument/2006/math">
                    <m:r>
                      <a:rPr lang="en-IN" sz="28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);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int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IN" sz="2800" dirty="0" err="1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num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</a:t>
                </a:r>
                <a14:m>
                  <m:oMath xmlns:m="http://schemas.openxmlformats.org/officeDocument/2006/math">
                    <m:r>
                      <a:rPr lang="en-IN" sz="28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];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</a:t>
                </a:r>
                <a:r>
                  <a:rPr lang="en-IN" sz="28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for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</a:t>
                </a:r>
                <a14:m>
                  <m:oMath xmlns:m="http://schemas.openxmlformats.org/officeDocument/2006/math">
                    <m:r>
                      <a:rPr lang="en-US" sz="2800" i="1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=0 ; </a:t>
                </a:r>
                <a14:m>
                  <m:oMath xmlns:m="http://schemas.openxmlformats.org/officeDocument/2006/math">
                    <m:r>
                      <a:rPr lang="en-US" sz="2800" i="1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&lt; </a:t>
                </a:r>
                <a14:m>
                  <m:oMath xmlns:m="http://schemas.openxmlformats.org/officeDocument/2006/math">
                    <m:r>
                      <a:rPr lang="en-IN" sz="28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; </a:t>
                </a:r>
                <a14:m>
                  <m:oMath xmlns:m="http://schemas.openxmlformats.org/officeDocument/2006/math">
                    <m:r>
                      <a:rPr lang="en-US" sz="2800" i="1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++)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{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</a:t>
                </a:r>
                <a:r>
                  <a:rPr lang="en-IN" sz="2800" dirty="0" err="1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scanf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(“%d”, &amp;</a:t>
                </a:r>
                <a:r>
                  <a:rPr lang="en-IN" sz="2800" dirty="0" err="1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num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</a:t>
                </a:r>
                <a14:m>
                  <m:oMath xmlns:m="http://schemas.openxmlformats.org/officeDocument/2006/math">
                    <m:r>
                      <a:rPr lang="en-US" sz="2800" i="1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]);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for( </a:t>
                </a:r>
                <a14:m>
                  <m:oMath xmlns:m="http://schemas.openxmlformats.org/officeDocument/2006/math">
                    <m:r>
                      <a:rPr lang="en-IN" sz="2800" i="1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= </a:t>
                </a:r>
                <a14:m>
                  <m:oMath xmlns:m="http://schemas.openxmlformats.org/officeDocument/2006/math">
                    <m:r>
                      <a:rPr lang="en-US" sz="2800" i="1">
                        <a:ln w="0"/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effectLst>
                          <a:outerShdw blurRad="38100" dist="19050" dir="2700000" algn="tl" rotWithShape="0">
                            <a:schemeClr val="dk1">
                              <a:alpha val="40000"/>
                            </a:schemeClr>
                          </a:outerShdw>
                        </a:effectLst>
                        <a:latin typeface="Cambria Math" panose="02040503050406030204" pitchFamily="18" charset="0"/>
                        <a:ea typeface="Cambria Math" panose="02040503050406030204" pitchFamily="18" charset="0"/>
                        <a:cs typeface="Helvetica Neue Medium"/>
                        <a:sym typeface="Helvetica Neue Medium"/>
                      </a:rPr>
                      <m:t>𝑖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; </a:t>
                </a:r>
                <a14:m>
                  <m:oMath xmlns:m="http://schemas.openxmlformats.org/officeDocument/2006/math">
                    <m:r>
                      <a:rPr lang="en-IN" sz="28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&gt; 0; </a:t>
                </a:r>
                <a14:m>
                  <m:oMath xmlns:m="http://schemas.openxmlformats.org/officeDocument/2006/math">
                    <m:r>
                      <a:rPr lang="en-IN" sz="28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𝑗</m:t>
                    </m:r>
                    <m:r>
                      <a:rPr lang="en-IN" sz="28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--)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{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	</a:t>
                </a:r>
                <a:r>
                  <a:rPr lang="en-IN" sz="28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if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( </a:t>
                </a:r>
                <a:r>
                  <a:rPr lang="en-IN" sz="2800" dirty="0" err="1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num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</a:t>
                </a:r>
                <a14:m>
                  <m:oMath xmlns:m="http://schemas.openxmlformats.org/officeDocument/2006/math">
                    <m:r>
                      <a:rPr lang="en-IN" sz="2800" i="1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] &lt; </a:t>
                </a:r>
                <a:r>
                  <a:rPr lang="en-IN" sz="2800" dirty="0" err="1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num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</a:t>
                </a:r>
                <a14:m>
                  <m:oMath xmlns:m="http://schemas.openxmlformats.org/officeDocument/2006/math">
                    <m:r>
                      <a:rPr lang="en-IN" sz="28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𝑗</m:t>
                    </m:r>
                    <m:r>
                      <a:rPr lang="en-IN" sz="28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-1] )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	{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		</a:t>
                </a:r>
                <a:r>
                  <a:rPr lang="en-IN" sz="28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int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IN" sz="28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temp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= </a:t>
                </a:r>
                <a:r>
                  <a:rPr lang="en-IN" sz="2800" dirty="0" err="1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num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</a:t>
                </a:r>
                <a14:m>
                  <m:oMath xmlns:m="http://schemas.openxmlformats.org/officeDocument/2006/math">
                    <m:r>
                      <a:rPr lang="en-IN" sz="2800" i="1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];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		</a:t>
                </a:r>
                <a:r>
                  <a:rPr lang="en-IN" sz="2800" dirty="0" err="1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num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</a:t>
                </a:r>
                <a14:m>
                  <m:oMath xmlns:m="http://schemas.openxmlformats.org/officeDocument/2006/math">
                    <m:r>
                      <a:rPr lang="en-IN" sz="28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] = </a:t>
                </a:r>
                <a:r>
                  <a:rPr lang="en-IN" sz="2800" dirty="0" err="1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num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</a:t>
                </a:r>
                <a14:m>
                  <m:oMath xmlns:m="http://schemas.openxmlformats.org/officeDocument/2006/math">
                    <m:r>
                      <a:rPr lang="en-IN" sz="2800" i="1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𝑗</m:t>
                    </m:r>
                    <m:r>
                      <a:rPr lang="en-IN" sz="2800" i="1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-1];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		</a:t>
                </a:r>
                <a:r>
                  <a:rPr lang="en-IN" sz="2800" dirty="0" err="1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num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</a:t>
                </a:r>
                <a14:m>
                  <m:oMath xmlns:m="http://schemas.openxmlformats.org/officeDocument/2006/math">
                    <m:r>
                      <a:rPr lang="en-IN" sz="2800" i="1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𝑗</m:t>
                    </m:r>
                    <m:r>
                      <a:rPr lang="en-IN" sz="2800" i="1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-1] = </a:t>
                </a:r>
                <a:r>
                  <a:rPr lang="en-IN" sz="28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temp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;</a:t>
                </a:r>
                <a:endParaRPr lang="en-IN" sz="2800" dirty="0">
                  <a:solidFill>
                    <a:schemeClr val="accent1">
                      <a:lumMod val="40000"/>
                      <a:lumOff val="60000"/>
                    </a:schemeClr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	}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} 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}</a:t>
                </a:r>
                <a:b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</a:b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</a:t>
                </a:r>
                <a:r>
                  <a:rPr lang="en-IN" sz="28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return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0;</a:t>
                </a:r>
                <a:b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</a:b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}</a:t>
                </a:r>
                <a:endParaRPr lang="en-US" sz="2800" dirty="0">
                  <a:solidFill>
                    <a:schemeClr val="bg1"/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>
          <p:sp>
            <p:nvSpPr>
              <p:cNvPr id="9" name="Rounded Rectangle 8">
                <a:extLst>
                  <a:ext uri="{FF2B5EF4-FFF2-40B4-BE49-F238E27FC236}">
                    <a16:creationId xmlns:a16="http://schemas.microsoft.com/office/drawing/2014/main" id="{DE5E02BC-B1ED-AA28-CC83-415063F4D7E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48986" y="209566"/>
                <a:ext cx="9543957" cy="10036254"/>
              </a:xfrm>
              <a:prstGeom prst="roundRect">
                <a:avLst/>
              </a:prstGeom>
              <a:blipFill>
                <a:blip r:embed="rId3"/>
                <a:stretch>
                  <a:fillRect/>
                </a:stretch>
              </a:blipFill>
              <a:ln w="63500" cap="flat">
                <a:solidFill>
                  <a:schemeClr val="tx1"/>
                </a:solidFill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692F6CE4-A024-6ABC-5DAF-9847C6CF6C28}"/>
              </a:ext>
            </a:extLst>
          </p:cNvPr>
          <p:cNvSpPr/>
          <p:nvPr/>
        </p:nvSpPr>
        <p:spPr>
          <a:xfrm>
            <a:off x="964874" y="4111017"/>
            <a:ext cx="9512180" cy="614473"/>
          </a:xfrm>
          <a:prstGeom prst="roundRect">
            <a:avLst/>
          </a:prstGeom>
          <a:solidFill>
            <a:schemeClr val="accent4">
              <a:lumMod val="60000"/>
              <a:lumOff val="40000"/>
              <a:alpha val="41668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7E04B6AF-7A1B-3A5D-CE8F-63951674BFB7}"/>
              </a:ext>
            </a:extLst>
          </p:cNvPr>
          <p:cNvSpPr/>
          <p:nvPr/>
        </p:nvSpPr>
        <p:spPr>
          <a:xfrm>
            <a:off x="13314436" y="8767699"/>
            <a:ext cx="1080000" cy="1080000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54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15</a:t>
            </a:r>
          </a:p>
        </p:txBody>
      </p:sp>
    </p:spTree>
    <p:extLst>
      <p:ext uri="{BB962C8B-B14F-4D97-AF65-F5344CB8AC3E}">
        <p14:creationId xmlns:p14="http://schemas.microsoft.com/office/powerpoint/2010/main" val="1530270445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Word"/>
      </p:transition>
    </mc:Choice>
    <mc:Fallback>
      <p:transition spd="slow">
        <p:fade/>
      </p:transition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AF2BF0-7342-CC3F-18CD-5C291665A4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0C60F97A-797A-B705-04ED-E0CE0240930C}"/>
              </a:ext>
            </a:extLst>
          </p:cNvPr>
          <p:cNvSpPr/>
          <p:nvPr/>
        </p:nvSpPr>
        <p:spPr>
          <a:xfrm>
            <a:off x="12912132" y="8475386"/>
            <a:ext cx="3849187" cy="1770434"/>
          </a:xfrm>
          <a:prstGeom prst="roundRect">
            <a:avLst/>
          </a:prstGeom>
          <a:solidFill>
            <a:schemeClr val="accent2">
              <a:lumMod val="50000"/>
              <a:alpha val="29955"/>
            </a:schemeClr>
          </a:solidFill>
          <a:ln w="63500" cap="flat">
            <a:solidFill>
              <a:schemeClr val="accent2">
                <a:lumMod val="5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0F271393-CC09-5261-734F-5717E7D70A72}"/>
              </a:ext>
            </a:extLst>
          </p:cNvPr>
          <p:cNvSpPr/>
          <p:nvPr/>
        </p:nvSpPr>
        <p:spPr>
          <a:xfrm>
            <a:off x="12192001" y="477475"/>
            <a:ext cx="9239250" cy="1747996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3200" dirty="0">
                <a:solidFill>
                  <a:schemeClr val="bg1"/>
                </a:solidFill>
                <a:latin typeface="Bradley Hand" pitchFamily="2" charset="77"/>
                <a:sym typeface="Helvetica Neue Medium"/>
              </a:rPr>
              <a:t>Input/Output</a:t>
            </a:r>
          </a:p>
          <a:p>
            <a:pPr marL="0" marR="0" indent="0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3200" dirty="0">
                <a:solidFill>
                  <a:schemeClr val="accent6">
                    <a:lumMod val="40000"/>
                    <a:lumOff val="60000"/>
                  </a:schemeClr>
                </a:solidFill>
                <a:latin typeface="Bradley Hand" pitchFamily="2" charset="77"/>
                <a:sym typeface="Helvetica Neue Medium"/>
              </a:rPr>
              <a:t>4</a:t>
            </a:r>
            <a:endParaRPr lang="en-US" sz="3200" dirty="0">
              <a:solidFill>
                <a:schemeClr val="bg1"/>
              </a:solidFill>
              <a:latin typeface="Bradley Hand" pitchFamily="2" charset="77"/>
              <a:sym typeface="Helvetica Neue Medium"/>
            </a:endParaRP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US" sz="3200" dirty="0">
                <a:solidFill>
                  <a:schemeClr val="accent6">
                    <a:lumMod val="40000"/>
                    <a:lumOff val="60000"/>
                  </a:schemeClr>
                </a:solidFill>
                <a:latin typeface="Bradley Hand" pitchFamily="2" charset="77"/>
                <a:sym typeface="Helvetica Neue Medium"/>
              </a:rPr>
              <a:t>15 2 47 8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>
                <a:extLst>
                  <a:ext uri="{FF2B5EF4-FFF2-40B4-BE49-F238E27FC236}">
                    <a16:creationId xmlns:a16="http://schemas.microsoft.com/office/drawing/2014/main" id="{EDFAB385-5F0C-8A1B-E696-D5764895447A}"/>
                  </a:ext>
                </a:extLst>
              </p:cNvPr>
              <p:cNvSpPr/>
              <p:nvPr/>
            </p:nvSpPr>
            <p:spPr>
              <a:xfrm>
                <a:off x="12192000" y="2877285"/>
                <a:ext cx="9297919" cy="1747996"/>
              </a:xfrm>
              <a:prstGeom prst="roundRect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 w="63500" cap="flat">
                <a:solidFill>
                  <a:schemeClr val="tx1"/>
                </a:solidFill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50800" tIns="50800" rIns="50800" bIns="50800" numCol="1" spcCol="38100" rtlCol="0" anchor="ctr">
                <a:spAutoFit/>
              </a:bodyPr>
              <a:lstStyle/>
              <a:p>
                <a:pPr marL="0" marR="0" indent="0" defTabSz="8255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r>
                  <a:rPr lang="en-US" sz="3200" dirty="0">
                    <a:solidFill>
                      <a:schemeClr val="bg1"/>
                    </a:solidFill>
                    <a:latin typeface="Bradley Hand" pitchFamily="2" charset="77"/>
                    <a:sym typeface="Helvetica Neue Medium"/>
                  </a:rPr>
                  <a:t>Variables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14:m>
                  <m:oMath xmlns:m="http://schemas.openxmlformats.org/officeDocument/2006/math">
                    <m:r>
                      <a:rPr lang="en-US" sz="3200" i="1" smtClean="0">
                        <a:ln w="0"/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effectLst>
                          <a:outerShdw blurRad="38100" dist="19050" dir="2700000" algn="tl" rotWithShape="0">
                            <a:schemeClr val="dk1">
                              <a:alpha val="40000"/>
                            </a:schemeClr>
                          </a:outerShdw>
                        </a:effectLst>
                        <a:latin typeface="Cambria Math" panose="02040503050406030204" pitchFamily="18" charset="0"/>
                        <a:ea typeface="Cambria Math" panose="02040503050406030204" pitchFamily="18" charset="0"/>
                        <a:cs typeface="Helvetica Neue Medium"/>
                        <a:sym typeface="Helvetica Neue Medium"/>
                      </a:rPr>
                      <m:t>𝑛</m:t>
                    </m:r>
                  </m:oMath>
                </a14:m>
                <a:r>
                  <a:rPr lang="en-US" sz="3200" dirty="0">
                    <a:solidFill>
                      <a:schemeClr val="bg1"/>
                    </a:solidFill>
                    <a:latin typeface="Bradley Hand" pitchFamily="2" charset="77"/>
                    <a:sym typeface="Helvetica Neue Medium"/>
                  </a:rPr>
                  <a:t>=4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14:m>
                  <m:oMath xmlns:m="http://schemas.openxmlformats.org/officeDocument/2006/math">
                    <m:r>
                      <a:rPr lang="en-US" sz="3200" i="1">
                        <a:ln w="0"/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effectLst>
                          <a:outerShdw blurRad="38100" dist="19050" dir="2700000" algn="tl" rotWithShape="0">
                            <a:schemeClr val="dk1">
                              <a:alpha val="40000"/>
                            </a:schemeClr>
                          </a:outerShdw>
                        </a:effectLst>
                        <a:latin typeface="Cambria Math" panose="02040503050406030204" pitchFamily="18" charset="0"/>
                        <a:ea typeface="Cambria Math" panose="02040503050406030204" pitchFamily="18" charset="0"/>
                        <a:cs typeface="Helvetica Neue Medium"/>
                        <a:sym typeface="Helvetica Neue Medium"/>
                      </a:rPr>
                      <m:t>𝑖</m:t>
                    </m:r>
                  </m:oMath>
                </a14:m>
                <a:r>
                  <a:rPr lang="en-US" sz="3200" dirty="0">
                    <a:solidFill>
                      <a:schemeClr val="bg1"/>
                    </a:solidFill>
                    <a:latin typeface="Bradley Hand" pitchFamily="2" charset="77"/>
                    <a:sym typeface="Helvetica Neue Medium"/>
                  </a:rPr>
                  <a:t>=1</a:t>
                </a:r>
              </a:p>
            </p:txBody>
          </p:sp>
        </mc:Choice>
        <mc:Fallback xmlns="">
          <p:sp>
            <p:nvSpPr>
              <p:cNvPr id="4" name="Rounded Rectangle 3">
                <a:extLst>
                  <a:ext uri="{FF2B5EF4-FFF2-40B4-BE49-F238E27FC236}">
                    <a16:creationId xmlns:a16="http://schemas.microsoft.com/office/drawing/2014/main" id="{EDFAB385-5F0C-8A1B-E696-D5764895447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192000" y="2877285"/>
                <a:ext cx="9297919" cy="1747996"/>
              </a:xfrm>
              <a:prstGeom prst="roundRect">
                <a:avLst/>
              </a:prstGeom>
              <a:blipFill>
                <a:blip r:embed="rId2"/>
                <a:stretch>
                  <a:fillRect l="-813" b="-4196"/>
                </a:stretch>
              </a:blipFill>
              <a:ln w="63500" cap="flat">
                <a:solidFill>
                  <a:schemeClr val="tx1"/>
                </a:solidFill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9" name="Rounded Rectangle 8">
                <a:extLst>
                  <a:ext uri="{FF2B5EF4-FFF2-40B4-BE49-F238E27FC236}">
                    <a16:creationId xmlns:a16="http://schemas.microsoft.com/office/drawing/2014/main" id="{E1369EA3-9B6A-2ED1-B8CE-2637C4EEFA65}"/>
                  </a:ext>
                </a:extLst>
              </p:cNvPr>
              <p:cNvSpPr/>
              <p:nvPr/>
            </p:nvSpPr>
            <p:spPr>
              <a:xfrm>
                <a:off x="948986" y="209566"/>
                <a:ext cx="9543957" cy="10036254"/>
              </a:xfrm>
              <a:prstGeom prst="roundRect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 w="63500" cap="flat">
                <a:solidFill>
                  <a:schemeClr val="tx1"/>
                </a:solidFill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50800" tIns="50800" rIns="50800" bIns="50800" numCol="1" spcCol="38100" rtlCol="0" anchor="ctr">
                <a:spAutoFit/>
              </a:bodyPr>
              <a:lstStyle/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#include </a:t>
                </a:r>
                <a:r>
                  <a:rPr lang="en-IN" sz="28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&lt;</a:t>
                </a:r>
                <a:r>
                  <a:rPr lang="en-IN" sz="2800" dirty="0" err="1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stdio.h</a:t>
                </a:r>
                <a:r>
                  <a:rPr lang="en-IN" sz="28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&gt;</a:t>
                </a:r>
                <a:b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</a:br>
                <a:b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</a:br>
                <a:r>
                  <a:rPr lang="en-IN" sz="28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int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IN" sz="28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main</a:t>
                </a:r>
                <a:r>
                  <a:rPr lang="en-IN" sz="2800" dirty="0">
                    <a:solidFill>
                      <a:schemeClr val="accent4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()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{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US" sz="28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 int</a:t>
                </a:r>
                <a:r>
                  <a:rPr lang="en-US" sz="28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800" i="1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,</a:t>
                </a:r>
                <a14:m>
                  <m:oMath xmlns:m="http://schemas.openxmlformats.org/officeDocument/2006/math">
                    <m:r>
                      <a:rPr lang="en-US" sz="2800" i="1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,</a:t>
                </a:r>
                <a14:m>
                  <m:oMath xmlns:m="http://schemas.openxmlformats.org/officeDocument/2006/math">
                    <m:r>
                      <a:rPr lang="en-IN" sz="28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</a:t>
                </a:r>
                <a:r>
                  <a:rPr lang="en-IN" sz="2800" dirty="0" err="1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scanf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(“%d”, &amp;</a:t>
                </a:r>
                <a14:m>
                  <m:oMath xmlns:m="http://schemas.openxmlformats.org/officeDocument/2006/math">
                    <m:r>
                      <a:rPr lang="en-IN" sz="28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);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int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IN" sz="2800" dirty="0" err="1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num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</a:t>
                </a:r>
                <a14:m>
                  <m:oMath xmlns:m="http://schemas.openxmlformats.org/officeDocument/2006/math">
                    <m:r>
                      <a:rPr lang="en-IN" sz="28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];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</a:t>
                </a:r>
                <a:r>
                  <a:rPr lang="en-IN" sz="28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for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</a:t>
                </a:r>
                <a14:m>
                  <m:oMath xmlns:m="http://schemas.openxmlformats.org/officeDocument/2006/math">
                    <m:r>
                      <a:rPr lang="en-US" sz="2800" i="1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=0 ; </a:t>
                </a:r>
                <a14:m>
                  <m:oMath xmlns:m="http://schemas.openxmlformats.org/officeDocument/2006/math">
                    <m:r>
                      <a:rPr lang="en-US" sz="2800" i="1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&lt; </a:t>
                </a:r>
                <a14:m>
                  <m:oMath xmlns:m="http://schemas.openxmlformats.org/officeDocument/2006/math">
                    <m:r>
                      <a:rPr lang="en-IN" sz="28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; </a:t>
                </a:r>
                <a14:m>
                  <m:oMath xmlns:m="http://schemas.openxmlformats.org/officeDocument/2006/math">
                    <m:r>
                      <a:rPr lang="en-US" sz="2800" i="1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++)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{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</a:t>
                </a:r>
                <a:r>
                  <a:rPr lang="en-IN" sz="2800" dirty="0" err="1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scanf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(“%d”, &amp;</a:t>
                </a:r>
                <a:r>
                  <a:rPr lang="en-IN" sz="2800" dirty="0" err="1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num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</a:t>
                </a:r>
                <a14:m>
                  <m:oMath xmlns:m="http://schemas.openxmlformats.org/officeDocument/2006/math">
                    <m:r>
                      <a:rPr lang="en-US" sz="2800" i="1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]);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for( </a:t>
                </a:r>
                <a14:m>
                  <m:oMath xmlns:m="http://schemas.openxmlformats.org/officeDocument/2006/math">
                    <m:r>
                      <a:rPr lang="en-IN" sz="2800" i="1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= </a:t>
                </a:r>
                <a14:m>
                  <m:oMath xmlns:m="http://schemas.openxmlformats.org/officeDocument/2006/math">
                    <m:r>
                      <a:rPr lang="en-US" sz="2800" i="1">
                        <a:ln w="0"/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effectLst>
                          <a:outerShdw blurRad="38100" dist="19050" dir="2700000" algn="tl" rotWithShape="0">
                            <a:schemeClr val="dk1">
                              <a:alpha val="40000"/>
                            </a:schemeClr>
                          </a:outerShdw>
                        </a:effectLst>
                        <a:latin typeface="Cambria Math" panose="02040503050406030204" pitchFamily="18" charset="0"/>
                        <a:ea typeface="Cambria Math" panose="02040503050406030204" pitchFamily="18" charset="0"/>
                        <a:cs typeface="Helvetica Neue Medium"/>
                        <a:sym typeface="Helvetica Neue Medium"/>
                      </a:rPr>
                      <m:t>𝑖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; </a:t>
                </a:r>
                <a14:m>
                  <m:oMath xmlns:m="http://schemas.openxmlformats.org/officeDocument/2006/math">
                    <m:r>
                      <a:rPr lang="en-IN" sz="28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&gt; 0; </a:t>
                </a:r>
                <a14:m>
                  <m:oMath xmlns:m="http://schemas.openxmlformats.org/officeDocument/2006/math">
                    <m:r>
                      <a:rPr lang="en-IN" sz="28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𝑗</m:t>
                    </m:r>
                    <m:r>
                      <a:rPr lang="en-IN" sz="28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--)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{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	</a:t>
                </a:r>
                <a:r>
                  <a:rPr lang="en-IN" sz="28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if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( </a:t>
                </a:r>
                <a:r>
                  <a:rPr lang="en-IN" sz="2800" dirty="0" err="1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num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</a:t>
                </a:r>
                <a14:m>
                  <m:oMath xmlns:m="http://schemas.openxmlformats.org/officeDocument/2006/math">
                    <m:r>
                      <a:rPr lang="en-IN" sz="2800" i="1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] &lt; </a:t>
                </a:r>
                <a:r>
                  <a:rPr lang="en-IN" sz="2800" dirty="0" err="1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num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</a:t>
                </a:r>
                <a14:m>
                  <m:oMath xmlns:m="http://schemas.openxmlformats.org/officeDocument/2006/math">
                    <m:r>
                      <a:rPr lang="en-IN" sz="28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𝑗</m:t>
                    </m:r>
                    <m:r>
                      <a:rPr lang="en-IN" sz="28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-1] )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	{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		</a:t>
                </a:r>
                <a:r>
                  <a:rPr lang="en-IN" sz="28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int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IN" sz="28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temp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= </a:t>
                </a:r>
                <a:r>
                  <a:rPr lang="en-IN" sz="2800" dirty="0" err="1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num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</a:t>
                </a:r>
                <a14:m>
                  <m:oMath xmlns:m="http://schemas.openxmlformats.org/officeDocument/2006/math">
                    <m:r>
                      <a:rPr lang="en-IN" sz="2800" i="1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];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		</a:t>
                </a:r>
                <a:r>
                  <a:rPr lang="en-IN" sz="2800" dirty="0" err="1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num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</a:t>
                </a:r>
                <a14:m>
                  <m:oMath xmlns:m="http://schemas.openxmlformats.org/officeDocument/2006/math">
                    <m:r>
                      <a:rPr lang="en-IN" sz="28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] = </a:t>
                </a:r>
                <a:r>
                  <a:rPr lang="en-IN" sz="2800" dirty="0" err="1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num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</a:t>
                </a:r>
                <a14:m>
                  <m:oMath xmlns:m="http://schemas.openxmlformats.org/officeDocument/2006/math">
                    <m:r>
                      <a:rPr lang="en-IN" sz="2800" i="1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𝑗</m:t>
                    </m:r>
                    <m:r>
                      <a:rPr lang="en-IN" sz="2800" i="1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-1];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		</a:t>
                </a:r>
                <a:r>
                  <a:rPr lang="en-IN" sz="2800" dirty="0" err="1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num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</a:t>
                </a:r>
                <a14:m>
                  <m:oMath xmlns:m="http://schemas.openxmlformats.org/officeDocument/2006/math">
                    <m:r>
                      <a:rPr lang="en-IN" sz="2800" i="1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𝑗</m:t>
                    </m:r>
                    <m:r>
                      <a:rPr lang="en-IN" sz="2800" i="1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-1] = </a:t>
                </a:r>
                <a:r>
                  <a:rPr lang="en-IN" sz="28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temp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;</a:t>
                </a:r>
                <a:endParaRPr lang="en-IN" sz="2800" dirty="0">
                  <a:solidFill>
                    <a:schemeClr val="accent1">
                      <a:lumMod val="40000"/>
                      <a:lumOff val="60000"/>
                    </a:schemeClr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	}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} 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}</a:t>
                </a:r>
                <a:b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</a:b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</a:t>
                </a:r>
                <a:r>
                  <a:rPr lang="en-IN" sz="28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return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0;</a:t>
                </a:r>
                <a:b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</a:b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}</a:t>
                </a:r>
                <a:endParaRPr lang="en-US" sz="2800" dirty="0">
                  <a:solidFill>
                    <a:schemeClr val="bg1"/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>
          <p:sp>
            <p:nvSpPr>
              <p:cNvPr id="9" name="Rounded Rectangle 8">
                <a:extLst>
                  <a:ext uri="{FF2B5EF4-FFF2-40B4-BE49-F238E27FC236}">
                    <a16:creationId xmlns:a16="http://schemas.microsoft.com/office/drawing/2014/main" id="{E1369EA3-9B6A-2ED1-B8CE-2637C4EEFA6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48986" y="209566"/>
                <a:ext cx="9543957" cy="10036254"/>
              </a:xfrm>
              <a:prstGeom prst="roundRect">
                <a:avLst/>
              </a:prstGeom>
              <a:blipFill>
                <a:blip r:embed="rId3"/>
                <a:stretch>
                  <a:fillRect/>
                </a:stretch>
              </a:blipFill>
              <a:ln w="63500" cap="flat">
                <a:solidFill>
                  <a:schemeClr val="tx1"/>
                </a:solidFill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23A2C871-2FCA-57A1-88F3-A85B71B8ED56}"/>
              </a:ext>
            </a:extLst>
          </p:cNvPr>
          <p:cNvSpPr/>
          <p:nvPr/>
        </p:nvSpPr>
        <p:spPr>
          <a:xfrm>
            <a:off x="964874" y="4532197"/>
            <a:ext cx="9512180" cy="614473"/>
          </a:xfrm>
          <a:prstGeom prst="roundRect">
            <a:avLst/>
          </a:prstGeom>
          <a:solidFill>
            <a:schemeClr val="accent4">
              <a:lumMod val="60000"/>
              <a:lumOff val="40000"/>
              <a:alpha val="41668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6FD73B03-C685-E864-7D40-56EFB5E19F12}"/>
              </a:ext>
            </a:extLst>
          </p:cNvPr>
          <p:cNvSpPr/>
          <p:nvPr/>
        </p:nvSpPr>
        <p:spPr>
          <a:xfrm>
            <a:off x="13314436" y="8767699"/>
            <a:ext cx="1080000" cy="1080000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54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15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71123C43-6E60-468C-C4BD-CAE0B658B577}"/>
              </a:ext>
            </a:extLst>
          </p:cNvPr>
          <p:cNvSpPr/>
          <p:nvPr/>
        </p:nvSpPr>
        <p:spPr>
          <a:xfrm>
            <a:off x="15180988" y="8767699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54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2</a:t>
            </a:r>
          </a:p>
        </p:txBody>
      </p:sp>
      <p:sp>
        <p:nvSpPr>
          <p:cNvPr id="7" name="Right Arrow 6">
            <a:extLst>
              <a:ext uri="{FF2B5EF4-FFF2-40B4-BE49-F238E27FC236}">
                <a16:creationId xmlns:a16="http://schemas.microsoft.com/office/drawing/2014/main" id="{FB9B8F1B-B243-4A38-015E-9B42F9A68B24}"/>
              </a:ext>
            </a:extLst>
          </p:cNvPr>
          <p:cNvSpPr/>
          <p:nvPr/>
        </p:nvSpPr>
        <p:spPr>
          <a:xfrm rot="16200000">
            <a:off x="14977688" y="10581221"/>
            <a:ext cx="1453118" cy="782316"/>
          </a:xfrm>
          <a:prstGeom prst="rightArrow">
            <a:avLst/>
          </a:prstGeom>
          <a:solidFill>
            <a:schemeClr val="accent2">
              <a:lumMod val="60000"/>
              <a:lumOff val="40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!!box">
                <a:extLst>
                  <a:ext uri="{FF2B5EF4-FFF2-40B4-BE49-F238E27FC236}">
                    <a16:creationId xmlns:a16="http://schemas.microsoft.com/office/drawing/2014/main" id="{BF2B8A06-1E8D-A51A-8F79-814D9E17C9AD}"/>
                  </a:ext>
                </a:extLst>
              </p:cNvPr>
              <p:cNvSpPr/>
              <p:nvPr/>
            </p:nvSpPr>
            <p:spPr>
              <a:xfrm>
                <a:off x="15089347" y="12042387"/>
                <a:ext cx="1243401" cy="658336"/>
              </a:xfrm>
              <a:prstGeom prst="roundRect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 w="63500" cap="flat">
                <a:solidFill>
                  <a:schemeClr val="tx1"/>
                </a:solidFill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50800" tIns="50800" rIns="50800" bIns="50800" numCol="1" spcCol="38100" rtlCol="0" anchor="ctr">
                <a:spAutoFit/>
              </a:bodyPr>
              <a:lstStyle/>
              <a:p>
                <a:pPr marL="0" marR="0" indent="0" defTabSz="8255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14:m>
                  <m:oMath xmlns:m="http://schemas.openxmlformats.org/officeDocument/2006/math">
                    <m:r>
                      <a:rPr lang="en-US" sz="3200" i="1" dirty="0">
                        <a:ln w="0"/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effectLst>
                          <a:outerShdw blurRad="38100" dist="19050" dir="2700000" algn="tl" rotWithShape="0">
                            <a:schemeClr val="dk1">
                              <a:alpha val="40000"/>
                            </a:schemeClr>
                          </a:outerShdw>
                        </a:effectLst>
                        <a:latin typeface="Cambria Math" panose="02040503050406030204" pitchFamily="18" charset="0"/>
                        <a:ea typeface="Cambria Math" panose="02040503050406030204" pitchFamily="18" charset="0"/>
                        <a:cs typeface="Helvetica Neue Medium"/>
                        <a:sym typeface="Helvetica Neue Medium"/>
                      </a:rPr>
                      <m:t>𝑗</m:t>
                    </m:r>
                  </m:oMath>
                </a14:m>
                <a:r>
                  <a:rPr lang="en-US" sz="3200" dirty="0">
                    <a:solidFill>
                      <a:schemeClr val="bg1"/>
                    </a:solidFill>
                    <a:latin typeface="Bradley Hand" pitchFamily="2" charset="77"/>
                    <a:sym typeface="Helvetica Neue Medium"/>
                  </a:rPr>
                  <a:t> = 1</a:t>
                </a:r>
              </a:p>
            </p:txBody>
          </p:sp>
        </mc:Choice>
        <mc:Fallback xmlns="">
          <p:sp>
            <p:nvSpPr>
              <p:cNvPr id="8" name="!!box">
                <a:extLst>
                  <a:ext uri="{FF2B5EF4-FFF2-40B4-BE49-F238E27FC236}">
                    <a16:creationId xmlns:a16="http://schemas.microsoft.com/office/drawing/2014/main" id="{BF2B8A06-1E8D-A51A-8F79-814D9E17C9A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089347" y="12042387"/>
                <a:ext cx="1243401" cy="658336"/>
              </a:xfrm>
              <a:prstGeom prst="roundRect">
                <a:avLst/>
              </a:prstGeom>
              <a:blipFill>
                <a:blip r:embed="rId4"/>
                <a:stretch>
                  <a:fillRect l="-5769" b="-18966"/>
                </a:stretch>
              </a:blipFill>
              <a:ln w="63500" cap="flat">
                <a:solidFill>
                  <a:schemeClr val="tx1"/>
                </a:solidFill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126746088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Word"/>
      </p:transition>
    </mc:Choice>
    <mc:Fallback>
      <p:transition spd="slow">
        <p:fade/>
      </p:transition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CBBFEF-218C-AC23-F872-7E8E97548F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8C1DCE1D-3B5F-FAAF-348D-CF5A96E4E112}"/>
              </a:ext>
            </a:extLst>
          </p:cNvPr>
          <p:cNvSpPr/>
          <p:nvPr/>
        </p:nvSpPr>
        <p:spPr>
          <a:xfrm>
            <a:off x="12912132" y="8475386"/>
            <a:ext cx="3849187" cy="1770434"/>
          </a:xfrm>
          <a:prstGeom prst="roundRect">
            <a:avLst/>
          </a:prstGeom>
          <a:solidFill>
            <a:schemeClr val="accent2">
              <a:lumMod val="50000"/>
              <a:alpha val="29955"/>
            </a:schemeClr>
          </a:solidFill>
          <a:ln w="63500" cap="flat">
            <a:solidFill>
              <a:schemeClr val="accent2">
                <a:lumMod val="5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F09AC67A-20DC-060C-5E03-B1CAFB84AFFE}"/>
              </a:ext>
            </a:extLst>
          </p:cNvPr>
          <p:cNvSpPr/>
          <p:nvPr/>
        </p:nvSpPr>
        <p:spPr>
          <a:xfrm>
            <a:off x="12192001" y="477475"/>
            <a:ext cx="9239250" cy="1747996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3200" dirty="0">
                <a:solidFill>
                  <a:schemeClr val="bg1"/>
                </a:solidFill>
                <a:latin typeface="Bradley Hand" pitchFamily="2" charset="77"/>
                <a:sym typeface="Helvetica Neue Medium"/>
              </a:rPr>
              <a:t>Input/Output</a:t>
            </a:r>
          </a:p>
          <a:p>
            <a:pPr marL="0" marR="0" indent="0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3200" dirty="0">
                <a:solidFill>
                  <a:schemeClr val="accent6">
                    <a:lumMod val="40000"/>
                    <a:lumOff val="60000"/>
                  </a:schemeClr>
                </a:solidFill>
                <a:latin typeface="Bradley Hand" pitchFamily="2" charset="77"/>
                <a:sym typeface="Helvetica Neue Medium"/>
              </a:rPr>
              <a:t>4</a:t>
            </a:r>
            <a:endParaRPr lang="en-US" sz="3200" dirty="0">
              <a:solidFill>
                <a:schemeClr val="bg1"/>
              </a:solidFill>
              <a:latin typeface="Bradley Hand" pitchFamily="2" charset="77"/>
              <a:sym typeface="Helvetica Neue Medium"/>
            </a:endParaRP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US" sz="3200" dirty="0">
                <a:solidFill>
                  <a:schemeClr val="accent6">
                    <a:lumMod val="40000"/>
                    <a:lumOff val="60000"/>
                  </a:schemeClr>
                </a:solidFill>
                <a:latin typeface="Bradley Hand" pitchFamily="2" charset="77"/>
                <a:sym typeface="Helvetica Neue Medium"/>
              </a:rPr>
              <a:t>15 2 47 8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>
                <a:extLst>
                  <a:ext uri="{FF2B5EF4-FFF2-40B4-BE49-F238E27FC236}">
                    <a16:creationId xmlns:a16="http://schemas.microsoft.com/office/drawing/2014/main" id="{98811729-84C7-B7C9-3C41-440AAC164E19}"/>
                  </a:ext>
                </a:extLst>
              </p:cNvPr>
              <p:cNvSpPr/>
              <p:nvPr/>
            </p:nvSpPr>
            <p:spPr>
              <a:xfrm>
                <a:off x="12192000" y="2877285"/>
                <a:ext cx="9297919" cy="1747996"/>
              </a:xfrm>
              <a:prstGeom prst="roundRect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 w="63500" cap="flat">
                <a:solidFill>
                  <a:schemeClr val="tx1"/>
                </a:solidFill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50800" tIns="50800" rIns="50800" bIns="50800" numCol="1" spcCol="38100" rtlCol="0" anchor="ctr">
                <a:spAutoFit/>
              </a:bodyPr>
              <a:lstStyle/>
              <a:p>
                <a:pPr marL="0" marR="0" indent="0" defTabSz="8255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r>
                  <a:rPr lang="en-US" sz="3200" dirty="0">
                    <a:solidFill>
                      <a:schemeClr val="bg1"/>
                    </a:solidFill>
                    <a:latin typeface="Bradley Hand" pitchFamily="2" charset="77"/>
                    <a:sym typeface="Helvetica Neue Medium"/>
                  </a:rPr>
                  <a:t>Variables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14:m>
                  <m:oMath xmlns:m="http://schemas.openxmlformats.org/officeDocument/2006/math">
                    <m:r>
                      <a:rPr lang="en-US" sz="3200" i="1" smtClean="0">
                        <a:ln w="0"/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effectLst>
                          <a:outerShdw blurRad="38100" dist="19050" dir="2700000" algn="tl" rotWithShape="0">
                            <a:schemeClr val="dk1">
                              <a:alpha val="40000"/>
                            </a:schemeClr>
                          </a:outerShdw>
                        </a:effectLst>
                        <a:latin typeface="Cambria Math" panose="02040503050406030204" pitchFamily="18" charset="0"/>
                        <a:ea typeface="Cambria Math" panose="02040503050406030204" pitchFamily="18" charset="0"/>
                        <a:cs typeface="Helvetica Neue Medium"/>
                        <a:sym typeface="Helvetica Neue Medium"/>
                      </a:rPr>
                      <m:t>𝑛</m:t>
                    </m:r>
                  </m:oMath>
                </a14:m>
                <a:r>
                  <a:rPr lang="en-US" sz="3200" dirty="0">
                    <a:solidFill>
                      <a:schemeClr val="bg1"/>
                    </a:solidFill>
                    <a:latin typeface="Bradley Hand" pitchFamily="2" charset="77"/>
                    <a:sym typeface="Helvetica Neue Medium"/>
                  </a:rPr>
                  <a:t>=4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14:m>
                  <m:oMath xmlns:m="http://schemas.openxmlformats.org/officeDocument/2006/math">
                    <m:r>
                      <a:rPr lang="en-US" sz="3200" i="1">
                        <a:ln w="0"/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effectLst>
                          <a:outerShdw blurRad="38100" dist="19050" dir="2700000" algn="tl" rotWithShape="0">
                            <a:schemeClr val="dk1">
                              <a:alpha val="40000"/>
                            </a:schemeClr>
                          </a:outerShdw>
                        </a:effectLst>
                        <a:latin typeface="Cambria Math" panose="02040503050406030204" pitchFamily="18" charset="0"/>
                        <a:ea typeface="Cambria Math" panose="02040503050406030204" pitchFamily="18" charset="0"/>
                        <a:cs typeface="Helvetica Neue Medium"/>
                        <a:sym typeface="Helvetica Neue Medium"/>
                      </a:rPr>
                      <m:t>𝑖</m:t>
                    </m:r>
                  </m:oMath>
                </a14:m>
                <a:r>
                  <a:rPr lang="en-US" sz="3200" dirty="0">
                    <a:solidFill>
                      <a:schemeClr val="bg1"/>
                    </a:solidFill>
                    <a:latin typeface="Bradley Hand" pitchFamily="2" charset="77"/>
                    <a:sym typeface="Helvetica Neue Medium"/>
                  </a:rPr>
                  <a:t>=1</a:t>
                </a:r>
              </a:p>
            </p:txBody>
          </p:sp>
        </mc:Choice>
        <mc:Fallback xmlns="">
          <p:sp>
            <p:nvSpPr>
              <p:cNvPr id="4" name="Rounded Rectangle 3">
                <a:extLst>
                  <a:ext uri="{FF2B5EF4-FFF2-40B4-BE49-F238E27FC236}">
                    <a16:creationId xmlns:a16="http://schemas.microsoft.com/office/drawing/2014/main" id="{98811729-84C7-B7C9-3C41-440AAC164E1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192000" y="2877285"/>
                <a:ext cx="9297919" cy="1747996"/>
              </a:xfrm>
              <a:prstGeom prst="roundRect">
                <a:avLst/>
              </a:prstGeom>
              <a:blipFill>
                <a:blip r:embed="rId2"/>
                <a:stretch>
                  <a:fillRect l="-813" b="-4196"/>
                </a:stretch>
              </a:blipFill>
              <a:ln w="63500" cap="flat">
                <a:solidFill>
                  <a:schemeClr val="tx1"/>
                </a:solidFill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9" name="Rounded Rectangle 8">
                <a:extLst>
                  <a:ext uri="{FF2B5EF4-FFF2-40B4-BE49-F238E27FC236}">
                    <a16:creationId xmlns:a16="http://schemas.microsoft.com/office/drawing/2014/main" id="{E723B25F-C3AA-D0E0-639F-87D97EAB5A6E}"/>
                  </a:ext>
                </a:extLst>
              </p:cNvPr>
              <p:cNvSpPr/>
              <p:nvPr/>
            </p:nvSpPr>
            <p:spPr>
              <a:xfrm>
                <a:off x="948986" y="209566"/>
                <a:ext cx="9543957" cy="10036254"/>
              </a:xfrm>
              <a:prstGeom prst="roundRect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 w="63500" cap="flat">
                <a:solidFill>
                  <a:schemeClr val="tx1"/>
                </a:solidFill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50800" tIns="50800" rIns="50800" bIns="50800" numCol="1" spcCol="38100" rtlCol="0" anchor="ctr">
                <a:spAutoFit/>
              </a:bodyPr>
              <a:lstStyle/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#include </a:t>
                </a:r>
                <a:r>
                  <a:rPr lang="en-IN" sz="28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&lt;</a:t>
                </a:r>
                <a:r>
                  <a:rPr lang="en-IN" sz="2800" dirty="0" err="1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stdio.h</a:t>
                </a:r>
                <a:r>
                  <a:rPr lang="en-IN" sz="28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&gt;</a:t>
                </a:r>
                <a:b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</a:br>
                <a:b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</a:br>
                <a:r>
                  <a:rPr lang="en-IN" sz="28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int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IN" sz="28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main</a:t>
                </a:r>
                <a:r>
                  <a:rPr lang="en-IN" sz="2800" dirty="0">
                    <a:solidFill>
                      <a:schemeClr val="accent4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()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{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US" sz="28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 int</a:t>
                </a:r>
                <a:r>
                  <a:rPr lang="en-US" sz="28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800" i="1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,</a:t>
                </a:r>
                <a14:m>
                  <m:oMath xmlns:m="http://schemas.openxmlformats.org/officeDocument/2006/math">
                    <m:r>
                      <a:rPr lang="en-US" sz="2800" i="1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,</a:t>
                </a:r>
                <a14:m>
                  <m:oMath xmlns:m="http://schemas.openxmlformats.org/officeDocument/2006/math">
                    <m:r>
                      <a:rPr lang="en-IN" sz="28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</a:t>
                </a:r>
                <a:r>
                  <a:rPr lang="en-IN" sz="2800" dirty="0" err="1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scanf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(“%d”, &amp;</a:t>
                </a:r>
                <a14:m>
                  <m:oMath xmlns:m="http://schemas.openxmlformats.org/officeDocument/2006/math">
                    <m:r>
                      <a:rPr lang="en-IN" sz="28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);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int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IN" sz="2800" dirty="0" err="1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num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</a:t>
                </a:r>
                <a14:m>
                  <m:oMath xmlns:m="http://schemas.openxmlformats.org/officeDocument/2006/math">
                    <m:r>
                      <a:rPr lang="en-IN" sz="28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];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</a:t>
                </a:r>
                <a:r>
                  <a:rPr lang="en-IN" sz="28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for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</a:t>
                </a:r>
                <a14:m>
                  <m:oMath xmlns:m="http://schemas.openxmlformats.org/officeDocument/2006/math">
                    <m:r>
                      <a:rPr lang="en-US" sz="2800" i="1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=0 ; </a:t>
                </a:r>
                <a14:m>
                  <m:oMath xmlns:m="http://schemas.openxmlformats.org/officeDocument/2006/math">
                    <m:r>
                      <a:rPr lang="en-US" sz="2800" i="1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&lt; </a:t>
                </a:r>
                <a14:m>
                  <m:oMath xmlns:m="http://schemas.openxmlformats.org/officeDocument/2006/math">
                    <m:r>
                      <a:rPr lang="en-IN" sz="28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; </a:t>
                </a:r>
                <a14:m>
                  <m:oMath xmlns:m="http://schemas.openxmlformats.org/officeDocument/2006/math">
                    <m:r>
                      <a:rPr lang="en-US" sz="2800" i="1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++)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{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</a:t>
                </a:r>
                <a:r>
                  <a:rPr lang="en-IN" sz="2800" dirty="0" err="1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scanf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(“%d”, &amp;</a:t>
                </a:r>
                <a:r>
                  <a:rPr lang="en-IN" sz="2800" dirty="0" err="1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num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</a:t>
                </a:r>
                <a14:m>
                  <m:oMath xmlns:m="http://schemas.openxmlformats.org/officeDocument/2006/math">
                    <m:r>
                      <a:rPr lang="en-US" sz="2800" i="1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]);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for( </a:t>
                </a:r>
                <a14:m>
                  <m:oMath xmlns:m="http://schemas.openxmlformats.org/officeDocument/2006/math">
                    <m:r>
                      <a:rPr lang="en-IN" sz="2800" i="1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= </a:t>
                </a:r>
                <a14:m>
                  <m:oMath xmlns:m="http://schemas.openxmlformats.org/officeDocument/2006/math">
                    <m:r>
                      <a:rPr lang="en-US" sz="2800" i="1">
                        <a:ln w="0"/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effectLst>
                          <a:outerShdw blurRad="38100" dist="19050" dir="2700000" algn="tl" rotWithShape="0">
                            <a:schemeClr val="dk1">
                              <a:alpha val="40000"/>
                            </a:schemeClr>
                          </a:outerShdw>
                        </a:effectLst>
                        <a:latin typeface="Cambria Math" panose="02040503050406030204" pitchFamily="18" charset="0"/>
                        <a:ea typeface="Cambria Math" panose="02040503050406030204" pitchFamily="18" charset="0"/>
                        <a:cs typeface="Helvetica Neue Medium"/>
                        <a:sym typeface="Helvetica Neue Medium"/>
                      </a:rPr>
                      <m:t>𝑖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; </a:t>
                </a:r>
                <a14:m>
                  <m:oMath xmlns:m="http://schemas.openxmlformats.org/officeDocument/2006/math">
                    <m:r>
                      <a:rPr lang="en-IN" sz="28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&gt; 0; </a:t>
                </a:r>
                <a14:m>
                  <m:oMath xmlns:m="http://schemas.openxmlformats.org/officeDocument/2006/math">
                    <m:r>
                      <a:rPr lang="en-IN" sz="28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𝑗</m:t>
                    </m:r>
                    <m:r>
                      <a:rPr lang="en-IN" sz="28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--)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{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	</a:t>
                </a:r>
                <a:r>
                  <a:rPr lang="en-IN" sz="28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if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( </a:t>
                </a:r>
                <a:r>
                  <a:rPr lang="en-IN" sz="2800" dirty="0" err="1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num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</a:t>
                </a:r>
                <a14:m>
                  <m:oMath xmlns:m="http://schemas.openxmlformats.org/officeDocument/2006/math">
                    <m:r>
                      <a:rPr lang="en-IN" sz="2800" i="1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] &lt; </a:t>
                </a:r>
                <a:r>
                  <a:rPr lang="en-IN" sz="2800" dirty="0" err="1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num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</a:t>
                </a:r>
                <a14:m>
                  <m:oMath xmlns:m="http://schemas.openxmlformats.org/officeDocument/2006/math">
                    <m:r>
                      <a:rPr lang="en-IN" sz="28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𝑗</m:t>
                    </m:r>
                    <m:r>
                      <a:rPr lang="en-IN" sz="28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-1] )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	{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		</a:t>
                </a:r>
                <a:r>
                  <a:rPr lang="en-IN" sz="28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int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IN" sz="28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temp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= </a:t>
                </a:r>
                <a:r>
                  <a:rPr lang="en-IN" sz="2800" dirty="0" err="1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num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</a:t>
                </a:r>
                <a14:m>
                  <m:oMath xmlns:m="http://schemas.openxmlformats.org/officeDocument/2006/math">
                    <m:r>
                      <a:rPr lang="en-IN" sz="2800" i="1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];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		</a:t>
                </a:r>
                <a:r>
                  <a:rPr lang="en-IN" sz="2800" dirty="0" err="1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num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</a:t>
                </a:r>
                <a14:m>
                  <m:oMath xmlns:m="http://schemas.openxmlformats.org/officeDocument/2006/math">
                    <m:r>
                      <a:rPr lang="en-IN" sz="28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] = </a:t>
                </a:r>
                <a:r>
                  <a:rPr lang="en-IN" sz="2800" dirty="0" err="1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num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</a:t>
                </a:r>
                <a14:m>
                  <m:oMath xmlns:m="http://schemas.openxmlformats.org/officeDocument/2006/math">
                    <m:r>
                      <a:rPr lang="en-IN" sz="2800" i="1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𝑗</m:t>
                    </m:r>
                    <m:r>
                      <a:rPr lang="en-IN" sz="2800" i="1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-1];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		</a:t>
                </a:r>
                <a:r>
                  <a:rPr lang="en-IN" sz="2800" dirty="0" err="1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num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</a:t>
                </a:r>
                <a14:m>
                  <m:oMath xmlns:m="http://schemas.openxmlformats.org/officeDocument/2006/math">
                    <m:r>
                      <a:rPr lang="en-IN" sz="2800" i="1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𝑗</m:t>
                    </m:r>
                    <m:r>
                      <a:rPr lang="en-IN" sz="2800" i="1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-1] = </a:t>
                </a:r>
                <a:r>
                  <a:rPr lang="en-IN" sz="28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temp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;</a:t>
                </a:r>
                <a:endParaRPr lang="en-IN" sz="2800" dirty="0">
                  <a:solidFill>
                    <a:schemeClr val="accent1">
                      <a:lumMod val="40000"/>
                      <a:lumOff val="60000"/>
                    </a:schemeClr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	}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} 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}</a:t>
                </a:r>
                <a:b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</a:b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</a:t>
                </a:r>
                <a:r>
                  <a:rPr lang="en-IN" sz="28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return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0;</a:t>
                </a:r>
                <a:b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</a:b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}</a:t>
                </a:r>
                <a:endParaRPr lang="en-US" sz="2800" dirty="0">
                  <a:solidFill>
                    <a:schemeClr val="bg1"/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>
          <p:sp>
            <p:nvSpPr>
              <p:cNvPr id="9" name="Rounded Rectangle 8">
                <a:extLst>
                  <a:ext uri="{FF2B5EF4-FFF2-40B4-BE49-F238E27FC236}">
                    <a16:creationId xmlns:a16="http://schemas.microsoft.com/office/drawing/2014/main" id="{E723B25F-C3AA-D0E0-639F-87D97EAB5A6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48986" y="209566"/>
                <a:ext cx="9543957" cy="10036254"/>
              </a:xfrm>
              <a:prstGeom prst="roundRect">
                <a:avLst/>
              </a:prstGeom>
              <a:blipFill>
                <a:blip r:embed="rId3"/>
                <a:stretch>
                  <a:fillRect/>
                </a:stretch>
              </a:blipFill>
              <a:ln w="63500" cap="flat">
                <a:solidFill>
                  <a:schemeClr val="tx1"/>
                </a:solidFill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50255C53-9932-BC86-474F-A67F10F1C26D}"/>
              </a:ext>
            </a:extLst>
          </p:cNvPr>
          <p:cNvSpPr/>
          <p:nvPr/>
        </p:nvSpPr>
        <p:spPr>
          <a:xfrm>
            <a:off x="948986" y="5370397"/>
            <a:ext cx="9512180" cy="614473"/>
          </a:xfrm>
          <a:prstGeom prst="roundRect">
            <a:avLst/>
          </a:prstGeom>
          <a:solidFill>
            <a:schemeClr val="accent4">
              <a:lumMod val="60000"/>
              <a:lumOff val="40000"/>
              <a:alpha val="41668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CF99C157-3828-6118-6D26-BC63CD76AF00}"/>
              </a:ext>
            </a:extLst>
          </p:cNvPr>
          <p:cNvSpPr/>
          <p:nvPr/>
        </p:nvSpPr>
        <p:spPr>
          <a:xfrm>
            <a:off x="13314436" y="8767699"/>
            <a:ext cx="1080000" cy="1080000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54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15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E36FD69B-6BD2-731D-404F-A28D5268AFD8}"/>
              </a:ext>
            </a:extLst>
          </p:cNvPr>
          <p:cNvSpPr/>
          <p:nvPr/>
        </p:nvSpPr>
        <p:spPr>
          <a:xfrm>
            <a:off x="15180988" y="8767699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54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2</a:t>
            </a:r>
          </a:p>
        </p:txBody>
      </p:sp>
      <p:sp>
        <p:nvSpPr>
          <p:cNvPr id="7" name="Right Arrow 6">
            <a:extLst>
              <a:ext uri="{FF2B5EF4-FFF2-40B4-BE49-F238E27FC236}">
                <a16:creationId xmlns:a16="http://schemas.microsoft.com/office/drawing/2014/main" id="{D33E69B9-17AD-141A-A93C-B7768F13B0B9}"/>
              </a:ext>
            </a:extLst>
          </p:cNvPr>
          <p:cNvSpPr/>
          <p:nvPr/>
        </p:nvSpPr>
        <p:spPr>
          <a:xfrm rot="16200000">
            <a:off x="14977688" y="10581221"/>
            <a:ext cx="1453118" cy="782316"/>
          </a:xfrm>
          <a:prstGeom prst="rightArrow">
            <a:avLst/>
          </a:prstGeom>
          <a:solidFill>
            <a:schemeClr val="accent2">
              <a:lumMod val="60000"/>
              <a:lumOff val="40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!!box">
                <a:extLst>
                  <a:ext uri="{FF2B5EF4-FFF2-40B4-BE49-F238E27FC236}">
                    <a16:creationId xmlns:a16="http://schemas.microsoft.com/office/drawing/2014/main" id="{80E0AE1F-E614-4837-5E58-D260763F977D}"/>
                  </a:ext>
                </a:extLst>
              </p:cNvPr>
              <p:cNvSpPr/>
              <p:nvPr/>
            </p:nvSpPr>
            <p:spPr>
              <a:xfrm>
                <a:off x="15089347" y="12042387"/>
                <a:ext cx="1243401" cy="658336"/>
              </a:xfrm>
              <a:prstGeom prst="roundRect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 w="63500" cap="flat">
                <a:solidFill>
                  <a:schemeClr val="tx1"/>
                </a:solidFill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50800" tIns="50800" rIns="50800" bIns="50800" numCol="1" spcCol="38100" rtlCol="0" anchor="ctr">
                <a:spAutoFit/>
              </a:bodyPr>
              <a:lstStyle/>
              <a:p>
                <a:pPr marL="0" marR="0" indent="0" defTabSz="8255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14:m>
                  <m:oMath xmlns:m="http://schemas.openxmlformats.org/officeDocument/2006/math">
                    <m:r>
                      <a:rPr lang="en-US" sz="3200" i="1" dirty="0">
                        <a:ln w="0"/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effectLst>
                          <a:outerShdw blurRad="38100" dist="19050" dir="2700000" algn="tl" rotWithShape="0">
                            <a:schemeClr val="dk1">
                              <a:alpha val="40000"/>
                            </a:schemeClr>
                          </a:outerShdw>
                        </a:effectLst>
                        <a:latin typeface="Cambria Math" panose="02040503050406030204" pitchFamily="18" charset="0"/>
                        <a:ea typeface="Cambria Math" panose="02040503050406030204" pitchFamily="18" charset="0"/>
                        <a:cs typeface="Helvetica Neue Medium"/>
                        <a:sym typeface="Helvetica Neue Medium"/>
                      </a:rPr>
                      <m:t>𝑗</m:t>
                    </m:r>
                  </m:oMath>
                </a14:m>
                <a:r>
                  <a:rPr lang="en-US" sz="3200" dirty="0">
                    <a:solidFill>
                      <a:schemeClr val="bg1"/>
                    </a:solidFill>
                    <a:latin typeface="Bradley Hand" pitchFamily="2" charset="77"/>
                    <a:sym typeface="Helvetica Neue Medium"/>
                  </a:rPr>
                  <a:t> = 1</a:t>
                </a:r>
              </a:p>
            </p:txBody>
          </p:sp>
        </mc:Choice>
        <mc:Fallback xmlns="">
          <p:sp>
            <p:nvSpPr>
              <p:cNvPr id="8" name="!!box">
                <a:extLst>
                  <a:ext uri="{FF2B5EF4-FFF2-40B4-BE49-F238E27FC236}">
                    <a16:creationId xmlns:a16="http://schemas.microsoft.com/office/drawing/2014/main" id="{80E0AE1F-E614-4837-5E58-D260763F977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089347" y="12042387"/>
                <a:ext cx="1243401" cy="658336"/>
              </a:xfrm>
              <a:prstGeom prst="roundRect">
                <a:avLst/>
              </a:prstGeom>
              <a:blipFill>
                <a:blip r:embed="rId4"/>
                <a:stretch>
                  <a:fillRect l="-5769" b="-18966"/>
                </a:stretch>
              </a:blipFill>
              <a:ln w="63500" cap="flat">
                <a:solidFill>
                  <a:schemeClr val="tx1"/>
                </a:solidFill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617116153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Word"/>
      </p:transition>
    </mc:Choice>
    <mc:Fallback>
      <p:transition spd="slow">
        <p:fade/>
      </p:transition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8400AB-45E7-2C67-50EC-757FD86CEF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DD10B95A-DDE3-43D0-A43E-1EFAF8C7DB22}"/>
              </a:ext>
            </a:extLst>
          </p:cNvPr>
          <p:cNvSpPr/>
          <p:nvPr/>
        </p:nvSpPr>
        <p:spPr>
          <a:xfrm>
            <a:off x="12912132" y="8475386"/>
            <a:ext cx="3849187" cy="1770434"/>
          </a:xfrm>
          <a:prstGeom prst="roundRect">
            <a:avLst/>
          </a:prstGeom>
          <a:solidFill>
            <a:schemeClr val="accent2">
              <a:lumMod val="50000"/>
              <a:alpha val="29955"/>
            </a:schemeClr>
          </a:solidFill>
          <a:ln w="63500" cap="flat">
            <a:solidFill>
              <a:schemeClr val="accent2">
                <a:lumMod val="5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F07E9B5D-ADCA-98D3-5160-56196E18603E}"/>
              </a:ext>
            </a:extLst>
          </p:cNvPr>
          <p:cNvSpPr/>
          <p:nvPr/>
        </p:nvSpPr>
        <p:spPr>
          <a:xfrm>
            <a:off x="12192001" y="477475"/>
            <a:ext cx="9239250" cy="1747996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3200" dirty="0">
                <a:solidFill>
                  <a:schemeClr val="bg1"/>
                </a:solidFill>
                <a:latin typeface="Bradley Hand" pitchFamily="2" charset="77"/>
                <a:sym typeface="Helvetica Neue Medium"/>
              </a:rPr>
              <a:t>Input/Output</a:t>
            </a:r>
          </a:p>
          <a:p>
            <a:pPr marL="0" marR="0" indent="0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3200" dirty="0">
                <a:solidFill>
                  <a:schemeClr val="accent6">
                    <a:lumMod val="40000"/>
                    <a:lumOff val="60000"/>
                  </a:schemeClr>
                </a:solidFill>
                <a:latin typeface="Bradley Hand" pitchFamily="2" charset="77"/>
                <a:sym typeface="Helvetica Neue Medium"/>
              </a:rPr>
              <a:t>4</a:t>
            </a:r>
            <a:endParaRPr lang="en-US" sz="3200" dirty="0">
              <a:solidFill>
                <a:schemeClr val="bg1"/>
              </a:solidFill>
              <a:latin typeface="Bradley Hand" pitchFamily="2" charset="77"/>
              <a:sym typeface="Helvetica Neue Medium"/>
            </a:endParaRP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US" sz="3200" dirty="0">
                <a:solidFill>
                  <a:schemeClr val="accent6">
                    <a:lumMod val="40000"/>
                    <a:lumOff val="60000"/>
                  </a:schemeClr>
                </a:solidFill>
                <a:latin typeface="Bradley Hand" pitchFamily="2" charset="77"/>
                <a:sym typeface="Helvetica Neue Medium"/>
              </a:rPr>
              <a:t>15 2 47 8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>
                <a:extLst>
                  <a:ext uri="{FF2B5EF4-FFF2-40B4-BE49-F238E27FC236}">
                    <a16:creationId xmlns:a16="http://schemas.microsoft.com/office/drawing/2014/main" id="{4BB53534-8EBE-111F-265E-922DD39037DA}"/>
                  </a:ext>
                </a:extLst>
              </p:cNvPr>
              <p:cNvSpPr/>
              <p:nvPr/>
            </p:nvSpPr>
            <p:spPr>
              <a:xfrm>
                <a:off x="12192000" y="2877285"/>
                <a:ext cx="9297919" cy="1747996"/>
              </a:xfrm>
              <a:prstGeom prst="roundRect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 w="63500" cap="flat">
                <a:solidFill>
                  <a:schemeClr val="tx1"/>
                </a:solidFill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50800" tIns="50800" rIns="50800" bIns="50800" numCol="1" spcCol="38100" rtlCol="0" anchor="ctr">
                <a:spAutoFit/>
              </a:bodyPr>
              <a:lstStyle/>
              <a:p>
                <a:pPr marL="0" marR="0" indent="0" defTabSz="8255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r>
                  <a:rPr lang="en-US" sz="3200" dirty="0">
                    <a:solidFill>
                      <a:schemeClr val="bg1"/>
                    </a:solidFill>
                    <a:latin typeface="Bradley Hand" pitchFamily="2" charset="77"/>
                    <a:sym typeface="Helvetica Neue Medium"/>
                  </a:rPr>
                  <a:t>Variables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14:m>
                  <m:oMath xmlns:m="http://schemas.openxmlformats.org/officeDocument/2006/math">
                    <m:r>
                      <a:rPr lang="en-US" sz="3200" i="1" smtClean="0">
                        <a:ln w="0"/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effectLst>
                          <a:outerShdw blurRad="38100" dist="19050" dir="2700000" algn="tl" rotWithShape="0">
                            <a:schemeClr val="dk1">
                              <a:alpha val="40000"/>
                            </a:schemeClr>
                          </a:outerShdw>
                        </a:effectLst>
                        <a:latin typeface="Cambria Math" panose="02040503050406030204" pitchFamily="18" charset="0"/>
                        <a:ea typeface="Cambria Math" panose="02040503050406030204" pitchFamily="18" charset="0"/>
                        <a:cs typeface="Helvetica Neue Medium"/>
                        <a:sym typeface="Helvetica Neue Medium"/>
                      </a:rPr>
                      <m:t>𝑛</m:t>
                    </m:r>
                  </m:oMath>
                </a14:m>
                <a:r>
                  <a:rPr lang="en-US" sz="3200" dirty="0">
                    <a:solidFill>
                      <a:schemeClr val="bg1"/>
                    </a:solidFill>
                    <a:latin typeface="Bradley Hand" pitchFamily="2" charset="77"/>
                    <a:sym typeface="Helvetica Neue Medium"/>
                  </a:rPr>
                  <a:t>=4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14:m>
                  <m:oMath xmlns:m="http://schemas.openxmlformats.org/officeDocument/2006/math">
                    <m:r>
                      <a:rPr lang="en-US" sz="3200" i="1">
                        <a:ln w="0"/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effectLst>
                          <a:outerShdw blurRad="38100" dist="19050" dir="2700000" algn="tl" rotWithShape="0">
                            <a:schemeClr val="dk1">
                              <a:alpha val="40000"/>
                            </a:schemeClr>
                          </a:outerShdw>
                        </a:effectLst>
                        <a:latin typeface="Cambria Math" panose="02040503050406030204" pitchFamily="18" charset="0"/>
                        <a:ea typeface="Cambria Math" panose="02040503050406030204" pitchFamily="18" charset="0"/>
                        <a:cs typeface="Helvetica Neue Medium"/>
                        <a:sym typeface="Helvetica Neue Medium"/>
                      </a:rPr>
                      <m:t>𝑖</m:t>
                    </m:r>
                  </m:oMath>
                </a14:m>
                <a:r>
                  <a:rPr lang="en-US" sz="3200" dirty="0">
                    <a:solidFill>
                      <a:schemeClr val="bg1"/>
                    </a:solidFill>
                    <a:latin typeface="Bradley Hand" pitchFamily="2" charset="77"/>
                    <a:sym typeface="Helvetica Neue Medium"/>
                  </a:rPr>
                  <a:t>=1</a:t>
                </a:r>
              </a:p>
            </p:txBody>
          </p:sp>
        </mc:Choice>
        <mc:Fallback xmlns="">
          <p:sp>
            <p:nvSpPr>
              <p:cNvPr id="4" name="Rounded Rectangle 3">
                <a:extLst>
                  <a:ext uri="{FF2B5EF4-FFF2-40B4-BE49-F238E27FC236}">
                    <a16:creationId xmlns:a16="http://schemas.microsoft.com/office/drawing/2014/main" id="{4BB53534-8EBE-111F-265E-922DD39037D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192000" y="2877285"/>
                <a:ext cx="9297919" cy="1747996"/>
              </a:xfrm>
              <a:prstGeom prst="roundRect">
                <a:avLst/>
              </a:prstGeom>
              <a:blipFill>
                <a:blip r:embed="rId2"/>
                <a:stretch>
                  <a:fillRect l="-813" b="-4196"/>
                </a:stretch>
              </a:blipFill>
              <a:ln w="63500" cap="flat">
                <a:solidFill>
                  <a:schemeClr val="tx1"/>
                </a:solidFill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9" name="Rounded Rectangle 8">
                <a:extLst>
                  <a:ext uri="{FF2B5EF4-FFF2-40B4-BE49-F238E27FC236}">
                    <a16:creationId xmlns:a16="http://schemas.microsoft.com/office/drawing/2014/main" id="{B8BF469E-2E14-E627-CFD1-D71B16796089}"/>
                  </a:ext>
                </a:extLst>
              </p:cNvPr>
              <p:cNvSpPr/>
              <p:nvPr/>
            </p:nvSpPr>
            <p:spPr>
              <a:xfrm>
                <a:off x="948986" y="209566"/>
                <a:ext cx="9543957" cy="10036254"/>
              </a:xfrm>
              <a:prstGeom prst="roundRect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 w="63500" cap="flat">
                <a:solidFill>
                  <a:schemeClr val="tx1"/>
                </a:solidFill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50800" tIns="50800" rIns="50800" bIns="50800" numCol="1" spcCol="38100" rtlCol="0" anchor="ctr">
                <a:spAutoFit/>
              </a:bodyPr>
              <a:lstStyle/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#include </a:t>
                </a:r>
                <a:r>
                  <a:rPr lang="en-IN" sz="28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&lt;</a:t>
                </a:r>
                <a:r>
                  <a:rPr lang="en-IN" sz="2800" dirty="0" err="1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stdio.h</a:t>
                </a:r>
                <a:r>
                  <a:rPr lang="en-IN" sz="28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&gt;</a:t>
                </a:r>
                <a:b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</a:br>
                <a:b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</a:br>
                <a:r>
                  <a:rPr lang="en-IN" sz="28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int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IN" sz="28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main</a:t>
                </a:r>
                <a:r>
                  <a:rPr lang="en-IN" sz="2800" dirty="0">
                    <a:solidFill>
                      <a:schemeClr val="accent4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()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{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US" sz="28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 int</a:t>
                </a:r>
                <a:r>
                  <a:rPr lang="en-US" sz="28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800" i="1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,</a:t>
                </a:r>
                <a14:m>
                  <m:oMath xmlns:m="http://schemas.openxmlformats.org/officeDocument/2006/math">
                    <m:r>
                      <a:rPr lang="en-US" sz="2800" i="1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,</a:t>
                </a:r>
                <a14:m>
                  <m:oMath xmlns:m="http://schemas.openxmlformats.org/officeDocument/2006/math">
                    <m:r>
                      <a:rPr lang="en-IN" sz="28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</a:t>
                </a:r>
                <a:r>
                  <a:rPr lang="en-IN" sz="2800" dirty="0" err="1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scanf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(“%d”, &amp;</a:t>
                </a:r>
                <a14:m>
                  <m:oMath xmlns:m="http://schemas.openxmlformats.org/officeDocument/2006/math">
                    <m:r>
                      <a:rPr lang="en-IN" sz="28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);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int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IN" sz="2800" dirty="0" err="1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num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</a:t>
                </a:r>
                <a14:m>
                  <m:oMath xmlns:m="http://schemas.openxmlformats.org/officeDocument/2006/math">
                    <m:r>
                      <a:rPr lang="en-IN" sz="28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];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</a:t>
                </a:r>
                <a:r>
                  <a:rPr lang="en-IN" sz="28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for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</a:t>
                </a:r>
                <a14:m>
                  <m:oMath xmlns:m="http://schemas.openxmlformats.org/officeDocument/2006/math">
                    <m:r>
                      <a:rPr lang="en-US" sz="2800" i="1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=0 ; </a:t>
                </a:r>
                <a14:m>
                  <m:oMath xmlns:m="http://schemas.openxmlformats.org/officeDocument/2006/math">
                    <m:r>
                      <a:rPr lang="en-US" sz="2800" i="1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&lt; </a:t>
                </a:r>
                <a14:m>
                  <m:oMath xmlns:m="http://schemas.openxmlformats.org/officeDocument/2006/math">
                    <m:r>
                      <a:rPr lang="en-IN" sz="28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; </a:t>
                </a:r>
                <a14:m>
                  <m:oMath xmlns:m="http://schemas.openxmlformats.org/officeDocument/2006/math">
                    <m:r>
                      <a:rPr lang="en-US" sz="2800" i="1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++)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{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</a:t>
                </a:r>
                <a:r>
                  <a:rPr lang="en-IN" sz="2800" dirty="0" err="1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scanf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(“%d”, &amp;</a:t>
                </a:r>
                <a:r>
                  <a:rPr lang="en-IN" sz="2800" dirty="0" err="1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num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</a:t>
                </a:r>
                <a14:m>
                  <m:oMath xmlns:m="http://schemas.openxmlformats.org/officeDocument/2006/math">
                    <m:r>
                      <a:rPr lang="en-US" sz="2800" i="1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]);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for( </a:t>
                </a:r>
                <a14:m>
                  <m:oMath xmlns:m="http://schemas.openxmlformats.org/officeDocument/2006/math">
                    <m:r>
                      <a:rPr lang="en-IN" sz="2800" i="1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= </a:t>
                </a:r>
                <a14:m>
                  <m:oMath xmlns:m="http://schemas.openxmlformats.org/officeDocument/2006/math">
                    <m:r>
                      <a:rPr lang="en-US" sz="2800" i="1">
                        <a:ln w="0"/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effectLst>
                          <a:outerShdw blurRad="38100" dist="19050" dir="2700000" algn="tl" rotWithShape="0">
                            <a:schemeClr val="dk1">
                              <a:alpha val="40000"/>
                            </a:schemeClr>
                          </a:outerShdw>
                        </a:effectLst>
                        <a:latin typeface="Cambria Math" panose="02040503050406030204" pitchFamily="18" charset="0"/>
                        <a:ea typeface="Cambria Math" panose="02040503050406030204" pitchFamily="18" charset="0"/>
                        <a:cs typeface="Helvetica Neue Medium"/>
                        <a:sym typeface="Helvetica Neue Medium"/>
                      </a:rPr>
                      <m:t>𝑖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; </a:t>
                </a:r>
                <a14:m>
                  <m:oMath xmlns:m="http://schemas.openxmlformats.org/officeDocument/2006/math">
                    <m:r>
                      <a:rPr lang="en-IN" sz="28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&gt; 0; </a:t>
                </a:r>
                <a14:m>
                  <m:oMath xmlns:m="http://schemas.openxmlformats.org/officeDocument/2006/math">
                    <m:r>
                      <a:rPr lang="en-IN" sz="28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𝑗</m:t>
                    </m:r>
                    <m:r>
                      <a:rPr lang="en-IN" sz="28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--)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{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	</a:t>
                </a:r>
                <a:r>
                  <a:rPr lang="en-IN" sz="28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if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( </a:t>
                </a:r>
                <a:r>
                  <a:rPr lang="en-IN" sz="2800" dirty="0" err="1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num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</a:t>
                </a:r>
                <a14:m>
                  <m:oMath xmlns:m="http://schemas.openxmlformats.org/officeDocument/2006/math">
                    <m:r>
                      <a:rPr lang="en-IN" sz="2800" i="1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] &lt; </a:t>
                </a:r>
                <a:r>
                  <a:rPr lang="en-IN" sz="2800" dirty="0" err="1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num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</a:t>
                </a:r>
                <a14:m>
                  <m:oMath xmlns:m="http://schemas.openxmlformats.org/officeDocument/2006/math">
                    <m:r>
                      <a:rPr lang="en-IN" sz="28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𝑗</m:t>
                    </m:r>
                    <m:r>
                      <a:rPr lang="en-IN" sz="28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-1] )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	{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		</a:t>
                </a:r>
                <a:r>
                  <a:rPr lang="en-IN" sz="28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int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IN" sz="28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temp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= </a:t>
                </a:r>
                <a:r>
                  <a:rPr lang="en-IN" sz="2800" dirty="0" err="1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num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</a:t>
                </a:r>
                <a14:m>
                  <m:oMath xmlns:m="http://schemas.openxmlformats.org/officeDocument/2006/math">
                    <m:r>
                      <a:rPr lang="en-IN" sz="2800" i="1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];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		</a:t>
                </a:r>
                <a:r>
                  <a:rPr lang="en-IN" sz="2800" dirty="0" err="1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num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</a:t>
                </a:r>
                <a14:m>
                  <m:oMath xmlns:m="http://schemas.openxmlformats.org/officeDocument/2006/math">
                    <m:r>
                      <a:rPr lang="en-IN" sz="28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] = </a:t>
                </a:r>
                <a:r>
                  <a:rPr lang="en-IN" sz="2800" dirty="0" err="1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num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</a:t>
                </a:r>
                <a14:m>
                  <m:oMath xmlns:m="http://schemas.openxmlformats.org/officeDocument/2006/math">
                    <m:r>
                      <a:rPr lang="en-IN" sz="2800" i="1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𝑗</m:t>
                    </m:r>
                    <m:r>
                      <a:rPr lang="en-IN" sz="2800" i="1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-1];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		</a:t>
                </a:r>
                <a:r>
                  <a:rPr lang="en-IN" sz="2800" dirty="0" err="1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num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</a:t>
                </a:r>
                <a14:m>
                  <m:oMath xmlns:m="http://schemas.openxmlformats.org/officeDocument/2006/math">
                    <m:r>
                      <a:rPr lang="en-IN" sz="2800" i="1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𝑗</m:t>
                    </m:r>
                    <m:r>
                      <a:rPr lang="en-IN" sz="2800" i="1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-1] = </a:t>
                </a:r>
                <a:r>
                  <a:rPr lang="en-IN" sz="28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temp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;</a:t>
                </a:r>
                <a:endParaRPr lang="en-IN" sz="2800" dirty="0">
                  <a:solidFill>
                    <a:schemeClr val="accent1">
                      <a:lumMod val="40000"/>
                      <a:lumOff val="60000"/>
                    </a:schemeClr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	}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} 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}</a:t>
                </a:r>
                <a:b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</a:b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</a:t>
                </a:r>
                <a:r>
                  <a:rPr lang="en-IN" sz="28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return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0;</a:t>
                </a:r>
                <a:b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</a:b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}</a:t>
                </a:r>
                <a:endParaRPr lang="en-US" sz="2800" dirty="0">
                  <a:solidFill>
                    <a:schemeClr val="bg1"/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>
          <p:sp>
            <p:nvSpPr>
              <p:cNvPr id="9" name="Rounded Rectangle 8">
                <a:extLst>
                  <a:ext uri="{FF2B5EF4-FFF2-40B4-BE49-F238E27FC236}">
                    <a16:creationId xmlns:a16="http://schemas.microsoft.com/office/drawing/2014/main" id="{B8BF469E-2E14-E627-CFD1-D71B1679608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48986" y="209566"/>
                <a:ext cx="9543957" cy="10036254"/>
              </a:xfrm>
              <a:prstGeom prst="roundRect">
                <a:avLst/>
              </a:prstGeom>
              <a:blipFill>
                <a:blip r:embed="rId3"/>
                <a:stretch>
                  <a:fillRect/>
                </a:stretch>
              </a:blipFill>
              <a:ln w="63500" cap="flat">
                <a:solidFill>
                  <a:schemeClr val="tx1"/>
                </a:solidFill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6EAA6858-C6A9-9C76-4265-870552A650E2}"/>
              </a:ext>
            </a:extLst>
          </p:cNvPr>
          <p:cNvSpPr/>
          <p:nvPr/>
        </p:nvSpPr>
        <p:spPr>
          <a:xfrm>
            <a:off x="948986" y="6202990"/>
            <a:ext cx="9512180" cy="614473"/>
          </a:xfrm>
          <a:prstGeom prst="roundRect">
            <a:avLst/>
          </a:prstGeom>
          <a:solidFill>
            <a:schemeClr val="accent4">
              <a:lumMod val="60000"/>
              <a:lumOff val="40000"/>
              <a:alpha val="41668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8AECACC4-597E-481E-D1E2-08555D2A50EE}"/>
              </a:ext>
            </a:extLst>
          </p:cNvPr>
          <p:cNvSpPr/>
          <p:nvPr/>
        </p:nvSpPr>
        <p:spPr>
          <a:xfrm>
            <a:off x="13314436" y="8767699"/>
            <a:ext cx="1080000" cy="1080000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54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15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20580AB2-36DF-DC83-6CA9-BE70CA987530}"/>
              </a:ext>
            </a:extLst>
          </p:cNvPr>
          <p:cNvSpPr/>
          <p:nvPr/>
        </p:nvSpPr>
        <p:spPr>
          <a:xfrm>
            <a:off x="15180988" y="8767699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54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2</a:t>
            </a:r>
          </a:p>
        </p:txBody>
      </p:sp>
      <p:sp>
        <p:nvSpPr>
          <p:cNvPr id="7" name="Right Arrow 6">
            <a:extLst>
              <a:ext uri="{FF2B5EF4-FFF2-40B4-BE49-F238E27FC236}">
                <a16:creationId xmlns:a16="http://schemas.microsoft.com/office/drawing/2014/main" id="{A64DE4BC-8615-C9CB-59BA-9C156374EB29}"/>
              </a:ext>
            </a:extLst>
          </p:cNvPr>
          <p:cNvSpPr/>
          <p:nvPr/>
        </p:nvSpPr>
        <p:spPr>
          <a:xfrm rot="16200000">
            <a:off x="14977688" y="10581221"/>
            <a:ext cx="1453118" cy="782316"/>
          </a:xfrm>
          <a:prstGeom prst="rightArrow">
            <a:avLst/>
          </a:prstGeom>
          <a:solidFill>
            <a:schemeClr val="accent2">
              <a:lumMod val="60000"/>
              <a:lumOff val="40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!!box">
                <a:extLst>
                  <a:ext uri="{FF2B5EF4-FFF2-40B4-BE49-F238E27FC236}">
                    <a16:creationId xmlns:a16="http://schemas.microsoft.com/office/drawing/2014/main" id="{D38C3B63-9D6C-26D2-62A4-00183BC908F5}"/>
                  </a:ext>
                </a:extLst>
              </p:cNvPr>
              <p:cNvSpPr/>
              <p:nvPr/>
            </p:nvSpPr>
            <p:spPr>
              <a:xfrm>
                <a:off x="15089347" y="12042387"/>
                <a:ext cx="1243401" cy="658336"/>
              </a:xfrm>
              <a:prstGeom prst="roundRect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 w="63500" cap="flat">
                <a:solidFill>
                  <a:schemeClr val="tx1"/>
                </a:solidFill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50800" tIns="50800" rIns="50800" bIns="50800" numCol="1" spcCol="38100" rtlCol="0" anchor="ctr">
                <a:spAutoFit/>
              </a:bodyPr>
              <a:lstStyle/>
              <a:p>
                <a:pPr marL="0" marR="0" indent="0" defTabSz="8255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14:m>
                  <m:oMath xmlns:m="http://schemas.openxmlformats.org/officeDocument/2006/math">
                    <m:r>
                      <a:rPr lang="en-US" sz="3200" i="1" dirty="0">
                        <a:ln w="0"/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effectLst>
                          <a:outerShdw blurRad="38100" dist="19050" dir="2700000" algn="tl" rotWithShape="0">
                            <a:schemeClr val="dk1">
                              <a:alpha val="40000"/>
                            </a:schemeClr>
                          </a:outerShdw>
                        </a:effectLst>
                        <a:latin typeface="Cambria Math" panose="02040503050406030204" pitchFamily="18" charset="0"/>
                        <a:ea typeface="Cambria Math" panose="02040503050406030204" pitchFamily="18" charset="0"/>
                        <a:cs typeface="Helvetica Neue Medium"/>
                        <a:sym typeface="Helvetica Neue Medium"/>
                      </a:rPr>
                      <m:t>𝑗</m:t>
                    </m:r>
                  </m:oMath>
                </a14:m>
                <a:r>
                  <a:rPr lang="en-US" sz="3200" dirty="0">
                    <a:solidFill>
                      <a:schemeClr val="bg1"/>
                    </a:solidFill>
                    <a:latin typeface="Bradley Hand" pitchFamily="2" charset="77"/>
                    <a:sym typeface="Helvetica Neue Medium"/>
                  </a:rPr>
                  <a:t> = 1</a:t>
                </a:r>
              </a:p>
            </p:txBody>
          </p:sp>
        </mc:Choice>
        <mc:Fallback xmlns="">
          <p:sp>
            <p:nvSpPr>
              <p:cNvPr id="8" name="!!box">
                <a:extLst>
                  <a:ext uri="{FF2B5EF4-FFF2-40B4-BE49-F238E27FC236}">
                    <a16:creationId xmlns:a16="http://schemas.microsoft.com/office/drawing/2014/main" id="{D38C3B63-9D6C-26D2-62A4-00183BC908F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089347" y="12042387"/>
                <a:ext cx="1243401" cy="658336"/>
              </a:xfrm>
              <a:prstGeom prst="roundRect">
                <a:avLst/>
              </a:prstGeom>
              <a:blipFill>
                <a:blip r:embed="rId4"/>
                <a:stretch>
                  <a:fillRect l="-5769" b="-18966"/>
                </a:stretch>
              </a:blipFill>
              <a:ln w="63500" cap="flat">
                <a:solidFill>
                  <a:schemeClr val="tx1"/>
                </a:solidFill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223160417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Word"/>
      </p:transition>
    </mc:Choice>
    <mc:Fallback>
      <p:transition spd="slow">
        <p:fade/>
      </p:transition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93C279-C9B6-90E1-0076-F0C2BDACFB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F16CAFBE-ACE3-0575-0890-7B19B824117E}"/>
              </a:ext>
            </a:extLst>
          </p:cNvPr>
          <p:cNvSpPr/>
          <p:nvPr/>
        </p:nvSpPr>
        <p:spPr>
          <a:xfrm>
            <a:off x="12912132" y="8475386"/>
            <a:ext cx="3849187" cy="1770434"/>
          </a:xfrm>
          <a:prstGeom prst="roundRect">
            <a:avLst/>
          </a:prstGeom>
          <a:solidFill>
            <a:schemeClr val="accent2">
              <a:lumMod val="50000"/>
              <a:alpha val="29955"/>
            </a:schemeClr>
          </a:solidFill>
          <a:ln w="63500" cap="flat">
            <a:solidFill>
              <a:schemeClr val="accent2">
                <a:lumMod val="5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EB9342EA-F6F5-0079-CE01-120C47590368}"/>
              </a:ext>
            </a:extLst>
          </p:cNvPr>
          <p:cNvSpPr/>
          <p:nvPr/>
        </p:nvSpPr>
        <p:spPr>
          <a:xfrm>
            <a:off x="13314436" y="8791245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2</a:t>
            </a: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00587380-3840-C2A8-F1DE-0149DFDCA9E6}"/>
              </a:ext>
            </a:extLst>
          </p:cNvPr>
          <p:cNvSpPr/>
          <p:nvPr/>
        </p:nvSpPr>
        <p:spPr>
          <a:xfrm>
            <a:off x="12192001" y="477475"/>
            <a:ext cx="9239250" cy="1747996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3200" dirty="0">
                <a:solidFill>
                  <a:schemeClr val="bg1"/>
                </a:solidFill>
                <a:latin typeface="Bradley Hand" pitchFamily="2" charset="77"/>
                <a:sym typeface="Helvetica Neue Medium"/>
              </a:rPr>
              <a:t>Input/Output</a:t>
            </a:r>
          </a:p>
          <a:p>
            <a:pPr marL="0" marR="0" indent="0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3200" dirty="0">
                <a:solidFill>
                  <a:schemeClr val="accent6">
                    <a:lumMod val="40000"/>
                    <a:lumOff val="60000"/>
                  </a:schemeClr>
                </a:solidFill>
                <a:latin typeface="Bradley Hand" pitchFamily="2" charset="77"/>
                <a:sym typeface="Helvetica Neue Medium"/>
              </a:rPr>
              <a:t>4</a:t>
            </a:r>
            <a:endParaRPr lang="en-US" sz="3200" dirty="0">
              <a:solidFill>
                <a:schemeClr val="bg1"/>
              </a:solidFill>
              <a:latin typeface="Bradley Hand" pitchFamily="2" charset="77"/>
              <a:sym typeface="Helvetica Neue Medium"/>
            </a:endParaRP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US" sz="3200" dirty="0">
                <a:solidFill>
                  <a:schemeClr val="accent6">
                    <a:lumMod val="40000"/>
                    <a:lumOff val="60000"/>
                  </a:schemeClr>
                </a:solidFill>
                <a:latin typeface="Bradley Hand" pitchFamily="2" charset="77"/>
                <a:sym typeface="Helvetica Neue Medium"/>
              </a:rPr>
              <a:t>15 2 47 8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>
                <a:extLst>
                  <a:ext uri="{FF2B5EF4-FFF2-40B4-BE49-F238E27FC236}">
                    <a16:creationId xmlns:a16="http://schemas.microsoft.com/office/drawing/2014/main" id="{817A4D07-FA38-D3DE-AFDF-31CD481FAF83}"/>
                  </a:ext>
                </a:extLst>
              </p:cNvPr>
              <p:cNvSpPr/>
              <p:nvPr/>
            </p:nvSpPr>
            <p:spPr>
              <a:xfrm>
                <a:off x="12192000" y="2877285"/>
                <a:ext cx="9297919" cy="1747996"/>
              </a:xfrm>
              <a:prstGeom prst="roundRect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 w="63500" cap="flat">
                <a:solidFill>
                  <a:schemeClr val="tx1"/>
                </a:solidFill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50800" tIns="50800" rIns="50800" bIns="50800" numCol="1" spcCol="38100" rtlCol="0" anchor="ctr">
                <a:spAutoFit/>
              </a:bodyPr>
              <a:lstStyle/>
              <a:p>
                <a:pPr marL="0" marR="0" indent="0" defTabSz="8255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r>
                  <a:rPr lang="en-US" sz="3200" dirty="0">
                    <a:solidFill>
                      <a:schemeClr val="bg1"/>
                    </a:solidFill>
                    <a:latin typeface="Bradley Hand" pitchFamily="2" charset="77"/>
                    <a:sym typeface="Helvetica Neue Medium"/>
                  </a:rPr>
                  <a:t>Variables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14:m>
                  <m:oMath xmlns:m="http://schemas.openxmlformats.org/officeDocument/2006/math">
                    <m:r>
                      <a:rPr lang="en-US" sz="3200" i="1" smtClean="0">
                        <a:ln w="0"/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effectLst>
                          <a:outerShdw blurRad="38100" dist="19050" dir="2700000" algn="tl" rotWithShape="0">
                            <a:schemeClr val="dk1">
                              <a:alpha val="40000"/>
                            </a:schemeClr>
                          </a:outerShdw>
                        </a:effectLst>
                        <a:latin typeface="Cambria Math" panose="02040503050406030204" pitchFamily="18" charset="0"/>
                        <a:ea typeface="Cambria Math" panose="02040503050406030204" pitchFamily="18" charset="0"/>
                        <a:cs typeface="Helvetica Neue Medium"/>
                        <a:sym typeface="Helvetica Neue Medium"/>
                      </a:rPr>
                      <m:t>𝑛</m:t>
                    </m:r>
                  </m:oMath>
                </a14:m>
                <a:r>
                  <a:rPr lang="en-US" sz="3200" dirty="0">
                    <a:solidFill>
                      <a:schemeClr val="bg1"/>
                    </a:solidFill>
                    <a:latin typeface="Bradley Hand" pitchFamily="2" charset="77"/>
                    <a:sym typeface="Helvetica Neue Medium"/>
                  </a:rPr>
                  <a:t>=4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14:m>
                  <m:oMath xmlns:m="http://schemas.openxmlformats.org/officeDocument/2006/math">
                    <m:r>
                      <a:rPr lang="en-US" sz="3200" i="1">
                        <a:ln w="0"/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effectLst>
                          <a:outerShdw blurRad="38100" dist="19050" dir="2700000" algn="tl" rotWithShape="0">
                            <a:schemeClr val="dk1">
                              <a:alpha val="40000"/>
                            </a:schemeClr>
                          </a:outerShdw>
                        </a:effectLst>
                        <a:latin typeface="Cambria Math" panose="02040503050406030204" pitchFamily="18" charset="0"/>
                        <a:ea typeface="Cambria Math" panose="02040503050406030204" pitchFamily="18" charset="0"/>
                        <a:cs typeface="Helvetica Neue Medium"/>
                        <a:sym typeface="Helvetica Neue Medium"/>
                      </a:rPr>
                      <m:t>𝑖</m:t>
                    </m:r>
                  </m:oMath>
                </a14:m>
                <a:r>
                  <a:rPr lang="en-US" sz="3200" dirty="0">
                    <a:solidFill>
                      <a:schemeClr val="bg1"/>
                    </a:solidFill>
                    <a:latin typeface="Bradley Hand" pitchFamily="2" charset="77"/>
                    <a:sym typeface="Helvetica Neue Medium"/>
                  </a:rPr>
                  <a:t>=1</a:t>
                </a:r>
              </a:p>
            </p:txBody>
          </p:sp>
        </mc:Choice>
        <mc:Fallback xmlns="">
          <p:sp>
            <p:nvSpPr>
              <p:cNvPr id="4" name="Rounded Rectangle 3">
                <a:extLst>
                  <a:ext uri="{FF2B5EF4-FFF2-40B4-BE49-F238E27FC236}">
                    <a16:creationId xmlns:a16="http://schemas.microsoft.com/office/drawing/2014/main" id="{817A4D07-FA38-D3DE-AFDF-31CD481FAF8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192000" y="2877285"/>
                <a:ext cx="9297919" cy="1747996"/>
              </a:xfrm>
              <a:prstGeom prst="roundRect">
                <a:avLst/>
              </a:prstGeom>
              <a:blipFill>
                <a:blip r:embed="rId2"/>
                <a:stretch>
                  <a:fillRect l="-813" b="-4196"/>
                </a:stretch>
              </a:blipFill>
              <a:ln w="63500" cap="flat">
                <a:solidFill>
                  <a:schemeClr val="tx1"/>
                </a:solidFill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9" name="Rounded Rectangle 8">
                <a:extLst>
                  <a:ext uri="{FF2B5EF4-FFF2-40B4-BE49-F238E27FC236}">
                    <a16:creationId xmlns:a16="http://schemas.microsoft.com/office/drawing/2014/main" id="{D9ECD235-58AC-C8F3-6D38-5747A5429EE1}"/>
                  </a:ext>
                </a:extLst>
              </p:cNvPr>
              <p:cNvSpPr/>
              <p:nvPr/>
            </p:nvSpPr>
            <p:spPr>
              <a:xfrm>
                <a:off x="948986" y="209566"/>
                <a:ext cx="9543957" cy="10036254"/>
              </a:xfrm>
              <a:prstGeom prst="roundRect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 w="63500" cap="flat">
                <a:solidFill>
                  <a:schemeClr val="tx1"/>
                </a:solidFill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50800" tIns="50800" rIns="50800" bIns="50800" numCol="1" spcCol="38100" rtlCol="0" anchor="ctr">
                <a:spAutoFit/>
              </a:bodyPr>
              <a:lstStyle/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#include </a:t>
                </a:r>
                <a:r>
                  <a:rPr lang="en-IN" sz="28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&lt;</a:t>
                </a:r>
                <a:r>
                  <a:rPr lang="en-IN" sz="2800" dirty="0" err="1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stdio.h</a:t>
                </a:r>
                <a:r>
                  <a:rPr lang="en-IN" sz="28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&gt;</a:t>
                </a:r>
                <a:b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</a:br>
                <a:b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</a:br>
                <a:r>
                  <a:rPr lang="en-IN" sz="28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int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IN" sz="28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main</a:t>
                </a:r>
                <a:r>
                  <a:rPr lang="en-IN" sz="2800" dirty="0">
                    <a:solidFill>
                      <a:schemeClr val="accent4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()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{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US" sz="28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 int</a:t>
                </a:r>
                <a:r>
                  <a:rPr lang="en-US" sz="28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800" i="1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,</a:t>
                </a:r>
                <a14:m>
                  <m:oMath xmlns:m="http://schemas.openxmlformats.org/officeDocument/2006/math">
                    <m:r>
                      <a:rPr lang="en-US" sz="2800" i="1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,</a:t>
                </a:r>
                <a14:m>
                  <m:oMath xmlns:m="http://schemas.openxmlformats.org/officeDocument/2006/math">
                    <m:r>
                      <a:rPr lang="en-IN" sz="28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</a:t>
                </a:r>
                <a:r>
                  <a:rPr lang="en-IN" sz="2800" dirty="0" err="1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scanf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(“%d”, &amp;</a:t>
                </a:r>
                <a14:m>
                  <m:oMath xmlns:m="http://schemas.openxmlformats.org/officeDocument/2006/math">
                    <m:r>
                      <a:rPr lang="en-IN" sz="28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);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int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IN" sz="2800" dirty="0" err="1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num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</a:t>
                </a:r>
                <a14:m>
                  <m:oMath xmlns:m="http://schemas.openxmlformats.org/officeDocument/2006/math">
                    <m:r>
                      <a:rPr lang="en-IN" sz="28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];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</a:t>
                </a:r>
                <a:r>
                  <a:rPr lang="en-IN" sz="28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for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</a:t>
                </a:r>
                <a14:m>
                  <m:oMath xmlns:m="http://schemas.openxmlformats.org/officeDocument/2006/math">
                    <m:r>
                      <a:rPr lang="en-US" sz="2800" i="1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=0 ; </a:t>
                </a:r>
                <a14:m>
                  <m:oMath xmlns:m="http://schemas.openxmlformats.org/officeDocument/2006/math">
                    <m:r>
                      <a:rPr lang="en-US" sz="2800" i="1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&lt; </a:t>
                </a:r>
                <a14:m>
                  <m:oMath xmlns:m="http://schemas.openxmlformats.org/officeDocument/2006/math">
                    <m:r>
                      <a:rPr lang="en-IN" sz="28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; </a:t>
                </a:r>
                <a14:m>
                  <m:oMath xmlns:m="http://schemas.openxmlformats.org/officeDocument/2006/math">
                    <m:r>
                      <a:rPr lang="en-US" sz="2800" i="1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++)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{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</a:t>
                </a:r>
                <a:r>
                  <a:rPr lang="en-IN" sz="2800" dirty="0" err="1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scanf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(“%d”, &amp;</a:t>
                </a:r>
                <a:r>
                  <a:rPr lang="en-IN" sz="2800" dirty="0" err="1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num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</a:t>
                </a:r>
                <a14:m>
                  <m:oMath xmlns:m="http://schemas.openxmlformats.org/officeDocument/2006/math">
                    <m:r>
                      <a:rPr lang="en-US" sz="2800" i="1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]);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for( </a:t>
                </a:r>
                <a14:m>
                  <m:oMath xmlns:m="http://schemas.openxmlformats.org/officeDocument/2006/math">
                    <m:r>
                      <a:rPr lang="en-IN" sz="2800" i="1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= </a:t>
                </a:r>
                <a14:m>
                  <m:oMath xmlns:m="http://schemas.openxmlformats.org/officeDocument/2006/math">
                    <m:r>
                      <a:rPr lang="en-US" sz="2800" i="1">
                        <a:ln w="0"/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effectLst>
                          <a:outerShdw blurRad="38100" dist="19050" dir="2700000" algn="tl" rotWithShape="0">
                            <a:schemeClr val="dk1">
                              <a:alpha val="40000"/>
                            </a:schemeClr>
                          </a:outerShdw>
                        </a:effectLst>
                        <a:latin typeface="Cambria Math" panose="02040503050406030204" pitchFamily="18" charset="0"/>
                        <a:ea typeface="Cambria Math" panose="02040503050406030204" pitchFamily="18" charset="0"/>
                        <a:cs typeface="Helvetica Neue Medium"/>
                        <a:sym typeface="Helvetica Neue Medium"/>
                      </a:rPr>
                      <m:t>𝑖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; </a:t>
                </a:r>
                <a14:m>
                  <m:oMath xmlns:m="http://schemas.openxmlformats.org/officeDocument/2006/math">
                    <m:r>
                      <a:rPr lang="en-IN" sz="28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&gt; 0; </a:t>
                </a:r>
                <a14:m>
                  <m:oMath xmlns:m="http://schemas.openxmlformats.org/officeDocument/2006/math">
                    <m:r>
                      <a:rPr lang="en-IN" sz="28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𝑗</m:t>
                    </m:r>
                    <m:r>
                      <a:rPr lang="en-IN" sz="28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--)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{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	</a:t>
                </a:r>
                <a:r>
                  <a:rPr lang="en-IN" sz="28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if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( </a:t>
                </a:r>
                <a:r>
                  <a:rPr lang="en-IN" sz="2800" dirty="0" err="1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num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</a:t>
                </a:r>
                <a14:m>
                  <m:oMath xmlns:m="http://schemas.openxmlformats.org/officeDocument/2006/math">
                    <m:r>
                      <a:rPr lang="en-IN" sz="2800" i="1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] &lt; </a:t>
                </a:r>
                <a:r>
                  <a:rPr lang="en-IN" sz="2800" dirty="0" err="1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num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</a:t>
                </a:r>
                <a14:m>
                  <m:oMath xmlns:m="http://schemas.openxmlformats.org/officeDocument/2006/math">
                    <m:r>
                      <a:rPr lang="en-IN" sz="28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𝑗</m:t>
                    </m:r>
                    <m:r>
                      <a:rPr lang="en-IN" sz="28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-1] )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	{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		</a:t>
                </a:r>
                <a:r>
                  <a:rPr lang="en-IN" sz="28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int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IN" sz="28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temp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= </a:t>
                </a:r>
                <a:r>
                  <a:rPr lang="en-IN" sz="2800" dirty="0" err="1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num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</a:t>
                </a:r>
                <a14:m>
                  <m:oMath xmlns:m="http://schemas.openxmlformats.org/officeDocument/2006/math">
                    <m:r>
                      <a:rPr lang="en-IN" sz="2800" i="1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];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		</a:t>
                </a:r>
                <a:r>
                  <a:rPr lang="en-IN" sz="2800" dirty="0" err="1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num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</a:t>
                </a:r>
                <a14:m>
                  <m:oMath xmlns:m="http://schemas.openxmlformats.org/officeDocument/2006/math">
                    <m:r>
                      <a:rPr lang="en-IN" sz="28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] = </a:t>
                </a:r>
                <a:r>
                  <a:rPr lang="en-IN" sz="2800" dirty="0" err="1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num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</a:t>
                </a:r>
                <a14:m>
                  <m:oMath xmlns:m="http://schemas.openxmlformats.org/officeDocument/2006/math">
                    <m:r>
                      <a:rPr lang="en-IN" sz="2800" i="1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𝑗</m:t>
                    </m:r>
                    <m:r>
                      <a:rPr lang="en-IN" sz="2800" i="1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-1];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		</a:t>
                </a:r>
                <a:r>
                  <a:rPr lang="en-IN" sz="2800" dirty="0" err="1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num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</a:t>
                </a:r>
                <a14:m>
                  <m:oMath xmlns:m="http://schemas.openxmlformats.org/officeDocument/2006/math">
                    <m:r>
                      <a:rPr lang="en-IN" sz="2800" i="1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𝑗</m:t>
                    </m:r>
                    <m:r>
                      <a:rPr lang="en-IN" sz="2800" i="1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-1] = </a:t>
                </a:r>
                <a:r>
                  <a:rPr lang="en-IN" sz="28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temp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;</a:t>
                </a:r>
                <a:endParaRPr lang="en-IN" sz="2800" dirty="0">
                  <a:solidFill>
                    <a:schemeClr val="accent1">
                      <a:lumMod val="40000"/>
                      <a:lumOff val="60000"/>
                    </a:schemeClr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	}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} 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}</a:t>
                </a:r>
                <a:b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</a:b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</a:t>
                </a:r>
                <a:r>
                  <a:rPr lang="en-IN" sz="28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return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0;</a:t>
                </a:r>
                <a:b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</a:b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}</a:t>
                </a:r>
                <a:endParaRPr lang="en-US" sz="2800" dirty="0">
                  <a:solidFill>
                    <a:schemeClr val="bg1"/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>
          <p:sp>
            <p:nvSpPr>
              <p:cNvPr id="9" name="Rounded Rectangle 8">
                <a:extLst>
                  <a:ext uri="{FF2B5EF4-FFF2-40B4-BE49-F238E27FC236}">
                    <a16:creationId xmlns:a16="http://schemas.microsoft.com/office/drawing/2014/main" id="{D9ECD235-58AC-C8F3-6D38-5747A5429EE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48986" y="209566"/>
                <a:ext cx="9543957" cy="10036254"/>
              </a:xfrm>
              <a:prstGeom prst="roundRect">
                <a:avLst/>
              </a:prstGeom>
              <a:blipFill>
                <a:blip r:embed="rId3"/>
                <a:stretch>
                  <a:fillRect/>
                </a:stretch>
              </a:blipFill>
              <a:ln w="63500" cap="flat">
                <a:solidFill>
                  <a:schemeClr val="tx1"/>
                </a:solidFill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BA77EA44-E0BD-FEB0-C9F0-7696C7C1ED8E}"/>
              </a:ext>
            </a:extLst>
          </p:cNvPr>
          <p:cNvSpPr/>
          <p:nvPr/>
        </p:nvSpPr>
        <p:spPr>
          <a:xfrm>
            <a:off x="948986" y="4500924"/>
            <a:ext cx="9512180" cy="614473"/>
          </a:xfrm>
          <a:prstGeom prst="roundRect">
            <a:avLst/>
          </a:prstGeom>
          <a:solidFill>
            <a:schemeClr val="accent4">
              <a:lumMod val="60000"/>
              <a:lumOff val="40000"/>
              <a:alpha val="41668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8F3DDB07-A838-92D3-19A1-24C270886270}"/>
              </a:ext>
            </a:extLst>
          </p:cNvPr>
          <p:cNvSpPr/>
          <p:nvPr/>
        </p:nvSpPr>
        <p:spPr>
          <a:xfrm>
            <a:off x="15180988" y="8767699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15</a:t>
            </a: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7" name="Right Arrow 6">
            <a:extLst>
              <a:ext uri="{FF2B5EF4-FFF2-40B4-BE49-F238E27FC236}">
                <a16:creationId xmlns:a16="http://schemas.microsoft.com/office/drawing/2014/main" id="{0BE67DFA-772D-944A-7D71-C5978B165AC9}"/>
              </a:ext>
            </a:extLst>
          </p:cNvPr>
          <p:cNvSpPr/>
          <p:nvPr/>
        </p:nvSpPr>
        <p:spPr>
          <a:xfrm rot="16200000">
            <a:off x="14977688" y="10581221"/>
            <a:ext cx="1453118" cy="782316"/>
          </a:xfrm>
          <a:prstGeom prst="rightArrow">
            <a:avLst/>
          </a:prstGeom>
          <a:solidFill>
            <a:schemeClr val="accent2">
              <a:lumMod val="60000"/>
              <a:lumOff val="40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!!box">
                <a:extLst>
                  <a:ext uri="{FF2B5EF4-FFF2-40B4-BE49-F238E27FC236}">
                    <a16:creationId xmlns:a16="http://schemas.microsoft.com/office/drawing/2014/main" id="{F7465C72-E430-EBB5-CE05-5CC2B504530D}"/>
                  </a:ext>
                </a:extLst>
              </p:cNvPr>
              <p:cNvSpPr/>
              <p:nvPr/>
            </p:nvSpPr>
            <p:spPr>
              <a:xfrm>
                <a:off x="15089347" y="12042387"/>
                <a:ext cx="1243401" cy="658336"/>
              </a:xfrm>
              <a:prstGeom prst="roundRect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 w="63500" cap="flat">
                <a:solidFill>
                  <a:schemeClr val="tx1"/>
                </a:solidFill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50800" tIns="50800" rIns="50800" bIns="50800" numCol="1" spcCol="38100" rtlCol="0" anchor="ctr">
                <a:spAutoFit/>
              </a:bodyPr>
              <a:lstStyle/>
              <a:p>
                <a:pPr marL="0" marR="0" indent="0" defTabSz="8255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14:m>
                  <m:oMath xmlns:m="http://schemas.openxmlformats.org/officeDocument/2006/math">
                    <m:r>
                      <a:rPr lang="en-US" sz="3200" i="1" dirty="0">
                        <a:ln w="0"/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effectLst>
                          <a:outerShdw blurRad="38100" dist="19050" dir="2700000" algn="tl" rotWithShape="0">
                            <a:schemeClr val="dk1">
                              <a:alpha val="40000"/>
                            </a:schemeClr>
                          </a:outerShdw>
                        </a:effectLst>
                        <a:latin typeface="Cambria Math" panose="02040503050406030204" pitchFamily="18" charset="0"/>
                        <a:ea typeface="Cambria Math" panose="02040503050406030204" pitchFamily="18" charset="0"/>
                        <a:cs typeface="Helvetica Neue Medium"/>
                        <a:sym typeface="Helvetica Neue Medium"/>
                      </a:rPr>
                      <m:t>𝑗</m:t>
                    </m:r>
                  </m:oMath>
                </a14:m>
                <a:r>
                  <a:rPr lang="en-US" sz="3200" dirty="0">
                    <a:solidFill>
                      <a:schemeClr val="bg1"/>
                    </a:solidFill>
                    <a:latin typeface="Bradley Hand" pitchFamily="2" charset="77"/>
                    <a:sym typeface="Helvetica Neue Medium"/>
                  </a:rPr>
                  <a:t> = 1</a:t>
                </a:r>
              </a:p>
            </p:txBody>
          </p:sp>
        </mc:Choice>
        <mc:Fallback xmlns="">
          <p:sp>
            <p:nvSpPr>
              <p:cNvPr id="8" name="!!box">
                <a:extLst>
                  <a:ext uri="{FF2B5EF4-FFF2-40B4-BE49-F238E27FC236}">
                    <a16:creationId xmlns:a16="http://schemas.microsoft.com/office/drawing/2014/main" id="{F7465C72-E430-EBB5-CE05-5CC2B504530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089347" y="12042387"/>
                <a:ext cx="1243401" cy="658336"/>
              </a:xfrm>
              <a:prstGeom prst="roundRect">
                <a:avLst/>
              </a:prstGeom>
              <a:blipFill>
                <a:blip r:embed="rId4"/>
                <a:stretch>
                  <a:fillRect l="-5769" b="-18966"/>
                </a:stretch>
              </a:blipFill>
              <a:ln w="63500" cap="flat">
                <a:solidFill>
                  <a:schemeClr val="tx1"/>
                </a:solidFill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863119329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Word"/>
      </p:transition>
    </mc:Choice>
    <mc:Fallback>
      <p:transition spd="slow">
        <p:fade/>
      </p:transition>
    </mc:Fallback>
  </mc:AlternateContent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197540-7AFF-6DD0-5F31-B0366C6242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232F0C73-BA8B-919D-AEC6-CFF4D2887C28}"/>
              </a:ext>
            </a:extLst>
          </p:cNvPr>
          <p:cNvSpPr/>
          <p:nvPr/>
        </p:nvSpPr>
        <p:spPr>
          <a:xfrm>
            <a:off x="12912132" y="8475386"/>
            <a:ext cx="3849187" cy="1770434"/>
          </a:xfrm>
          <a:prstGeom prst="roundRect">
            <a:avLst/>
          </a:prstGeom>
          <a:solidFill>
            <a:schemeClr val="accent2">
              <a:lumMod val="50000"/>
              <a:alpha val="29955"/>
            </a:schemeClr>
          </a:solidFill>
          <a:ln w="63500" cap="flat">
            <a:solidFill>
              <a:schemeClr val="accent2">
                <a:lumMod val="5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33EC1E8F-5804-EFFA-6D84-5F3237D76637}"/>
              </a:ext>
            </a:extLst>
          </p:cNvPr>
          <p:cNvSpPr/>
          <p:nvPr/>
        </p:nvSpPr>
        <p:spPr>
          <a:xfrm>
            <a:off x="13314436" y="8791245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2</a:t>
            </a: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7E09DC9A-6FE5-DAFD-E6F4-A4A8FD71598C}"/>
              </a:ext>
            </a:extLst>
          </p:cNvPr>
          <p:cNvSpPr/>
          <p:nvPr/>
        </p:nvSpPr>
        <p:spPr>
          <a:xfrm>
            <a:off x="12192001" y="477475"/>
            <a:ext cx="9239250" cy="1747996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3200" dirty="0">
                <a:solidFill>
                  <a:schemeClr val="bg1"/>
                </a:solidFill>
                <a:latin typeface="Bradley Hand" pitchFamily="2" charset="77"/>
                <a:sym typeface="Helvetica Neue Medium"/>
              </a:rPr>
              <a:t>Input/Output</a:t>
            </a:r>
          </a:p>
          <a:p>
            <a:pPr marL="0" marR="0" indent="0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3200" dirty="0">
                <a:solidFill>
                  <a:schemeClr val="accent6">
                    <a:lumMod val="40000"/>
                    <a:lumOff val="60000"/>
                  </a:schemeClr>
                </a:solidFill>
                <a:latin typeface="Bradley Hand" pitchFamily="2" charset="77"/>
                <a:sym typeface="Helvetica Neue Medium"/>
              </a:rPr>
              <a:t>4</a:t>
            </a:r>
            <a:endParaRPr lang="en-US" sz="3200" dirty="0">
              <a:solidFill>
                <a:schemeClr val="bg1"/>
              </a:solidFill>
              <a:latin typeface="Bradley Hand" pitchFamily="2" charset="77"/>
              <a:sym typeface="Helvetica Neue Medium"/>
            </a:endParaRP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US" sz="3200" dirty="0">
                <a:solidFill>
                  <a:schemeClr val="accent6">
                    <a:lumMod val="40000"/>
                    <a:lumOff val="60000"/>
                  </a:schemeClr>
                </a:solidFill>
                <a:latin typeface="Bradley Hand" pitchFamily="2" charset="77"/>
                <a:sym typeface="Helvetica Neue Medium"/>
              </a:rPr>
              <a:t>15 2 47 8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>
                <a:extLst>
                  <a:ext uri="{FF2B5EF4-FFF2-40B4-BE49-F238E27FC236}">
                    <a16:creationId xmlns:a16="http://schemas.microsoft.com/office/drawing/2014/main" id="{3D30D30B-0DDF-EAED-1DCB-77EE816C5405}"/>
                  </a:ext>
                </a:extLst>
              </p:cNvPr>
              <p:cNvSpPr/>
              <p:nvPr/>
            </p:nvSpPr>
            <p:spPr>
              <a:xfrm>
                <a:off x="12192000" y="2877285"/>
                <a:ext cx="9297919" cy="1747996"/>
              </a:xfrm>
              <a:prstGeom prst="roundRect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 w="63500" cap="flat">
                <a:solidFill>
                  <a:schemeClr val="tx1"/>
                </a:solidFill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50800" tIns="50800" rIns="50800" bIns="50800" numCol="1" spcCol="38100" rtlCol="0" anchor="ctr">
                <a:spAutoFit/>
              </a:bodyPr>
              <a:lstStyle/>
              <a:p>
                <a:pPr marL="0" marR="0" indent="0" defTabSz="8255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r>
                  <a:rPr lang="en-US" sz="3200" dirty="0">
                    <a:solidFill>
                      <a:schemeClr val="bg1"/>
                    </a:solidFill>
                    <a:latin typeface="Bradley Hand" pitchFamily="2" charset="77"/>
                    <a:sym typeface="Helvetica Neue Medium"/>
                  </a:rPr>
                  <a:t>Variables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14:m>
                  <m:oMath xmlns:m="http://schemas.openxmlformats.org/officeDocument/2006/math">
                    <m:r>
                      <a:rPr lang="en-US" sz="3200" i="1" smtClean="0">
                        <a:ln w="0"/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effectLst>
                          <a:outerShdw blurRad="38100" dist="19050" dir="2700000" algn="tl" rotWithShape="0">
                            <a:schemeClr val="dk1">
                              <a:alpha val="40000"/>
                            </a:schemeClr>
                          </a:outerShdw>
                        </a:effectLst>
                        <a:latin typeface="Cambria Math" panose="02040503050406030204" pitchFamily="18" charset="0"/>
                        <a:ea typeface="Cambria Math" panose="02040503050406030204" pitchFamily="18" charset="0"/>
                        <a:cs typeface="Helvetica Neue Medium"/>
                        <a:sym typeface="Helvetica Neue Medium"/>
                      </a:rPr>
                      <m:t>𝑛</m:t>
                    </m:r>
                  </m:oMath>
                </a14:m>
                <a:r>
                  <a:rPr lang="en-US" sz="3200" dirty="0">
                    <a:solidFill>
                      <a:schemeClr val="bg1"/>
                    </a:solidFill>
                    <a:latin typeface="Bradley Hand" pitchFamily="2" charset="77"/>
                    <a:sym typeface="Helvetica Neue Medium"/>
                  </a:rPr>
                  <a:t>=4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14:m>
                  <m:oMath xmlns:m="http://schemas.openxmlformats.org/officeDocument/2006/math">
                    <m:r>
                      <a:rPr lang="en-US" sz="3200" i="1">
                        <a:ln w="0"/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effectLst>
                          <a:outerShdw blurRad="38100" dist="19050" dir="2700000" algn="tl" rotWithShape="0">
                            <a:schemeClr val="dk1">
                              <a:alpha val="40000"/>
                            </a:schemeClr>
                          </a:outerShdw>
                        </a:effectLst>
                        <a:latin typeface="Cambria Math" panose="02040503050406030204" pitchFamily="18" charset="0"/>
                        <a:ea typeface="Cambria Math" panose="02040503050406030204" pitchFamily="18" charset="0"/>
                        <a:cs typeface="Helvetica Neue Medium"/>
                        <a:sym typeface="Helvetica Neue Medium"/>
                      </a:rPr>
                      <m:t>𝑖</m:t>
                    </m:r>
                  </m:oMath>
                </a14:m>
                <a:r>
                  <a:rPr lang="en-US" sz="3200" dirty="0">
                    <a:solidFill>
                      <a:schemeClr val="bg1"/>
                    </a:solidFill>
                    <a:latin typeface="Bradley Hand" pitchFamily="2" charset="77"/>
                    <a:sym typeface="Helvetica Neue Medium"/>
                  </a:rPr>
                  <a:t>=1</a:t>
                </a:r>
              </a:p>
            </p:txBody>
          </p:sp>
        </mc:Choice>
        <mc:Fallback xmlns="">
          <p:sp>
            <p:nvSpPr>
              <p:cNvPr id="4" name="Rounded Rectangle 3">
                <a:extLst>
                  <a:ext uri="{FF2B5EF4-FFF2-40B4-BE49-F238E27FC236}">
                    <a16:creationId xmlns:a16="http://schemas.microsoft.com/office/drawing/2014/main" id="{817A4D07-FA38-D3DE-AFDF-31CD481FAF8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192000" y="2877285"/>
                <a:ext cx="9297919" cy="1747996"/>
              </a:xfrm>
              <a:prstGeom prst="roundRect">
                <a:avLst/>
              </a:prstGeom>
              <a:blipFill>
                <a:blip r:embed="rId2"/>
                <a:stretch>
                  <a:fillRect l="-813" b="-4196"/>
                </a:stretch>
              </a:blipFill>
              <a:ln w="63500" cap="flat">
                <a:solidFill>
                  <a:schemeClr val="tx1"/>
                </a:solidFill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9" name="Rounded Rectangle 8">
                <a:extLst>
                  <a:ext uri="{FF2B5EF4-FFF2-40B4-BE49-F238E27FC236}">
                    <a16:creationId xmlns:a16="http://schemas.microsoft.com/office/drawing/2014/main" id="{95376A9D-C4EB-9237-1222-B21B3C604CCA}"/>
                  </a:ext>
                </a:extLst>
              </p:cNvPr>
              <p:cNvSpPr/>
              <p:nvPr/>
            </p:nvSpPr>
            <p:spPr>
              <a:xfrm>
                <a:off x="948986" y="209566"/>
                <a:ext cx="9543957" cy="10036254"/>
              </a:xfrm>
              <a:prstGeom prst="roundRect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 w="63500" cap="flat">
                <a:solidFill>
                  <a:schemeClr val="tx1"/>
                </a:solidFill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50800" tIns="50800" rIns="50800" bIns="50800" numCol="1" spcCol="38100" rtlCol="0" anchor="ctr">
                <a:spAutoFit/>
              </a:bodyPr>
              <a:lstStyle/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#include </a:t>
                </a:r>
                <a:r>
                  <a:rPr lang="en-IN" sz="28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&lt;</a:t>
                </a:r>
                <a:r>
                  <a:rPr lang="en-IN" sz="2800" dirty="0" err="1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stdio.h</a:t>
                </a:r>
                <a:r>
                  <a:rPr lang="en-IN" sz="28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&gt;</a:t>
                </a:r>
                <a:b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</a:br>
                <a:b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</a:br>
                <a:r>
                  <a:rPr lang="en-IN" sz="28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int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IN" sz="28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main</a:t>
                </a:r>
                <a:r>
                  <a:rPr lang="en-IN" sz="2800" dirty="0">
                    <a:solidFill>
                      <a:schemeClr val="accent4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()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{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US" sz="28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 int</a:t>
                </a:r>
                <a:r>
                  <a:rPr lang="en-US" sz="28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800" i="1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,</a:t>
                </a:r>
                <a14:m>
                  <m:oMath xmlns:m="http://schemas.openxmlformats.org/officeDocument/2006/math">
                    <m:r>
                      <a:rPr lang="en-US" sz="2800" i="1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,</a:t>
                </a:r>
                <a14:m>
                  <m:oMath xmlns:m="http://schemas.openxmlformats.org/officeDocument/2006/math">
                    <m:r>
                      <a:rPr lang="en-IN" sz="28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</a:t>
                </a:r>
                <a:r>
                  <a:rPr lang="en-IN" sz="2800" dirty="0" err="1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scanf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(“%d”, &amp;</a:t>
                </a:r>
                <a14:m>
                  <m:oMath xmlns:m="http://schemas.openxmlformats.org/officeDocument/2006/math">
                    <m:r>
                      <a:rPr lang="en-IN" sz="28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);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int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IN" sz="2800" dirty="0" err="1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num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</a:t>
                </a:r>
                <a14:m>
                  <m:oMath xmlns:m="http://schemas.openxmlformats.org/officeDocument/2006/math">
                    <m:r>
                      <a:rPr lang="en-IN" sz="28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];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</a:t>
                </a:r>
                <a:r>
                  <a:rPr lang="en-IN" sz="28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for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</a:t>
                </a:r>
                <a14:m>
                  <m:oMath xmlns:m="http://schemas.openxmlformats.org/officeDocument/2006/math">
                    <m:r>
                      <a:rPr lang="en-US" sz="2800" i="1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=0 ; </a:t>
                </a:r>
                <a14:m>
                  <m:oMath xmlns:m="http://schemas.openxmlformats.org/officeDocument/2006/math">
                    <m:r>
                      <a:rPr lang="en-US" sz="2800" i="1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&lt; </a:t>
                </a:r>
                <a14:m>
                  <m:oMath xmlns:m="http://schemas.openxmlformats.org/officeDocument/2006/math">
                    <m:r>
                      <a:rPr lang="en-IN" sz="28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; </a:t>
                </a:r>
                <a14:m>
                  <m:oMath xmlns:m="http://schemas.openxmlformats.org/officeDocument/2006/math">
                    <m:r>
                      <a:rPr lang="en-US" sz="2800" i="1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++)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{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</a:t>
                </a:r>
                <a:r>
                  <a:rPr lang="en-IN" sz="2800" dirty="0" err="1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scanf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(“%d”, &amp;</a:t>
                </a:r>
                <a:r>
                  <a:rPr lang="en-IN" sz="2800" dirty="0" err="1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num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</a:t>
                </a:r>
                <a14:m>
                  <m:oMath xmlns:m="http://schemas.openxmlformats.org/officeDocument/2006/math">
                    <m:r>
                      <a:rPr lang="en-US" sz="2800" i="1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]);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for( </a:t>
                </a:r>
                <a14:m>
                  <m:oMath xmlns:m="http://schemas.openxmlformats.org/officeDocument/2006/math">
                    <m:r>
                      <a:rPr lang="en-IN" sz="2800" i="1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= </a:t>
                </a:r>
                <a14:m>
                  <m:oMath xmlns:m="http://schemas.openxmlformats.org/officeDocument/2006/math">
                    <m:r>
                      <a:rPr lang="en-US" sz="2800" i="1">
                        <a:ln w="0"/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effectLst>
                          <a:outerShdw blurRad="38100" dist="19050" dir="2700000" algn="tl" rotWithShape="0">
                            <a:schemeClr val="dk1">
                              <a:alpha val="40000"/>
                            </a:schemeClr>
                          </a:outerShdw>
                        </a:effectLst>
                        <a:latin typeface="Cambria Math" panose="02040503050406030204" pitchFamily="18" charset="0"/>
                        <a:ea typeface="Cambria Math" panose="02040503050406030204" pitchFamily="18" charset="0"/>
                        <a:cs typeface="Helvetica Neue Medium"/>
                        <a:sym typeface="Helvetica Neue Medium"/>
                      </a:rPr>
                      <m:t>𝑖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; </a:t>
                </a:r>
                <a14:m>
                  <m:oMath xmlns:m="http://schemas.openxmlformats.org/officeDocument/2006/math">
                    <m:r>
                      <a:rPr lang="en-IN" sz="28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&gt; 0; </a:t>
                </a:r>
                <a14:m>
                  <m:oMath xmlns:m="http://schemas.openxmlformats.org/officeDocument/2006/math">
                    <m:r>
                      <a:rPr lang="en-IN" sz="28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𝑗</m:t>
                    </m:r>
                    <m:r>
                      <a:rPr lang="en-IN" sz="28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--)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{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	</a:t>
                </a:r>
                <a:r>
                  <a:rPr lang="en-IN" sz="28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if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( </a:t>
                </a:r>
                <a:r>
                  <a:rPr lang="en-IN" sz="2800" dirty="0" err="1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num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</a:t>
                </a:r>
                <a14:m>
                  <m:oMath xmlns:m="http://schemas.openxmlformats.org/officeDocument/2006/math">
                    <m:r>
                      <a:rPr lang="en-IN" sz="2800" i="1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] &lt; </a:t>
                </a:r>
                <a:r>
                  <a:rPr lang="en-IN" sz="2800" dirty="0" err="1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num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</a:t>
                </a:r>
                <a14:m>
                  <m:oMath xmlns:m="http://schemas.openxmlformats.org/officeDocument/2006/math">
                    <m:r>
                      <a:rPr lang="en-IN" sz="28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𝑗</m:t>
                    </m:r>
                    <m:r>
                      <a:rPr lang="en-IN" sz="28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-1] )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	{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		</a:t>
                </a:r>
                <a:r>
                  <a:rPr lang="en-IN" sz="28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int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IN" sz="28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temp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= </a:t>
                </a:r>
                <a:r>
                  <a:rPr lang="en-IN" sz="2800" dirty="0" err="1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num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</a:t>
                </a:r>
                <a14:m>
                  <m:oMath xmlns:m="http://schemas.openxmlformats.org/officeDocument/2006/math">
                    <m:r>
                      <a:rPr lang="en-IN" sz="2800" i="1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];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		</a:t>
                </a:r>
                <a:r>
                  <a:rPr lang="en-IN" sz="2800" dirty="0" err="1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num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</a:t>
                </a:r>
                <a14:m>
                  <m:oMath xmlns:m="http://schemas.openxmlformats.org/officeDocument/2006/math">
                    <m:r>
                      <a:rPr lang="en-IN" sz="28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] = </a:t>
                </a:r>
                <a:r>
                  <a:rPr lang="en-IN" sz="2800" dirty="0" err="1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num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</a:t>
                </a:r>
                <a14:m>
                  <m:oMath xmlns:m="http://schemas.openxmlformats.org/officeDocument/2006/math">
                    <m:r>
                      <a:rPr lang="en-IN" sz="2800" i="1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𝑗</m:t>
                    </m:r>
                    <m:r>
                      <a:rPr lang="en-IN" sz="2800" i="1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-1];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		</a:t>
                </a:r>
                <a:r>
                  <a:rPr lang="en-IN" sz="2800" dirty="0" err="1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num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</a:t>
                </a:r>
                <a14:m>
                  <m:oMath xmlns:m="http://schemas.openxmlformats.org/officeDocument/2006/math">
                    <m:r>
                      <a:rPr lang="en-IN" sz="2800" i="1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𝑗</m:t>
                    </m:r>
                    <m:r>
                      <a:rPr lang="en-IN" sz="2800" i="1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-1] = </a:t>
                </a:r>
                <a:r>
                  <a:rPr lang="en-IN" sz="28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temp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;</a:t>
                </a:r>
                <a:endParaRPr lang="en-IN" sz="2800" dirty="0">
                  <a:solidFill>
                    <a:schemeClr val="accent1">
                      <a:lumMod val="40000"/>
                      <a:lumOff val="60000"/>
                    </a:schemeClr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	}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} 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}</a:t>
                </a:r>
                <a:b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</a:b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</a:t>
                </a:r>
                <a:r>
                  <a:rPr lang="en-IN" sz="28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return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0;</a:t>
                </a:r>
                <a:b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</a:b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}</a:t>
                </a:r>
                <a:endParaRPr lang="en-US" sz="2800" dirty="0">
                  <a:solidFill>
                    <a:schemeClr val="bg1"/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>
          <p:sp>
            <p:nvSpPr>
              <p:cNvPr id="9" name="Rounded Rectangle 8">
                <a:extLst>
                  <a:ext uri="{FF2B5EF4-FFF2-40B4-BE49-F238E27FC236}">
                    <a16:creationId xmlns:a16="http://schemas.microsoft.com/office/drawing/2014/main" id="{95376A9D-C4EB-9237-1222-B21B3C604CC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48986" y="209566"/>
                <a:ext cx="9543957" cy="10036254"/>
              </a:xfrm>
              <a:prstGeom prst="roundRect">
                <a:avLst/>
              </a:prstGeom>
              <a:blipFill>
                <a:blip r:embed="rId3"/>
                <a:stretch>
                  <a:fillRect/>
                </a:stretch>
              </a:blipFill>
              <a:ln w="63500" cap="flat">
                <a:solidFill>
                  <a:schemeClr val="tx1"/>
                </a:solidFill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93E7C3B3-2ECE-C03C-56B1-B14F5992E450}"/>
              </a:ext>
            </a:extLst>
          </p:cNvPr>
          <p:cNvSpPr/>
          <p:nvPr/>
        </p:nvSpPr>
        <p:spPr>
          <a:xfrm>
            <a:off x="948986" y="4500924"/>
            <a:ext cx="9512180" cy="614473"/>
          </a:xfrm>
          <a:prstGeom prst="roundRect">
            <a:avLst/>
          </a:prstGeom>
          <a:solidFill>
            <a:schemeClr val="accent4">
              <a:lumMod val="60000"/>
              <a:lumOff val="40000"/>
              <a:alpha val="41668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502C4786-0413-99C6-E8BA-A10D9A85FE15}"/>
              </a:ext>
            </a:extLst>
          </p:cNvPr>
          <p:cNvSpPr/>
          <p:nvPr/>
        </p:nvSpPr>
        <p:spPr>
          <a:xfrm>
            <a:off x="15180988" y="8767699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15</a:t>
            </a: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7" name="Right Arrow 6">
            <a:extLst>
              <a:ext uri="{FF2B5EF4-FFF2-40B4-BE49-F238E27FC236}">
                <a16:creationId xmlns:a16="http://schemas.microsoft.com/office/drawing/2014/main" id="{04B5F912-82CF-6520-0C27-5CA4838947B6}"/>
              </a:ext>
            </a:extLst>
          </p:cNvPr>
          <p:cNvSpPr/>
          <p:nvPr/>
        </p:nvSpPr>
        <p:spPr>
          <a:xfrm rot="16200000">
            <a:off x="13202777" y="10581221"/>
            <a:ext cx="1453118" cy="782316"/>
          </a:xfrm>
          <a:prstGeom prst="rightArrow">
            <a:avLst/>
          </a:prstGeom>
          <a:solidFill>
            <a:schemeClr val="accent2">
              <a:lumMod val="60000"/>
              <a:lumOff val="40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" name="!!box">
                <a:extLst>
                  <a:ext uri="{FF2B5EF4-FFF2-40B4-BE49-F238E27FC236}">
                    <a16:creationId xmlns:a16="http://schemas.microsoft.com/office/drawing/2014/main" id="{B9F38F5A-BE22-C9BC-AAE4-CEABD0E8ED42}"/>
                  </a:ext>
                </a:extLst>
              </p:cNvPr>
              <p:cNvSpPr/>
              <p:nvPr/>
            </p:nvSpPr>
            <p:spPr>
              <a:xfrm>
                <a:off x="13314436" y="12042387"/>
                <a:ext cx="1243401" cy="658336"/>
              </a:xfrm>
              <a:prstGeom prst="roundRect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 w="63500" cap="flat">
                <a:solidFill>
                  <a:schemeClr val="tx1"/>
                </a:solidFill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50800" tIns="50800" rIns="50800" bIns="50800" numCol="1" spcCol="38100" rtlCol="0" anchor="ctr">
                <a:spAutoFit/>
              </a:bodyPr>
              <a:lstStyle/>
              <a:p>
                <a:pPr marL="0" marR="0" indent="0" defTabSz="8255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14:m>
                  <m:oMath xmlns:m="http://schemas.openxmlformats.org/officeDocument/2006/math">
                    <m:r>
                      <a:rPr lang="en-US" sz="3200" i="1" dirty="0">
                        <a:ln w="0"/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effectLst>
                          <a:outerShdw blurRad="38100" dist="19050" dir="2700000" algn="tl" rotWithShape="0">
                            <a:schemeClr val="dk1">
                              <a:alpha val="40000"/>
                            </a:schemeClr>
                          </a:outerShdw>
                        </a:effectLst>
                        <a:latin typeface="Cambria Math" panose="02040503050406030204" pitchFamily="18" charset="0"/>
                        <a:ea typeface="Cambria Math" panose="02040503050406030204" pitchFamily="18" charset="0"/>
                        <a:cs typeface="Helvetica Neue Medium"/>
                        <a:sym typeface="Helvetica Neue Medium"/>
                      </a:rPr>
                      <m:t>𝑗</m:t>
                    </m:r>
                  </m:oMath>
                </a14:m>
                <a:r>
                  <a:rPr lang="en-US" sz="3200" dirty="0">
                    <a:solidFill>
                      <a:schemeClr val="bg1"/>
                    </a:solidFill>
                    <a:latin typeface="Bradley Hand" pitchFamily="2" charset="77"/>
                    <a:sym typeface="Helvetica Neue Medium"/>
                  </a:rPr>
                  <a:t> = 0</a:t>
                </a:r>
              </a:p>
            </p:txBody>
          </p:sp>
        </mc:Choice>
        <mc:Fallback>
          <p:sp>
            <p:nvSpPr>
              <p:cNvPr id="8" name="!!box">
                <a:extLst>
                  <a:ext uri="{FF2B5EF4-FFF2-40B4-BE49-F238E27FC236}">
                    <a16:creationId xmlns:a16="http://schemas.microsoft.com/office/drawing/2014/main" id="{B9F38F5A-BE22-C9BC-AAE4-CEABD0E8ED4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314436" y="12042387"/>
                <a:ext cx="1243401" cy="658336"/>
              </a:xfrm>
              <a:prstGeom prst="roundRect">
                <a:avLst/>
              </a:prstGeom>
              <a:blipFill>
                <a:blip r:embed="rId4"/>
                <a:stretch>
                  <a:fillRect l="-5769" b="-18966"/>
                </a:stretch>
              </a:blipFill>
              <a:ln w="63500" cap="flat">
                <a:solidFill>
                  <a:schemeClr val="tx1"/>
                </a:solidFill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28025046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Word"/>
      </p:transition>
    </mc:Choice>
    <mc:Fallback>
      <p:transition spd="slow">
        <p:fade/>
      </p:transition>
    </mc:Fallback>
  </mc:AlternateContent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4CCC28-6E09-36F6-0913-B8F5234C40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9C415FA9-83BB-1E2A-5240-72864333E94C}"/>
              </a:ext>
            </a:extLst>
          </p:cNvPr>
          <p:cNvSpPr/>
          <p:nvPr/>
        </p:nvSpPr>
        <p:spPr>
          <a:xfrm>
            <a:off x="12912132" y="8475386"/>
            <a:ext cx="3849187" cy="1770434"/>
          </a:xfrm>
          <a:prstGeom prst="roundRect">
            <a:avLst/>
          </a:prstGeom>
          <a:solidFill>
            <a:schemeClr val="accent2">
              <a:lumMod val="50000"/>
              <a:alpha val="29955"/>
            </a:schemeClr>
          </a:solidFill>
          <a:ln w="63500" cap="flat">
            <a:solidFill>
              <a:schemeClr val="accent2">
                <a:lumMod val="5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CD8A8904-6063-6E5A-6C42-0DE1B82F2114}"/>
              </a:ext>
            </a:extLst>
          </p:cNvPr>
          <p:cNvSpPr/>
          <p:nvPr/>
        </p:nvSpPr>
        <p:spPr>
          <a:xfrm>
            <a:off x="13314436" y="8791245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2</a:t>
            </a: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9419FEB1-9B5A-82FE-D33E-9EB61FAA046A}"/>
              </a:ext>
            </a:extLst>
          </p:cNvPr>
          <p:cNvSpPr/>
          <p:nvPr/>
        </p:nvSpPr>
        <p:spPr>
          <a:xfrm>
            <a:off x="12192001" y="477475"/>
            <a:ext cx="9239250" cy="1747996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3200" dirty="0">
                <a:solidFill>
                  <a:schemeClr val="bg1"/>
                </a:solidFill>
                <a:latin typeface="Bradley Hand" pitchFamily="2" charset="77"/>
                <a:sym typeface="Helvetica Neue Medium"/>
              </a:rPr>
              <a:t>Input/Output</a:t>
            </a:r>
          </a:p>
          <a:p>
            <a:pPr marL="0" marR="0" indent="0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3200" dirty="0">
                <a:solidFill>
                  <a:schemeClr val="accent6">
                    <a:lumMod val="40000"/>
                    <a:lumOff val="60000"/>
                  </a:schemeClr>
                </a:solidFill>
                <a:latin typeface="Bradley Hand" pitchFamily="2" charset="77"/>
                <a:sym typeface="Helvetica Neue Medium"/>
              </a:rPr>
              <a:t>4</a:t>
            </a:r>
            <a:endParaRPr lang="en-US" sz="3200" dirty="0">
              <a:solidFill>
                <a:schemeClr val="bg1"/>
              </a:solidFill>
              <a:latin typeface="Bradley Hand" pitchFamily="2" charset="77"/>
              <a:sym typeface="Helvetica Neue Medium"/>
            </a:endParaRP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US" sz="3200" dirty="0">
                <a:solidFill>
                  <a:schemeClr val="accent6">
                    <a:lumMod val="40000"/>
                    <a:lumOff val="60000"/>
                  </a:schemeClr>
                </a:solidFill>
                <a:latin typeface="Bradley Hand" pitchFamily="2" charset="77"/>
                <a:sym typeface="Helvetica Neue Medium"/>
              </a:rPr>
              <a:t>15 2 47 8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>
                <a:extLst>
                  <a:ext uri="{FF2B5EF4-FFF2-40B4-BE49-F238E27FC236}">
                    <a16:creationId xmlns:a16="http://schemas.microsoft.com/office/drawing/2014/main" id="{2C7D6E90-05EF-40FA-1948-500DB5BDA220}"/>
                  </a:ext>
                </a:extLst>
              </p:cNvPr>
              <p:cNvSpPr/>
              <p:nvPr/>
            </p:nvSpPr>
            <p:spPr>
              <a:xfrm>
                <a:off x="12192000" y="2877285"/>
                <a:ext cx="9297919" cy="1747996"/>
              </a:xfrm>
              <a:prstGeom prst="roundRect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 w="63500" cap="flat">
                <a:solidFill>
                  <a:schemeClr val="tx1"/>
                </a:solidFill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50800" tIns="50800" rIns="50800" bIns="50800" numCol="1" spcCol="38100" rtlCol="0" anchor="ctr">
                <a:spAutoFit/>
              </a:bodyPr>
              <a:lstStyle/>
              <a:p>
                <a:pPr marL="0" marR="0" indent="0" defTabSz="8255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r>
                  <a:rPr lang="en-US" sz="3200" dirty="0">
                    <a:solidFill>
                      <a:schemeClr val="bg1"/>
                    </a:solidFill>
                    <a:latin typeface="Bradley Hand" pitchFamily="2" charset="77"/>
                    <a:sym typeface="Helvetica Neue Medium"/>
                  </a:rPr>
                  <a:t>Variables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14:m>
                  <m:oMath xmlns:m="http://schemas.openxmlformats.org/officeDocument/2006/math">
                    <m:r>
                      <a:rPr lang="en-US" sz="3200" i="1" smtClean="0">
                        <a:ln w="0"/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effectLst>
                          <a:outerShdw blurRad="38100" dist="19050" dir="2700000" algn="tl" rotWithShape="0">
                            <a:schemeClr val="dk1">
                              <a:alpha val="40000"/>
                            </a:schemeClr>
                          </a:outerShdw>
                        </a:effectLst>
                        <a:latin typeface="Cambria Math" panose="02040503050406030204" pitchFamily="18" charset="0"/>
                        <a:ea typeface="Cambria Math" panose="02040503050406030204" pitchFamily="18" charset="0"/>
                        <a:cs typeface="Helvetica Neue Medium"/>
                        <a:sym typeface="Helvetica Neue Medium"/>
                      </a:rPr>
                      <m:t>𝑛</m:t>
                    </m:r>
                  </m:oMath>
                </a14:m>
                <a:r>
                  <a:rPr lang="en-US" sz="3200" dirty="0">
                    <a:solidFill>
                      <a:schemeClr val="bg1"/>
                    </a:solidFill>
                    <a:latin typeface="Bradley Hand" pitchFamily="2" charset="77"/>
                    <a:sym typeface="Helvetica Neue Medium"/>
                  </a:rPr>
                  <a:t>=4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14:m>
                  <m:oMath xmlns:m="http://schemas.openxmlformats.org/officeDocument/2006/math">
                    <m:r>
                      <a:rPr lang="en-US" sz="3200" i="1">
                        <a:ln w="0"/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effectLst>
                          <a:outerShdw blurRad="38100" dist="19050" dir="2700000" algn="tl" rotWithShape="0">
                            <a:schemeClr val="dk1">
                              <a:alpha val="40000"/>
                            </a:schemeClr>
                          </a:outerShdw>
                        </a:effectLst>
                        <a:latin typeface="Cambria Math" panose="02040503050406030204" pitchFamily="18" charset="0"/>
                        <a:ea typeface="Cambria Math" panose="02040503050406030204" pitchFamily="18" charset="0"/>
                        <a:cs typeface="Helvetica Neue Medium"/>
                        <a:sym typeface="Helvetica Neue Medium"/>
                      </a:rPr>
                      <m:t>𝑖</m:t>
                    </m:r>
                  </m:oMath>
                </a14:m>
                <a:r>
                  <a:rPr lang="en-US" sz="3200" dirty="0">
                    <a:solidFill>
                      <a:schemeClr val="bg1"/>
                    </a:solidFill>
                    <a:latin typeface="Bradley Hand" pitchFamily="2" charset="77"/>
                    <a:sym typeface="Helvetica Neue Medium"/>
                  </a:rPr>
                  <a:t>=1</a:t>
                </a:r>
              </a:p>
            </p:txBody>
          </p:sp>
        </mc:Choice>
        <mc:Fallback xmlns="">
          <p:sp>
            <p:nvSpPr>
              <p:cNvPr id="4" name="Rounded Rectangle 3">
                <a:extLst>
                  <a:ext uri="{FF2B5EF4-FFF2-40B4-BE49-F238E27FC236}">
                    <a16:creationId xmlns:a16="http://schemas.microsoft.com/office/drawing/2014/main" id="{817A4D07-FA38-D3DE-AFDF-31CD481FAF8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192000" y="2877285"/>
                <a:ext cx="9297919" cy="1747996"/>
              </a:xfrm>
              <a:prstGeom prst="roundRect">
                <a:avLst/>
              </a:prstGeom>
              <a:blipFill>
                <a:blip r:embed="rId2"/>
                <a:stretch>
                  <a:fillRect l="-813" b="-4196"/>
                </a:stretch>
              </a:blipFill>
              <a:ln w="63500" cap="flat">
                <a:solidFill>
                  <a:schemeClr val="tx1"/>
                </a:solidFill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9" name="Rounded Rectangle 8">
                <a:extLst>
                  <a:ext uri="{FF2B5EF4-FFF2-40B4-BE49-F238E27FC236}">
                    <a16:creationId xmlns:a16="http://schemas.microsoft.com/office/drawing/2014/main" id="{2CE2A6E9-F5F5-1218-E2BD-1A7D74D50150}"/>
                  </a:ext>
                </a:extLst>
              </p:cNvPr>
              <p:cNvSpPr/>
              <p:nvPr/>
            </p:nvSpPr>
            <p:spPr>
              <a:xfrm>
                <a:off x="948986" y="209566"/>
                <a:ext cx="9543957" cy="10036254"/>
              </a:xfrm>
              <a:prstGeom prst="roundRect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 w="63500" cap="flat">
                <a:solidFill>
                  <a:schemeClr val="tx1"/>
                </a:solidFill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50800" tIns="50800" rIns="50800" bIns="50800" numCol="1" spcCol="38100" rtlCol="0" anchor="ctr">
                <a:spAutoFit/>
              </a:bodyPr>
              <a:lstStyle/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#include </a:t>
                </a:r>
                <a:r>
                  <a:rPr lang="en-IN" sz="28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&lt;</a:t>
                </a:r>
                <a:r>
                  <a:rPr lang="en-IN" sz="2800" dirty="0" err="1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stdio.h</a:t>
                </a:r>
                <a:r>
                  <a:rPr lang="en-IN" sz="28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&gt;</a:t>
                </a:r>
                <a:b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</a:br>
                <a:b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</a:br>
                <a:r>
                  <a:rPr lang="en-IN" sz="28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int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IN" sz="28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main</a:t>
                </a:r>
                <a:r>
                  <a:rPr lang="en-IN" sz="2800" dirty="0">
                    <a:solidFill>
                      <a:schemeClr val="accent4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()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{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US" sz="28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 int</a:t>
                </a:r>
                <a:r>
                  <a:rPr lang="en-US" sz="28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800" i="1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,</a:t>
                </a:r>
                <a14:m>
                  <m:oMath xmlns:m="http://schemas.openxmlformats.org/officeDocument/2006/math">
                    <m:r>
                      <a:rPr lang="en-US" sz="2800" i="1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,</a:t>
                </a:r>
                <a14:m>
                  <m:oMath xmlns:m="http://schemas.openxmlformats.org/officeDocument/2006/math">
                    <m:r>
                      <a:rPr lang="en-IN" sz="28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</a:t>
                </a:r>
                <a:r>
                  <a:rPr lang="en-IN" sz="2800" dirty="0" err="1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scanf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(“%d”, &amp;</a:t>
                </a:r>
                <a14:m>
                  <m:oMath xmlns:m="http://schemas.openxmlformats.org/officeDocument/2006/math">
                    <m:r>
                      <a:rPr lang="en-IN" sz="28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);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int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IN" sz="2800" dirty="0" err="1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num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</a:t>
                </a:r>
                <a14:m>
                  <m:oMath xmlns:m="http://schemas.openxmlformats.org/officeDocument/2006/math">
                    <m:r>
                      <a:rPr lang="en-IN" sz="28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];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</a:t>
                </a:r>
                <a:r>
                  <a:rPr lang="en-IN" sz="28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for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</a:t>
                </a:r>
                <a14:m>
                  <m:oMath xmlns:m="http://schemas.openxmlformats.org/officeDocument/2006/math">
                    <m:r>
                      <a:rPr lang="en-US" sz="2800" i="1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=0 ; </a:t>
                </a:r>
                <a14:m>
                  <m:oMath xmlns:m="http://schemas.openxmlformats.org/officeDocument/2006/math">
                    <m:r>
                      <a:rPr lang="en-US" sz="2800" i="1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&lt; </a:t>
                </a:r>
                <a14:m>
                  <m:oMath xmlns:m="http://schemas.openxmlformats.org/officeDocument/2006/math">
                    <m:r>
                      <a:rPr lang="en-IN" sz="28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; </a:t>
                </a:r>
                <a14:m>
                  <m:oMath xmlns:m="http://schemas.openxmlformats.org/officeDocument/2006/math">
                    <m:r>
                      <a:rPr lang="en-US" sz="2800" i="1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++)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{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</a:t>
                </a:r>
                <a:r>
                  <a:rPr lang="en-IN" sz="2800" dirty="0" err="1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scanf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(“%d”, &amp;</a:t>
                </a:r>
                <a:r>
                  <a:rPr lang="en-IN" sz="2800" dirty="0" err="1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num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</a:t>
                </a:r>
                <a14:m>
                  <m:oMath xmlns:m="http://schemas.openxmlformats.org/officeDocument/2006/math">
                    <m:r>
                      <a:rPr lang="en-US" sz="2800" i="1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]);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for( </a:t>
                </a:r>
                <a14:m>
                  <m:oMath xmlns:m="http://schemas.openxmlformats.org/officeDocument/2006/math">
                    <m:r>
                      <a:rPr lang="en-IN" sz="2800" i="1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= </a:t>
                </a:r>
                <a14:m>
                  <m:oMath xmlns:m="http://schemas.openxmlformats.org/officeDocument/2006/math">
                    <m:r>
                      <a:rPr lang="en-US" sz="2800" i="1">
                        <a:ln w="0"/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effectLst>
                          <a:outerShdw blurRad="38100" dist="19050" dir="2700000" algn="tl" rotWithShape="0">
                            <a:schemeClr val="dk1">
                              <a:alpha val="40000"/>
                            </a:schemeClr>
                          </a:outerShdw>
                        </a:effectLst>
                        <a:latin typeface="Cambria Math" panose="02040503050406030204" pitchFamily="18" charset="0"/>
                        <a:ea typeface="Cambria Math" panose="02040503050406030204" pitchFamily="18" charset="0"/>
                        <a:cs typeface="Helvetica Neue Medium"/>
                        <a:sym typeface="Helvetica Neue Medium"/>
                      </a:rPr>
                      <m:t>𝑖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; </a:t>
                </a:r>
                <a14:m>
                  <m:oMath xmlns:m="http://schemas.openxmlformats.org/officeDocument/2006/math">
                    <m:r>
                      <a:rPr lang="en-IN" sz="28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&gt; 0; </a:t>
                </a:r>
                <a14:m>
                  <m:oMath xmlns:m="http://schemas.openxmlformats.org/officeDocument/2006/math">
                    <m:r>
                      <a:rPr lang="en-IN" sz="28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𝑗</m:t>
                    </m:r>
                    <m:r>
                      <a:rPr lang="en-IN" sz="28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--)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{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	</a:t>
                </a:r>
                <a:r>
                  <a:rPr lang="en-IN" sz="28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if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( </a:t>
                </a:r>
                <a:r>
                  <a:rPr lang="en-IN" sz="2800" dirty="0" err="1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num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</a:t>
                </a:r>
                <a14:m>
                  <m:oMath xmlns:m="http://schemas.openxmlformats.org/officeDocument/2006/math">
                    <m:r>
                      <a:rPr lang="en-IN" sz="2800" i="1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] &lt; </a:t>
                </a:r>
                <a:r>
                  <a:rPr lang="en-IN" sz="2800" dirty="0" err="1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num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</a:t>
                </a:r>
                <a14:m>
                  <m:oMath xmlns:m="http://schemas.openxmlformats.org/officeDocument/2006/math">
                    <m:r>
                      <a:rPr lang="en-IN" sz="28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𝑗</m:t>
                    </m:r>
                    <m:r>
                      <a:rPr lang="en-IN" sz="28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-1] )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	{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		</a:t>
                </a:r>
                <a:r>
                  <a:rPr lang="en-IN" sz="28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int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IN" sz="28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temp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= </a:t>
                </a:r>
                <a:r>
                  <a:rPr lang="en-IN" sz="2800" dirty="0" err="1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num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</a:t>
                </a:r>
                <a14:m>
                  <m:oMath xmlns:m="http://schemas.openxmlformats.org/officeDocument/2006/math">
                    <m:r>
                      <a:rPr lang="en-IN" sz="2800" i="1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];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		</a:t>
                </a:r>
                <a:r>
                  <a:rPr lang="en-IN" sz="2800" dirty="0" err="1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num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</a:t>
                </a:r>
                <a14:m>
                  <m:oMath xmlns:m="http://schemas.openxmlformats.org/officeDocument/2006/math">
                    <m:r>
                      <a:rPr lang="en-IN" sz="28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] = </a:t>
                </a:r>
                <a:r>
                  <a:rPr lang="en-IN" sz="2800" dirty="0" err="1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num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</a:t>
                </a:r>
                <a14:m>
                  <m:oMath xmlns:m="http://schemas.openxmlformats.org/officeDocument/2006/math">
                    <m:r>
                      <a:rPr lang="en-IN" sz="2800" i="1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𝑗</m:t>
                    </m:r>
                    <m:r>
                      <a:rPr lang="en-IN" sz="2800" i="1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-1];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		</a:t>
                </a:r>
                <a:r>
                  <a:rPr lang="en-IN" sz="2800" dirty="0" err="1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num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</a:t>
                </a:r>
                <a14:m>
                  <m:oMath xmlns:m="http://schemas.openxmlformats.org/officeDocument/2006/math">
                    <m:r>
                      <a:rPr lang="en-IN" sz="2800" i="1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𝑗</m:t>
                    </m:r>
                    <m:r>
                      <a:rPr lang="en-IN" sz="2800" i="1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-1] = </a:t>
                </a:r>
                <a:r>
                  <a:rPr lang="en-IN" sz="28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temp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;</a:t>
                </a:r>
                <a:endParaRPr lang="en-IN" sz="2800" dirty="0">
                  <a:solidFill>
                    <a:schemeClr val="accent1">
                      <a:lumMod val="40000"/>
                      <a:lumOff val="60000"/>
                    </a:schemeClr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	}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} 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}</a:t>
                </a:r>
                <a:b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</a:b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</a:t>
                </a:r>
                <a:r>
                  <a:rPr lang="en-IN" sz="28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return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0;</a:t>
                </a:r>
                <a:b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</a:b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}</a:t>
                </a:r>
                <a:endParaRPr lang="en-US" sz="2800" dirty="0">
                  <a:solidFill>
                    <a:schemeClr val="bg1"/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>
          <p:sp>
            <p:nvSpPr>
              <p:cNvPr id="9" name="Rounded Rectangle 8">
                <a:extLst>
                  <a:ext uri="{FF2B5EF4-FFF2-40B4-BE49-F238E27FC236}">
                    <a16:creationId xmlns:a16="http://schemas.microsoft.com/office/drawing/2014/main" id="{2CE2A6E9-F5F5-1218-E2BD-1A7D74D5015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48986" y="209566"/>
                <a:ext cx="9543957" cy="10036254"/>
              </a:xfrm>
              <a:prstGeom prst="roundRect">
                <a:avLst/>
              </a:prstGeom>
              <a:blipFill>
                <a:blip r:embed="rId3"/>
                <a:stretch>
                  <a:fillRect/>
                </a:stretch>
              </a:blipFill>
              <a:ln w="63500" cap="flat">
                <a:solidFill>
                  <a:schemeClr val="tx1"/>
                </a:solidFill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1786FF26-B836-367E-F828-0B7A34CA5A93}"/>
              </a:ext>
            </a:extLst>
          </p:cNvPr>
          <p:cNvSpPr/>
          <p:nvPr/>
        </p:nvSpPr>
        <p:spPr>
          <a:xfrm>
            <a:off x="948986" y="3262316"/>
            <a:ext cx="9512180" cy="614473"/>
          </a:xfrm>
          <a:prstGeom prst="roundRect">
            <a:avLst/>
          </a:prstGeom>
          <a:solidFill>
            <a:schemeClr val="accent4">
              <a:lumMod val="60000"/>
              <a:lumOff val="40000"/>
              <a:alpha val="41668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C08FFADD-CD06-2FB8-84BE-6B4597616700}"/>
              </a:ext>
            </a:extLst>
          </p:cNvPr>
          <p:cNvSpPr/>
          <p:nvPr/>
        </p:nvSpPr>
        <p:spPr>
          <a:xfrm>
            <a:off x="15180988" y="8767699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15</a:t>
            </a: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7" name="Right Arrow 6">
            <a:extLst>
              <a:ext uri="{FF2B5EF4-FFF2-40B4-BE49-F238E27FC236}">
                <a16:creationId xmlns:a16="http://schemas.microsoft.com/office/drawing/2014/main" id="{340B7150-0BBF-A433-242B-86448075FB34}"/>
              </a:ext>
            </a:extLst>
          </p:cNvPr>
          <p:cNvSpPr/>
          <p:nvPr/>
        </p:nvSpPr>
        <p:spPr>
          <a:xfrm rot="16200000">
            <a:off x="13202777" y="10581221"/>
            <a:ext cx="1453118" cy="782316"/>
          </a:xfrm>
          <a:prstGeom prst="rightArrow">
            <a:avLst/>
          </a:prstGeom>
          <a:solidFill>
            <a:schemeClr val="accent2">
              <a:lumMod val="60000"/>
              <a:lumOff val="40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" name="!!box">
                <a:extLst>
                  <a:ext uri="{FF2B5EF4-FFF2-40B4-BE49-F238E27FC236}">
                    <a16:creationId xmlns:a16="http://schemas.microsoft.com/office/drawing/2014/main" id="{1E2DE1C1-81DC-34BE-D93F-F06784FD438B}"/>
                  </a:ext>
                </a:extLst>
              </p:cNvPr>
              <p:cNvSpPr/>
              <p:nvPr/>
            </p:nvSpPr>
            <p:spPr>
              <a:xfrm>
                <a:off x="13314436" y="12042387"/>
                <a:ext cx="1243401" cy="658336"/>
              </a:xfrm>
              <a:prstGeom prst="roundRect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 w="63500" cap="flat">
                <a:solidFill>
                  <a:schemeClr val="tx1"/>
                </a:solidFill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50800" tIns="50800" rIns="50800" bIns="50800" numCol="1" spcCol="38100" rtlCol="0" anchor="ctr">
                <a:spAutoFit/>
              </a:bodyPr>
              <a:lstStyle/>
              <a:p>
                <a:pPr marL="0" marR="0" indent="0" defTabSz="8255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14:m>
                  <m:oMath xmlns:m="http://schemas.openxmlformats.org/officeDocument/2006/math">
                    <m:r>
                      <a:rPr lang="en-US" sz="3200" i="1" dirty="0">
                        <a:ln w="0"/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effectLst>
                          <a:outerShdw blurRad="38100" dist="19050" dir="2700000" algn="tl" rotWithShape="0">
                            <a:schemeClr val="dk1">
                              <a:alpha val="40000"/>
                            </a:schemeClr>
                          </a:outerShdw>
                        </a:effectLst>
                        <a:latin typeface="Cambria Math" panose="02040503050406030204" pitchFamily="18" charset="0"/>
                        <a:ea typeface="Cambria Math" panose="02040503050406030204" pitchFamily="18" charset="0"/>
                        <a:cs typeface="Helvetica Neue Medium"/>
                        <a:sym typeface="Helvetica Neue Medium"/>
                      </a:rPr>
                      <m:t>𝑗</m:t>
                    </m:r>
                  </m:oMath>
                </a14:m>
                <a:r>
                  <a:rPr lang="en-US" sz="3200" dirty="0">
                    <a:solidFill>
                      <a:schemeClr val="bg1"/>
                    </a:solidFill>
                    <a:latin typeface="Bradley Hand" pitchFamily="2" charset="77"/>
                    <a:sym typeface="Helvetica Neue Medium"/>
                  </a:rPr>
                  <a:t> = 0</a:t>
                </a:r>
              </a:p>
            </p:txBody>
          </p:sp>
        </mc:Choice>
        <mc:Fallback>
          <p:sp>
            <p:nvSpPr>
              <p:cNvPr id="8" name="!!box">
                <a:extLst>
                  <a:ext uri="{FF2B5EF4-FFF2-40B4-BE49-F238E27FC236}">
                    <a16:creationId xmlns:a16="http://schemas.microsoft.com/office/drawing/2014/main" id="{1E2DE1C1-81DC-34BE-D93F-F06784FD438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314436" y="12042387"/>
                <a:ext cx="1243401" cy="658336"/>
              </a:xfrm>
              <a:prstGeom prst="roundRect">
                <a:avLst/>
              </a:prstGeom>
              <a:blipFill>
                <a:blip r:embed="rId4"/>
                <a:stretch>
                  <a:fillRect l="-5769" b="-18966"/>
                </a:stretch>
              </a:blipFill>
              <a:ln w="63500" cap="flat">
                <a:solidFill>
                  <a:schemeClr val="tx1"/>
                </a:solidFill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196998533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Word"/>
      </p:transition>
    </mc:Choice>
    <mc:Fallback>
      <p:transition spd="slow">
        <p:fade/>
      </p:transition>
    </mc:Fallback>
  </mc:AlternateContent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E96707-A14A-98BF-7485-095CA4D7D2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F14B1BCB-C946-68F4-C97D-21C9B08F0932}"/>
              </a:ext>
            </a:extLst>
          </p:cNvPr>
          <p:cNvSpPr/>
          <p:nvPr/>
        </p:nvSpPr>
        <p:spPr>
          <a:xfrm>
            <a:off x="2450374" y="2897666"/>
            <a:ext cx="19483251" cy="1032907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bg1"/>
                </a:solidFill>
                <a:latin typeface="Bradley Hand" pitchFamily="2" charset="77"/>
              </a:rPr>
              <a:t>Visualize the code of Insertion Sort </a:t>
            </a:r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EB69C68F-8EF8-B077-1DF7-852BD1CA8391}"/>
              </a:ext>
            </a:extLst>
          </p:cNvPr>
          <p:cNvSpPr/>
          <p:nvPr/>
        </p:nvSpPr>
        <p:spPr>
          <a:xfrm>
            <a:off x="2450374" y="5240816"/>
            <a:ext cx="19483251" cy="1032907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bg1"/>
                </a:solidFill>
                <a:latin typeface="Bradley Hand" pitchFamily="2" charset="77"/>
              </a:rPr>
              <a:t>Let us now try to find the running time of Insertion Sort</a:t>
            </a:r>
          </a:p>
        </p:txBody>
      </p:sp>
    </p:spTree>
    <p:extLst>
      <p:ext uri="{BB962C8B-B14F-4D97-AF65-F5344CB8AC3E}">
        <p14:creationId xmlns:p14="http://schemas.microsoft.com/office/powerpoint/2010/main" val="407525762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Rounded Rectangle 1">
                <a:extLst>
                  <a:ext uri="{FF2B5EF4-FFF2-40B4-BE49-F238E27FC236}">
                    <a16:creationId xmlns:a16="http://schemas.microsoft.com/office/drawing/2014/main" id="{796AB132-3DD0-793B-1AAC-9B501A375F51}"/>
                  </a:ext>
                </a:extLst>
              </p:cNvPr>
              <p:cNvSpPr/>
              <p:nvPr/>
            </p:nvSpPr>
            <p:spPr>
              <a:xfrm>
                <a:off x="852734" y="1051776"/>
                <a:ext cx="9543957" cy="10036254"/>
              </a:xfrm>
              <a:prstGeom prst="roundRect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 w="63500" cap="flat">
                <a:solidFill>
                  <a:schemeClr val="tx1"/>
                </a:solidFill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50800" tIns="50800" rIns="50800" bIns="50800" numCol="1" spcCol="38100" rtlCol="0" anchor="ctr">
                <a:spAutoFit/>
              </a:bodyPr>
              <a:lstStyle/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#include </a:t>
                </a:r>
                <a:r>
                  <a:rPr lang="en-IN" sz="28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&lt;</a:t>
                </a:r>
                <a:r>
                  <a:rPr lang="en-IN" sz="2800" dirty="0" err="1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stdio.h</a:t>
                </a:r>
                <a:r>
                  <a:rPr lang="en-IN" sz="28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&gt;</a:t>
                </a:r>
                <a:b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</a:br>
                <a:b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</a:br>
                <a:r>
                  <a:rPr lang="en-IN" sz="28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int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IN" sz="28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main</a:t>
                </a:r>
                <a:r>
                  <a:rPr lang="en-IN" sz="2800" dirty="0">
                    <a:solidFill>
                      <a:schemeClr val="accent4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()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{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US" sz="28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 int</a:t>
                </a:r>
                <a:r>
                  <a:rPr lang="en-US" sz="28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800" i="1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,</a:t>
                </a:r>
                <a14:m>
                  <m:oMath xmlns:m="http://schemas.openxmlformats.org/officeDocument/2006/math">
                    <m:r>
                      <a:rPr lang="en-US" sz="2800" i="1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,</a:t>
                </a:r>
                <a14:m>
                  <m:oMath xmlns:m="http://schemas.openxmlformats.org/officeDocument/2006/math">
                    <m:r>
                      <a:rPr lang="en-IN" sz="28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</a:t>
                </a:r>
                <a:r>
                  <a:rPr lang="en-IN" sz="2800" dirty="0" err="1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scanf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(“%d”, &amp;</a:t>
                </a:r>
                <a14:m>
                  <m:oMath xmlns:m="http://schemas.openxmlformats.org/officeDocument/2006/math">
                    <m:r>
                      <a:rPr lang="en-IN" sz="28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);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int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IN" sz="2800" dirty="0" err="1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num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</a:t>
                </a:r>
                <a14:m>
                  <m:oMath xmlns:m="http://schemas.openxmlformats.org/officeDocument/2006/math">
                    <m:r>
                      <a:rPr lang="en-IN" sz="28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];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</a:t>
                </a:r>
                <a:r>
                  <a:rPr lang="en-IN" sz="28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for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</a:t>
                </a:r>
                <a14:m>
                  <m:oMath xmlns:m="http://schemas.openxmlformats.org/officeDocument/2006/math">
                    <m:r>
                      <a:rPr lang="en-US" sz="2800" i="1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=0 ; </a:t>
                </a:r>
                <a14:m>
                  <m:oMath xmlns:m="http://schemas.openxmlformats.org/officeDocument/2006/math">
                    <m:r>
                      <a:rPr lang="en-US" sz="2800" i="1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&lt; </a:t>
                </a:r>
                <a14:m>
                  <m:oMath xmlns:m="http://schemas.openxmlformats.org/officeDocument/2006/math">
                    <m:r>
                      <a:rPr lang="en-IN" sz="28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; </a:t>
                </a:r>
                <a14:m>
                  <m:oMath xmlns:m="http://schemas.openxmlformats.org/officeDocument/2006/math">
                    <m:r>
                      <a:rPr lang="en-US" sz="2800" i="1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++)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{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</a:t>
                </a:r>
                <a:r>
                  <a:rPr lang="en-IN" sz="2800" dirty="0" err="1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scanf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(“%d”, &amp;</a:t>
                </a:r>
                <a:r>
                  <a:rPr lang="en-IN" sz="2800" dirty="0" err="1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num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</a:t>
                </a:r>
                <a14:m>
                  <m:oMath xmlns:m="http://schemas.openxmlformats.org/officeDocument/2006/math">
                    <m:r>
                      <a:rPr lang="en-US" sz="2800" i="1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]);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for( </a:t>
                </a:r>
                <a14:m>
                  <m:oMath xmlns:m="http://schemas.openxmlformats.org/officeDocument/2006/math">
                    <m:r>
                      <a:rPr lang="en-IN" sz="2800" i="1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= </a:t>
                </a:r>
                <a14:m>
                  <m:oMath xmlns:m="http://schemas.openxmlformats.org/officeDocument/2006/math">
                    <m:r>
                      <a:rPr lang="en-US" sz="2800" i="1">
                        <a:ln w="0"/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effectLst>
                          <a:outerShdw blurRad="38100" dist="19050" dir="2700000" algn="tl" rotWithShape="0">
                            <a:schemeClr val="dk1">
                              <a:alpha val="40000"/>
                            </a:schemeClr>
                          </a:outerShdw>
                        </a:effectLst>
                        <a:latin typeface="Cambria Math" panose="02040503050406030204" pitchFamily="18" charset="0"/>
                        <a:ea typeface="Cambria Math" panose="02040503050406030204" pitchFamily="18" charset="0"/>
                        <a:cs typeface="Helvetica Neue Medium"/>
                        <a:sym typeface="Helvetica Neue Medium"/>
                      </a:rPr>
                      <m:t>𝑖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; </a:t>
                </a:r>
                <a14:m>
                  <m:oMath xmlns:m="http://schemas.openxmlformats.org/officeDocument/2006/math">
                    <m:r>
                      <a:rPr lang="en-IN" sz="28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&gt; 0; </a:t>
                </a:r>
                <a14:m>
                  <m:oMath xmlns:m="http://schemas.openxmlformats.org/officeDocument/2006/math">
                    <m:r>
                      <a:rPr lang="en-IN" sz="28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𝑗</m:t>
                    </m:r>
                    <m:r>
                      <a:rPr lang="en-IN" sz="28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--)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{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	</a:t>
                </a:r>
                <a:r>
                  <a:rPr lang="en-IN" sz="28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if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( </a:t>
                </a:r>
                <a:r>
                  <a:rPr lang="en-IN" sz="2800" dirty="0" err="1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num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</a:t>
                </a:r>
                <a14:m>
                  <m:oMath xmlns:m="http://schemas.openxmlformats.org/officeDocument/2006/math">
                    <m:r>
                      <a:rPr lang="en-IN" sz="2800" i="1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] &lt; </a:t>
                </a:r>
                <a:r>
                  <a:rPr lang="en-IN" sz="2800" dirty="0" err="1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num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</a:t>
                </a:r>
                <a14:m>
                  <m:oMath xmlns:m="http://schemas.openxmlformats.org/officeDocument/2006/math">
                    <m:r>
                      <a:rPr lang="en-IN" sz="28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𝑗</m:t>
                    </m:r>
                    <m:r>
                      <a:rPr lang="en-IN" sz="28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-1] )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	{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		</a:t>
                </a:r>
                <a:r>
                  <a:rPr lang="en-IN" sz="28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int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IN" sz="28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temp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= </a:t>
                </a:r>
                <a:r>
                  <a:rPr lang="en-IN" sz="2800" dirty="0" err="1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num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</a:t>
                </a:r>
                <a14:m>
                  <m:oMath xmlns:m="http://schemas.openxmlformats.org/officeDocument/2006/math">
                    <m:r>
                      <a:rPr lang="en-IN" sz="2800" i="1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];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		</a:t>
                </a:r>
                <a:r>
                  <a:rPr lang="en-IN" sz="2800" dirty="0" err="1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num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</a:t>
                </a:r>
                <a14:m>
                  <m:oMath xmlns:m="http://schemas.openxmlformats.org/officeDocument/2006/math">
                    <m:r>
                      <a:rPr lang="en-IN" sz="28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] = </a:t>
                </a:r>
                <a:r>
                  <a:rPr lang="en-IN" sz="2800" dirty="0" err="1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num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</a:t>
                </a:r>
                <a14:m>
                  <m:oMath xmlns:m="http://schemas.openxmlformats.org/officeDocument/2006/math">
                    <m:r>
                      <a:rPr lang="en-IN" sz="2800" i="1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𝑗</m:t>
                    </m:r>
                    <m:r>
                      <a:rPr lang="en-IN" sz="2800" i="1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-1];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		</a:t>
                </a:r>
                <a:r>
                  <a:rPr lang="en-IN" sz="2800" dirty="0" err="1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num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</a:t>
                </a:r>
                <a14:m>
                  <m:oMath xmlns:m="http://schemas.openxmlformats.org/officeDocument/2006/math">
                    <m:r>
                      <a:rPr lang="en-IN" sz="2800" i="1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𝑗</m:t>
                    </m:r>
                    <m:r>
                      <a:rPr lang="en-IN" sz="2800" i="1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-1] = </a:t>
                </a:r>
                <a:r>
                  <a:rPr lang="en-IN" sz="28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temp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;</a:t>
                </a:r>
                <a:endParaRPr lang="en-IN" sz="2800" dirty="0">
                  <a:solidFill>
                    <a:schemeClr val="accent1">
                      <a:lumMod val="40000"/>
                      <a:lumOff val="60000"/>
                    </a:schemeClr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	}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} 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}</a:t>
                </a:r>
                <a:b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</a:b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</a:t>
                </a:r>
                <a:r>
                  <a:rPr lang="en-IN" sz="28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return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0;</a:t>
                </a:r>
                <a:b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</a:b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}</a:t>
                </a:r>
                <a:endParaRPr lang="en-US" sz="2800" dirty="0">
                  <a:solidFill>
                    <a:schemeClr val="bg1"/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>
          <p:sp>
            <p:nvSpPr>
              <p:cNvPr id="2" name="Rounded Rectangle 1">
                <a:extLst>
                  <a:ext uri="{FF2B5EF4-FFF2-40B4-BE49-F238E27FC236}">
                    <a16:creationId xmlns:a16="http://schemas.microsoft.com/office/drawing/2014/main" id="{796AB132-3DD0-793B-1AAC-9B501A375F5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2734" y="1051776"/>
                <a:ext cx="9543957" cy="10036254"/>
              </a:xfrm>
              <a:prstGeom prst="roundRect">
                <a:avLst/>
              </a:prstGeom>
              <a:blipFill>
                <a:blip r:embed="rId2"/>
                <a:stretch>
                  <a:fillRect/>
                </a:stretch>
              </a:blipFill>
              <a:ln w="63500" cap="flat">
                <a:solidFill>
                  <a:schemeClr val="tx1"/>
                </a:solidFill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67AA0A48-29CD-93A4-A257-E16BEB2803AC}"/>
              </a:ext>
            </a:extLst>
          </p:cNvPr>
          <p:cNvSpPr/>
          <p:nvPr/>
        </p:nvSpPr>
        <p:spPr>
          <a:xfrm>
            <a:off x="13987311" y="1978266"/>
            <a:ext cx="7946314" cy="2871708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bg1"/>
                </a:solidFill>
                <a:latin typeface="Bradley Hand" pitchFamily="2" charset="77"/>
              </a:rPr>
              <a:t>Before that, let us do a slight optimization in the code</a:t>
            </a:r>
          </a:p>
        </p:txBody>
      </p:sp>
    </p:spTree>
    <p:extLst>
      <p:ext uri="{BB962C8B-B14F-4D97-AF65-F5344CB8AC3E}">
        <p14:creationId xmlns:p14="http://schemas.microsoft.com/office/powerpoint/2010/main" val="149455990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750">
        <p159:morph option="byObject"/>
      </p:transition>
    </mc:Choice>
    <mc:Fallback xmlns="">
      <p:transition spd="slow">
        <p:fade/>
      </p:transition>
    </mc:Fallback>
  </mc:AlternateContent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A1C409-5325-C050-6CED-2913D1FE79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Rounded Rectangle 1">
                <a:extLst>
                  <a:ext uri="{FF2B5EF4-FFF2-40B4-BE49-F238E27FC236}">
                    <a16:creationId xmlns:a16="http://schemas.microsoft.com/office/drawing/2014/main" id="{DB18E536-5094-5220-559F-603DB13F0561}"/>
                  </a:ext>
                </a:extLst>
              </p:cNvPr>
              <p:cNvSpPr/>
              <p:nvPr/>
            </p:nvSpPr>
            <p:spPr>
              <a:xfrm>
                <a:off x="852734" y="627636"/>
                <a:ext cx="9543957" cy="10884535"/>
              </a:xfrm>
              <a:prstGeom prst="roundRect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 w="63500" cap="flat">
                <a:solidFill>
                  <a:schemeClr val="tx1"/>
                </a:solidFill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50800" tIns="50800" rIns="50800" bIns="50800" numCol="1" spcCol="38100" rtlCol="0" anchor="ctr">
                <a:spAutoFit/>
              </a:bodyPr>
              <a:lstStyle/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#include </a:t>
                </a:r>
                <a:r>
                  <a:rPr lang="en-IN" sz="28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&lt;</a:t>
                </a:r>
                <a:r>
                  <a:rPr lang="en-IN" sz="2800" dirty="0" err="1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stdio.h</a:t>
                </a:r>
                <a:r>
                  <a:rPr lang="en-IN" sz="28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&gt;</a:t>
                </a:r>
                <a:b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</a:br>
                <a:b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</a:br>
                <a:r>
                  <a:rPr lang="en-IN" sz="28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int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IN" sz="28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main</a:t>
                </a:r>
                <a:r>
                  <a:rPr lang="en-IN" sz="2800" dirty="0">
                    <a:solidFill>
                      <a:schemeClr val="accent4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()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{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US" sz="28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 int</a:t>
                </a:r>
                <a:r>
                  <a:rPr lang="en-US" sz="28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800" i="1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,</a:t>
                </a:r>
                <a14:m>
                  <m:oMath xmlns:m="http://schemas.openxmlformats.org/officeDocument/2006/math">
                    <m:r>
                      <a:rPr lang="en-US" sz="2800" i="1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,</a:t>
                </a:r>
                <a14:m>
                  <m:oMath xmlns:m="http://schemas.openxmlformats.org/officeDocument/2006/math">
                    <m:r>
                      <a:rPr lang="en-IN" sz="28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</a:t>
                </a:r>
                <a:r>
                  <a:rPr lang="en-IN" sz="2800" dirty="0" err="1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scanf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(“%d”, &amp;</a:t>
                </a:r>
                <a14:m>
                  <m:oMath xmlns:m="http://schemas.openxmlformats.org/officeDocument/2006/math">
                    <m:r>
                      <a:rPr lang="en-IN" sz="28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);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int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IN" sz="2800" dirty="0" err="1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num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</a:t>
                </a:r>
                <a14:m>
                  <m:oMath xmlns:m="http://schemas.openxmlformats.org/officeDocument/2006/math">
                    <m:r>
                      <a:rPr lang="en-IN" sz="28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];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</a:t>
                </a:r>
                <a:r>
                  <a:rPr lang="en-IN" sz="28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for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</a:t>
                </a:r>
                <a14:m>
                  <m:oMath xmlns:m="http://schemas.openxmlformats.org/officeDocument/2006/math">
                    <m:r>
                      <a:rPr lang="en-US" sz="2800" i="1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=0 ; </a:t>
                </a:r>
                <a14:m>
                  <m:oMath xmlns:m="http://schemas.openxmlformats.org/officeDocument/2006/math">
                    <m:r>
                      <a:rPr lang="en-US" sz="2800" i="1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&lt; </a:t>
                </a:r>
                <a14:m>
                  <m:oMath xmlns:m="http://schemas.openxmlformats.org/officeDocument/2006/math">
                    <m:r>
                      <a:rPr lang="en-IN" sz="28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; </a:t>
                </a:r>
                <a14:m>
                  <m:oMath xmlns:m="http://schemas.openxmlformats.org/officeDocument/2006/math">
                    <m:r>
                      <a:rPr lang="en-US" sz="2800" i="1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++)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{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</a:t>
                </a:r>
                <a:r>
                  <a:rPr lang="en-IN" sz="2800" dirty="0" err="1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scanf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(“%d”, &amp;</a:t>
                </a:r>
                <a:r>
                  <a:rPr lang="en-IN" sz="2800" dirty="0" err="1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num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</a:t>
                </a:r>
                <a14:m>
                  <m:oMath xmlns:m="http://schemas.openxmlformats.org/officeDocument/2006/math">
                    <m:r>
                      <a:rPr lang="en-US" sz="2800" i="1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]);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for( </a:t>
                </a:r>
                <a14:m>
                  <m:oMath xmlns:m="http://schemas.openxmlformats.org/officeDocument/2006/math">
                    <m:r>
                      <a:rPr lang="en-IN" sz="2800" i="1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= </a:t>
                </a:r>
                <a14:m>
                  <m:oMath xmlns:m="http://schemas.openxmlformats.org/officeDocument/2006/math">
                    <m:r>
                      <a:rPr lang="en-US" sz="2800" i="1">
                        <a:ln w="0"/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effectLst>
                          <a:outerShdw blurRad="38100" dist="19050" dir="2700000" algn="tl" rotWithShape="0">
                            <a:schemeClr val="dk1">
                              <a:alpha val="40000"/>
                            </a:schemeClr>
                          </a:outerShdw>
                        </a:effectLst>
                        <a:latin typeface="Cambria Math" panose="02040503050406030204" pitchFamily="18" charset="0"/>
                        <a:ea typeface="Cambria Math" panose="02040503050406030204" pitchFamily="18" charset="0"/>
                        <a:cs typeface="Helvetica Neue Medium"/>
                        <a:sym typeface="Helvetica Neue Medium"/>
                      </a:rPr>
                      <m:t>𝑖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; </a:t>
                </a:r>
                <a14:m>
                  <m:oMath xmlns:m="http://schemas.openxmlformats.org/officeDocument/2006/math">
                    <m:r>
                      <a:rPr lang="en-IN" sz="28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&gt; 0; </a:t>
                </a:r>
                <a14:m>
                  <m:oMath xmlns:m="http://schemas.openxmlformats.org/officeDocument/2006/math">
                    <m:r>
                      <a:rPr lang="en-IN" sz="28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𝑗</m:t>
                    </m:r>
                    <m:r>
                      <a:rPr lang="en-IN" sz="28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--)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{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	</a:t>
                </a:r>
                <a:r>
                  <a:rPr lang="en-IN" sz="28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if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( </a:t>
                </a:r>
                <a:r>
                  <a:rPr lang="en-IN" sz="2800" dirty="0" err="1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num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</a:t>
                </a:r>
                <a14:m>
                  <m:oMath xmlns:m="http://schemas.openxmlformats.org/officeDocument/2006/math">
                    <m:r>
                      <a:rPr lang="en-IN" sz="2800" i="1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] &lt; </a:t>
                </a:r>
                <a:r>
                  <a:rPr lang="en-IN" sz="2800" dirty="0" err="1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num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</a:t>
                </a:r>
                <a14:m>
                  <m:oMath xmlns:m="http://schemas.openxmlformats.org/officeDocument/2006/math">
                    <m:r>
                      <a:rPr lang="en-IN" sz="28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𝑗</m:t>
                    </m:r>
                    <m:r>
                      <a:rPr lang="en-IN" sz="28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-1] )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	{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		</a:t>
                </a:r>
                <a:r>
                  <a:rPr lang="en-IN" sz="28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int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IN" sz="28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temp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= </a:t>
                </a:r>
                <a:r>
                  <a:rPr lang="en-IN" sz="2800" dirty="0" err="1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num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</a:t>
                </a:r>
                <a14:m>
                  <m:oMath xmlns:m="http://schemas.openxmlformats.org/officeDocument/2006/math">
                    <m:r>
                      <a:rPr lang="en-IN" sz="2800" i="1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];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		</a:t>
                </a:r>
                <a:r>
                  <a:rPr lang="en-IN" sz="2800" dirty="0" err="1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num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</a:t>
                </a:r>
                <a14:m>
                  <m:oMath xmlns:m="http://schemas.openxmlformats.org/officeDocument/2006/math">
                    <m:r>
                      <a:rPr lang="en-IN" sz="28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] = </a:t>
                </a:r>
                <a:r>
                  <a:rPr lang="en-IN" sz="2800" dirty="0" err="1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num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</a:t>
                </a:r>
                <a14:m>
                  <m:oMath xmlns:m="http://schemas.openxmlformats.org/officeDocument/2006/math">
                    <m:r>
                      <a:rPr lang="en-IN" sz="2800" i="1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𝑗</m:t>
                    </m:r>
                    <m:r>
                      <a:rPr lang="en-IN" sz="2800" i="1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-1];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		</a:t>
                </a:r>
                <a:r>
                  <a:rPr lang="en-IN" sz="2800" dirty="0" err="1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num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</a:t>
                </a:r>
                <a14:m>
                  <m:oMath xmlns:m="http://schemas.openxmlformats.org/officeDocument/2006/math">
                    <m:r>
                      <a:rPr lang="en-IN" sz="2800" i="1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𝑗</m:t>
                    </m:r>
                    <m:r>
                      <a:rPr lang="en-IN" sz="2800" i="1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-1] = </a:t>
                </a:r>
                <a:r>
                  <a:rPr lang="en-IN" sz="28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temp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;</a:t>
                </a:r>
                <a:endParaRPr lang="en-IN" sz="2800" dirty="0">
                  <a:solidFill>
                    <a:schemeClr val="accent1">
                      <a:lumMod val="40000"/>
                      <a:lumOff val="60000"/>
                    </a:schemeClr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	}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	</a:t>
                </a:r>
                <a:r>
                  <a:rPr lang="en-IN" sz="28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else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		</a:t>
                </a:r>
                <a:r>
                  <a:rPr lang="en-IN" sz="28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break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} 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}</a:t>
                </a:r>
                <a:b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</a:b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</a:t>
                </a:r>
                <a:r>
                  <a:rPr lang="en-IN" sz="28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return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0;</a:t>
                </a:r>
                <a:b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</a:b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}</a:t>
                </a:r>
                <a:endParaRPr lang="en-US" sz="2800" dirty="0">
                  <a:solidFill>
                    <a:schemeClr val="bg1"/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>
          <p:sp>
            <p:nvSpPr>
              <p:cNvPr id="2" name="Rounded Rectangle 1">
                <a:extLst>
                  <a:ext uri="{FF2B5EF4-FFF2-40B4-BE49-F238E27FC236}">
                    <a16:creationId xmlns:a16="http://schemas.microsoft.com/office/drawing/2014/main" id="{DB18E536-5094-5220-559F-603DB13F056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2734" y="627636"/>
                <a:ext cx="9543957" cy="10884535"/>
              </a:xfrm>
              <a:prstGeom prst="roundRect">
                <a:avLst/>
              </a:prstGeom>
              <a:blipFill>
                <a:blip r:embed="rId2"/>
                <a:stretch>
                  <a:fillRect/>
                </a:stretch>
              </a:blipFill>
              <a:ln w="63500" cap="flat">
                <a:solidFill>
                  <a:schemeClr val="tx1"/>
                </a:solidFill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F90908E5-866E-DCFF-9B86-45417434DDA6}"/>
              </a:ext>
            </a:extLst>
          </p:cNvPr>
          <p:cNvSpPr/>
          <p:nvPr/>
        </p:nvSpPr>
        <p:spPr>
          <a:xfrm>
            <a:off x="13987311" y="1978266"/>
            <a:ext cx="7946314" cy="2871708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bg1"/>
                </a:solidFill>
                <a:latin typeface="Bradley Hand" pitchFamily="2" charset="77"/>
              </a:rPr>
              <a:t>Before that, let us do a slight optimization in the code</a:t>
            </a:r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2235C6B1-2E72-33C2-C65A-603B2B6F04FC}"/>
              </a:ext>
            </a:extLst>
          </p:cNvPr>
          <p:cNvSpPr/>
          <p:nvPr/>
        </p:nvSpPr>
        <p:spPr>
          <a:xfrm>
            <a:off x="13987311" y="6858000"/>
            <a:ext cx="7946314" cy="2871708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bg1"/>
                </a:solidFill>
                <a:latin typeface="Bradley Hand" pitchFamily="2" charset="77"/>
              </a:rPr>
              <a:t>If there is no swap, then break out of the inner for loop</a:t>
            </a:r>
          </a:p>
        </p:txBody>
      </p:sp>
    </p:spTree>
    <p:extLst>
      <p:ext uri="{BB962C8B-B14F-4D97-AF65-F5344CB8AC3E}">
        <p14:creationId xmlns:p14="http://schemas.microsoft.com/office/powerpoint/2010/main" val="165774050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Word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C6B385-D0B7-760B-E593-2BB388F02C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4971D8B6-BC7D-126F-D316-ECFF6278D20F}"/>
              </a:ext>
            </a:extLst>
          </p:cNvPr>
          <p:cNvSpPr/>
          <p:nvPr/>
        </p:nvSpPr>
        <p:spPr>
          <a:xfrm>
            <a:off x="16047262" y="5379879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15</a:t>
            </a: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E1D19B83-D545-4D77-195C-8E14948F1779}"/>
              </a:ext>
            </a:extLst>
          </p:cNvPr>
          <p:cNvSpPr/>
          <p:nvPr/>
        </p:nvSpPr>
        <p:spPr>
          <a:xfrm>
            <a:off x="17913814" y="5403425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47</a:t>
            </a: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" name="Rounded Rectangle 1">
                <a:extLst>
                  <a:ext uri="{FF2B5EF4-FFF2-40B4-BE49-F238E27FC236}">
                    <a16:creationId xmlns:a16="http://schemas.microsoft.com/office/drawing/2014/main" id="{6376C3C6-B210-F833-19A8-0FF2A92D99A5}"/>
                  </a:ext>
                </a:extLst>
              </p:cNvPr>
              <p:cNvSpPr/>
              <p:nvPr/>
            </p:nvSpPr>
            <p:spPr>
              <a:xfrm>
                <a:off x="852734" y="627636"/>
                <a:ext cx="9543957" cy="10884535"/>
              </a:xfrm>
              <a:prstGeom prst="roundRect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 w="63500" cap="flat">
                <a:solidFill>
                  <a:schemeClr val="tx1"/>
                </a:solidFill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50800" tIns="50800" rIns="50800" bIns="50800" numCol="1" spcCol="38100" rtlCol="0" anchor="ctr">
                <a:spAutoFit/>
              </a:bodyPr>
              <a:lstStyle/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#include </a:t>
                </a:r>
                <a:r>
                  <a:rPr lang="en-IN" sz="28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&lt;</a:t>
                </a:r>
                <a:r>
                  <a:rPr lang="en-IN" sz="2800" dirty="0" err="1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stdio.h</a:t>
                </a:r>
                <a:r>
                  <a:rPr lang="en-IN" sz="28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&gt;</a:t>
                </a:r>
                <a:b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</a:br>
                <a:b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</a:br>
                <a:r>
                  <a:rPr lang="en-IN" sz="28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int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IN" sz="28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main</a:t>
                </a:r>
                <a:r>
                  <a:rPr lang="en-IN" sz="2800" dirty="0">
                    <a:solidFill>
                      <a:schemeClr val="accent4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()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{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US" sz="28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 int</a:t>
                </a:r>
                <a:r>
                  <a:rPr lang="en-US" sz="28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800" i="1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,</a:t>
                </a:r>
                <a14:m>
                  <m:oMath xmlns:m="http://schemas.openxmlformats.org/officeDocument/2006/math">
                    <m:r>
                      <a:rPr lang="en-US" sz="2800" i="1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,</a:t>
                </a:r>
                <a14:m>
                  <m:oMath xmlns:m="http://schemas.openxmlformats.org/officeDocument/2006/math">
                    <m:r>
                      <a:rPr lang="en-IN" sz="28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</a:t>
                </a:r>
                <a:r>
                  <a:rPr lang="en-IN" sz="2800" dirty="0" err="1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scanf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(“%d”, &amp;</a:t>
                </a:r>
                <a14:m>
                  <m:oMath xmlns:m="http://schemas.openxmlformats.org/officeDocument/2006/math">
                    <m:r>
                      <a:rPr lang="en-IN" sz="28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);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int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IN" sz="2800" dirty="0" err="1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num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</a:t>
                </a:r>
                <a14:m>
                  <m:oMath xmlns:m="http://schemas.openxmlformats.org/officeDocument/2006/math">
                    <m:r>
                      <a:rPr lang="en-IN" sz="28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];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</a:t>
                </a:r>
                <a:r>
                  <a:rPr lang="en-IN" sz="28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for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</a:t>
                </a:r>
                <a14:m>
                  <m:oMath xmlns:m="http://schemas.openxmlformats.org/officeDocument/2006/math">
                    <m:r>
                      <a:rPr lang="en-US" sz="2800" i="1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=0 ; </a:t>
                </a:r>
                <a14:m>
                  <m:oMath xmlns:m="http://schemas.openxmlformats.org/officeDocument/2006/math">
                    <m:r>
                      <a:rPr lang="en-US" sz="2800" i="1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&lt; </a:t>
                </a:r>
                <a14:m>
                  <m:oMath xmlns:m="http://schemas.openxmlformats.org/officeDocument/2006/math">
                    <m:r>
                      <a:rPr lang="en-IN" sz="28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; </a:t>
                </a:r>
                <a14:m>
                  <m:oMath xmlns:m="http://schemas.openxmlformats.org/officeDocument/2006/math">
                    <m:r>
                      <a:rPr lang="en-US" sz="2800" i="1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++)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{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</a:t>
                </a:r>
                <a:r>
                  <a:rPr lang="en-IN" sz="2800" dirty="0" err="1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scanf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(“%d”, &amp;</a:t>
                </a:r>
                <a:r>
                  <a:rPr lang="en-IN" sz="2800" dirty="0" err="1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num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</a:t>
                </a:r>
                <a14:m>
                  <m:oMath xmlns:m="http://schemas.openxmlformats.org/officeDocument/2006/math">
                    <m:r>
                      <a:rPr lang="en-US" sz="2800" i="1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]);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for( </a:t>
                </a:r>
                <a14:m>
                  <m:oMath xmlns:m="http://schemas.openxmlformats.org/officeDocument/2006/math">
                    <m:r>
                      <a:rPr lang="en-IN" sz="2800" i="1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= </a:t>
                </a:r>
                <a14:m>
                  <m:oMath xmlns:m="http://schemas.openxmlformats.org/officeDocument/2006/math">
                    <m:r>
                      <a:rPr lang="en-US" sz="2800" i="1">
                        <a:ln w="0"/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effectLst>
                          <a:outerShdw blurRad="38100" dist="19050" dir="2700000" algn="tl" rotWithShape="0">
                            <a:schemeClr val="dk1">
                              <a:alpha val="40000"/>
                            </a:schemeClr>
                          </a:outerShdw>
                        </a:effectLst>
                        <a:latin typeface="Cambria Math" panose="02040503050406030204" pitchFamily="18" charset="0"/>
                        <a:ea typeface="Cambria Math" panose="02040503050406030204" pitchFamily="18" charset="0"/>
                        <a:cs typeface="Helvetica Neue Medium"/>
                        <a:sym typeface="Helvetica Neue Medium"/>
                      </a:rPr>
                      <m:t>𝑖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; </a:t>
                </a:r>
                <a14:m>
                  <m:oMath xmlns:m="http://schemas.openxmlformats.org/officeDocument/2006/math">
                    <m:r>
                      <a:rPr lang="en-IN" sz="28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&gt; 0; </a:t>
                </a:r>
                <a14:m>
                  <m:oMath xmlns:m="http://schemas.openxmlformats.org/officeDocument/2006/math">
                    <m:r>
                      <a:rPr lang="en-IN" sz="28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𝑗</m:t>
                    </m:r>
                    <m:r>
                      <a:rPr lang="en-IN" sz="28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--)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{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	</a:t>
                </a:r>
                <a:r>
                  <a:rPr lang="en-IN" sz="28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if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( </a:t>
                </a:r>
                <a:r>
                  <a:rPr lang="en-IN" sz="2800" dirty="0" err="1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num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</a:t>
                </a:r>
                <a14:m>
                  <m:oMath xmlns:m="http://schemas.openxmlformats.org/officeDocument/2006/math">
                    <m:r>
                      <a:rPr lang="en-IN" sz="2800" i="1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] &lt; </a:t>
                </a:r>
                <a:r>
                  <a:rPr lang="en-IN" sz="2800" dirty="0" err="1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num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</a:t>
                </a:r>
                <a14:m>
                  <m:oMath xmlns:m="http://schemas.openxmlformats.org/officeDocument/2006/math">
                    <m:r>
                      <a:rPr lang="en-IN" sz="28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𝑗</m:t>
                    </m:r>
                    <m:r>
                      <a:rPr lang="en-IN" sz="28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-1] )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	{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		</a:t>
                </a:r>
                <a:r>
                  <a:rPr lang="en-IN" sz="28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int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IN" sz="28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temp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= </a:t>
                </a:r>
                <a:r>
                  <a:rPr lang="en-IN" sz="2800" dirty="0" err="1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num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</a:t>
                </a:r>
                <a14:m>
                  <m:oMath xmlns:m="http://schemas.openxmlformats.org/officeDocument/2006/math">
                    <m:r>
                      <a:rPr lang="en-IN" sz="2800" i="1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];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		</a:t>
                </a:r>
                <a:r>
                  <a:rPr lang="en-IN" sz="2800" dirty="0" err="1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num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</a:t>
                </a:r>
                <a14:m>
                  <m:oMath xmlns:m="http://schemas.openxmlformats.org/officeDocument/2006/math">
                    <m:r>
                      <a:rPr lang="en-IN" sz="28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] = </a:t>
                </a:r>
                <a:r>
                  <a:rPr lang="en-IN" sz="2800" dirty="0" err="1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num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</a:t>
                </a:r>
                <a14:m>
                  <m:oMath xmlns:m="http://schemas.openxmlformats.org/officeDocument/2006/math">
                    <m:r>
                      <a:rPr lang="en-IN" sz="2800" i="1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𝑗</m:t>
                    </m:r>
                    <m:r>
                      <a:rPr lang="en-IN" sz="2800" i="1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-1];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		</a:t>
                </a:r>
                <a:r>
                  <a:rPr lang="en-IN" sz="2800" dirty="0" err="1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num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</a:t>
                </a:r>
                <a14:m>
                  <m:oMath xmlns:m="http://schemas.openxmlformats.org/officeDocument/2006/math">
                    <m:r>
                      <a:rPr lang="en-IN" sz="2800" i="1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𝑗</m:t>
                    </m:r>
                    <m:r>
                      <a:rPr lang="en-IN" sz="2800" i="1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-1] = </a:t>
                </a:r>
                <a:r>
                  <a:rPr lang="en-IN" sz="28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temp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;</a:t>
                </a:r>
                <a:endParaRPr lang="en-IN" sz="2800" dirty="0">
                  <a:solidFill>
                    <a:schemeClr val="accent1">
                      <a:lumMod val="40000"/>
                      <a:lumOff val="60000"/>
                    </a:schemeClr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	}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	</a:t>
                </a:r>
                <a:r>
                  <a:rPr lang="en-IN" sz="28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else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		</a:t>
                </a:r>
                <a:r>
                  <a:rPr lang="en-IN" sz="28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break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} 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}</a:t>
                </a:r>
                <a:b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</a:b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</a:t>
                </a:r>
                <a:r>
                  <a:rPr lang="en-IN" sz="28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return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0;</a:t>
                </a:r>
                <a:b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</a:b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}</a:t>
                </a:r>
                <a:endParaRPr lang="en-US" sz="2800" dirty="0">
                  <a:solidFill>
                    <a:schemeClr val="bg1"/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>
          <p:sp>
            <p:nvSpPr>
              <p:cNvPr id="2" name="Rounded Rectangle 1">
                <a:extLst>
                  <a:ext uri="{FF2B5EF4-FFF2-40B4-BE49-F238E27FC236}">
                    <a16:creationId xmlns:a16="http://schemas.microsoft.com/office/drawing/2014/main" id="{6376C3C6-B210-F833-19A8-0FF2A92D99A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2734" y="627636"/>
                <a:ext cx="9543957" cy="10884535"/>
              </a:xfrm>
              <a:prstGeom prst="roundRect">
                <a:avLst/>
              </a:prstGeom>
              <a:blipFill>
                <a:blip r:embed="rId2"/>
                <a:stretch>
                  <a:fillRect/>
                </a:stretch>
              </a:blipFill>
              <a:ln w="63500" cap="flat">
                <a:solidFill>
                  <a:schemeClr val="tx1"/>
                </a:solidFill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BEBEBF5D-B421-83BB-56AD-799D5221C60B}"/>
              </a:ext>
            </a:extLst>
          </p:cNvPr>
          <p:cNvSpPr/>
          <p:nvPr/>
        </p:nvSpPr>
        <p:spPr>
          <a:xfrm>
            <a:off x="14180710" y="5403425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2</a:t>
            </a: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55D55161-DA12-32C1-604D-143A9B333525}"/>
              </a:ext>
            </a:extLst>
          </p:cNvPr>
          <p:cNvSpPr/>
          <p:nvPr/>
        </p:nvSpPr>
        <p:spPr>
          <a:xfrm>
            <a:off x="13987311" y="4949141"/>
            <a:ext cx="5281350" cy="1770434"/>
          </a:xfrm>
          <a:prstGeom prst="roundRect">
            <a:avLst/>
          </a:prstGeom>
          <a:solidFill>
            <a:schemeClr val="accent2">
              <a:lumMod val="50000"/>
              <a:alpha val="29955"/>
            </a:schemeClr>
          </a:solidFill>
          <a:ln w="63500" cap="flat">
            <a:solidFill>
              <a:schemeClr val="accent2">
                <a:lumMod val="5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F7173BC4-4D5F-83D1-635E-F3C8E9186E99}"/>
              </a:ext>
            </a:extLst>
          </p:cNvPr>
          <p:cNvSpPr/>
          <p:nvPr/>
        </p:nvSpPr>
        <p:spPr>
          <a:xfrm>
            <a:off x="884511" y="4949141"/>
            <a:ext cx="9512180" cy="614473"/>
          </a:xfrm>
          <a:prstGeom prst="roundRect">
            <a:avLst/>
          </a:prstGeom>
          <a:solidFill>
            <a:schemeClr val="accent4">
              <a:lumMod val="60000"/>
              <a:lumOff val="40000"/>
              <a:alpha val="41668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A7D082A5-AF7C-E152-3335-336E7EA8F738}"/>
              </a:ext>
            </a:extLst>
          </p:cNvPr>
          <p:cNvSpPr/>
          <p:nvPr/>
        </p:nvSpPr>
        <p:spPr>
          <a:xfrm>
            <a:off x="19603466" y="5364328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27</a:t>
            </a: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</p:spTree>
    <p:extLst>
      <p:ext uri="{BB962C8B-B14F-4D97-AF65-F5344CB8AC3E}">
        <p14:creationId xmlns:p14="http://schemas.microsoft.com/office/powerpoint/2010/main" val="160498854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750">
        <p159:morph option="byObject"/>
      </p:transition>
    </mc:Choice>
    <mc:Fallback xmlns="">
      <p:transition spd="slow">
        <p:fade/>
      </p:transition>
    </mc:Fallback>
  </mc:AlternateContent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D25397-B492-1C0E-2615-D6EA46AD1D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C766B074-38CD-EFB7-D652-AB800C09E717}"/>
              </a:ext>
            </a:extLst>
          </p:cNvPr>
          <p:cNvSpPr/>
          <p:nvPr/>
        </p:nvSpPr>
        <p:spPr>
          <a:xfrm>
            <a:off x="16047262" y="5379879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15</a:t>
            </a: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19326788-273C-6E50-97BE-4E8DF5064CF8}"/>
              </a:ext>
            </a:extLst>
          </p:cNvPr>
          <p:cNvSpPr/>
          <p:nvPr/>
        </p:nvSpPr>
        <p:spPr>
          <a:xfrm>
            <a:off x="17913814" y="5403425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47</a:t>
            </a: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" name="Rounded Rectangle 1">
                <a:extLst>
                  <a:ext uri="{FF2B5EF4-FFF2-40B4-BE49-F238E27FC236}">
                    <a16:creationId xmlns:a16="http://schemas.microsoft.com/office/drawing/2014/main" id="{B5294472-B85B-A348-7FB2-C1864901D2F6}"/>
                  </a:ext>
                </a:extLst>
              </p:cNvPr>
              <p:cNvSpPr/>
              <p:nvPr/>
            </p:nvSpPr>
            <p:spPr>
              <a:xfrm>
                <a:off x="852734" y="627636"/>
                <a:ext cx="9543957" cy="10884535"/>
              </a:xfrm>
              <a:prstGeom prst="roundRect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 w="63500" cap="flat">
                <a:solidFill>
                  <a:schemeClr val="tx1"/>
                </a:solidFill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50800" tIns="50800" rIns="50800" bIns="50800" numCol="1" spcCol="38100" rtlCol="0" anchor="ctr">
                <a:spAutoFit/>
              </a:bodyPr>
              <a:lstStyle/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#include </a:t>
                </a:r>
                <a:r>
                  <a:rPr lang="en-IN" sz="28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&lt;</a:t>
                </a:r>
                <a:r>
                  <a:rPr lang="en-IN" sz="2800" dirty="0" err="1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stdio.h</a:t>
                </a:r>
                <a:r>
                  <a:rPr lang="en-IN" sz="28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&gt;</a:t>
                </a:r>
                <a:b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</a:br>
                <a:b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</a:br>
                <a:r>
                  <a:rPr lang="en-IN" sz="28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int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IN" sz="28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main</a:t>
                </a:r>
                <a:r>
                  <a:rPr lang="en-IN" sz="2800" dirty="0">
                    <a:solidFill>
                      <a:schemeClr val="accent4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()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{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US" sz="28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 int</a:t>
                </a:r>
                <a:r>
                  <a:rPr lang="en-US" sz="28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800" i="1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,</a:t>
                </a:r>
                <a14:m>
                  <m:oMath xmlns:m="http://schemas.openxmlformats.org/officeDocument/2006/math">
                    <m:r>
                      <a:rPr lang="en-US" sz="2800" i="1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,</a:t>
                </a:r>
                <a14:m>
                  <m:oMath xmlns:m="http://schemas.openxmlformats.org/officeDocument/2006/math">
                    <m:r>
                      <a:rPr lang="en-IN" sz="28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</a:t>
                </a:r>
                <a:r>
                  <a:rPr lang="en-IN" sz="2800" dirty="0" err="1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scanf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(“%d”, &amp;</a:t>
                </a:r>
                <a14:m>
                  <m:oMath xmlns:m="http://schemas.openxmlformats.org/officeDocument/2006/math">
                    <m:r>
                      <a:rPr lang="en-IN" sz="28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);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int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IN" sz="2800" dirty="0" err="1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num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</a:t>
                </a:r>
                <a14:m>
                  <m:oMath xmlns:m="http://schemas.openxmlformats.org/officeDocument/2006/math">
                    <m:r>
                      <a:rPr lang="en-IN" sz="28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];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</a:t>
                </a:r>
                <a:r>
                  <a:rPr lang="en-IN" sz="28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for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</a:t>
                </a:r>
                <a14:m>
                  <m:oMath xmlns:m="http://schemas.openxmlformats.org/officeDocument/2006/math">
                    <m:r>
                      <a:rPr lang="en-US" sz="2800" i="1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=0 ; </a:t>
                </a:r>
                <a14:m>
                  <m:oMath xmlns:m="http://schemas.openxmlformats.org/officeDocument/2006/math">
                    <m:r>
                      <a:rPr lang="en-US" sz="2800" i="1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&lt; </a:t>
                </a:r>
                <a14:m>
                  <m:oMath xmlns:m="http://schemas.openxmlformats.org/officeDocument/2006/math">
                    <m:r>
                      <a:rPr lang="en-IN" sz="28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; </a:t>
                </a:r>
                <a14:m>
                  <m:oMath xmlns:m="http://schemas.openxmlformats.org/officeDocument/2006/math">
                    <m:r>
                      <a:rPr lang="en-US" sz="2800" i="1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++)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{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</a:t>
                </a:r>
                <a:r>
                  <a:rPr lang="en-IN" sz="2800" dirty="0" err="1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scanf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(“%d”, &amp;</a:t>
                </a:r>
                <a:r>
                  <a:rPr lang="en-IN" sz="2800" dirty="0" err="1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num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</a:t>
                </a:r>
                <a14:m>
                  <m:oMath xmlns:m="http://schemas.openxmlformats.org/officeDocument/2006/math">
                    <m:r>
                      <a:rPr lang="en-US" sz="2800" i="1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]);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for( </a:t>
                </a:r>
                <a14:m>
                  <m:oMath xmlns:m="http://schemas.openxmlformats.org/officeDocument/2006/math">
                    <m:r>
                      <a:rPr lang="en-IN" sz="2800" i="1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= </a:t>
                </a:r>
                <a14:m>
                  <m:oMath xmlns:m="http://schemas.openxmlformats.org/officeDocument/2006/math">
                    <m:r>
                      <a:rPr lang="en-US" sz="2800" i="1">
                        <a:ln w="0"/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effectLst>
                          <a:outerShdw blurRad="38100" dist="19050" dir="2700000" algn="tl" rotWithShape="0">
                            <a:schemeClr val="dk1">
                              <a:alpha val="40000"/>
                            </a:schemeClr>
                          </a:outerShdw>
                        </a:effectLst>
                        <a:latin typeface="Cambria Math" panose="02040503050406030204" pitchFamily="18" charset="0"/>
                        <a:ea typeface="Cambria Math" panose="02040503050406030204" pitchFamily="18" charset="0"/>
                        <a:cs typeface="Helvetica Neue Medium"/>
                        <a:sym typeface="Helvetica Neue Medium"/>
                      </a:rPr>
                      <m:t>𝑖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; </a:t>
                </a:r>
                <a14:m>
                  <m:oMath xmlns:m="http://schemas.openxmlformats.org/officeDocument/2006/math">
                    <m:r>
                      <a:rPr lang="en-IN" sz="28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&gt; 0; </a:t>
                </a:r>
                <a14:m>
                  <m:oMath xmlns:m="http://schemas.openxmlformats.org/officeDocument/2006/math">
                    <m:r>
                      <a:rPr lang="en-IN" sz="28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𝑗</m:t>
                    </m:r>
                    <m:r>
                      <a:rPr lang="en-IN" sz="28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--)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{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	</a:t>
                </a:r>
                <a:r>
                  <a:rPr lang="en-IN" sz="28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if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( </a:t>
                </a:r>
                <a:r>
                  <a:rPr lang="en-IN" sz="2800" dirty="0" err="1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num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</a:t>
                </a:r>
                <a14:m>
                  <m:oMath xmlns:m="http://schemas.openxmlformats.org/officeDocument/2006/math">
                    <m:r>
                      <a:rPr lang="en-IN" sz="2800" i="1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] &lt; </a:t>
                </a:r>
                <a:r>
                  <a:rPr lang="en-IN" sz="2800" dirty="0" err="1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num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</a:t>
                </a:r>
                <a14:m>
                  <m:oMath xmlns:m="http://schemas.openxmlformats.org/officeDocument/2006/math">
                    <m:r>
                      <a:rPr lang="en-IN" sz="28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𝑗</m:t>
                    </m:r>
                    <m:r>
                      <a:rPr lang="en-IN" sz="28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-1] )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	{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		</a:t>
                </a:r>
                <a:r>
                  <a:rPr lang="en-IN" sz="28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int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IN" sz="28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temp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= </a:t>
                </a:r>
                <a:r>
                  <a:rPr lang="en-IN" sz="2800" dirty="0" err="1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num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</a:t>
                </a:r>
                <a14:m>
                  <m:oMath xmlns:m="http://schemas.openxmlformats.org/officeDocument/2006/math">
                    <m:r>
                      <a:rPr lang="en-IN" sz="2800" i="1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];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		</a:t>
                </a:r>
                <a:r>
                  <a:rPr lang="en-IN" sz="2800" dirty="0" err="1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num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</a:t>
                </a:r>
                <a14:m>
                  <m:oMath xmlns:m="http://schemas.openxmlformats.org/officeDocument/2006/math">
                    <m:r>
                      <a:rPr lang="en-IN" sz="28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] = </a:t>
                </a:r>
                <a:r>
                  <a:rPr lang="en-IN" sz="2800" dirty="0" err="1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num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</a:t>
                </a:r>
                <a14:m>
                  <m:oMath xmlns:m="http://schemas.openxmlformats.org/officeDocument/2006/math">
                    <m:r>
                      <a:rPr lang="en-IN" sz="2800" i="1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𝑗</m:t>
                    </m:r>
                    <m:r>
                      <a:rPr lang="en-IN" sz="2800" i="1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-1];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		</a:t>
                </a:r>
                <a:r>
                  <a:rPr lang="en-IN" sz="2800" dirty="0" err="1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num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</a:t>
                </a:r>
                <a14:m>
                  <m:oMath xmlns:m="http://schemas.openxmlformats.org/officeDocument/2006/math">
                    <m:r>
                      <a:rPr lang="en-IN" sz="2800" i="1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𝑗</m:t>
                    </m:r>
                    <m:r>
                      <a:rPr lang="en-IN" sz="2800" i="1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-1] = </a:t>
                </a:r>
                <a:r>
                  <a:rPr lang="en-IN" sz="28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temp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;</a:t>
                </a:r>
                <a:endParaRPr lang="en-IN" sz="2800" dirty="0">
                  <a:solidFill>
                    <a:schemeClr val="accent1">
                      <a:lumMod val="40000"/>
                      <a:lumOff val="60000"/>
                    </a:schemeClr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	}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	</a:t>
                </a:r>
                <a:r>
                  <a:rPr lang="en-IN" sz="28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else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		</a:t>
                </a:r>
                <a:r>
                  <a:rPr lang="en-IN" sz="28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break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} 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}</a:t>
                </a:r>
                <a:b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</a:b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</a:t>
                </a:r>
                <a:r>
                  <a:rPr lang="en-IN" sz="28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return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0;</a:t>
                </a:r>
                <a:b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</a:b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}</a:t>
                </a:r>
                <a:endParaRPr lang="en-US" sz="2800" dirty="0">
                  <a:solidFill>
                    <a:schemeClr val="bg1"/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>
          <p:sp>
            <p:nvSpPr>
              <p:cNvPr id="2" name="Rounded Rectangle 1">
                <a:extLst>
                  <a:ext uri="{FF2B5EF4-FFF2-40B4-BE49-F238E27FC236}">
                    <a16:creationId xmlns:a16="http://schemas.microsoft.com/office/drawing/2014/main" id="{B5294472-B85B-A348-7FB2-C1864901D2F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2734" y="627636"/>
                <a:ext cx="9543957" cy="10884535"/>
              </a:xfrm>
              <a:prstGeom prst="roundRect">
                <a:avLst/>
              </a:prstGeom>
              <a:blipFill>
                <a:blip r:embed="rId2"/>
                <a:stretch>
                  <a:fillRect/>
                </a:stretch>
              </a:blipFill>
              <a:ln w="63500" cap="flat">
                <a:solidFill>
                  <a:schemeClr val="tx1"/>
                </a:solidFill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EF498176-D0CC-5819-7CC4-63104D672FE3}"/>
              </a:ext>
            </a:extLst>
          </p:cNvPr>
          <p:cNvSpPr/>
          <p:nvPr/>
        </p:nvSpPr>
        <p:spPr>
          <a:xfrm>
            <a:off x="14180710" y="5403425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2</a:t>
            </a: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A92AC3AE-A704-B922-D0C7-855CA08C75EF}"/>
              </a:ext>
            </a:extLst>
          </p:cNvPr>
          <p:cNvSpPr/>
          <p:nvPr/>
        </p:nvSpPr>
        <p:spPr>
          <a:xfrm>
            <a:off x="13987311" y="4949141"/>
            <a:ext cx="5281350" cy="1770434"/>
          </a:xfrm>
          <a:prstGeom prst="roundRect">
            <a:avLst/>
          </a:prstGeom>
          <a:solidFill>
            <a:schemeClr val="accent2">
              <a:lumMod val="50000"/>
              <a:alpha val="29955"/>
            </a:schemeClr>
          </a:solidFill>
          <a:ln w="63500" cap="flat">
            <a:solidFill>
              <a:schemeClr val="accent2">
                <a:lumMod val="5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13E3499C-3527-E7A4-2A00-BF41B994C11A}"/>
              </a:ext>
            </a:extLst>
          </p:cNvPr>
          <p:cNvSpPr/>
          <p:nvPr/>
        </p:nvSpPr>
        <p:spPr>
          <a:xfrm>
            <a:off x="852734" y="5782762"/>
            <a:ext cx="9512180" cy="614473"/>
          </a:xfrm>
          <a:prstGeom prst="roundRect">
            <a:avLst/>
          </a:prstGeom>
          <a:solidFill>
            <a:schemeClr val="accent4">
              <a:lumMod val="60000"/>
              <a:lumOff val="40000"/>
              <a:alpha val="41668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2743822A-A405-EA6C-2FDB-8EC169573B80}"/>
              </a:ext>
            </a:extLst>
          </p:cNvPr>
          <p:cNvSpPr/>
          <p:nvPr/>
        </p:nvSpPr>
        <p:spPr>
          <a:xfrm>
            <a:off x="19603466" y="5364328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27</a:t>
            </a: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3" name="Right Arrow 2">
            <a:extLst>
              <a:ext uri="{FF2B5EF4-FFF2-40B4-BE49-F238E27FC236}">
                <a16:creationId xmlns:a16="http://schemas.microsoft.com/office/drawing/2014/main" id="{EB7D346C-B739-B2A3-8A04-E491F4C557FB}"/>
              </a:ext>
            </a:extLst>
          </p:cNvPr>
          <p:cNvSpPr/>
          <p:nvPr/>
        </p:nvSpPr>
        <p:spPr>
          <a:xfrm rot="16200000">
            <a:off x="19565749" y="7193401"/>
            <a:ext cx="1453118" cy="782316"/>
          </a:xfrm>
          <a:prstGeom prst="rightArrow">
            <a:avLst/>
          </a:prstGeom>
          <a:solidFill>
            <a:schemeClr val="accent2">
              <a:lumMod val="60000"/>
              <a:lumOff val="40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!!box">
                <a:extLst>
                  <a:ext uri="{FF2B5EF4-FFF2-40B4-BE49-F238E27FC236}">
                    <a16:creationId xmlns:a16="http://schemas.microsoft.com/office/drawing/2014/main" id="{E7EE91F5-C383-F73E-D1A2-6B2D21B60DE6}"/>
                  </a:ext>
                </a:extLst>
              </p:cNvPr>
              <p:cNvSpPr/>
              <p:nvPr/>
            </p:nvSpPr>
            <p:spPr>
              <a:xfrm>
                <a:off x="19677408" y="8654567"/>
                <a:ext cx="1243401" cy="658336"/>
              </a:xfrm>
              <a:prstGeom prst="roundRect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 w="63500" cap="flat">
                <a:solidFill>
                  <a:schemeClr val="tx1"/>
                </a:solidFill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50800" tIns="50800" rIns="50800" bIns="50800" numCol="1" spcCol="38100" rtlCol="0" anchor="ctr">
                <a:spAutoFit/>
              </a:bodyPr>
              <a:lstStyle/>
              <a:p>
                <a:pPr marL="0" marR="0" indent="0" defTabSz="8255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14:m>
                  <m:oMath xmlns:m="http://schemas.openxmlformats.org/officeDocument/2006/math">
                    <m:r>
                      <a:rPr lang="en-US" sz="3200" i="1" dirty="0">
                        <a:ln w="0"/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effectLst>
                          <a:outerShdw blurRad="38100" dist="19050" dir="2700000" algn="tl" rotWithShape="0">
                            <a:schemeClr val="dk1">
                              <a:alpha val="40000"/>
                            </a:schemeClr>
                          </a:outerShdw>
                        </a:effectLst>
                        <a:latin typeface="Cambria Math" panose="02040503050406030204" pitchFamily="18" charset="0"/>
                        <a:ea typeface="Cambria Math" panose="02040503050406030204" pitchFamily="18" charset="0"/>
                        <a:cs typeface="Helvetica Neue Medium"/>
                        <a:sym typeface="Helvetica Neue Medium"/>
                      </a:rPr>
                      <m:t>𝑗</m:t>
                    </m:r>
                  </m:oMath>
                </a14:m>
                <a:r>
                  <a:rPr lang="en-US" sz="3200" dirty="0">
                    <a:solidFill>
                      <a:schemeClr val="bg1"/>
                    </a:solidFill>
                    <a:latin typeface="Bradley Hand" pitchFamily="2" charset="77"/>
                    <a:sym typeface="Helvetica Neue Medium"/>
                  </a:rPr>
                  <a:t> = 3</a:t>
                </a:r>
              </a:p>
            </p:txBody>
          </p:sp>
        </mc:Choice>
        <mc:Fallback xmlns="">
          <p:sp>
            <p:nvSpPr>
              <p:cNvPr id="4" name="!!box">
                <a:extLst>
                  <a:ext uri="{FF2B5EF4-FFF2-40B4-BE49-F238E27FC236}">
                    <a16:creationId xmlns:a16="http://schemas.microsoft.com/office/drawing/2014/main" id="{E7EE91F5-C383-F73E-D1A2-6B2D21B60DE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677408" y="8654567"/>
                <a:ext cx="1243401" cy="658336"/>
              </a:xfrm>
              <a:prstGeom prst="roundRect">
                <a:avLst/>
              </a:prstGeom>
              <a:blipFill>
                <a:blip r:embed="rId3"/>
                <a:stretch>
                  <a:fillRect l="-6796" b="-19298"/>
                </a:stretch>
              </a:blipFill>
              <a:ln w="63500" cap="flat">
                <a:solidFill>
                  <a:schemeClr val="tx1"/>
                </a:solidFill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5421130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750">
        <p159:morph option="byObject"/>
      </p:transition>
    </mc:Choice>
    <mc:Fallback xmlns="">
      <p:transition spd="slow">
        <p:fade/>
      </p:transition>
    </mc:Fallback>
  </mc:AlternateContent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693321-2037-553D-63F5-5C8F4146B6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AD96B3A9-35CF-B290-821F-36C47CA9AEE1}"/>
              </a:ext>
            </a:extLst>
          </p:cNvPr>
          <p:cNvSpPr/>
          <p:nvPr/>
        </p:nvSpPr>
        <p:spPr>
          <a:xfrm>
            <a:off x="16047262" y="5379879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15</a:t>
            </a: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F8591E6E-CCD4-EA94-86E4-11EE3691092A}"/>
              </a:ext>
            </a:extLst>
          </p:cNvPr>
          <p:cNvSpPr/>
          <p:nvPr/>
        </p:nvSpPr>
        <p:spPr>
          <a:xfrm>
            <a:off x="17913814" y="5403425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47</a:t>
            </a: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" name="Rounded Rectangle 1">
                <a:extLst>
                  <a:ext uri="{FF2B5EF4-FFF2-40B4-BE49-F238E27FC236}">
                    <a16:creationId xmlns:a16="http://schemas.microsoft.com/office/drawing/2014/main" id="{CCB54510-8AEB-51F3-F6EC-6AD651903553}"/>
                  </a:ext>
                </a:extLst>
              </p:cNvPr>
              <p:cNvSpPr/>
              <p:nvPr/>
            </p:nvSpPr>
            <p:spPr>
              <a:xfrm>
                <a:off x="852734" y="627636"/>
                <a:ext cx="9543957" cy="10884535"/>
              </a:xfrm>
              <a:prstGeom prst="roundRect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 w="63500" cap="flat">
                <a:solidFill>
                  <a:schemeClr val="tx1"/>
                </a:solidFill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50800" tIns="50800" rIns="50800" bIns="50800" numCol="1" spcCol="38100" rtlCol="0" anchor="ctr">
                <a:spAutoFit/>
              </a:bodyPr>
              <a:lstStyle/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#include </a:t>
                </a:r>
                <a:r>
                  <a:rPr lang="en-IN" sz="28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&lt;</a:t>
                </a:r>
                <a:r>
                  <a:rPr lang="en-IN" sz="2800" dirty="0" err="1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stdio.h</a:t>
                </a:r>
                <a:r>
                  <a:rPr lang="en-IN" sz="28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&gt;</a:t>
                </a:r>
                <a:b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</a:br>
                <a:b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</a:br>
                <a:r>
                  <a:rPr lang="en-IN" sz="28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int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IN" sz="28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main</a:t>
                </a:r>
                <a:r>
                  <a:rPr lang="en-IN" sz="2800" dirty="0">
                    <a:solidFill>
                      <a:schemeClr val="accent4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()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{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US" sz="28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 int</a:t>
                </a:r>
                <a:r>
                  <a:rPr lang="en-US" sz="28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800" i="1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,</a:t>
                </a:r>
                <a14:m>
                  <m:oMath xmlns:m="http://schemas.openxmlformats.org/officeDocument/2006/math">
                    <m:r>
                      <a:rPr lang="en-US" sz="2800" i="1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,</a:t>
                </a:r>
                <a14:m>
                  <m:oMath xmlns:m="http://schemas.openxmlformats.org/officeDocument/2006/math">
                    <m:r>
                      <a:rPr lang="en-IN" sz="28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</a:t>
                </a:r>
                <a:r>
                  <a:rPr lang="en-IN" sz="2800" dirty="0" err="1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scanf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(“%d”, &amp;</a:t>
                </a:r>
                <a14:m>
                  <m:oMath xmlns:m="http://schemas.openxmlformats.org/officeDocument/2006/math">
                    <m:r>
                      <a:rPr lang="en-IN" sz="28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);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int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IN" sz="2800" dirty="0" err="1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num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</a:t>
                </a:r>
                <a14:m>
                  <m:oMath xmlns:m="http://schemas.openxmlformats.org/officeDocument/2006/math">
                    <m:r>
                      <a:rPr lang="en-IN" sz="28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];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</a:t>
                </a:r>
                <a:r>
                  <a:rPr lang="en-IN" sz="28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for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</a:t>
                </a:r>
                <a14:m>
                  <m:oMath xmlns:m="http://schemas.openxmlformats.org/officeDocument/2006/math">
                    <m:r>
                      <a:rPr lang="en-US" sz="2800" i="1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=0 ; </a:t>
                </a:r>
                <a14:m>
                  <m:oMath xmlns:m="http://schemas.openxmlformats.org/officeDocument/2006/math">
                    <m:r>
                      <a:rPr lang="en-US" sz="2800" i="1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&lt; </a:t>
                </a:r>
                <a14:m>
                  <m:oMath xmlns:m="http://schemas.openxmlformats.org/officeDocument/2006/math">
                    <m:r>
                      <a:rPr lang="en-IN" sz="28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; </a:t>
                </a:r>
                <a14:m>
                  <m:oMath xmlns:m="http://schemas.openxmlformats.org/officeDocument/2006/math">
                    <m:r>
                      <a:rPr lang="en-US" sz="2800" i="1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++)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{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</a:t>
                </a:r>
                <a:r>
                  <a:rPr lang="en-IN" sz="2800" dirty="0" err="1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scanf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(“%d”, &amp;</a:t>
                </a:r>
                <a:r>
                  <a:rPr lang="en-IN" sz="2800" dirty="0" err="1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num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</a:t>
                </a:r>
                <a14:m>
                  <m:oMath xmlns:m="http://schemas.openxmlformats.org/officeDocument/2006/math">
                    <m:r>
                      <a:rPr lang="en-US" sz="2800" i="1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]);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for( </a:t>
                </a:r>
                <a14:m>
                  <m:oMath xmlns:m="http://schemas.openxmlformats.org/officeDocument/2006/math">
                    <m:r>
                      <a:rPr lang="en-IN" sz="2800" i="1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= </a:t>
                </a:r>
                <a14:m>
                  <m:oMath xmlns:m="http://schemas.openxmlformats.org/officeDocument/2006/math">
                    <m:r>
                      <a:rPr lang="en-US" sz="2800" i="1">
                        <a:ln w="0"/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effectLst>
                          <a:outerShdw blurRad="38100" dist="19050" dir="2700000" algn="tl" rotWithShape="0">
                            <a:schemeClr val="dk1">
                              <a:alpha val="40000"/>
                            </a:schemeClr>
                          </a:outerShdw>
                        </a:effectLst>
                        <a:latin typeface="Cambria Math" panose="02040503050406030204" pitchFamily="18" charset="0"/>
                        <a:ea typeface="Cambria Math" panose="02040503050406030204" pitchFamily="18" charset="0"/>
                        <a:cs typeface="Helvetica Neue Medium"/>
                        <a:sym typeface="Helvetica Neue Medium"/>
                      </a:rPr>
                      <m:t>𝑖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; </a:t>
                </a:r>
                <a14:m>
                  <m:oMath xmlns:m="http://schemas.openxmlformats.org/officeDocument/2006/math">
                    <m:r>
                      <a:rPr lang="en-IN" sz="28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&gt; 0; </a:t>
                </a:r>
                <a14:m>
                  <m:oMath xmlns:m="http://schemas.openxmlformats.org/officeDocument/2006/math">
                    <m:r>
                      <a:rPr lang="en-IN" sz="28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𝑗</m:t>
                    </m:r>
                    <m:r>
                      <a:rPr lang="en-IN" sz="28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--)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{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	</a:t>
                </a:r>
                <a:r>
                  <a:rPr lang="en-IN" sz="28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if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( </a:t>
                </a:r>
                <a:r>
                  <a:rPr lang="en-IN" sz="2800" dirty="0" err="1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num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</a:t>
                </a:r>
                <a14:m>
                  <m:oMath xmlns:m="http://schemas.openxmlformats.org/officeDocument/2006/math">
                    <m:r>
                      <a:rPr lang="en-IN" sz="2800" i="1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] &lt; </a:t>
                </a:r>
                <a:r>
                  <a:rPr lang="en-IN" sz="2800" dirty="0" err="1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num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</a:t>
                </a:r>
                <a14:m>
                  <m:oMath xmlns:m="http://schemas.openxmlformats.org/officeDocument/2006/math">
                    <m:r>
                      <a:rPr lang="en-IN" sz="28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𝑗</m:t>
                    </m:r>
                    <m:r>
                      <a:rPr lang="en-IN" sz="28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-1] )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	{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		</a:t>
                </a:r>
                <a:r>
                  <a:rPr lang="en-IN" sz="28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int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IN" sz="28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temp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= </a:t>
                </a:r>
                <a:r>
                  <a:rPr lang="en-IN" sz="2800" dirty="0" err="1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num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</a:t>
                </a:r>
                <a14:m>
                  <m:oMath xmlns:m="http://schemas.openxmlformats.org/officeDocument/2006/math">
                    <m:r>
                      <a:rPr lang="en-IN" sz="2800" i="1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];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		</a:t>
                </a:r>
                <a:r>
                  <a:rPr lang="en-IN" sz="2800" dirty="0" err="1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num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</a:t>
                </a:r>
                <a14:m>
                  <m:oMath xmlns:m="http://schemas.openxmlformats.org/officeDocument/2006/math">
                    <m:r>
                      <a:rPr lang="en-IN" sz="28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] = </a:t>
                </a:r>
                <a:r>
                  <a:rPr lang="en-IN" sz="2800" dirty="0" err="1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num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</a:t>
                </a:r>
                <a14:m>
                  <m:oMath xmlns:m="http://schemas.openxmlformats.org/officeDocument/2006/math">
                    <m:r>
                      <a:rPr lang="en-IN" sz="2800" i="1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𝑗</m:t>
                    </m:r>
                    <m:r>
                      <a:rPr lang="en-IN" sz="2800" i="1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-1];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		</a:t>
                </a:r>
                <a:r>
                  <a:rPr lang="en-IN" sz="2800" dirty="0" err="1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num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</a:t>
                </a:r>
                <a14:m>
                  <m:oMath xmlns:m="http://schemas.openxmlformats.org/officeDocument/2006/math">
                    <m:r>
                      <a:rPr lang="en-IN" sz="2800" i="1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𝑗</m:t>
                    </m:r>
                    <m:r>
                      <a:rPr lang="en-IN" sz="2800" i="1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-1] = </a:t>
                </a:r>
                <a:r>
                  <a:rPr lang="en-IN" sz="28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temp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;</a:t>
                </a:r>
                <a:endParaRPr lang="en-IN" sz="2800" dirty="0">
                  <a:solidFill>
                    <a:schemeClr val="accent1">
                      <a:lumMod val="40000"/>
                      <a:lumOff val="60000"/>
                    </a:schemeClr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	}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	</a:t>
                </a:r>
                <a:r>
                  <a:rPr lang="en-IN" sz="28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else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		</a:t>
                </a:r>
                <a:r>
                  <a:rPr lang="en-IN" sz="28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break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} 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}</a:t>
                </a:r>
                <a:b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</a:b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</a:t>
                </a:r>
                <a:r>
                  <a:rPr lang="en-IN" sz="28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return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0;</a:t>
                </a:r>
                <a:b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</a:b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}</a:t>
                </a:r>
                <a:endParaRPr lang="en-US" sz="2800" dirty="0">
                  <a:solidFill>
                    <a:schemeClr val="bg1"/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>
          <p:sp>
            <p:nvSpPr>
              <p:cNvPr id="2" name="Rounded Rectangle 1">
                <a:extLst>
                  <a:ext uri="{FF2B5EF4-FFF2-40B4-BE49-F238E27FC236}">
                    <a16:creationId xmlns:a16="http://schemas.microsoft.com/office/drawing/2014/main" id="{CCB54510-8AEB-51F3-F6EC-6AD65190355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2734" y="627636"/>
                <a:ext cx="9543957" cy="10884535"/>
              </a:xfrm>
              <a:prstGeom prst="roundRect">
                <a:avLst/>
              </a:prstGeom>
              <a:blipFill>
                <a:blip r:embed="rId2"/>
                <a:stretch>
                  <a:fillRect/>
                </a:stretch>
              </a:blipFill>
              <a:ln w="63500" cap="flat">
                <a:solidFill>
                  <a:schemeClr val="tx1"/>
                </a:solidFill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E32E0238-7574-B4AA-2795-E700350B6030}"/>
              </a:ext>
            </a:extLst>
          </p:cNvPr>
          <p:cNvSpPr/>
          <p:nvPr/>
        </p:nvSpPr>
        <p:spPr>
          <a:xfrm>
            <a:off x="14180710" y="5403425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2</a:t>
            </a: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DFA85AA3-A8D5-9231-1288-F9AF94FE3AE5}"/>
              </a:ext>
            </a:extLst>
          </p:cNvPr>
          <p:cNvSpPr/>
          <p:nvPr/>
        </p:nvSpPr>
        <p:spPr>
          <a:xfrm>
            <a:off x="13987311" y="4949141"/>
            <a:ext cx="5281350" cy="1770434"/>
          </a:xfrm>
          <a:prstGeom prst="roundRect">
            <a:avLst/>
          </a:prstGeom>
          <a:solidFill>
            <a:schemeClr val="accent2">
              <a:lumMod val="50000"/>
              <a:alpha val="29955"/>
            </a:schemeClr>
          </a:solidFill>
          <a:ln w="63500" cap="flat">
            <a:solidFill>
              <a:schemeClr val="accent2">
                <a:lumMod val="5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6F809EC6-4C90-DC09-3305-37C22E0DBB70}"/>
              </a:ext>
            </a:extLst>
          </p:cNvPr>
          <p:cNvSpPr/>
          <p:nvPr/>
        </p:nvSpPr>
        <p:spPr>
          <a:xfrm>
            <a:off x="880651" y="6550763"/>
            <a:ext cx="9512180" cy="614473"/>
          </a:xfrm>
          <a:prstGeom prst="roundRect">
            <a:avLst/>
          </a:prstGeom>
          <a:solidFill>
            <a:schemeClr val="accent4">
              <a:lumMod val="60000"/>
              <a:lumOff val="40000"/>
              <a:alpha val="41668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2F0ECFD1-24FC-1887-9D57-944CC0CB685A}"/>
              </a:ext>
            </a:extLst>
          </p:cNvPr>
          <p:cNvSpPr/>
          <p:nvPr/>
        </p:nvSpPr>
        <p:spPr>
          <a:xfrm>
            <a:off x="19603466" y="5364328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27</a:t>
            </a: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3" name="Right Arrow 2">
            <a:extLst>
              <a:ext uri="{FF2B5EF4-FFF2-40B4-BE49-F238E27FC236}">
                <a16:creationId xmlns:a16="http://schemas.microsoft.com/office/drawing/2014/main" id="{64A9FE37-9B31-7ACA-546D-C0052AE5D306}"/>
              </a:ext>
            </a:extLst>
          </p:cNvPr>
          <p:cNvSpPr/>
          <p:nvPr/>
        </p:nvSpPr>
        <p:spPr>
          <a:xfrm rot="16200000">
            <a:off x="19565749" y="7193401"/>
            <a:ext cx="1453118" cy="782316"/>
          </a:xfrm>
          <a:prstGeom prst="rightArrow">
            <a:avLst/>
          </a:prstGeom>
          <a:solidFill>
            <a:schemeClr val="accent2">
              <a:lumMod val="60000"/>
              <a:lumOff val="40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!!box">
                <a:extLst>
                  <a:ext uri="{FF2B5EF4-FFF2-40B4-BE49-F238E27FC236}">
                    <a16:creationId xmlns:a16="http://schemas.microsoft.com/office/drawing/2014/main" id="{A741B9B2-6BA1-1E08-AEF4-F0D4B956D2BB}"/>
                  </a:ext>
                </a:extLst>
              </p:cNvPr>
              <p:cNvSpPr/>
              <p:nvPr/>
            </p:nvSpPr>
            <p:spPr>
              <a:xfrm>
                <a:off x="19677408" y="8654567"/>
                <a:ext cx="1243401" cy="658336"/>
              </a:xfrm>
              <a:prstGeom prst="roundRect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 w="63500" cap="flat">
                <a:solidFill>
                  <a:schemeClr val="tx1"/>
                </a:solidFill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50800" tIns="50800" rIns="50800" bIns="50800" numCol="1" spcCol="38100" rtlCol="0" anchor="ctr">
                <a:spAutoFit/>
              </a:bodyPr>
              <a:lstStyle/>
              <a:p>
                <a:pPr marL="0" marR="0" indent="0" defTabSz="8255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14:m>
                  <m:oMath xmlns:m="http://schemas.openxmlformats.org/officeDocument/2006/math">
                    <m:r>
                      <a:rPr lang="en-US" sz="3200" i="1" dirty="0">
                        <a:ln w="0"/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effectLst>
                          <a:outerShdw blurRad="38100" dist="19050" dir="2700000" algn="tl" rotWithShape="0">
                            <a:schemeClr val="dk1">
                              <a:alpha val="40000"/>
                            </a:schemeClr>
                          </a:outerShdw>
                        </a:effectLst>
                        <a:latin typeface="Cambria Math" panose="02040503050406030204" pitchFamily="18" charset="0"/>
                        <a:ea typeface="Cambria Math" panose="02040503050406030204" pitchFamily="18" charset="0"/>
                        <a:cs typeface="Helvetica Neue Medium"/>
                        <a:sym typeface="Helvetica Neue Medium"/>
                      </a:rPr>
                      <m:t>𝑗</m:t>
                    </m:r>
                  </m:oMath>
                </a14:m>
                <a:r>
                  <a:rPr lang="en-US" sz="3200" dirty="0">
                    <a:solidFill>
                      <a:schemeClr val="bg1"/>
                    </a:solidFill>
                    <a:latin typeface="Bradley Hand" pitchFamily="2" charset="77"/>
                    <a:sym typeface="Helvetica Neue Medium"/>
                  </a:rPr>
                  <a:t> = 3</a:t>
                </a:r>
              </a:p>
            </p:txBody>
          </p:sp>
        </mc:Choice>
        <mc:Fallback xmlns="">
          <p:sp>
            <p:nvSpPr>
              <p:cNvPr id="4" name="!!box">
                <a:extLst>
                  <a:ext uri="{FF2B5EF4-FFF2-40B4-BE49-F238E27FC236}">
                    <a16:creationId xmlns:a16="http://schemas.microsoft.com/office/drawing/2014/main" id="{A741B9B2-6BA1-1E08-AEF4-F0D4B956D2B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677408" y="8654567"/>
                <a:ext cx="1243401" cy="658336"/>
              </a:xfrm>
              <a:prstGeom prst="roundRect">
                <a:avLst/>
              </a:prstGeom>
              <a:blipFill>
                <a:blip r:embed="rId3"/>
                <a:stretch>
                  <a:fillRect l="-6796" b="-19298"/>
                </a:stretch>
              </a:blipFill>
              <a:ln w="63500" cap="flat">
                <a:solidFill>
                  <a:schemeClr val="tx1"/>
                </a:solidFill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54321717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750">
        <p159:morph option="byObject"/>
      </p:transition>
    </mc:Choice>
    <mc:Fallback xmlns="">
      <p:transition spd="slow">
        <p:fade/>
      </p:transition>
    </mc:Fallback>
  </mc:AlternateContent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7FDB96-78EA-295C-5AF7-C3B2052555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728357D9-9CAD-14AA-D370-3FBC32DDC9A5}"/>
              </a:ext>
            </a:extLst>
          </p:cNvPr>
          <p:cNvSpPr/>
          <p:nvPr/>
        </p:nvSpPr>
        <p:spPr>
          <a:xfrm>
            <a:off x="14180710" y="5403425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2</a:t>
            </a: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199FC470-1416-F55B-E550-D7F89F8F67C5}"/>
              </a:ext>
            </a:extLst>
          </p:cNvPr>
          <p:cNvSpPr/>
          <p:nvPr/>
        </p:nvSpPr>
        <p:spPr>
          <a:xfrm>
            <a:off x="16047262" y="5379879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15</a:t>
            </a: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30BD7C3E-3549-1463-1F19-293A7295FCAB}"/>
              </a:ext>
            </a:extLst>
          </p:cNvPr>
          <p:cNvSpPr/>
          <p:nvPr/>
        </p:nvSpPr>
        <p:spPr>
          <a:xfrm>
            <a:off x="13987311" y="4949141"/>
            <a:ext cx="5281350" cy="1770434"/>
          </a:xfrm>
          <a:prstGeom prst="roundRect">
            <a:avLst/>
          </a:prstGeom>
          <a:solidFill>
            <a:schemeClr val="accent2">
              <a:lumMod val="50000"/>
              <a:alpha val="29955"/>
            </a:schemeClr>
          </a:solidFill>
          <a:ln w="63500" cap="flat">
            <a:solidFill>
              <a:schemeClr val="accent2">
                <a:lumMod val="5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F3CA62EF-4C80-9859-87EA-7C3CA65A0952}"/>
              </a:ext>
            </a:extLst>
          </p:cNvPr>
          <p:cNvSpPr/>
          <p:nvPr/>
        </p:nvSpPr>
        <p:spPr>
          <a:xfrm>
            <a:off x="17913814" y="5403425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27</a:t>
            </a: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" name="Rounded Rectangle 1">
                <a:extLst>
                  <a:ext uri="{FF2B5EF4-FFF2-40B4-BE49-F238E27FC236}">
                    <a16:creationId xmlns:a16="http://schemas.microsoft.com/office/drawing/2014/main" id="{AFDDA23D-7F65-9772-CB09-97C6A5217167}"/>
                  </a:ext>
                </a:extLst>
              </p:cNvPr>
              <p:cNvSpPr/>
              <p:nvPr/>
            </p:nvSpPr>
            <p:spPr>
              <a:xfrm>
                <a:off x="852734" y="627636"/>
                <a:ext cx="9543957" cy="10884535"/>
              </a:xfrm>
              <a:prstGeom prst="roundRect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 w="63500" cap="flat">
                <a:solidFill>
                  <a:schemeClr val="tx1"/>
                </a:solidFill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50800" tIns="50800" rIns="50800" bIns="50800" numCol="1" spcCol="38100" rtlCol="0" anchor="ctr">
                <a:spAutoFit/>
              </a:bodyPr>
              <a:lstStyle/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#include </a:t>
                </a:r>
                <a:r>
                  <a:rPr lang="en-IN" sz="28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&lt;</a:t>
                </a:r>
                <a:r>
                  <a:rPr lang="en-IN" sz="2800" dirty="0" err="1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stdio.h</a:t>
                </a:r>
                <a:r>
                  <a:rPr lang="en-IN" sz="28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&gt;</a:t>
                </a:r>
                <a:b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</a:br>
                <a:b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</a:br>
                <a:r>
                  <a:rPr lang="en-IN" sz="28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int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IN" sz="28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main</a:t>
                </a:r>
                <a:r>
                  <a:rPr lang="en-IN" sz="2800" dirty="0">
                    <a:solidFill>
                      <a:schemeClr val="accent4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()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{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US" sz="28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 int</a:t>
                </a:r>
                <a:r>
                  <a:rPr lang="en-US" sz="28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800" i="1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,</a:t>
                </a:r>
                <a14:m>
                  <m:oMath xmlns:m="http://schemas.openxmlformats.org/officeDocument/2006/math">
                    <m:r>
                      <a:rPr lang="en-US" sz="2800" i="1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,</a:t>
                </a:r>
                <a14:m>
                  <m:oMath xmlns:m="http://schemas.openxmlformats.org/officeDocument/2006/math">
                    <m:r>
                      <a:rPr lang="en-IN" sz="28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</a:t>
                </a:r>
                <a:r>
                  <a:rPr lang="en-IN" sz="2800" dirty="0" err="1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scanf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(“%d”, &amp;</a:t>
                </a:r>
                <a14:m>
                  <m:oMath xmlns:m="http://schemas.openxmlformats.org/officeDocument/2006/math">
                    <m:r>
                      <a:rPr lang="en-IN" sz="28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);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int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IN" sz="2800" dirty="0" err="1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num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</a:t>
                </a:r>
                <a14:m>
                  <m:oMath xmlns:m="http://schemas.openxmlformats.org/officeDocument/2006/math">
                    <m:r>
                      <a:rPr lang="en-IN" sz="28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];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</a:t>
                </a:r>
                <a:r>
                  <a:rPr lang="en-IN" sz="28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for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</a:t>
                </a:r>
                <a14:m>
                  <m:oMath xmlns:m="http://schemas.openxmlformats.org/officeDocument/2006/math">
                    <m:r>
                      <a:rPr lang="en-US" sz="2800" i="1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=0 ; </a:t>
                </a:r>
                <a14:m>
                  <m:oMath xmlns:m="http://schemas.openxmlformats.org/officeDocument/2006/math">
                    <m:r>
                      <a:rPr lang="en-US" sz="2800" i="1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&lt; </a:t>
                </a:r>
                <a14:m>
                  <m:oMath xmlns:m="http://schemas.openxmlformats.org/officeDocument/2006/math">
                    <m:r>
                      <a:rPr lang="en-IN" sz="28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; </a:t>
                </a:r>
                <a14:m>
                  <m:oMath xmlns:m="http://schemas.openxmlformats.org/officeDocument/2006/math">
                    <m:r>
                      <a:rPr lang="en-US" sz="2800" i="1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++)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{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</a:t>
                </a:r>
                <a:r>
                  <a:rPr lang="en-IN" sz="2800" dirty="0" err="1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scanf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(“%d”, &amp;</a:t>
                </a:r>
                <a:r>
                  <a:rPr lang="en-IN" sz="2800" dirty="0" err="1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num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</a:t>
                </a:r>
                <a14:m>
                  <m:oMath xmlns:m="http://schemas.openxmlformats.org/officeDocument/2006/math">
                    <m:r>
                      <a:rPr lang="en-US" sz="2800" i="1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]);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for( </a:t>
                </a:r>
                <a14:m>
                  <m:oMath xmlns:m="http://schemas.openxmlformats.org/officeDocument/2006/math">
                    <m:r>
                      <a:rPr lang="en-IN" sz="2800" i="1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= </a:t>
                </a:r>
                <a14:m>
                  <m:oMath xmlns:m="http://schemas.openxmlformats.org/officeDocument/2006/math">
                    <m:r>
                      <a:rPr lang="en-US" sz="2800" i="1">
                        <a:ln w="0"/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effectLst>
                          <a:outerShdw blurRad="38100" dist="19050" dir="2700000" algn="tl" rotWithShape="0">
                            <a:schemeClr val="dk1">
                              <a:alpha val="40000"/>
                            </a:schemeClr>
                          </a:outerShdw>
                        </a:effectLst>
                        <a:latin typeface="Cambria Math" panose="02040503050406030204" pitchFamily="18" charset="0"/>
                        <a:ea typeface="Cambria Math" panose="02040503050406030204" pitchFamily="18" charset="0"/>
                        <a:cs typeface="Helvetica Neue Medium"/>
                        <a:sym typeface="Helvetica Neue Medium"/>
                      </a:rPr>
                      <m:t>𝑖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; </a:t>
                </a:r>
                <a14:m>
                  <m:oMath xmlns:m="http://schemas.openxmlformats.org/officeDocument/2006/math">
                    <m:r>
                      <a:rPr lang="en-IN" sz="28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&gt; 0; </a:t>
                </a:r>
                <a14:m>
                  <m:oMath xmlns:m="http://schemas.openxmlformats.org/officeDocument/2006/math">
                    <m:r>
                      <a:rPr lang="en-IN" sz="28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𝑗</m:t>
                    </m:r>
                    <m:r>
                      <a:rPr lang="en-IN" sz="28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--)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{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	</a:t>
                </a:r>
                <a:r>
                  <a:rPr lang="en-IN" sz="28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if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( </a:t>
                </a:r>
                <a:r>
                  <a:rPr lang="en-IN" sz="2800" dirty="0" err="1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num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</a:t>
                </a:r>
                <a14:m>
                  <m:oMath xmlns:m="http://schemas.openxmlformats.org/officeDocument/2006/math">
                    <m:r>
                      <a:rPr lang="en-IN" sz="2800" i="1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] &lt; </a:t>
                </a:r>
                <a:r>
                  <a:rPr lang="en-IN" sz="2800" dirty="0" err="1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num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</a:t>
                </a:r>
                <a14:m>
                  <m:oMath xmlns:m="http://schemas.openxmlformats.org/officeDocument/2006/math">
                    <m:r>
                      <a:rPr lang="en-IN" sz="28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𝑗</m:t>
                    </m:r>
                    <m:r>
                      <a:rPr lang="en-IN" sz="28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-1] )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	{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		</a:t>
                </a:r>
                <a:r>
                  <a:rPr lang="en-IN" sz="28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int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IN" sz="28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temp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= </a:t>
                </a:r>
                <a:r>
                  <a:rPr lang="en-IN" sz="2800" dirty="0" err="1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num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</a:t>
                </a:r>
                <a14:m>
                  <m:oMath xmlns:m="http://schemas.openxmlformats.org/officeDocument/2006/math">
                    <m:r>
                      <a:rPr lang="en-IN" sz="2800" i="1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];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		</a:t>
                </a:r>
                <a:r>
                  <a:rPr lang="en-IN" sz="2800" dirty="0" err="1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num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</a:t>
                </a:r>
                <a14:m>
                  <m:oMath xmlns:m="http://schemas.openxmlformats.org/officeDocument/2006/math">
                    <m:r>
                      <a:rPr lang="en-IN" sz="28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] = </a:t>
                </a:r>
                <a:r>
                  <a:rPr lang="en-IN" sz="2800" dirty="0" err="1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num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</a:t>
                </a:r>
                <a14:m>
                  <m:oMath xmlns:m="http://schemas.openxmlformats.org/officeDocument/2006/math">
                    <m:r>
                      <a:rPr lang="en-IN" sz="2800" i="1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𝑗</m:t>
                    </m:r>
                    <m:r>
                      <a:rPr lang="en-IN" sz="2800" i="1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-1];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		</a:t>
                </a:r>
                <a:r>
                  <a:rPr lang="en-IN" sz="2800" dirty="0" err="1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num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</a:t>
                </a:r>
                <a14:m>
                  <m:oMath xmlns:m="http://schemas.openxmlformats.org/officeDocument/2006/math">
                    <m:r>
                      <a:rPr lang="en-IN" sz="2800" i="1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𝑗</m:t>
                    </m:r>
                    <m:r>
                      <a:rPr lang="en-IN" sz="2800" i="1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-1] = </a:t>
                </a:r>
                <a:r>
                  <a:rPr lang="en-IN" sz="28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temp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;</a:t>
                </a:r>
                <a:endParaRPr lang="en-IN" sz="2800" dirty="0">
                  <a:solidFill>
                    <a:schemeClr val="accent1">
                      <a:lumMod val="40000"/>
                      <a:lumOff val="60000"/>
                    </a:schemeClr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	}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	</a:t>
                </a:r>
                <a:r>
                  <a:rPr lang="en-IN" sz="28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else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		</a:t>
                </a:r>
                <a:r>
                  <a:rPr lang="en-IN" sz="28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break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} 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}</a:t>
                </a:r>
                <a:b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</a:b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</a:t>
                </a:r>
                <a:r>
                  <a:rPr lang="en-IN" sz="28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return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0;</a:t>
                </a:r>
                <a:b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</a:b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}</a:t>
                </a:r>
                <a:endParaRPr lang="en-US" sz="2800" dirty="0">
                  <a:solidFill>
                    <a:schemeClr val="bg1"/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>
          <p:sp>
            <p:nvSpPr>
              <p:cNvPr id="2" name="Rounded Rectangle 1">
                <a:extLst>
                  <a:ext uri="{FF2B5EF4-FFF2-40B4-BE49-F238E27FC236}">
                    <a16:creationId xmlns:a16="http://schemas.microsoft.com/office/drawing/2014/main" id="{AFDDA23D-7F65-9772-CB09-97C6A521716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2734" y="627636"/>
                <a:ext cx="9543957" cy="10884535"/>
              </a:xfrm>
              <a:prstGeom prst="roundRect">
                <a:avLst/>
              </a:prstGeom>
              <a:blipFill>
                <a:blip r:embed="rId2"/>
                <a:stretch>
                  <a:fillRect/>
                </a:stretch>
              </a:blipFill>
              <a:ln w="63500" cap="flat">
                <a:solidFill>
                  <a:schemeClr val="tx1"/>
                </a:solidFill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27EC7B36-1D4D-79CD-897A-510A02A31DBE}"/>
              </a:ext>
            </a:extLst>
          </p:cNvPr>
          <p:cNvSpPr/>
          <p:nvPr/>
        </p:nvSpPr>
        <p:spPr>
          <a:xfrm>
            <a:off x="880651" y="4949141"/>
            <a:ext cx="9512180" cy="614473"/>
          </a:xfrm>
          <a:prstGeom prst="roundRect">
            <a:avLst/>
          </a:prstGeom>
          <a:solidFill>
            <a:schemeClr val="accent4">
              <a:lumMod val="60000"/>
              <a:lumOff val="40000"/>
              <a:alpha val="41668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30CC476C-343C-AB16-18C7-B0D5259D213E}"/>
              </a:ext>
            </a:extLst>
          </p:cNvPr>
          <p:cNvSpPr/>
          <p:nvPr/>
        </p:nvSpPr>
        <p:spPr>
          <a:xfrm>
            <a:off x="19603466" y="5364328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47</a:t>
            </a: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3" name="Right Arrow 2">
            <a:extLst>
              <a:ext uri="{FF2B5EF4-FFF2-40B4-BE49-F238E27FC236}">
                <a16:creationId xmlns:a16="http://schemas.microsoft.com/office/drawing/2014/main" id="{C8C39999-905A-89CE-F566-819AE62E047C}"/>
              </a:ext>
            </a:extLst>
          </p:cNvPr>
          <p:cNvSpPr/>
          <p:nvPr/>
        </p:nvSpPr>
        <p:spPr>
          <a:xfrm rot="16200000">
            <a:off x="19565749" y="7193401"/>
            <a:ext cx="1453118" cy="782316"/>
          </a:xfrm>
          <a:prstGeom prst="rightArrow">
            <a:avLst/>
          </a:prstGeom>
          <a:solidFill>
            <a:schemeClr val="accent2">
              <a:lumMod val="60000"/>
              <a:lumOff val="40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!!box">
                <a:extLst>
                  <a:ext uri="{FF2B5EF4-FFF2-40B4-BE49-F238E27FC236}">
                    <a16:creationId xmlns:a16="http://schemas.microsoft.com/office/drawing/2014/main" id="{0838DC1B-0475-FA34-1CC5-52FCC5B1FA22}"/>
                  </a:ext>
                </a:extLst>
              </p:cNvPr>
              <p:cNvSpPr/>
              <p:nvPr/>
            </p:nvSpPr>
            <p:spPr>
              <a:xfrm>
                <a:off x="19677408" y="8654567"/>
                <a:ext cx="1243401" cy="658336"/>
              </a:xfrm>
              <a:prstGeom prst="roundRect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 w="63500" cap="flat">
                <a:solidFill>
                  <a:schemeClr val="tx1"/>
                </a:solidFill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50800" tIns="50800" rIns="50800" bIns="50800" numCol="1" spcCol="38100" rtlCol="0" anchor="ctr">
                <a:spAutoFit/>
              </a:bodyPr>
              <a:lstStyle/>
              <a:p>
                <a:pPr marL="0" marR="0" indent="0" defTabSz="8255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14:m>
                  <m:oMath xmlns:m="http://schemas.openxmlformats.org/officeDocument/2006/math">
                    <m:r>
                      <a:rPr lang="en-US" sz="3200" i="1" dirty="0">
                        <a:ln w="0"/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effectLst>
                          <a:outerShdw blurRad="38100" dist="19050" dir="2700000" algn="tl" rotWithShape="0">
                            <a:schemeClr val="dk1">
                              <a:alpha val="40000"/>
                            </a:schemeClr>
                          </a:outerShdw>
                        </a:effectLst>
                        <a:latin typeface="Cambria Math" panose="02040503050406030204" pitchFamily="18" charset="0"/>
                        <a:ea typeface="Cambria Math" panose="02040503050406030204" pitchFamily="18" charset="0"/>
                        <a:cs typeface="Helvetica Neue Medium"/>
                        <a:sym typeface="Helvetica Neue Medium"/>
                      </a:rPr>
                      <m:t>𝑗</m:t>
                    </m:r>
                  </m:oMath>
                </a14:m>
                <a:r>
                  <a:rPr lang="en-US" sz="3200" dirty="0">
                    <a:solidFill>
                      <a:schemeClr val="bg1"/>
                    </a:solidFill>
                    <a:latin typeface="Bradley Hand" pitchFamily="2" charset="77"/>
                    <a:sym typeface="Helvetica Neue Medium"/>
                  </a:rPr>
                  <a:t> = 3</a:t>
                </a:r>
              </a:p>
            </p:txBody>
          </p:sp>
        </mc:Choice>
        <mc:Fallback xmlns="">
          <p:sp>
            <p:nvSpPr>
              <p:cNvPr id="4" name="!!box">
                <a:extLst>
                  <a:ext uri="{FF2B5EF4-FFF2-40B4-BE49-F238E27FC236}">
                    <a16:creationId xmlns:a16="http://schemas.microsoft.com/office/drawing/2014/main" id="{0838DC1B-0475-FA34-1CC5-52FCC5B1FA2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677408" y="8654567"/>
                <a:ext cx="1243401" cy="658336"/>
              </a:xfrm>
              <a:prstGeom prst="roundRect">
                <a:avLst/>
              </a:prstGeom>
              <a:blipFill>
                <a:blip r:embed="rId3"/>
                <a:stretch>
                  <a:fillRect l="-6796" b="-19298"/>
                </a:stretch>
              </a:blipFill>
              <a:ln w="63500" cap="flat">
                <a:solidFill>
                  <a:schemeClr val="tx1"/>
                </a:solidFill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67909066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750">
        <p159:morph option="byObject"/>
      </p:transition>
    </mc:Choice>
    <mc:Fallback xmlns="">
      <p:transition spd="slow">
        <p:fade/>
      </p:transition>
    </mc:Fallback>
  </mc:AlternateContent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E5659F-9F70-3743-72A1-54FA700AEB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1FA6368E-FBA0-157F-0E1F-750BE2D00F52}"/>
              </a:ext>
            </a:extLst>
          </p:cNvPr>
          <p:cNvSpPr/>
          <p:nvPr/>
        </p:nvSpPr>
        <p:spPr>
          <a:xfrm>
            <a:off x="14180710" y="5403425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2</a:t>
            </a: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87551E86-376A-3971-E9C1-B660EE4C3991}"/>
              </a:ext>
            </a:extLst>
          </p:cNvPr>
          <p:cNvSpPr/>
          <p:nvPr/>
        </p:nvSpPr>
        <p:spPr>
          <a:xfrm>
            <a:off x="16047262" y="5379879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15</a:t>
            </a: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84015754-FAAD-1B3C-2221-3B67815CDABF}"/>
              </a:ext>
            </a:extLst>
          </p:cNvPr>
          <p:cNvSpPr/>
          <p:nvPr/>
        </p:nvSpPr>
        <p:spPr>
          <a:xfrm>
            <a:off x="13987311" y="4949141"/>
            <a:ext cx="5281350" cy="1770434"/>
          </a:xfrm>
          <a:prstGeom prst="roundRect">
            <a:avLst/>
          </a:prstGeom>
          <a:solidFill>
            <a:schemeClr val="accent2">
              <a:lumMod val="50000"/>
              <a:alpha val="29955"/>
            </a:schemeClr>
          </a:solidFill>
          <a:ln w="63500" cap="flat">
            <a:solidFill>
              <a:schemeClr val="accent2">
                <a:lumMod val="5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1D521626-C3D8-112A-C260-E0D6E95D4021}"/>
              </a:ext>
            </a:extLst>
          </p:cNvPr>
          <p:cNvSpPr/>
          <p:nvPr/>
        </p:nvSpPr>
        <p:spPr>
          <a:xfrm>
            <a:off x="17913814" y="5403425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27</a:t>
            </a: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" name="Rounded Rectangle 1">
                <a:extLst>
                  <a:ext uri="{FF2B5EF4-FFF2-40B4-BE49-F238E27FC236}">
                    <a16:creationId xmlns:a16="http://schemas.microsoft.com/office/drawing/2014/main" id="{08855DE0-7479-79A8-7FB8-93ED97BF8F0C}"/>
                  </a:ext>
                </a:extLst>
              </p:cNvPr>
              <p:cNvSpPr/>
              <p:nvPr/>
            </p:nvSpPr>
            <p:spPr>
              <a:xfrm>
                <a:off x="852734" y="627636"/>
                <a:ext cx="9543957" cy="10884535"/>
              </a:xfrm>
              <a:prstGeom prst="roundRect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 w="63500" cap="flat">
                <a:solidFill>
                  <a:schemeClr val="tx1"/>
                </a:solidFill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50800" tIns="50800" rIns="50800" bIns="50800" numCol="1" spcCol="38100" rtlCol="0" anchor="ctr">
                <a:spAutoFit/>
              </a:bodyPr>
              <a:lstStyle/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#include </a:t>
                </a:r>
                <a:r>
                  <a:rPr lang="en-IN" sz="28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&lt;</a:t>
                </a:r>
                <a:r>
                  <a:rPr lang="en-IN" sz="2800" dirty="0" err="1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stdio.h</a:t>
                </a:r>
                <a:r>
                  <a:rPr lang="en-IN" sz="28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&gt;</a:t>
                </a:r>
                <a:b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</a:br>
                <a:b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</a:br>
                <a:r>
                  <a:rPr lang="en-IN" sz="28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int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IN" sz="28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main</a:t>
                </a:r>
                <a:r>
                  <a:rPr lang="en-IN" sz="2800" dirty="0">
                    <a:solidFill>
                      <a:schemeClr val="accent4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()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{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US" sz="28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 int</a:t>
                </a:r>
                <a:r>
                  <a:rPr lang="en-US" sz="28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800" i="1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,</a:t>
                </a:r>
                <a14:m>
                  <m:oMath xmlns:m="http://schemas.openxmlformats.org/officeDocument/2006/math">
                    <m:r>
                      <a:rPr lang="en-US" sz="2800" i="1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,</a:t>
                </a:r>
                <a14:m>
                  <m:oMath xmlns:m="http://schemas.openxmlformats.org/officeDocument/2006/math">
                    <m:r>
                      <a:rPr lang="en-IN" sz="28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</a:t>
                </a:r>
                <a:r>
                  <a:rPr lang="en-IN" sz="2800" dirty="0" err="1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scanf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(“%d”, &amp;</a:t>
                </a:r>
                <a14:m>
                  <m:oMath xmlns:m="http://schemas.openxmlformats.org/officeDocument/2006/math">
                    <m:r>
                      <a:rPr lang="en-IN" sz="28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);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int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IN" sz="2800" dirty="0" err="1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num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</a:t>
                </a:r>
                <a14:m>
                  <m:oMath xmlns:m="http://schemas.openxmlformats.org/officeDocument/2006/math">
                    <m:r>
                      <a:rPr lang="en-IN" sz="28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];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</a:t>
                </a:r>
                <a:r>
                  <a:rPr lang="en-IN" sz="28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for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</a:t>
                </a:r>
                <a14:m>
                  <m:oMath xmlns:m="http://schemas.openxmlformats.org/officeDocument/2006/math">
                    <m:r>
                      <a:rPr lang="en-US" sz="2800" i="1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=0 ; </a:t>
                </a:r>
                <a14:m>
                  <m:oMath xmlns:m="http://schemas.openxmlformats.org/officeDocument/2006/math">
                    <m:r>
                      <a:rPr lang="en-US" sz="2800" i="1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&lt; </a:t>
                </a:r>
                <a14:m>
                  <m:oMath xmlns:m="http://schemas.openxmlformats.org/officeDocument/2006/math">
                    <m:r>
                      <a:rPr lang="en-IN" sz="28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; </a:t>
                </a:r>
                <a14:m>
                  <m:oMath xmlns:m="http://schemas.openxmlformats.org/officeDocument/2006/math">
                    <m:r>
                      <a:rPr lang="en-US" sz="2800" i="1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++)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{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</a:t>
                </a:r>
                <a:r>
                  <a:rPr lang="en-IN" sz="2800" dirty="0" err="1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scanf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(“%d”, &amp;</a:t>
                </a:r>
                <a:r>
                  <a:rPr lang="en-IN" sz="2800" dirty="0" err="1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num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</a:t>
                </a:r>
                <a14:m>
                  <m:oMath xmlns:m="http://schemas.openxmlformats.org/officeDocument/2006/math">
                    <m:r>
                      <a:rPr lang="en-US" sz="2800" i="1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]);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for( </a:t>
                </a:r>
                <a14:m>
                  <m:oMath xmlns:m="http://schemas.openxmlformats.org/officeDocument/2006/math">
                    <m:r>
                      <a:rPr lang="en-IN" sz="2800" i="1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= </a:t>
                </a:r>
                <a14:m>
                  <m:oMath xmlns:m="http://schemas.openxmlformats.org/officeDocument/2006/math">
                    <m:r>
                      <a:rPr lang="en-US" sz="2800" i="1">
                        <a:ln w="0"/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effectLst>
                          <a:outerShdw blurRad="38100" dist="19050" dir="2700000" algn="tl" rotWithShape="0">
                            <a:schemeClr val="dk1">
                              <a:alpha val="40000"/>
                            </a:schemeClr>
                          </a:outerShdw>
                        </a:effectLst>
                        <a:latin typeface="Cambria Math" panose="02040503050406030204" pitchFamily="18" charset="0"/>
                        <a:ea typeface="Cambria Math" panose="02040503050406030204" pitchFamily="18" charset="0"/>
                        <a:cs typeface="Helvetica Neue Medium"/>
                        <a:sym typeface="Helvetica Neue Medium"/>
                      </a:rPr>
                      <m:t>𝑖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; </a:t>
                </a:r>
                <a14:m>
                  <m:oMath xmlns:m="http://schemas.openxmlformats.org/officeDocument/2006/math">
                    <m:r>
                      <a:rPr lang="en-IN" sz="28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&gt; 0; </a:t>
                </a:r>
                <a14:m>
                  <m:oMath xmlns:m="http://schemas.openxmlformats.org/officeDocument/2006/math">
                    <m:r>
                      <a:rPr lang="en-IN" sz="28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𝑗</m:t>
                    </m:r>
                    <m:r>
                      <a:rPr lang="en-IN" sz="28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--)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{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	</a:t>
                </a:r>
                <a:r>
                  <a:rPr lang="en-IN" sz="28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if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( </a:t>
                </a:r>
                <a:r>
                  <a:rPr lang="en-IN" sz="2800" dirty="0" err="1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num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</a:t>
                </a:r>
                <a14:m>
                  <m:oMath xmlns:m="http://schemas.openxmlformats.org/officeDocument/2006/math">
                    <m:r>
                      <a:rPr lang="en-IN" sz="2800" i="1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] &lt; </a:t>
                </a:r>
                <a:r>
                  <a:rPr lang="en-IN" sz="2800" dirty="0" err="1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num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</a:t>
                </a:r>
                <a14:m>
                  <m:oMath xmlns:m="http://schemas.openxmlformats.org/officeDocument/2006/math">
                    <m:r>
                      <a:rPr lang="en-IN" sz="28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𝑗</m:t>
                    </m:r>
                    <m:r>
                      <a:rPr lang="en-IN" sz="28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-1] )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	{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		</a:t>
                </a:r>
                <a:r>
                  <a:rPr lang="en-IN" sz="28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int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IN" sz="28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temp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= </a:t>
                </a:r>
                <a:r>
                  <a:rPr lang="en-IN" sz="2800" dirty="0" err="1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num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</a:t>
                </a:r>
                <a14:m>
                  <m:oMath xmlns:m="http://schemas.openxmlformats.org/officeDocument/2006/math">
                    <m:r>
                      <a:rPr lang="en-IN" sz="2800" i="1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];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		</a:t>
                </a:r>
                <a:r>
                  <a:rPr lang="en-IN" sz="2800" dirty="0" err="1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num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</a:t>
                </a:r>
                <a14:m>
                  <m:oMath xmlns:m="http://schemas.openxmlformats.org/officeDocument/2006/math">
                    <m:r>
                      <a:rPr lang="en-IN" sz="28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] = </a:t>
                </a:r>
                <a:r>
                  <a:rPr lang="en-IN" sz="2800" dirty="0" err="1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num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</a:t>
                </a:r>
                <a14:m>
                  <m:oMath xmlns:m="http://schemas.openxmlformats.org/officeDocument/2006/math">
                    <m:r>
                      <a:rPr lang="en-IN" sz="2800" i="1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𝑗</m:t>
                    </m:r>
                    <m:r>
                      <a:rPr lang="en-IN" sz="2800" i="1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-1];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		</a:t>
                </a:r>
                <a:r>
                  <a:rPr lang="en-IN" sz="2800" dirty="0" err="1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num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</a:t>
                </a:r>
                <a14:m>
                  <m:oMath xmlns:m="http://schemas.openxmlformats.org/officeDocument/2006/math">
                    <m:r>
                      <a:rPr lang="en-IN" sz="2800" i="1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𝑗</m:t>
                    </m:r>
                    <m:r>
                      <a:rPr lang="en-IN" sz="2800" i="1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-1] = </a:t>
                </a:r>
                <a:r>
                  <a:rPr lang="en-IN" sz="28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temp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;</a:t>
                </a:r>
                <a:endParaRPr lang="en-IN" sz="2800" dirty="0">
                  <a:solidFill>
                    <a:schemeClr val="accent1">
                      <a:lumMod val="40000"/>
                      <a:lumOff val="60000"/>
                    </a:schemeClr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	}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	</a:t>
                </a:r>
                <a:r>
                  <a:rPr lang="en-IN" sz="28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else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		</a:t>
                </a:r>
                <a:r>
                  <a:rPr lang="en-IN" sz="28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break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} 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}</a:t>
                </a:r>
                <a:b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</a:b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</a:t>
                </a:r>
                <a:r>
                  <a:rPr lang="en-IN" sz="28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return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0;</a:t>
                </a:r>
                <a:b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</a:b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}</a:t>
                </a:r>
                <a:endParaRPr lang="en-US" sz="2800" dirty="0">
                  <a:solidFill>
                    <a:schemeClr val="bg1"/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>
          <p:sp>
            <p:nvSpPr>
              <p:cNvPr id="2" name="Rounded Rectangle 1">
                <a:extLst>
                  <a:ext uri="{FF2B5EF4-FFF2-40B4-BE49-F238E27FC236}">
                    <a16:creationId xmlns:a16="http://schemas.microsoft.com/office/drawing/2014/main" id="{08855DE0-7479-79A8-7FB8-93ED97BF8F0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2734" y="627636"/>
                <a:ext cx="9543957" cy="10884535"/>
              </a:xfrm>
              <a:prstGeom prst="roundRect">
                <a:avLst/>
              </a:prstGeom>
              <a:blipFill>
                <a:blip r:embed="rId2"/>
                <a:stretch>
                  <a:fillRect/>
                </a:stretch>
              </a:blipFill>
              <a:ln w="63500" cap="flat">
                <a:solidFill>
                  <a:schemeClr val="tx1"/>
                </a:solidFill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8934EBA2-36CB-29DA-E401-578FE7D11373}"/>
              </a:ext>
            </a:extLst>
          </p:cNvPr>
          <p:cNvSpPr/>
          <p:nvPr/>
        </p:nvSpPr>
        <p:spPr>
          <a:xfrm>
            <a:off x="880651" y="4949141"/>
            <a:ext cx="9512180" cy="614473"/>
          </a:xfrm>
          <a:prstGeom prst="roundRect">
            <a:avLst/>
          </a:prstGeom>
          <a:solidFill>
            <a:schemeClr val="accent4">
              <a:lumMod val="60000"/>
              <a:lumOff val="40000"/>
              <a:alpha val="41668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F96BBA3B-9A43-859D-AF49-89DAC825D030}"/>
              </a:ext>
            </a:extLst>
          </p:cNvPr>
          <p:cNvSpPr/>
          <p:nvPr/>
        </p:nvSpPr>
        <p:spPr>
          <a:xfrm>
            <a:off x="19603466" y="5364328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47</a:t>
            </a: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3" name="Right Arrow 2">
            <a:extLst>
              <a:ext uri="{FF2B5EF4-FFF2-40B4-BE49-F238E27FC236}">
                <a16:creationId xmlns:a16="http://schemas.microsoft.com/office/drawing/2014/main" id="{7F198BEA-213E-4856-A704-6AA04DD894A7}"/>
              </a:ext>
            </a:extLst>
          </p:cNvPr>
          <p:cNvSpPr/>
          <p:nvPr/>
        </p:nvSpPr>
        <p:spPr>
          <a:xfrm rot="16200000">
            <a:off x="17876097" y="7193401"/>
            <a:ext cx="1453118" cy="782316"/>
          </a:xfrm>
          <a:prstGeom prst="rightArrow">
            <a:avLst/>
          </a:prstGeom>
          <a:solidFill>
            <a:schemeClr val="accent2">
              <a:lumMod val="60000"/>
              <a:lumOff val="40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!!box">
                <a:extLst>
                  <a:ext uri="{FF2B5EF4-FFF2-40B4-BE49-F238E27FC236}">
                    <a16:creationId xmlns:a16="http://schemas.microsoft.com/office/drawing/2014/main" id="{F8593D1A-233F-E520-4817-8071D159FE7D}"/>
                  </a:ext>
                </a:extLst>
              </p:cNvPr>
              <p:cNvSpPr/>
              <p:nvPr/>
            </p:nvSpPr>
            <p:spPr>
              <a:xfrm>
                <a:off x="17987756" y="8654567"/>
                <a:ext cx="1243401" cy="658336"/>
              </a:xfrm>
              <a:prstGeom prst="roundRect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 w="63500" cap="flat">
                <a:solidFill>
                  <a:schemeClr val="tx1"/>
                </a:solidFill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50800" tIns="50800" rIns="50800" bIns="50800" numCol="1" spcCol="38100" rtlCol="0" anchor="ctr">
                <a:spAutoFit/>
              </a:bodyPr>
              <a:lstStyle/>
              <a:p>
                <a:pPr marL="0" marR="0" indent="0" defTabSz="8255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14:m>
                  <m:oMath xmlns:m="http://schemas.openxmlformats.org/officeDocument/2006/math">
                    <m:r>
                      <a:rPr lang="en-US" sz="3200" i="1" dirty="0">
                        <a:ln w="0"/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effectLst>
                          <a:outerShdw blurRad="38100" dist="19050" dir="2700000" algn="tl" rotWithShape="0">
                            <a:schemeClr val="dk1">
                              <a:alpha val="40000"/>
                            </a:schemeClr>
                          </a:outerShdw>
                        </a:effectLst>
                        <a:latin typeface="Cambria Math" panose="02040503050406030204" pitchFamily="18" charset="0"/>
                        <a:ea typeface="Cambria Math" panose="02040503050406030204" pitchFamily="18" charset="0"/>
                        <a:cs typeface="Helvetica Neue Medium"/>
                        <a:sym typeface="Helvetica Neue Medium"/>
                      </a:rPr>
                      <m:t>𝑗</m:t>
                    </m:r>
                  </m:oMath>
                </a14:m>
                <a:r>
                  <a:rPr lang="en-US" sz="3200" dirty="0">
                    <a:solidFill>
                      <a:schemeClr val="bg1"/>
                    </a:solidFill>
                    <a:latin typeface="Bradley Hand" pitchFamily="2" charset="77"/>
                    <a:sym typeface="Helvetica Neue Medium"/>
                  </a:rPr>
                  <a:t> = 2</a:t>
                </a:r>
              </a:p>
            </p:txBody>
          </p:sp>
        </mc:Choice>
        <mc:Fallback xmlns="">
          <p:sp>
            <p:nvSpPr>
              <p:cNvPr id="4" name="!!box">
                <a:extLst>
                  <a:ext uri="{FF2B5EF4-FFF2-40B4-BE49-F238E27FC236}">
                    <a16:creationId xmlns:a16="http://schemas.microsoft.com/office/drawing/2014/main" id="{F8593D1A-233F-E520-4817-8071D159FE7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987756" y="8654567"/>
                <a:ext cx="1243401" cy="658336"/>
              </a:xfrm>
              <a:prstGeom prst="roundRect">
                <a:avLst/>
              </a:prstGeom>
              <a:blipFill>
                <a:blip r:embed="rId3"/>
                <a:stretch>
                  <a:fillRect l="-6796" b="-19298"/>
                </a:stretch>
              </a:blipFill>
              <a:ln w="63500" cap="flat">
                <a:solidFill>
                  <a:schemeClr val="tx1"/>
                </a:solidFill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51408075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750">
        <p159:morph option="byObject"/>
      </p:transition>
    </mc:Choice>
    <mc:Fallback xmlns="">
      <p:transition spd="slow">
        <p:fade/>
      </p:transition>
    </mc:Fallback>
  </mc:AlternateContent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B2C178-0DC9-9CE4-6F51-16E9A57383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11F9AFF2-084C-E21E-1D01-B4D88C291285}"/>
              </a:ext>
            </a:extLst>
          </p:cNvPr>
          <p:cNvSpPr/>
          <p:nvPr/>
        </p:nvSpPr>
        <p:spPr>
          <a:xfrm>
            <a:off x="14180710" y="5403425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2</a:t>
            </a: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54A5510B-CDEB-BB63-CEF1-1CA272A38F8D}"/>
              </a:ext>
            </a:extLst>
          </p:cNvPr>
          <p:cNvSpPr/>
          <p:nvPr/>
        </p:nvSpPr>
        <p:spPr>
          <a:xfrm>
            <a:off x="16047262" y="5379879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15</a:t>
            </a: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42BC8AA3-8009-1FDD-619A-8256092B1E76}"/>
              </a:ext>
            </a:extLst>
          </p:cNvPr>
          <p:cNvSpPr/>
          <p:nvPr/>
        </p:nvSpPr>
        <p:spPr>
          <a:xfrm>
            <a:off x="13987311" y="4949141"/>
            <a:ext cx="5281350" cy="1770434"/>
          </a:xfrm>
          <a:prstGeom prst="roundRect">
            <a:avLst/>
          </a:prstGeom>
          <a:solidFill>
            <a:schemeClr val="accent2">
              <a:lumMod val="50000"/>
              <a:alpha val="29955"/>
            </a:schemeClr>
          </a:solidFill>
          <a:ln w="63500" cap="flat">
            <a:solidFill>
              <a:schemeClr val="accent2">
                <a:lumMod val="5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A85592FF-6FAB-C697-B2A0-431E084F5AA7}"/>
              </a:ext>
            </a:extLst>
          </p:cNvPr>
          <p:cNvSpPr/>
          <p:nvPr/>
        </p:nvSpPr>
        <p:spPr>
          <a:xfrm>
            <a:off x="17913814" y="5403425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27</a:t>
            </a: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" name="Rounded Rectangle 1">
                <a:extLst>
                  <a:ext uri="{FF2B5EF4-FFF2-40B4-BE49-F238E27FC236}">
                    <a16:creationId xmlns:a16="http://schemas.microsoft.com/office/drawing/2014/main" id="{07DEA9DA-BEAB-9A8C-3B1F-3FF020B3BADA}"/>
                  </a:ext>
                </a:extLst>
              </p:cNvPr>
              <p:cNvSpPr/>
              <p:nvPr/>
            </p:nvSpPr>
            <p:spPr>
              <a:xfrm>
                <a:off x="852734" y="627636"/>
                <a:ext cx="9543957" cy="10884535"/>
              </a:xfrm>
              <a:prstGeom prst="roundRect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 w="63500" cap="flat">
                <a:solidFill>
                  <a:schemeClr val="tx1"/>
                </a:solidFill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50800" tIns="50800" rIns="50800" bIns="50800" numCol="1" spcCol="38100" rtlCol="0" anchor="ctr">
                <a:spAutoFit/>
              </a:bodyPr>
              <a:lstStyle/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#include </a:t>
                </a:r>
                <a:r>
                  <a:rPr lang="en-IN" sz="28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&lt;</a:t>
                </a:r>
                <a:r>
                  <a:rPr lang="en-IN" sz="2800" dirty="0" err="1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stdio.h</a:t>
                </a:r>
                <a:r>
                  <a:rPr lang="en-IN" sz="28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&gt;</a:t>
                </a:r>
                <a:b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</a:br>
                <a:b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</a:br>
                <a:r>
                  <a:rPr lang="en-IN" sz="28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int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IN" sz="28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main</a:t>
                </a:r>
                <a:r>
                  <a:rPr lang="en-IN" sz="2800" dirty="0">
                    <a:solidFill>
                      <a:schemeClr val="accent4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()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{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US" sz="28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 int</a:t>
                </a:r>
                <a:r>
                  <a:rPr lang="en-US" sz="28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800" i="1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,</a:t>
                </a:r>
                <a14:m>
                  <m:oMath xmlns:m="http://schemas.openxmlformats.org/officeDocument/2006/math">
                    <m:r>
                      <a:rPr lang="en-US" sz="2800" i="1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,</a:t>
                </a:r>
                <a14:m>
                  <m:oMath xmlns:m="http://schemas.openxmlformats.org/officeDocument/2006/math">
                    <m:r>
                      <a:rPr lang="en-IN" sz="28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</a:t>
                </a:r>
                <a:r>
                  <a:rPr lang="en-IN" sz="2800" dirty="0" err="1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scanf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(“%d”, &amp;</a:t>
                </a:r>
                <a14:m>
                  <m:oMath xmlns:m="http://schemas.openxmlformats.org/officeDocument/2006/math">
                    <m:r>
                      <a:rPr lang="en-IN" sz="28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);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int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IN" sz="2800" dirty="0" err="1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num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</a:t>
                </a:r>
                <a14:m>
                  <m:oMath xmlns:m="http://schemas.openxmlformats.org/officeDocument/2006/math">
                    <m:r>
                      <a:rPr lang="en-IN" sz="28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];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</a:t>
                </a:r>
                <a:r>
                  <a:rPr lang="en-IN" sz="28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for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</a:t>
                </a:r>
                <a14:m>
                  <m:oMath xmlns:m="http://schemas.openxmlformats.org/officeDocument/2006/math">
                    <m:r>
                      <a:rPr lang="en-US" sz="2800" i="1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=0 ; </a:t>
                </a:r>
                <a14:m>
                  <m:oMath xmlns:m="http://schemas.openxmlformats.org/officeDocument/2006/math">
                    <m:r>
                      <a:rPr lang="en-US" sz="2800" i="1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&lt; </a:t>
                </a:r>
                <a14:m>
                  <m:oMath xmlns:m="http://schemas.openxmlformats.org/officeDocument/2006/math">
                    <m:r>
                      <a:rPr lang="en-IN" sz="28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; </a:t>
                </a:r>
                <a14:m>
                  <m:oMath xmlns:m="http://schemas.openxmlformats.org/officeDocument/2006/math">
                    <m:r>
                      <a:rPr lang="en-US" sz="2800" i="1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++)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{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</a:t>
                </a:r>
                <a:r>
                  <a:rPr lang="en-IN" sz="2800" dirty="0" err="1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scanf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(“%d”, &amp;</a:t>
                </a:r>
                <a:r>
                  <a:rPr lang="en-IN" sz="2800" dirty="0" err="1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num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</a:t>
                </a:r>
                <a14:m>
                  <m:oMath xmlns:m="http://schemas.openxmlformats.org/officeDocument/2006/math">
                    <m:r>
                      <a:rPr lang="en-US" sz="2800" i="1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]);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for( </a:t>
                </a:r>
                <a14:m>
                  <m:oMath xmlns:m="http://schemas.openxmlformats.org/officeDocument/2006/math">
                    <m:r>
                      <a:rPr lang="en-IN" sz="2800" i="1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= </a:t>
                </a:r>
                <a14:m>
                  <m:oMath xmlns:m="http://schemas.openxmlformats.org/officeDocument/2006/math">
                    <m:r>
                      <a:rPr lang="en-US" sz="2800" i="1">
                        <a:ln w="0"/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effectLst>
                          <a:outerShdw blurRad="38100" dist="19050" dir="2700000" algn="tl" rotWithShape="0">
                            <a:schemeClr val="dk1">
                              <a:alpha val="40000"/>
                            </a:schemeClr>
                          </a:outerShdw>
                        </a:effectLst>
                        <a:latin typeface="Cambria Math" panose="02040503050406030204" pitchFamily="18" charset="0"/>
                        <a:ea typeface="Cambria Math" panose="02040503050406030204" pitchFamily="18" charset="0"/>
                        <a:cs typeface="Helvetica Neue Medium"/>
                        <a:sym typeface="Helvetica Neue Medium"/>
                      </a:rPr>
                      <m:t>𝑖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; </a:t>
                </a:r>
                <a14:m>
                  <m:oMath xmlns:m="http://schemas.openxmlformats.org/officeDocument/2006/math">
                    <m:r>
                      <a:rPr lang="en-IN" sz="28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&gt; 0; </a:t>
                </a:r>
                <a14:m>
                  <m:oMath xmlns:m="http://schemas.openxmlformats.org/officeDocument/2006/math">
                    <m:r>
                      <a:rPr lang="en-IN" sz="28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𝑗</m:t>
                    </m:r>
                    <m:r>
                      <a:rPr lang="en-IN" sz="28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--)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{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	</a:t>
                </a:r>
                <a:r>
                  <a:rPr lang="en-IN" sz="28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if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( </a:t>
                </a:r>
                <a:r>
                  <a:rPr lang="en-IN" sz="2800" dirty="0" err="1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num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</a:t>
                </a:r>
                <a14:m>
                  <m:oMath xmlns:m="http://schemas.openxmlformats.org/officeDocument/2006/math">
                    <m:r>
                      <a:rPr lang="en-IN" sz="2800" i="1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] &lt; </a:t>
                </a:r>
                <a:r>
                  <a:rPr lang="en-IN" sz="2800" dirty="0" err="1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num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</a:t>
                </a:r>
                <a14:m>
                  <m:oMath xmlns:m="http://schemas.openxmlformats.org/officeDocument/2006/math">
                    <m:r>
                      <a:rPr lang="en-IN" sz="28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𝑗</m:t>
                    </m:r>
                    <m:r>
                      <a:rPr lang="en-IN" sz="28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-1] )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	{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		</a:t>
                </a:r>
                <a:r>
                  <a:rPr lang="en-IN" sz="28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int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IN" sz="28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temp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= </a:t>
                </a:r>
                <a:r>
                  <a:rPr lang="en-IN" sz="2800" dirty="0" err="1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num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</a:t>
                </a:r>
                <a14:m>
                  <m:oMath xmlns:m="http://schemas.openxmlformats.org/officeDocument/2006/math">
                    <m:r>
                      <a:rPr lang="en-IN" sz="2800" i="1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];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		</a:t>
                </a:r>
                <a:r>
                  <a:rPr lang="en-IN" sz="2800" dirty="0" err="1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num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</a:t>
                </a:r>
                <a14:m>
                  <m:oMath xmlns:m="http://schemas.openxmlformats.org/officeDocument/2006/math">
                    <m:r>
                      <a:rPr lang="en-IN" sz="28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] = </a:t>
                </a:r>
                <a:r>
                  <a:rPr lang="en-IN" sz="2800" dirty="0" err="1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num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</a:t>
                </a:r>
                <a14:m>
                  <m:oMath xmlns:m="http://schemas.openxmlformats.org/officeDocument/2006/math">
                    <m:r>
                      <a:rPr lang="en-IN" sz="2800" i="1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𝑗</m:t>
                    </m:r>
                    <m:r>
                      <a:rPr lang="en-IN" sz="2800" i="1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-1];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		</a:t>
                </a:r>
                <a:r>
                  <a:rPr lang="en-IN" sz="2800" dirty="0" err="1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num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</a:t>
                </a:r>
                <a14:m>
                  <m:oMath xmlns:m="http://schemas.openxmlformats.org/officeDocument/2006/math">
                    <m:r>
                      <a:rPr lang="en-IN" sz="2800" i="1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𝑗</m:t>
                    </m:r>
                    <m:r>
                      <a:rPr lang="en-IN" sz="2800" i="1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-1] = </a:t>
                </a:r>
                <a:r>
                  <a:rPr lang="en-IN" sz="28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temp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;</a:t>
                </a:r>
                <a:endParaRPr lang="en-IN" sz="2800" dirty="0">
                  <a:solidFill>
                    <a:schemeClr val="accent1">
                      <a:lumMod val="40000"/>
                      <a:lumOff val="60000"/>
                    </a:schemeClr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	}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	</a:t>
                </a:r>
                <a:r>
                  <a:rPr lang="en-IN" sz="28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else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		</a:t>
                </a:r>
                <a:r>
                  <a:rPr lang="en-IN" sz="28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break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} 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}</a:t>
                </a:r>
                <a:b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</a:b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</a:t>
                </a:r>
                <a:r>
                  <a:rPr lang="en-IN" sz="28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return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0;</a:t>
                </a:r>
                <a:b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</a:b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}</a:t>
                </a:r>
                <a:endParaRPr lang="en-US" sz="2800" dirty="0">
                  <a:solidFill>
                    <a:schemeClr val="bg1"/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>
          <p:sp>
            <p:nvSpPr>
              <p:cNvPr id="2" name="Rounded Rectangle 1">
                <a:extLst>
                  <a:ext uri="{FF2B5EF4-FFF2-40B4-BE49-F238E27FC236}">
                    <a16:creationId xmlns:a16="http://schemas.microsoft.com/office/drawing/2014/main" id="{07DEA9DA-BEAB-9A8C-3B1F-3FF020B3BAD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2734" y="627636"/>
                <a:ext cx="9543957" cy="10884535"/>
              </a:xfrm>
              <a:prstGeom prst="roundRect">
                <a:avLst/>
              </a:prstGeom>
              <a:blipFill>
                <a:blip r:embed="rId2"/>
                <a:stretch>
                  <a:fillRect/>
                </a:stretch>
              </a:blipFill>
              <a:ln w="63500" cap="flat">
                <a:solidFill>
                  <a:schemeClr val="tx1"/>
                </a:solidFill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DB2622B7-6F37-9BD7-24D2-D3CFCFF3ACFA}"/>
              </a:ext>
            </a:extLst>
          </p:cNvPr>
          <p:cNvSpPr/>
          <p:nvPr/>
        </p:nvSpPr>
        <p:spPr>
          <a:xfrm>
            <a:off x="884510" y="5762666"/>
            <a:ext cx="9512180" cy="614473"/>
          </a:xfrm>
          <a:prstGeom prst="roundRect">
            <a:avLst/>
          </a:prstGeom>
          <a:solidFill>
            <a:schemeClr val="accent4">
              <a:lumMod val="60000"/>
              <a:lumOff val="40000"/>
              <a:alpha val="41668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DE535561-A83F-1107-CDEA-2AAD690F4A67}"/>
              </a:ext>
            </a:extLst>
          </p:cNvPr>
          <p:cNvSpPr/>
          <p:nvPr/>
        </p:nvSpPr>
        <p:spPr>
          <a:xfrm>
            <a:off x="19603466" y="5364328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47</a:t>
            </a: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3" name="Right Arrow 2">
            <a:extLst>
              <a:ext uri="{FF2B5EF4-FFF2-40B4-BE49-F238E27FC236}">
                <a16:creationId xmlns:a16="http://schemas.microsoft.com/office/drawing/2014/main" id="{780FB33A-B56D-031D-0FDB-A5AD756EBEFE}"/>
              </a:ext>
            </a:extLst>
          </p:cNvPr>
          <p:cNvSpPr/>
          <p:nvPr/>
        </p:nvSpPr>
        <p:spPr>
          <a:xfrm rot="16200000">
            <a:off x="17876097" y="7193401"/>
            <a:ext cx="1453118" cy="782316"/>
          </a:xfrm>
          <a:prstGeom prst="rightArrow">
            <a:avLst/>
          </a:prstGeom>
          <a:solidFill>
            <a:schemeClr val="accent2">
              <a:lumMod val="60000"/>
              <a:lumOff val="40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!!box">
                <a:extLst>
                  <a:ext uri="{FF2B5EF4-FFF2-40B4-BE49-F238E27FC236}">
                    <a16:creationId xmlns:a16="http://schemas.microsoft.com/office/drawing/2014/main" id="{B31BE554-B2BA-F2FB-96CB-C276A9BA8C44}"/>
                  </a:ext>
                </a:extLst>
              </p:cNvPr>
              <p:cNvSpPr/>
              <p:nvPr/>
            </p:nvSpPr>
            <p:spPr>
              <a:xfrm>
                <a:off x="17987756" y="8654567"/>
                <a:ext cx="1243401" cy="658336"/>
              </a:xfrm>
              <a:prstGeom prst="roundRect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 w="63500" cap="flat">
                <a:solidFill>
                  <a:schemeClr val="tx1"/>
                </a:solidFill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50800" tIns="50800" rIns="50800" bIns="50800" numCol="1" spcCol="38100" rtlCol="0" anchor="ctr">
                <a:spAutoFit/>
              </a:bodyPr>
              <a:lstStyle/>
              <a:p>
                <a:pPr marL="0" marR="0" indent="0" defTabSz="8255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14:m>
                  <m:oMath xmlns:m="http://schemas.openxmlformats.org/officeDocument/2006/math">
                    <m:r>
                      <a:rPr lang="en-US" sz="3200" i="1" dirty="0">
                        <a:ln w="0"/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effectLst>
                          <a:outerShdw blurRad="38100" dist="19050" dir="2700000" algn="tl" rotWithShape="0">
                            <a:schemeClr val="dk1">
                              <a:alpha val="40000"/>
                            </a:schemeClr>
                          </a:outerShdw>
                        </a:effectLst>
                        <a:latin typeface="Cambria Math" panose="02040503050406030204" pitchFamily="18" charset="0"/>
                        <a:ea typeface="Cambria Math" panose="02040503050406030204" pitchFamily="18" charset="0"/>
                        <a:cs typeface="Helvetica Neue Medium"/>
                        <a:sym typeface="Helvetica Neue Medium"/>
                      </a:rPr>
                      <m:t>𝑗</m:t>
                    </m:r>
                  </m:oMath>
                </a14:m>
                <a:r>
                  <a:rPr lang="en-US" sz="3200" dirty="0">
                    <a:solidFill>
                      <a:schemeClr val="bg1"/>
                    </a:solidFill>
                    <a:latin typeface="Bradley Hand" pitchFamily="2" charset="77"/>
                    <a:sym typeface="Helvetica Neue Medium"/>
                  </a:rPr>
                  <a:t> = 2</a:t>
                </a:r>
              </a:p>
            </p:txBody>
          </p:sp>
        </mc:Choice>
        <mc:Fallback xmlns="">
          <p:sp>
            <p:nvSpPr>
              <p:cNvPr id="4" name="!!box">
                <a:extLst>
                  <a:ext uri="{FF2B5EF4-FFF2-40B4-BE49-F238E27FC236}">
                    <a16:creationId xmlns:a16="http://schemas.microsoft.com/office/drawing/2014/main" id="{B31BE554-B2BA-F2FB-96CB-C276A9BA8C4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987756" y="8654567"/>
                <a:ext cx="1243401" cy="658336"/>
              </a:xfrm>
              <a:prstGeom prst="roundRect">
                <a:avLst/>
              </a:prstGeom>
              <a:blipFill>
                <a:blip r:embed="rId3"/>
                <a:stretch>
                  <a:fillRect l="-6796" b="-19298"/>
                </a:stretch>
              </a:blipFill>
              <a:ln w="63500" cap="flat">
                <a:solidFill>
                  <a:schemeClr val="tx1"/>
                </a:solidFill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67273173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750">
        <p159:morph option="byObject"/>
      </p:transition>
    </mc:Choice>
    <mc:Fallback xmlns="">
      <p:transition spd="slow">
        <p:fade/>
      </p:transition>
    </mc:Fallback>
  </mc:AlternateContent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882376-B402-368E-4979-968282BEBF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0A925BA9-3E4C-0E0D-771D-E0EC838AB953}"/>
              </a:ext>
            </a:extLst>
          </p:cNvPr>
          <p:cNvSpPr/>
          <p:nvPr/>
        </p:nvSpPr>
        <p:spPr>
          <a:xfrm>
            <a:off x="14180710" y="5403425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2</a:t>
            </a: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90DF9D71-2F19-599C-48AD-98ACD487955C}"/>
              </a:ext>
            </a:extLst>
          </p:cNvPr>
          <p:cNvSpPr/>
          <p:nvPr/>
        </p:nvSpPr>
        <p:spPr>
          <a:xfrm>
            <a:off x="16047262" y="5379879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15</a:t>
            </a: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B5A06028-FFC8-3331-D9B1-87F0CF580117}"/>
              </a:ext>
            </a:extLst>
          </p:cNvPr>
          <p:cNvSpPr/>
          <p:nvPr/>
        </p:nvSpPr>
        <p:spPr>
          <a:xfrm>
            <a:off x="13987311" y="4949141"/>
            <a:ext cx="5281350" cy="1770434"/>
          </a:xfrm>
          <a:prstGeom prst="roundRect">
            <a:avLst/>
          </a:prstGeom>
          <a:solidFill>
            <a:schemeClr val="accent2">
              <a:lumMod val="50000"/>
              <a:alpha val="29955"/>
            </a:schemeClr>
          </a:solidFill>
          <a:ln w="63500" cap="flat">
            <a:solidFill>
              <a:schemeClr val="accent2">
                <a:lumMod val="5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520729EE-2583-21CD-8B03-7B959B514454}"/>
              </a:ext>
            </a:extLst>
          </p:cNvPr>
          <p:cNvSpPr/>
          <p:nvPr/>
        </p:nvSpPr>
        <p:spPr>
          <a:xfrm>
            <a:off x="17913814" y="5403425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27</a:t>
            </a: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" name="Rounded Rectangle 1">
                <a:extLst>
                  <a:ext uri="{FF2B5EF4-FFF2-40B4-BE49-F238E27FC236}">
                    <a16:creationId xmlns:a16="http://schemas.microsoft.com/office/drawing/2014/main" id="{EF0CC597-F381-5480-F5E4-14BE6F87207C}"/>
                  </a:ext>
                </a:extLst>
              </p:cNvPr>
              <p:cNvSpPr/>
              <p:nvPr/>
            </p:nvSpPr>
            <p:spPr>
              <a:xfrm>
                <a:off x="852734" y="627636"/>
                <a:ext cx="9543957" cy="10884535"/>
              </a:xfrm>
              <a:prstGeom prst="roundRect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 w="63500" cap="flat">
                <a:solidFill>
                  <a:schemeClr val="tx1"/>
                </a:solidFill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50800" tIns="50800" rIns="50800" bIns="50800" numCol="1" spcCol="38100" rtlCol="0" anchor="ctr">
                <a:spAutoFit/>
              </a:bodyPr>
              <a:lstStyle/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#include </a:t>
                </a:r>
                <a:r>
                  <a:rPr lang="en-IN" sz="28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&lt;</a:t>
                </a:r>
                <a:r>
                  <a:rPr lang="en-IN" sz="2800" dirty="0" err="1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stdio.h</a:t>
                </a:r>
                <a:r>
                  <a:rPr lang="en-IN" sz="28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&gt;</a:t>
                </a:r>
                <a:b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</a:br>
                <a:b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</a:br>
                <a:r>
                  <a:rPr lang="en-IN" sz="28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int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IN" sz="28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main</a:t>
                </a:r>
                <a:r>
                  <a:rPr lang="en-IN" sz="2800" dirty="0">
                    <a:solidFill>
                      <a:schemeClr val="accent4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()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{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US" sz="28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 int</a:t>
                </a:r>
                <a:r>
                  <a:rPr lang="en-US" sz="28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800" i="1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,</a:t>
                </a:r>
                <a14:m>
                  <m:oMath xmlns:m="http://schemas.openxmlformats.org/officeDocument/2006/math">
                    <m:r>
                      <a:rPr lang="en-US" sz="2800" i="1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,</a:t>
                </a:r>
                <a14:m>
                  <m:oMath xmlns:m="http://schemas.openxmlformats.org/officeDocument/2006/math">
                    <m:r>
                      <a:rPr lang="en-IN" sz="28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</a:t>
                </a:r>
                <a:r>
                  <a:rPr lang="en-IN" sz="2800" dirty="0" err="1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scanf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(“%d”, &amp;</a:t>
                </a:r>
                <a14:m>
                  <m:oMath xmlns:m="http://schemas.openxmlformats.org/officeDocument/2006/math">
                    <m:r>
                      <a:rPr lang="en-IN" sz="28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);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int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IN" sz="2800" dirty="0" err="1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num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</a:t>
                </a:r>
                <a14:m>
                  <m:oMath xmlns:m="http://schemas.openxmlformats.org/officeDocument/2006/math">
                    <m:r>
                      <a:rPr lang="en-IN" sz="28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];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</a:t>
                </a:r>
                <a:r>
                  <a:rPr lang="en-IN" sz="28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for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</a:t>
                </a:r>
                <a14:m>
                  <m:oMath xmlns:m="http://schemas.openxmlformats.org/officeDocument/2006/math">
                    <m:r>
                      <a:rPr lang="en-US" sz="2800" i="1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=0 ; </a:t>
                </a:r>
                <a14:m>
                  <m:oMath xmlns:m="http://schemas.openxmlformats.org/officeDocument/2006/math">
                    <m:r>
                      <a:rPr lang="en-US" sz="2800" i="1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&lt; </a:t>
                </a:r>
                <a14:m>
                  <m:oMath xmlns:m="http://schemas.openxmlformats.org/officeDocument/2006/math">
                    <m:r>
                      <a:rPr lang="en-IN" sz="28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; </a:t>
                </a:r>
                <a14:m>
                  <m:oMath xmlns:m="http://schemas.openxmlformats.org/officeDocument/2006/math">
                    <m:r>
                      <a:rPr lang="en-US" sz="2800" i="1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++)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{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</a:t>
                </a:r>
                <a:r>
                  <a:rPr lang="en-IN" sz="2800" dirty="0" err="1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scanf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(“%d”, &amp;</a:t>
                </a:r>
                <a:r>
                  <a:rPr lang="en-IN" sz="2800" dirty="0" err="1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num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</a:t>
                </a:r>
                <a14:m>
                  <m:oMath xmlns:m="http://schemas.openxmlformats.org/officeDocument/2006/math">
                    <m:r>
                      <a:rPr lang="en-US" sz="2800" i="1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]);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for( </a:t>
                </a:r>
                <a14:m>
                  <m:oMath xmlns:m="http://schemas.openxmlformats.org/officeDocument/2006/math">
                    <m:r>
                      <a:rPr lang="en-IN" sz="2800" i="1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= </a:t>
                </a:r>
                <a14:m>
                  <m:oMath xmlns:m="http://schemas.openxmlformats.org/officeDocument/2006/math">
                    <m:r>
                      <a:rPr lang="en-US" sz="2800" i="1">
                        <a:ln w="0"/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effectLst>
                          <a:outerShdw blurRad="38100" dist="19050" dir="2700000" algn="tl" rotWithShape="0">
                            <a:schemeClr val="dk1">
                              <a:alpha val="40000"/>
                            </a:schemeClr>
                          </a:outerShdw>
                        </a:effectLst>
                        <a:latin typeface="Cambria Math" panose="02040503050406030204" pitchFamily="18" charset="0"/>
                        <a:ea typeface="Cambria Math" panose="02040503050406030204" pitchFamily="18" charset="0"/>
                        <a:cs typeface="Helvetica Neue Medium"/>
                        <a:sym typeface="Helvetica Neue Medium"/>
                      </a:rPr>
                      <m:t>𝑖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; </a:t>
                </a:r>
                <a14:m>
                  <m:oMath xmlns:m="http://schemas.openxmlformats.org/officeDocument/2006/math">
                    <m:r>
                      <a:rPr lang="en-IN" sz="28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&gt; 0; </a:t>
                </a:r>
                <a14:m>
                  <m:oMath xmlns:m="http://schemas.openxmlformats.org/officeDocument/2006/math">
                    <m:r>
                      <a:rPr lang="en-IN" sz="28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𝑗</m:t>
                    </m:r>
                    <m:r>
                      <a:rPr lang="en-IN" sz="28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--)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{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	</a:t>
                </a:r>
                <a:r>
                  <a:rPr lang="en-IN" sz="28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if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( </a:t>
                </a:r>
                <a:r>
                  <a:rPr lang="en-IN" sz="2800" dirty="0" err="1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num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</a:t>
                </a:r>
                <a14:m>
                  <m:oMath xmlns:m="http://schemas.openxmlformats.org/officeDocument/2006/math">
                    <m:r>
                      <a:rPr lang="en-IN" sz="2800" i="1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] &lt; </a:t>
                </a:r>
                <a:r>
                  <a:rPr lang="en-IN" sz="2800" dirty="0" err="1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num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</a:t>
                </a:r>
                <a14:m>
                  <m:oMath xmlns:m="http://schemas.openxmlformats.org/officeDocument/2006/math">
                    <m:r>
                      <a:rPr lang="en-IN" sz="28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𝑗</m:t>
                    </m:r>
                    <m:r>
                      <a:rPr lang="en-IN" sz="28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-1] )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	{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		</a:t>
                </a:r>
                <a:r>
                  <a:rPr lang="en-IN" sz="28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int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IN" sz="28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temp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= </a:t>
                </a:r>
                <a:r>
                  <a:rPr lang="en-IN" sz="2800" dirty="0" err="1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num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</a:t>
                </a:r>
                <a14:m>
                  <m:oMath xmlns:m="http://schemas.openxmlformats.org/officeDocument/2006/math">
                    <m:r>
                      <a:rPr lang="en-IN" sz="2800" i="1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];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		</a:t>
                </a:r>
                <a:r>
                  <a:rPr lang="en-IN" sz="2800" dirty="0" err="1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num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</a:t>
                </a:r>
                <a14:m>
                  <m:oMath xmlns:m="http://schemas.openxmlformats.org/officeDocument/2006/math">
                    <m:r>
                      <a:rPr lang="en-IN" sz="28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] = </a:t>
                </a:r>
                <a:r>
                  <a:rPr lang="en-IN" sz="2800" dirty="0" err="1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num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</a:t>
                </a:r>
                <a14:m>
                  <m:oMath xmlns:m="http://schemas.openxmlformats.org/officeDocument/2006/math">
                    <m:r>
                      <a:rPr lang="en-IN" sz="2800" i="1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𝑗</m:t>
                    </m:r>
                    <m:r>
                      <a:rPr lang="en-IN" sz="2800" i="1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-1];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		</a:t>
                </a:r>
                <a:r>
                  <a:rPr lang="en-IN" sz="2800" dirty="0" err="1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num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</a:t>
                </a:r>
                <a14:m>
                  <m:oMath xmlns:m="http://schemas.openxmlformats.org/officeDocument/2006/math">
                    <m:r>
                      <a:rPr lang="en-IN" sz="2800" i="1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𝑗</m:t>
                    </m:r>
                    <m:r>
                      <a:rPr lang="en-IN" sz="2800" i="1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-1] = </a:t>
                </a:r>
                <a:r>
                  <a:rPr lang="en-IN" sz="28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temp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;</a:t>
                </a:r>
                <a:endParaRPr lang="en-IN" sz="2800" dirty="0">
                  <a:solidFill>
                    <a:schemeClr val="accent1">
                      <a:lumMod val="40000"/>
                      <a:lumOff val="60000"/>
                    </a:schemeClr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	}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	</a:t>
                </a:r>
                <a:r>
                  <a:rPr lang="en-IN" sz="28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else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		</a:t>
                </a:r>
                <a:r>
                  <a:rPr lang="en-IN" sz="28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break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} 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}</a:t>
                </a:r>
                <a:b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</a:b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</a:t>
                </a:r>
                <a:r>
                  <a:rPr lang="en-IN" sz="28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return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0;</a:t>
                </a:r>
                <a:b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</a:b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}</a:t>
                </a:r>
                <a:endParaRPr lang="en-US" sz="2800" dirty="0">
                  <a:solidFill>
                    <a:schemeClr val="bg1"/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>
          <p:sp>
            <p:nvSpPr>
              <p:cNvPr id="2" name="Rounded Rectangle 1">
                <a:extLst>
                  <a:ext uri="{FF2B5EF4-FFF2-40B4-BE49-F238E27FC236}">
                    <a16:creationId xmlns:a16="http://schemas.microsoft.com/office/drawing/2014/main" id="{EF0CC597-F381-5480-F5E4-14BE6F87207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2734" y="627636"/>
                <a:ext cx="9543957" cy="10884535"/>
              </a:xfrm>
              <a:prstGeom prst="roundRect">
                <a:avLst/>
              </a:prstGeom>
              <a:blipFill>
                <a:blip r:embed="rId2"/>
                <a:stretch>
                  <a:fillRect/>
                </a:stretch>
              </a:blipFill>
              <a:ln w="63500" cap="flat">
                <a:solidFill>
                  <a:schemeClr val="tx1"/>
                </a:solidFill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4827F6FC-4FBB-B939-AD8C-CD297E242708}"/>
              </a:ext>
            </a:extLst>
          </p:cNvPr>
          <p:cNvSpPr/>
          <p:nvPr/>
        </p:nvSpPr>
        <p:spPr>
          <a:xfrm>
            <a:off x="868622" y="8698430"/>
            <a:ext cx="9512180" cy="614473"/>
          </a:xfrm>
          <a:prstGeom prst="roundRect">
            <a:avLst/>
          </a:prstGeom>
          <a:solidFill>
            <a:schemeClr val="accent4">
              <a:lumMod val="60000"/>
              <a:lumOff val="40000"/>
              <a:alpha val="41668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072E82C3-2ACD-78F1-B214-32E1B234578E}"/>
              </a:ext>
            </a:extLst>
          </p:cNvPr>
          <p:cNvSpPr/>
          <p:nvPr/>
        </p:nvSpPr>
        <p:spPr>
          <a:xfrm>
            <a:off x="19603466" y="5364328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47</a:t>
            </a: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3" name="Right Arrow 2">
            <a:extLst>
              <a:ext uri="{FF2B5EF4-FFF2-40B4-BE49-F238E27FC236}">
                <a16:creationId xmlns:a16="http://schemas.microsoft.com/office/drawing/2014/main" id="{E7E203AD-DE17-42A4-52E9-494DE9EB2E7B}"/>
              </a:ext>
            </a:extLst>
          </p:cNvPr>
          <p:cNvSpPr/>
          <p:nvPr/>
        </p:nvSpPr>
        <p:spPr>
          <a:xfrm rot="16200000">
            <a:off x="17876097" y="7193401"/>
            <a:ext cx="1453118" cy="782316"/>
          </a:xfrm>
          <a:prstGeom prst="rightArrow">
            <a:avLst/>
          </a:prstGeom>
          <a:solidFill>
            <a:schemeClr val="accent2">
              <a:lumMod val="60000"/>
              <a:lumOff val="40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!!box">
                <a:extLst>
                  <a:ext uri="{FF2B5EF4-FFF2-40B4-BE49-F238E27FC236}">
                    <a16:creationId xmlns:a16="http://schemas.microsoft.com/office/drawing/2014/main" id="{251585F7-C267-4AE7-FEEB-2C4C7DA503C0}"/>
                  </a:ext>
                </a:extLst>
              </p:cNvPr>
              <p:cNvSpPr/>
              <p:nvPr/>
            </p:nvSpPr>
            <p:spPr>
              <a:xfrm>
                <a:off x="17987756" y="8654567"/>
                <a:ext cx="1243401" cy="658336"/>
              </a:xfrm>
              <a:prstGeom prst="roundRect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 w="63500" cap="flat">
                <a:solidFill>
                  <a:schemeClr val="tx1"/>
                </a:solidFill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50800" tIns="50800" rIns="50800" bIns="50800" numCol="1" spcCol="38100" rtlCol="0" anchor="ctr">
                <a:spAutoFit/>
              </a:bodyPr>
              <a:lstStyle/>
              <a:p>
                <a:pPr marL="0" marR="0" indent="0" defTabSz="8255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14:m>
                  <m:oMath xmlns:m="http://schemas.openxmlformats.org/officeDocument/2006/math">
                    <m:r>
                      <a:rPr lang="en-US" sz="3200" i="1" dirty="0">
                        <a:ln w="0"/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effectLst>
                          <a:outerShdw blurRad="38100" dist="19050" dir="2700000" algn="tl" rotWithShape="0">
                            <a:schemeClr val="dk1">
                              <a:alpha val="40000"/>
                            </a:schemeClr>
                          </a:outerShdw>
                        </a:effectLst>
                        <a:latin typeface="Cambria Math" panose="02040503050406030204" pitchFamily="18" charset="0"/>
                        <a:ea typeface="Cambria Math" panose="02040503050406030204" pitchFamily="18" charset="0"/>
                        <a:cs typeface="Helvetica Neue Medium"/>
                        <a:sym typeface="Helvetica Neue Medium"/>
                      </a:rPr>
                      <m:t>𝑗</m:t>
                    </m:r>
                  </m:oMath>
                </a14:m>
                <a:r>
                  <a:rPr lang="en-US" sz="3200" dirty="0">
                    <a:solidFill>
                      <a:schemeClr val="bg1"/>
                    </a:solidFill>
                    <a:latin typeface="Bradley Hand" pitchFamily="2" charset="77"/>
                    <a:sym typeface="Helvetica Neue Medium"/>
                  </a:rPr>
                  <a:t> = 2</a:t>
                </a:r>
              </a:p>
            </p:txBody>
          </p:sp>
        </mc:Choice>
        <mc:Fallback xmlns="">
          <p:sp>
            <p:nvSpPr>
              <p:cNvPr id="4" name="!!box">
                <a:extLst>
                  <a:ext uri="{FF2B5EF4-FFF2-40B4-BE49-F238E27FC236}">
                    <a16:creationId xmlns:a16="http://schemas.microsoft.com/office/drawing/2014/main" id="{251585F7-C267-4AE7-FEEB-2C4C7DA503C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987756" y="8654567"/>
                <a:ext cx="1243401" cy="658336"/>
              </a:xfrm>
              <a:prstGeom prst="roundRect">
                <a:avLst/>
              </a:prstGeom>
              <a:blipFill>
                <a:blip r:embed="rId3"/>
                <a:stretch>
                  <a:fillRect l="-6796" b="-19298"/>
                </a:stretch>
              </a:blipFill>
              <a:ln w="63500" cap="flat">
                <a:solidFill>
                  <a:schemeClr val="tx1"/>
                </a:solidFill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21147255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750">
        <p159:morph option="byObject"/>
      </p:transition>
    </mc:Choice>
    <mc:Fallback xmlns="">
      <p:transition spd="slow">
        <p:fade/>
      </p:transition>
    </mc:Fallback>
  </mc:AlternateContent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0ABF78-CE35-BAA8-465F-61D59807D1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E6247BFF-F875-6511-27A7-92790486DDAF}"/>
              </a:ext>
            </a:extLst>
          </p:cNvPr>
          <p:cNvSpPr/>
          <p:nvPr/>
        </p:nvSpPr>
        <p:spPr>
          <a:xfrm>
            <a:off x="17913814" y="5403425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27</a:t>
            </a: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3D00705E-B53B-619E-5DE1-9218483A08DD}"/>
              </a:ext>
            </a:extLst>
          </p:cNvPr>
          <p:cNvSpPr/>
          <p:nvPr/>
        </p:nvSpPr>
        <p:spPr>
          <a:xfrm>
            <a:off x="19603466" y="5364328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47</a:t>
            </a: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BCBBE33D-19DC-0C53-E30F-C3F243B923E3}"/>
              </a:ext>
            </a:extLst>
          </p:cNvPr>
          <p:cNvSpPr/>
          <p:nvPr/>
        </p:nvSpPr>
        <p:spPr>
          <a:xfrm>
            <a:off x="14180710" y="5403425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2</a:t>
            </a: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0EB12AC0-FE17-A5D8-A185-CB6916F5B0C2}"/>
              </a:ext>
            </a:extLst>
          </p:cNvPr>
          <p:cNvSpPr/>
          <p:nvPr/>
        </p:nvSpPr>
        <p:spPr>
          <a:xfrm>
            <a:off x="16047262" y="5379879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15</a:t>
            </a: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101DB783-C956-3C2D-BAAA-2B1C73C1EAF6}"/>
              </a:ext>
            </a:extLst>
          </p:cNvPr>
          <p:cNvSpPr/>
          <p:nvPr/>
        </p:nvSpPr>
        <p:spPr>
          <a:xfrm>
            <a:off x="13987311" y="4949141"/>
            <a:ext cx="7098754" cy="1770434"/>
          </a:xfrm>
          <a:prstGeom prst="roundRect">
            <a:avLst/>
          </a:prstGeom>
          <a:solidFill>
            <a:schemeClr val="accent2">
              <a:lumMod val="50000"/>
              <a:alpha val="29955"/>
            </a:schemeClr>
          </a:solidFill>
          <a:ln w="63500" cap="flat">
            <a:solidFill>
              <a:schemeClr val="accent2">
                <a:lumMod val="5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" name="Rounded Rectangle 1">
                <a:extLst>
                  <a:ext uri="{FF2B5EF4-FFF2-40B4-BE49-F238E27FC236}">
                    <a16:creationId xmlns:a16="http://schemas.microsoft.com/office/drawing/2014/main" id="{161F5E76-F834-9501-C6B9-33CF0B6B7012}"/>
                  </a:ext>
                </a:extLst>
              </p:cNvPr>
              <p:cNvSpPr/>
              <p:nvPr/>
            </p:nvSpPr>
            <p:spPr>
              <a:xfrm>
                <a:off x="852734" y="627636"/>
                <a:ext cx="9543957" cy="10884535"/>
              </a:xfrm>
              <a:prstGeom prst="roundRect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 w="63500" cap="flat">
                <a:solidFill>
                  <a:schemeClr val="tx1"/>
                </a:solidFill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50800" tIns="50800" rIns="50800" bIns="50800" numCol="1" spcCol="38100" rtlCol="0" anchor="ctr">
                <a:spAutoFit/>
              </a:bodyPr>
              <a:lstStyle/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#include </a:t>
                </a:r>
                <a:r>
                  <a:rPr lang="en-IN" sz="28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&lt;</a:t>
                </a:r>
                <a:r>
                  <a:rPr lang="en-IN" sz="2800" dirty="0" err="1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stdio.h</a:t>
                </a:r>
                <a:r>
                  <a:rPr lang="en-IN" sz="28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&gt;</a:t>
                </a:r>
                <a:b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</a:br>
                <a:b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</a:br>
                <a:r>
                  <a:rPr lang="en-IN" sz="28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int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IN" sz="28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main</a:t>
                </a:r>
                <a:r>
                  <a:rPr lang="en-IN" sz="2800" dirty="0">
                    <a:solidFill>
                      <a:schemeClr val="accent4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()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{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US" sz="28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 int</a:t>
                </a:r>
                <a:r>
                  <a:rPr lang="en-US" sz="28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800" i="1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,</a:t>
                </a:r>
                <a14:m>
                  <m:oMath xmlns:m="http://schemas.openxmlformats.org/officeDocument/2006/math">
                    <m:r>
                      <a:rPr lang="en-US" sz="2800" i="1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,</a:t>
                </a:r>
                <a14:m>
                  <m:oMath xmlns:m="http://schemas.openxmlformats.org/officeDocument/2006/math">
                    <m:r>
                      <a:rPr lang="en-IN" sz="28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</a:t>
                </a:r>
                <a:r>
                  <a:rPr lang="en-IN" sz="2800" dirty="0" err="1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scanf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(“%d”, &amp;</a:t>
                </a:r>
                <a14:m>
                  <m:oMath xmlns:m="http://schemas.openxmlformats.org/officeDocument/2006/math">
                    <m:r>
                      <a:rPr lang="en-IN" sz="28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);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int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IN" sz="2800" dirty="0" err="1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num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</a:t>
                </a:r>
                <a14:m>
                  <m:oMath xmlns:m="http://schemas.openxmlformats.org/officeDocument/2006/math">
                    <m:r>
                      <a:rPr lang="en-IN" sz="28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];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</a:t>
                </a:r>
                <a:r>
                  <a:rPr lang="en-IN" sz="28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for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</a:t>
                </a:r>
                <a14:m>
                  <m:oMath xmlns:m="http://schemas.openxmlformats.org/officeDocument/2006/math">
                    <m:r>
                      <a:rPr lang="en-US" sz="2800" i="1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=0 ; </a:t>
                </a:r>
                <a14:m>
                  <m:oMath xmlns:m="http://schemas.openxmlformats.org/officeDocument/2006/math">
                    <m:r>
                      <a:rPr lang="en-US" sz="2800" i="1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&lt; </a:t>
                </a:r>
                <a14:m>
                  <m:oMath xmlns:m="http://schemas.openxmlformats.org/officeDocument/2006/math">
                    <m:r>
                      <a:rPr lang="en-IN" sz="28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; </a:t>
                </a:r>
                <a14:m>
                  <m:oMath xmlns:m="http://schemas.openxmlformats.org/officeDocument/2006/math">
                    <m:r>
                      <a:rPr lang="en-US" sz="2800" i="1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++)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{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</a:t>
                </a:r>
                <a:r>
                  <a:rPr lang="en-IN" sz="2800" dirty="0" err="1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scanf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(“%d”, &amp;</a:t>
                </a:r>
                <a:r>
                  <a:rPr lang="en-IN" sz="2800" dirty="0" err="1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num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</a:t>
                </a:r>
                <a14:m>
                  <m:oMath xmlns:m="http://schemas.openxmlformats.org/officeDocument/2006/math">
                    <m:r>
                      <a:rPr lang="en-US" sz="2800" i="1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]);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for( </a:t>
                </a:r>
                <a14:m>
                  <m:oMath xmlns:m="http://schemas.openxmlformats.org/officeDocument/2006/math">
                    <m:r>
                      <a:rPr lang="en-IN" sz="2800" i="1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= </a:t>
                </a:r>
                <a14:m>
                  <m:oMath xmlns:m="http://schemas.openxmlformats.org/officeDocument/2006/math">
                    <m:r>
                      <a:rPr lang="en-US" sz="2800" i="1">
                        <a:ln w="0"/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effectLst>
                          <a:outerShdw blurRad="38100" dist="19050" dir="2700000" algn="tl" rotWithShape="0">
                            <a:schemeClr val="dk1">
                              <a:alpha val="40000"/>
                            </a:schemeClr>
                          </a:outerShdw>
                        </a:effectLst>
                        <a:latin typeface="Cambria Math" panose="02040503050406030204" pitchFamily="18" charset="0"/>
                        <a:ea typeface="Cambria Math" panose="02040503050406030204" pitchFamily="18" charset="0"/>
                        <a:cs typeface="Helvetica Neue Medium"/>
                        <a:sym typeface="Helvetica Neue Medium"/>
                      </a:rPr>
                      <m:t>𝑖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; </a:t>
                </a:r>
                <a14:m>
                  <m:oMath xmlns:m="http://schemas.openxmlformats.org/officeDocument/2006/math">
                    <m:r>
                      <a:rPr lang="en-IN" sz="28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&gt; 0; </a:t>
                </a:r>
                <a14:m>
                  <m:oMath xmlns:m="http://schemas.openxmlformats.org/officeDocument/2006/math">
                    <m:r>
                      <a:rPr lang="en-IN" sz="28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𝑗</m:t>
                    </m:r>
                    <m:r>
                      <a:rPr lang="en-IN" sz="28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--)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{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	</a:t>
                </a:r>
                <a:r>
                  <a:rPr lang="en-IN" sz="28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if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( </a:t>
                </a:r>
                <a:r>
                  <a:rPr lang="en-IN" sz="2800" dirty="0" err="1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num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</a:t>
                </a:r>
                <a14:m>
                  <m:oMath xmlns:m="http://schemas.openxmlformats.org/officeDocument/2006/math">
                    <m:r>
                      <a:rPr lang="en-IN" sz="2800" i="1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] &lt; </a:t>
                </a:r>
                <a:r>
                  <a:rPr lang="en-IN" sz="2800" dirty="0" err="1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num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</a:t>
                </a:r>
                <a14:m>
                  <m:oMath xmlns:m="http://schemas.openxmlformats.org/officeDocument/2006/math">
                    <m:r>
                      <a:rPr lang="en-IN" sz="28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𝑗</m:t>
                    </m:r>
                    <m:r>
                      <a:rPr lang="en-IN" sz="28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-1] )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	{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		</a:t>
                </a:r>
                <a:r>
                  <a:rPr lang="en-IN" sz="28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int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IN" sz="28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temp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= </a:t>
                </a:r>
                <a:r>
                  <a:rPr lang="en-IN" sz="2800" dirty="0" err="1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num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</a:t>
                </a:r>
                <a14:m>
                  <m:oMath xmlns:m="http://schemas.openxmlformats.org/officeDocument/2006/math">
                    <m:r>
                      <a:rPr lang="en-IN" sz="2800" i="1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];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		</a:t>
                </a:r>
                <a:r>
                  <a:rPr lang="en-IN" sz="2800" dirty="0" err="1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num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</a:t>
                </a:r>
                <a14:m>
                  <m:oMath xmlns:m="http://schemas.openxmlformats.org/officeDocument/2006/math">
                    <m:r>
                      <a:rPr lang="en-IN" sz="28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] = </a:t>
                </a:r>
                <a:r>
                  <a:rPr lang="en-IN" sz="2800" dirty="0" err="1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num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</a:t>
                </a:r>
                <a14:m>
                  <m:oMath xmlns:m="http://schemas.openxmlformats.org/officeDocument/2006/math">
                    <m:r>
                      <a:rPr lang="en-IN" sz="2800" i="1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𝑗</m:t>
                    </m:r>
                    <m:r>
                      <a:rPr lang="en-IN" sz="2800" i="1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-1];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		</a:t>
                </a:r>
                <a:r>
                  <a:rPr lang="en-IN" sz="2800" dirty="0" err="1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num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</a:t>
                </a:r>
                <a14:m>
                  <m:oMath xmlns:m="http://schemas.openxmlformats.org/officeDocument/2006/math">
                    <m:r>
                      <a:rPr lang="en-IN" sz="2800" i="1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𝑗</m:t>
                    </m:r>
                    <m:r>
                      <a:rPr lang="en-IN" sz="2800" i="1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-1] = </a:t>
                </a:r>
                <a:r>
                  <a:rPr lang="en-IN" sz="28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temp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;</a:t>
                </a:r>
                <a:endParaRPr lang="en-IN" sz="2800" dirty="0">
                  <a:solidFill>
                    <a:schemeClr val="accent1">
                      <a:lumMod val="40000"/>
                      <a:lumOff val="60000"/>
                    </a:schemeClr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	}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	</a:t>
                </a:r>
                <a:r>
                  <a:rPr lang="en-IN" sz="28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else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		</a:t>
                </a:r>
                <a:r>
                  <a:rPr lang="en-IN" sz="28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break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} 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}</a:t>
                </a:r>
                <a:b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</a:b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</a:t>
                </a:r>
                <a:r>
                  <a:rPr lang="en-IN" sz="28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return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0;</a:t>
                </a:r>
                <a:b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</a:b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}</a:t>
                </a:r>
                <a:endParaRPr lang="en-US" sz="2800" dirty="0">
                  <a:solidFill>
                    <a:schemeClr val="bg1"/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>
          <p:sp>
            <p:nvSpPr>
              <p:cNvPr id="2" name="Rounded Rectangle 1">
                <a:extLst>
                  <a:ext uri="{FF2B5EF4-FFF2-40B4-BE49-F238E27FC236}">
                    <a16:creationId xmlns:a16="http://schemas.microsoft.com/office/drawing/2014/main" id="{161F5E76-F834-9501-C6B9-33CF0B6B701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2734" y="627636"/>
                <a:ext cx="9543957" cy="10884535"/>
              </a:xfrm>
              <a:prstGeom prst="roundRect">
                <a:avLst/>
              </a:prstGeom>
              <a:blipFill>
                <a:blip r:embed="rId2"/>
                <a:stretch>
                  <a:fillRect/>
                </a:stretch>
              </a:blipFill>
              <a:ln w="63500" cap="flat">
                <a:solidFill>
                  <a:schemeClr val="tx1"/>
                </a:solidFill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A0A8EE1E-9C98-C990-6D8E-455276A3B1F7}"/>
              </a:ext>
            </a:extLst>
          </p:cNvPr>
          <p:cNvSpPr/>
          <p:nvPr/>
        </p:nvSpPr>
        <p:spPr>
          <a:xfrm>
            <a:off x="884511" y="3650942"/>
            <a:ext cx="9512180" cy="614473"/>
          </a:xfrm>
          <a:prstGeom prst="roundRect">
            <a:avLst/>
          </a:prstGeom>
          <a:solidFill>
            <a:schemeClr val="accent4">
              <a:lumMod val="60000"/>
              <a:lumOff val="40000"/>
              <a:alpha val="41668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</p:spTree>
    <p:extLst>
      <p:ext uri="{BB962C8B-B14F-4D97-AF65-F5344CB8AC3E}">
        <p14:creationId xmlns:p14="http://schemas.microsoft.com/office/powerpoint/2010/main" val="161546015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750">
        <p159:morph option="byObject"/>
      </p:transition>
    </mc:Choice>
    <mc:Fallback xmlns="">
      <p:transition spd="slow">
        <p:fade/>
      </p:transition>
    </mc:Fallback>
  </mc:AlternateContent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379D8C-5A76-53BD-6670-B7B8C45C1D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Rounded Rectangle 1">
                <a:extLst>
                  <a:ext uri="{FF2B5EF4-FFF2-40B4-BE49-F238E27FC236}">
                    <a16:creationId xmlns:a16="http://schemas.microsoft.com/office/drawing/2014/main" id="{B5623CE0-B146-5D65-B224-E3EEEDD0DB4C}"/>
                  </a:ext>
                </a:extLst>
              </p:cNvPr>
              <p:cNvSpPr/>
              <p:nvPr/>
            </p:nvSpPr>
            <p:spPr>
              <a:xfrm>
                <a:off x="852734" y="627636"/>
                <a:ext cx="9543957" cy="10884535"/>
              </a:xfrm>
              <a:prstGeom prst="roundRect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 w="63500" cap="flat">
                <a:solidFill>
                  <a:schemeClr val="tx1"/>
                </a:solidFill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50800" tIns="50800" rIns="50800" bIns="50800" numCol="1" spcCol="38100" rtlCol="0" anchor="ctr">
                <a:spAutoFit/>
              </a:bodyPr>
              <a:lstStyle/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#include </a:t>
                </a:r>
                <a:r>
                  <a:rPr lang="en-IN" sz="28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&lt;</a:t>
                </a:r>
                <a:r>
                  <a:rPr lang="en-IN" sz="2800" dirty="0" err="1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stdio.h</a:t>
                </a:r>
                <a:r>
                  <a:rPr lang="en-IN" sz="28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&gt;</a:t>
                </a:r>
                <a:b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</a:br>
                <a:b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</a:br>
                <a:r>
                  <a:rPr lang="en-IN" sz="28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int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IN" sz="28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main</a:t>
                </a:r>
                <a:r>
                  <a:rPr lang="en-IN" sz="2800" dirty="0">
                    <a:solidFill>
                      <a:schemeClr val="accent4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()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{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US" sz="28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 int</a:t>
                </a:r>
                <a:r>
                  <a:rPr lang="en-US" sz="28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800" i="1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,</a:t>
                </a:r>
                <a14:m>
                  <m:oMath xmlns:m="http://schemas.openxmlformats.org/officeDocument/2006/math">
                    <m:r>
                      <a:rPr lang="en-US" sz="2800" i="1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,</a:t>
                </a:r>
                <a14:m>
                  <m:oMath xmlns:m="http://schemas.openxmlformats.org/officeDocument/2006/math">
                    <m:r>
                      <a:rPr lang="en-IN" sz="28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</a:t>
                </a:r>
                <a:r>
                  <a:rPr lang="en-IN" sz="2800" dirty="0" err="1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scanf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(“%d”, &amp;</a:t>
                </a:r>
                <a14:m>
                  <m:oMath xmlns:m="http://schemas.openxmlformats.org/officeDocument/2006/math">
                    <m:r>
                      <a:rPr lang="en-IN" sz="28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);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int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IN" sz="2800" dirty="0" err="1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num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</a:t>
                </a:r>
                <a14:m>
                  <m:oMath xmlns:m="http://schemas.openxmlformats.org/officeDocument/2006/math">
                    <m:r>
                      <a:rPr lang="en-IN" sz="28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];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</a:t>
                </a:r>
                <a:r>
                  <a:rPr lang="en-IN" sz="28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for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</a:t>
                </a:r>
                <a14:m>
                  <m:oMath xmlns:m="http://schemas.openxmlformats.org/officeDocument/2006/math">
                    <m:r>
                      <a:rPr lang="en-US" sz="2800" i="1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=0 ; </a:t>
                </a:r>
                <a14:m>
                  <m:oMath xmlns:m="http://schemas.openxmlformats.org/officeDocument/2006/math">
                    <m:r>
                      <a:rPr lang="en-US" sz="2800" i="1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&lt; </a:t>
                </a:r>
                <a14:m>
                  <m:oMath xmlns:m="http://schemas.openxmlformats.org/officeDocument/2006/math">
                    <m:r>
                      <a:rPr lang="en-IN" sz="28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; </a:t>
                </a:r>
                <a14:m>
                  <m:oMath xmlns:m="http://schemas.openxmlformats.org/officeDocument/2006/math">
                    <m:r>
                      <a:rPr lang="en-US" sz="2800" i="1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++)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{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</a:t>
                </a:r>
                <a:r>
                  <a:rPr lang="en-IN" sz="2800" dirty="0" err="1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scanf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(“%d”, &amp;</a:t>
                </a:r>
                <a:r>
                  <a:rPr lang="en-IN" sz="2800" dirty="0" err="1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num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</a:t>
                </a:r>
                <a14:m>
                  <m:oMath xmlns:m="http://schemas.openxmlformats.org/officeDocument/2006/math">
                    <m:r>
                      <a:rPr lang="en-US" sz="2800" i="1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]);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for( </a:t>
                </a:r>
                <a14:m>
                  <m:oMath xmlns:m="http://schemas.openxmlformats.org/officeDocument/2006/math">
                    <m:r>
                      <a:rPr lang="en-IN" sz="2800" i="1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= </a:t>
                </a:r>
                <a14:m>
                  <m:oMath xmlns:m="http://schemas.openxmlformats.org/officeDocument/2006/math">
                    <m:r>
                      <a:rPr lang="en-US" sz="2800" i="1">
                        <a:ln w="0"/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effectLst>
                          <a:outerShdw blurRad="38100" dist="19050" dir="2700000" algn="tl" rotWithShape="0">
                            <a:schemeClr val="dk1">
                              <a:alpha val="40000"/>
                            </a:schemeClr>
                          </a:outerShdw>
                        </a:effectLst>
                        <a:latin typeface="Cambria Math" panose="02040503050406030204" pitchFamily="18" charset="0"/>
                        <a:ea typeface="Cambria Math" panose="02040503050406030204" pitchFamily="18" charset="0"/>
                        <a:cs typeface="Helvetica Neue Medium"/>
                        <a:sym typeface="Helvetica Neue Medium"/>
                      </a:rPr>
                      <m:t>𝑖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; </a:t>
                </a:r>
                <a14:m>
                  <m:oMath xmlns:m="http://schemas.openxmlformats.org/officeDocument/2006/math">
                    <m:r>
                      <a:rPr lang="en-IN" sz="28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&gt; 0; </a:t>
                </a:r>
                <a14:m>
                  <m:oMath xmlns:m="http://schemas.openxmlformats.org/officeDocument/2006/math">
                    <m:r>
                      <a:rPr lang="en-IN" sz="28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𝑗</m:t>
                    </m:r>
                    <m:r>
                      <a:rPr lang="en-IN" sz="28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--)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{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	</a:t>
                </a:r>
                <a:r>
                  <a:rPr lang="en-IN" sz="28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if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( </a:t>
                </a:r>
                <a:r>
                  <a:rPr lang="en-IN" sz="2800" dirty="0" err="1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num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</a:t>
                </a:r>
                <a14:m>
                  <m:oMath xmlns:m="http://schemas.openxmlformats.org/officeDocument/2006/math">
                    <m:r>
                      <a:rPr lang="en-IN" sz="2800" i="1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] &lt; </a:t>
                </a:r>
                <a:r>
                  <a:rPr lang="en-IN" sz="2800" dirty="0" err="1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num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</a:t>
                </a:r>
                <a14:m>
                  <m:oMath xmlns:m="http://schemas.openxmlformats.org/officeDocument/2006/math">
                    <m:r>
                      <a:rPr lang="en-IN" sz="28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𝑗</m:t>
                    </m:r>
                    <m:r>
                      <a:rPr lang="en-IN" sz="28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-1] )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	{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		</a:t>
                </a:r>
                <a:r>
                  <a:rPr lang="en-IN" sz="28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int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IN" sz="28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temp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= </a:t>
                </a:r>
                <a:r>
                  <a:rPr lang="en-IN" sz="2800" dirty="0" err="1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num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</a:t>
                </a:r>
                <a14:m>
                  <m:oMath xmlns:m="http://schemas.openxmlformats.org/officeDocument/2006/math">
                    <m:r>
                      <a:rPr lang="en-IN" sz="2800" i="1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];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		</a:t>
                </a:r>
                <a:r>
                  <a:rPr lang="en-IN" sz="2800" dirty="0" err="1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num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</a:t>
                </a:r>
                <a14:m>
                  <m:oMath xmlns:m="http://schemas.openxmlformats.org/officeDocument/2006/math">
                    <m:r>
                      <a:rPr lang="en-IN" sz="28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] = </a:t>
                </a:r>
                <a:r>
                  <a:rPr lang="en-IN" sz="2800" dirty="0" err="1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num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</a:t>
                </a:r>
                <a14:m>
                  <m:oMath xmlns:m="http://schemas.openxmlformats.org/officeDocument/2006/math">
                    <m:r>
                      <a:rPr lang="en-IN" sz="2800" i="1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𝑗</m:t>
                    </m:r>
                    <m:r>
                      <a:rPr lang="en-IN" sz="2800" i="1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-1];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		</a:t>
                </a:r>
                <a:r>
                  <a:rPr lang="en-IN" sz="2800" dirty="0" err="1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num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</a:t>
                </a:r>
                <a14:m>
                  <m:oMath xmlns:m="http://schemas.openxmlformats.org/officeDocument/2006/math">
                    <m:r>
                      <a:rPr lang="en-IN" sz="2800" i="1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𝑗</m:t>
                    </m:r>
                    <m:r>
                      <a:rPr lang="en-IN" sz="2800" i="1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-1] = </a:t>
                </a:r>
                <a:r>
                  <a:rPr lang="en-IN" sz="28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temp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;</a:t>
                </a:r>
                <a:endParaRPr lang="en-IN" sz="2800" dirty="0">
                  <a:solidFill>
                    <a:schemeClr val="accent1">
                      <a:lumMod val="40000"/>
                      <a:lumOff val="60000"/>
                    </a:schemeClr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	}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	</a:t>
                </a:r>
                <a:r>
                  <a:rPr lang="en-IN" sz="28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else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		</a:t>
                </a:r>
                <a:r>
                  <a:rPr lang="en-IN" sz="28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break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} 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}</a:t>
                </a:r>
                <a:b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</a:b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</a:t>
                </a:r>
                <a:r>
                  <a:rPr lang="en-IN" sz="28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return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0;</a:t>
                </a:r>
                <a:b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</a:b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}</a:t>
                </a:r>
                <a:endParaRPr lang="en-US" sz="2800" dirty="0">
                  <a:solidFill>
                    <a:schemeClr val="bg1"/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>
          <p:sp>
            <p:nvSpPr>
              <p:cNvPr id="2" name="Rounded Rectangle 1">
                <a:extLst>
                  <a:ext uri="{FF2B5EF4-FFF2-40B4-BE49-F238E27FC236}">
                    <a16:creationId xmlns:a16="http://schemas.microsoft.com/office/drawing/2014/main" id="{B5623CE0-B146-5D65-B224-E3EEEDD0DB4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2734" y="627636"/>
                <a:ext cx="9543957" cy="10884535"/>
              </a:xfrm>
              <a:prstGeom prst="roundRect">
                <a:avLst/>
              </a:prstGeom>
              <a:blipFill>
                <a:blip r:embed="rId2"/>
                <a:stretch>
                  <a:fillRect/>
                </a:stretch>
              </a:blipFill>
              <a:ln w="63500" cap="flat">
                <a:solidFill>
                  <a:schemeClr val="tx1"/>
                </a:solidFill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58E9574D-F1CF-A93B-B8C1-0E1E8B1B21A2}"/>
              </a:ext>
            </a:extLst>
          </p:cNvPr>
          <p:cNvSpPr/>
          <p:nvPr/>
        </p:nvSpPr>
        <p:spPr>
          <a:xfrm>
            <a:off x="10963279" y="1547036"/>
            <a:ext cx="12766516" cy="1032907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accent5">
                    <a:lumMod val="40000"/>
                    <a:lumOff val="60000"/>
                  </a:schemeClr>
                </a:solidFill>
                <a:latin typeface="Bradley Hand" pitchFamily="2" charset="77"/>
              </a:rPr>
              <a:t>What is the best input for Insertion Sort?</a:t>
            </a:r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6483E878-6D03-BC4F-2056-543D0700D491}"/>
              </a:ext>
            </a:extLst>
          </p:cNvPr>
          <p:cNvSpPr/>
          <p:nvPr/>
        </p:nvSpPr>
        <p:spPr>
          <a:xfrm>
            <a:off x="10963279" y="3171397"/>
            <a:ext cx="12766516" cy="1032907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accent3">
                    <a:lumMod val="40000"/>
                    <a:lumOff val="60000"/>
                  </a:schemeClr>
                </a:solidFill>
                <a:latin typeface="Bradley Hand" pitchFamily="2" charset="77"/>
              </a:rPr>
              <a:t>Already Sorted Array</a:t>
            </a:r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52F10A30-DBFE-3A67-7410-219FF7A8FFB5}"/>
              </a:ext>
            </a:extLst>
          </p:cNvPr>
          <p:cNvSpPr/>
          <p:nvPr/>
        </p:nvSpPr>
        <p:spPr>
          <a:xfrm>
            <a:off x="10963278" y="7329083"/>
            <a:ext cx="12766515" cy="1952308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bg1"/>
                </a:solidFill>
                <a:latin typeface="Bradley Hand" pitchFamily="2" charset="77"/>
              </a:rPr>
              <a:t>Each iteration of inner for loop runs at most once</a:t>
            </a:r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5E65FCAD-8A01-1597-CC32-EDF7451BFB6E}"/>
              </a:ext>
            </a:extLst>
          </p:cNvPr>
          <p:cNvSpPr/>
          <p:nvPr/>
        </p:nvSpPr>
        <p:spPr>
          <a:xfrm>
            <a:off x="17913814" y="5403425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27</a:t>
            </a: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3AC112A9-5DEB-82E2-2A58-0E1BA375A2CB}"/>
              </a:ext>
            </a:extLst>
          </p:cNvPr>
          <p:cNvSpPr/>
          <p:nvPr/>
        </p:nvSpPr>
        <p:spPr>
          <a:xfrm>
            <a:off x="19603466" y="5364328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47</a:t>
            </a: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0BCC3B9A-129E-1B65-D92D-87D42D5843B4}"/>
              </a:ext>
            </a:extLst>
          </p:cNvPr>
          <p:cNvSpPr/>
          <p:nvPr/>
        </p:nvSpPr>
        <p:spPr>
          <a:xfrm>
            <a:off x="14180710" y="5403425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2</a:t>
            </a: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22B67F24-BDD2-3744-827C-CDD48A344DB0}"/>
              </a:ext>
            </a:extLst>
          </p:cNvPr>
          <p:cNvSpPr/>
          <p:nvPr/>
        </p:nvSpPr>
        <p:spPr>
          <a:xfrm>
            <a:off x="16047262" y="5379879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15</a:t>
            </a: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7" name="Right Brace 16">
            <a:extLst>
              <a:ext uri="{FF2B5EF4-FFF2-40B4-BE49-F238E27FC236}">
                <a16:creationId xmlns:a16="http://schemas.microsoft.com/office/drawing/2014/main" id="{F10C3695-CAEB-10FF-CC02-2D6EB23DE57E}"/>
              </a:ext>
            </a:extLst>
          </p:cNvPr>
          <p:cNvSpPr/>
          <p:nvPr/>
        </p:nvSpPr>
        <p:spPr>
          <a:xfrm>
            <a:off x="7695589" y="4772722"/>
            <a:ext cx="791485" cy="4508669"/>
          </a:xfrm>
          <a:prstGeom prst="rightBrace">
            <a:avLst/>
          </a:prstGeom>
          <a:noFill/>
          <a:ln w="127000" cap="flat">
            <a:solidFill>
              <a:schemeClr val="bg1"/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91439" tIns="45719" rIns="91439" bIns="45719" numCol="1" spcCol="38100" rtlCol="0" anchor="t">
            <a:noAutofit/>
          </a:bodyPr>
          <a:lstStyle/>
          <a:p>
            <a: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Rounded Rectangle 17">
                <a:extLst>
                  <a:ext uri="{FF2B5EF4-FFF2-40B4-BE49-F238E27FC236}">
                    <a16:creationId xmlns:a16="http://schemas.microsoft.com/office/drawing/2014/main" id="{38712C0F-6343-E4F4-1488-79CBEC66486F}"/>
                  </a:ext>
                </a:extLst>
              </p:cNvPr>
              <p:cNvSpPr/>
              <p:nvPr/>
            </p:nvSpPr>
            <p:spPr>
              <a:xfrm>
                <a:off x="8740899" y="6510602"/>
                <a:ext cx="1698298" cy="1032907"/>
              </a:xfrm>
              <a:prstGeom prst="roundRect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 w="63500" cap="flat">
                <a:solidFill>
                  <a:schemeClr val="tx1"/>
                </a:solidFill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50800" tIns="50800" rIns="50800" bIns="50800" numCol="1" spcCol="38100" rtlCol="0" anchor="ctr">
                <a:spAutoFit/>
              </a:bodyPr>
              <a:lstStyle/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5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𝑐</m:t>
                      </m:r>
                    </m:oMath>
                  </m:oMathPara>
                </a14:m>
                <a:endParaRPr lang="en-US" sz="5400" dirty="0">
                  <a:solidFill>
                    <a:schemeClr val="bg1"/>
                  </a:solidFill>
                  <a:latin typeface="Bradley Hand" pitchFamily="2" charset="77"/>
                </a:endParaRPr>
              </a:p>
            </p:txBody>
          </p:sp>
        </mc:Choice>
        <mc:Fallback xmlns="">
          <p:sp>
            <p:nvSpPr>
              <p:cNvPr id="18" name="Rounded Rectangle 17">
                <a:extLst>
                  <a:ext uri="{FF2B5EF4-FFF2-40B4-BE49-F238E27FC236}">
                    <a16:creationId xmlns:a16="http://schemas.microsoft.com/office/drawing/2014/main" id="{38712C0F-6343-E4F4-1488-79CBEC66486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40899" y="6510602"/>
                <a:ext cx="1698298" cy="1032907"/>
              </a:xfrm>
              <a:prstGeom prst="roundRect">
                <a:avLst/>
              </a:prstGeom>
              <a:blipFill>
                <a:blip r:embed="rId3"/>
                <a:stretch>
                  <a:fillRect/>
                </a:stretch>
              </a:blipFill>
              <a:ln w="63500" cap="flat">
                <a:solidFill>
                  <a:schemeClr val="tx1"/>
                </a:solidFill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9" name="Rounded Rectangle 18">
            <a:extLst>
              <a:ext uri="{FF2B5EF4-FFF2-40B4-BE49-F238E27FC236}">
                <a16:creationId xmlns:a16="http://schemas.microsoft.com/office/drawing/2014/main" id="{F7276286-F1E7-587A-F951-DE0283F50846}"/>
              </a:ext>
            </a:extLst>
          </p:cNvPr>
          <p:cNvSpPr/>
          <p:nvPr/>
        </p:nvSpPr>
        <p:spPr>
          <a:xfrm>
            <a:off x="10963278" y="10260636"/>
            <a:ext cx="12766515" cy="1032907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bg1"/>
                </a:solidFill>
                <a:latin typeface="Bradley Hand" pitchFamily="2" charset="77"/>
              </a:rPr>
              <a:t>Running Time = O(n)</a:t>
            </a:r>
          </a:p>
        </p:txBody>
      </p:sp>
    </p:spTree>
    <p:extLst>
      <p:ext uri="{BB962C8B-B14F-4D97-AF65-F5344CB8AC3E}">
        <p14:creationId xmlns:p14="http://schemas.microsoft.com/office/powerpoint/2010/main" val="204668500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750">
        <p159:morph option="byObject"/>
      </p:transition>
    </mc:Choice>
    <mc:Fallback xmlns="">
      <p:transition spd="slow">
        <p:fade/>
      </p:transition>
    </mc:Fallback>
  </mc:AlternateContent>
  <mc:AlternateContent xmlns:mc="http://schemas.openxmlformats.org/markup-compatibility/2006">
    <mc:Choice xmlns:p14="http://schemas.microsoft.com/office/powerpoint/2010/main" Requires="p14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1" presetClass="entr" presetSubtype="0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7" fill="hold">
                          <p:stCondLst>
                            <p:cond delay="indefinite"/>
                          </p:stCondLst>
                          <p:childTnLst>
                            <p:par>
                              <p:cTn id="8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9" presetID="1" presetClass="entr" presetSubtype="0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1" presetID="1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3" presetID="1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5" presetID="1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17" fill="hold">
                          <p:stCondLst>
                            <p:cond delay="indefinite"/>
                          </p:stCondLst>
                          <p:childTnLst>
                            <p:par>
                              <p:cTn id="18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19" presetID="1" presetClass="entr" presetSubtype="0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1" presetID="1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23" fill="hold">
                          <p:stCondLst>
                            <p:cond delay="indefinite"/>
                          </p:stCondLst>
                          <p:childTnLst>
                            <p:par>
                              <p:cTn id="2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25" presetID="2" presetClass="entr" presetSubtype="2" fill="hold" nodeType="clickEffect" p14:presetBounceEnd="50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8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50000">
                                          <p:cBhvr additive="base">
                                            <p:cTn id="27" dur="500" fill="hold"/>
                                            <p:tgtEl>
                                              <p:spTgt spid="18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50000">
                                          <p:cBhvr additive="base">
                                            <p:cTn id="28" dur="500" fill="hold"/>
                                            <p:tgtEl>
                                              <p:spTgt spid="18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29" fill="hold">
                          <p:stCondLst>
                            <p:cond delay="indefinite"/>
                          </p:stCondLst>
                          <p:childTnLst>
                            <p:par>
                              <p:cTn id="30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31" presetID="1" presetClass="entr" presetSubtype="0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3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33" fill="hold">
                          <p:stCondLst>
                            <p:cond delay="indefinite"/>
                          </p:stCondLst>
                          <p:childTnLst>
                            <p:par>
                              <p:cTn id="3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35" presetID="1" presetClass="entr" presetSubtype="0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3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3" grpId="0" animBg="1"/>
          <p:bldP spid="4" grpId="0" animBg="1"/>
          <p:bldP spid="12" grpId="0" animBg="1"/>
          <p:bldP spid="13" grpId="0" animBg="1"/>
          <p:bldP spid="14" grpId="0" animBg="1"/>
          <p:bldP spid="15" grpId="0" animBg="1"/>
          <p:bldP spid="17" grpId="0" animBg="1"/>
          <p:bldP spid="18" grpId="0" animBg="1"/>
          <p:bldP spid="19" grpId="0" animBg="1"/>
        </p:bldLst>
      </p:timing>
    </mc:Choice>
    <mc:Fallback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1" presetClass="entr" presetSubtype="0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7" fill="hold">
                          <p:stCondLst>
                            <p:cond delay="indefinite"/>
                          </p:stCondLst>
                          <p:childTnLst>
                            <p:par>
                              <p:cTn id="8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9" presetID="1" presetClass="entr" presetSubtype="0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1" presetID="1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3" presetID="1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5" presetID="1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17" fill="hold">
                          <p:stCondLst>
                            <p:cond delay="indefinite"/>
                          </p:stCondLst>
                          <p:childTnLst>
                            <p:par>
                              <p:cTn id="18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19" presetID="1" presetClass="entr" presetSubtype="0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1" presetID="1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23" fill="hold">
                          <p:stCondLst>
                            <p:cond delay="indefinite"/>
                          </p:stCondLst>
                          <p:childTnLst>
                            <p:par>
                              <p:cTn id="2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25" presetID="2" presetClass="entr" presetSubtype="2" fill="hold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8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27" dur="500" fill="hold"/>
                                            <p:tgtEl>
                                              <p:spTgt spid="18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28" dur="500" fill="hold"/>
                                            <p:tgtEl>
                                              <p:spTgt spid="18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29" fill="hold">
                          <p:stCondLst>
                            <p:cond delay="indefinite"/>
                          </p:stCondLst>
                          <p:childTnLst>
                            <p:par>
                              <p:cTn id="30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31" presetID="1" presetClass="entr" presetSubtype="0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3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33" fill="hold">
                          <p:stCondLst>
                            <p:cond delay="indefinite"/>
                          </p:stCondLst>
                          <p:childTnLst>
                            <p:par>
                              <p:cTn id="3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35" presetID="1" presetClass="entr" presetSubtype="0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3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3" grpId="0" animBg="1"/>
          <p:bldP spid="4" grpId="0" animBg="1"/>
          <p:bldP spid="12" grpId="0" animBg="1"/>
          <p:bldP spid="13" grpId="0" animBg="1"/>
          <p:bldP spid="14" grpId="0" animBg="1"/>
          <p:bldP spid="15" grpId="0" animBg="1"/>
          <p:bldP spid="17" grpId="0" animBg="1"/>
          <p:bldP spid="18" grpId="0" animBg="1"/>
          <p:bldP spid="19" grpId="0" animBg="1"/>
        </p:bldLst>
      </p:timing>
    </mc:Fallback>
  </mc:AlternateContent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994501-5B3C-EF2D-5BF1-5414D50708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Rounded Rectangle 1">
                <a:extLst>
                  <a:ext uri="{FF2B5EF4-FFF2-40B4-BE49-F238E27FC236}">
                    <a16:creationId xmlns:a16="http://schemas.microsoft.com/office/drawing/2014/main" id="{73A56C72-DD2A-91F1-D501-212FC48E712A}"/>
                  </a:ext>
                </a:extLst>
              </p:cNvPr>
              <p:cNvSpPr/>
              <p:nvPr/>
            </p:nvSpPr>
            <p:spPr>
              <a:xfrm>
                <a:off x="852734" y="627636"/>
                <a:ext cx="9543957" cy="10884535"/>
              </a:xfrm>
              <a:prstGeom prst="roundRect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 w="63500" cap="flat">
                <a:solidFill>
                  <a:schemeClr val="tx1"/>
                </a:solidFill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50800" tIns="50800" rIns="50800" bIns="50800" numCol="1" spcCol="38100" rtlCol="0" anchor="ctr">
                <a:spAutoFit/>
              </a:bodyPr>
              <a:lstStyle/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#include </a:t>
                </a:r>
                <a:r>
                  <a:rPr lang="en-IN" sz="28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&lt;</a:t>
                </a:r>
                <a:r>
                  <a:rPr lang="en-IN" sz="2800" dirty="0" err="1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stdio.h</a:t>
                </a:r>
                <a:r>
                  <a:rPr lang="en-IN" sz="28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&gt;</a:t>
                </a:r>
                <a:b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</a:br>
                <a:b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</a:br>
                <a:r>
                  <a:rPr lang="en-IN" sz="28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int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IN" sz="28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main</a:t>
                </a:r>
                <a:r>
                  <a:rPr lang="en-IN" sz="2800" dirty="0">
                    <a:solidFill>
                      <a:schemeClr val="accent4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()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{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US" sz="28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 int</a:t>
                </a:r>
                <a:r>
                  <a:rPr lang="en-US" sz="28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800" i="1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,</a:t>
                </a:r>
                <a14:m>
                  <m:oMath xmlns:m="http://schemas.openxmlformats.org/officeDocument/2006/math">
                    <m:r>
                      <a:rPr lang="en-US" sz="2800" i="1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,</a:t>
                </a:r>
                <a14:m>
                  <m:oMath xmlns:m="http://schemas.openxmlformats.org/officeDocument/2006/math">
                    <m:r>
                      <a:rPr lang="en-IN" sz="28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</a:t>
                </a:r>
                <a:r>
                  <a:rPr lang="en-IN" sz="2800" dirty="0" err="1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scanf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(“%d”, &amp;</a:t>
                </a:r>
                <a14:m>
                  <m:oMath xmlns:m="http://schemas.openxmlformats.org/officeDocument/2006/math">
                    <m:r>
                      <a:rPr lang="en-IN" sz="28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);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int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IN" sz="2800" dirty="0" err="1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num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</a:t>
                </a:r>
                <a14:m>
                  <m:oMath xmlns:m="http://schemas.openxmlformats.org/officeDocument/2006/math">
                    <m:r>
                      <a:rPr lang="en-IN" sz="28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];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</a:t>
                </a:r>
                <a:r>
                  <a:rPr lang="en-IN" sz="28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for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</a:t>
                </a:r>
                <a14:m>
                  <m:oMath xmlns:m="http://schemas.openxmlformats.org/officeDocument/2006/math">
                    <m:r>
                      <a:rPr lang="en-US" sz="2800" i="1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=0 ; </a:t>
                </a:r>
                <a14:m>
                  <m:oMath xmlns:m="http://schemas.openxmlformats.org/officeDocument/2006/math">
                    <m:r>
                      <a:rPr lang="en-US" sz="2800" i="1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&lt; </a:t>
                </a:r>
                <a14:m>
                  <m:oMath xmlns:m="http://schemas.openxmlformats.org/officeDocument/2006/math">
                    <m:r>
                      <a:rPr lang="en-IN" sz="28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; </a:t>
                </a:r>
                <a14:m>
                  <m:oMath xmlns:m="http://schemas.openxmlformats.org/officeDocument/2006/math">
                    <m:r>
                      <a:rPr lang="en-US" sz="2800" i="1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++)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{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</a:t>
                </a:r>
                <a:r>
                  <a:rPr lang="en-IN" sz="2800" dirty="0" err="1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scanf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(“%d”, &amp;</a:t>
                </a:r>
                <a:r>
                  <a:rPr lang="en-IN" sz="2800" dirty="0" err="1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num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</a:t>
                </a:r>
                <a14:m>
                  <m:oMath xmlns:m="http://schemas.openxmlformats.org/officeDocument/2006/math">
                    <m:r>
                      <a:rPr lang="en-US" sz="2800" i="1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]);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for( </a:t>
                </a:r>
                <a14:m>
                  <m:oMath xmlns:m="http://schemas.openxmlformats.org/officeDocument/2006/math">
                    <m:r>
                      <a:rPr lang="en-IN" sz="2800" i="1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= </a:t>
                </a:r>
                <a14:m>
                  <m:oMath xmlns:m="http://schemas.openxmlformats.org/officeDocument/2006/math">
                    <m:r>
                      <a:rPr lang="en-US" sz="2800" i="1">
                        <a:ln w="0"/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effectLst>
                          <a:outerShdw blurRad="38100" dist="19050" dir="2700000" algn="tl" rotWithShape="0">
                            <a:schemeClr val="dk1">
                              <a:alpha val="40000"/>
                            </a:schemeClr>
                          </a:outerShdw>
                        </a:effectLst>
                        <a:latin typeface="Cambria Math" panose="02040503050406030204" pitchFamily="18" charset="0"/>
                        <a:ea typeface="Cambria Math" panose="02040503050406030204" pitchFamily="18" charset="0"/>
                        <a:cs typeface="Helvetica Neue Medium"/>
                        <a:sym typeface="Helvetica Neue Medium"/>
                      </a:rPr>
                      <m:t>𝑖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; </a:t>
                </a:r>
                <a14:m>
                  <m:oMath xmlns:m="http://schemas.openxmlformats.org/officeDocument/2006/math">
                    <m:r>
                      <a:rPr lang="en-IN" sz="28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&gt; 0; </a:t>
                </a:r>
                <a14:m>
                  <m:oMath xmlns:m="http://schemas.openxmlformats.org/officeDocument/2006/math">
                    <m:r>
                      <a:rPr lang="en-IN" sz="28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𝑗</m:t>
                    </m:r>
                    <m:r>
                      <a:rPr lang="en-IN" sz="28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--)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{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	</a:t>
                </a:r>
                <a:r>
                  <a:rPr lang="en-IN" sz="28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if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( </a:t>
                </a:r>
                <a:r>
                  <a:rPr lang="en-IN" sz="2800" dirty="0" err="1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num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</a:t>
                </a:r>
                <a14:m>
                  <m:oMath xmlns:m="http://schemas.openxmlformats.org/officeDocument/2006/math">
                    <m:r>
                      <a:rPr lang="en-IN" sz="2800" i="1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] &lt; </a:t>
                </a:r>
                <a:r>
                  <a:rPr lang="en-IN" sz="2800" dirty="0" err="1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num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</a:t>
                </a:r>
                <a14:m>
                  <m:oMath xmlns:m="http://schemas.openxmlformats.org/officeDocument/2006/math">
                    <m:r>
                      <a:rPr lang="en-IN" sz="28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𝑗</m:t>
                    </m:r>
                    <m:r>
                      <a:rPr lang="en-IN" sz="28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-1] )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	{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		</a:t>
                </a:r>
                <a:r>
                  <a:rPr lang="en-IN" sz="28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int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IN" sz="28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temp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= </a:t>
                </a:r>
                <a:r>
                  <a:rPr lang="en-IN" sz="2800" dirty="0" err="1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num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</a:t>
                </a:r>
                <a14:m>
                  <m:oMath xmlns:m="http://schemas.openxmlformats.org/officeDocument/2006/math">
                    <m:r>
                      <a:rPr lang="en-IN" sz="2800" i="1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];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		</a:t>
                </a:r>
                <a:r>
                  <a:rPr lang="en-IN" sz="2800" dirty="0" err="1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num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</a:t>
                </a:r>
                <a14:m>
                  <m:oMath xmlns:m="http://schemas.openxmlformats.org/officeDocument/2006/math">
                    <m:r>
                      <a:rPr lang="en-IN" sz="28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] = </a:t>
                </a:r>
                <a:r>
                  <a:rPr lang="en-IN" sz="2800" dirty="0" err="1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num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</a:t>
                </a:r>
                <a14:m>
                  <m:oMath xmlns:m="http://schemas.openxmlformats.org/officeDocument/2006/math">
                    <m:r>
                      <a:rPr lang="en-IN" sz="2800" i="1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𝑗</m:t>
                    </m:r>
                    <m:r>
                      <a:rPr lang="en-IN" sz="2800" i="1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-1];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		</a:t>
                </a:r>
                <a:r>
                  <a:rPr lang="en-IN" sz="2800" dirty="0" err="1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num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</a:t>
                </a:r>
                <a14:m>
                  <m:oMath xmlns:m="http://schemas.openxmlformats.org/officeDocument/2006/math">
                    <m:r>
                      <a:rPr lang="en-IN" sz="2800" i="1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𝑗</m:t>
                    </m:r>
                    <m:r>
                      <a:rPr lang="en-IN" sz="2800" i="1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-1] = </a:t>
                </a:r>
                <a:r>
                  <a:rPr lang="en-IN" sz="28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temp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;</a:t>
                </a:r>
                <a:endParaRPr lang="en-IN" sz="2800" dirty="0">
                  <a:solidFill>
                    <a:schemeClr val="accent1">
                      <a:lumMod val="40000"/>
                      <a:lumOff val="60000"/>
                    </a:schemeClr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	}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	</a:t>
                </a:r>
                <a:r>
                  <a:rPr lang="en-IN" sz="28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else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		</a:t>
                </a:r>
                <a:r>
                  <a:rPr lang="en-IN" sz="28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break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} 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}</a:t>
                </a:r>
                <a:b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</a:b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</a:t>
                </a:r>
                <a:r>
                  <a:rPr lang="en-IN" sz="28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return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0;</a:t>
                </a:r>
                <a:b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</a:b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}</a:t>
                </a:r>
                <a:endParaRPr lang="en-US" sz="2800" dirty="0">
                  <a:solidFill>
                    <a:schemeClr val="bg1"/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>
          <p:sp>
            <p:nvSpPr>
              <p:cNvPr id="2" name="Rounded Rectangle 1">
                <a:extLst>
                  <a:ext uri="{FF2B5EF4-FFF2-40B4-BE49-F238E27FC236}">
                    <a16:creationId xmlns:a16="http://schemas.microsoft.com/office/drawing/2014/main" id="{73A56C72-DD2A-91F1-D501-212FC48E712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2734" y="627636"/>
                <a:ext cx="9543957" cy="10884535"/>
              </a:xfrm>
              <a:prstGeom prst="roundRect">
                <a:avLst/>
              </a:prstGeom>
              <a:blipFill>
                <a:blip r:embed="rId2"/>
                <a:stretch>
                  <a:fillRect/>
                </a:stretch>
              </a:blipFill>
              <a:ln w="63500" cap="flat">
                <a:solidFill>
                  <a:schemeClr val="tx1"/>
                </a:solidFill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0EFD10FF-4E8A-085E-3C19-C73B47DF81B7}"/>
              </a:ext>
            </a:extLst>
          </p:cNvPr>
          <p:cNvSpPr/>
          <p:nvPr/>
        </p:nvSpPr>
        <p:spPr>
          <a:xfrm>
            <a:off x="10928196" y="627636"/>
            <a:ext cx="13091530" cy="5016976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685800" indent="-685800" defTabSz="82550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  <a:latin typeface="Bradley Hand" pitchFamily="2" charset="77"/>
              </a:rPr>
              <a:t>Insertion Sort is extremely quick on already sorted input</a:t>
            </a:r>
          </a:p>
          <a:p>
            <a:pPr marL="685800" indent="-685800" defTabSz="82550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  <a:latin typeface="Bradley Hand" pitchFamily="2" charset="77"/>
              </a:rPr>
              <a:t>We will see later that this property is not true for other sorting algorithms</a:t>
            </a:r>
          </a:p>
          <a:p>
            <a:pPr marL="685800" indent="-685800" defTabSz="82550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  <a:latin typeface="Bradley Hand" pitchFamily="2" charset="77"/>
              </a:rPr>
              <a:t>It stands to reason that insertion sort is quick for </a:t>
            </a:r>
            <a:r>
              <a:rPr lang="en-US" dirty="0">
                <a:solidFill>
                  <a:schemeClr val="accent3">
                    <a:lumMod val="40000"/>
                    <a:lumOff val="60000"/>
                  </a:schemeClr>
                </a:solidFill>
                <a:latin typeface="Bradley Hand" pitchFamily="2" charset="77"/>
              </a:rPr>
              <a:t>nearly sorted arrays</a:t>
            </a:r>
          </a:p>
        </p:txBody>
      </p:sp>
      <p:sp>
        <p:nvSpPr>
          <p:cNvPr id="17" name="Right Brace 16">
            <a:extLst>
              <a:ext uri="{FF2B5EF4-FFF2-40B4-BE49-F238E27FC236}">
                <a16:creationId xmlns:a16="http://schemas.microsoft.com/office/drawing/2014/main" id="{EAE48910-035D-2F48-1126-BC930F451F28}"/>
              </a:ext>
            </a:extLst>
          </p:cNvPr>
          <p:cNvSpPr/>
          <p:nvPr/>
        </p:nvSpPr>
        <p:spPr>
          <a:xfrm>
            <a:off x="7695589" y="4772722"/>
            <a:ext cx="791485" cy="4508669"/>
          </a:xfrm>
          <a:prstGeom prst="rightBrace">
            <a:avLst/>
          </a:prstGeom>
          <a:noFill/>
          <a:ln w="127000" cap="flat">
            <a:solidFill>
              <a:schemeClr val="bg1"/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91439" tIns="45719" rIns="91439" bIns="45719" numCol="1" spcCol="38100" rtlCol="0" anchor="t">
            <a:noAutofit/>
          </a:bodyPr>
          <a:lstStyle/>
          <a:p>
            <a: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Rounded Rectangle 17">
                <a:extLst>
                  <a:ext uri="{FF2B5EF4-FFF2-40B4-BE49-F238E27FC236}">
                    <a16:creationId xmlns:a16="http://schemas.microsoft.com/office/drawing/2014/main" id="{B8908457-FF85-25A5-334B-99425DBED652}"/>
                  </a:ext>
                </a:extLst>
              </p:cNvPr>
              <p:cNvSpPr/>
              <p:nvPr/>
            </p:nvSpPr>
            <p:spPr>
              <a:xfrm>
                <a:off x="8740899" y="6510602"/>
                <a:ext cx="1698298" cy="1032907"/>
              </a:xfrm>
              <a:prstGeom prst="roundRect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 w="63500" cap="flat">
                <a:solidFill>
                  <a:schemeClr val="tx1"/>
                </a:solidFill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50800" tIns="50800" rIns="50800" bIns="50800" numCol="1" spcCol="38100" rtlCol="0" anchor="ctr">
                <a:spAutoFit/>
              </a:bodyPr>
              <a:lstStyle/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5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𝑐</m:t>
                      </m:r>
                    </m:oMath>
                  </m:oMathPara>
                </a14:m>
                <a:endParaRPr lang="en-US" sz="5400" dirty="0">
                  <a:solidFill>
                    <a:schemeClr val="bg1"/>
                  </a:solidFill>
                  <a:latin typeface="Bradley Hand" pitchFamily="2" charset="77"/>
                </a:endParaRPr>
              </a:p>
            </p:txBody>
          </p:sp>
        </mc:Choice>
        <mc:Fallback xmlns="">
          <p:sp>
            <p:nvSpPr>
              <p:cNvPr id="18" name="Rounded Rectangle 17">
                <a:extLst>
                  <a:ext uri="{FF2B5EF4-FFF2-40B4-BE49-F238E27FC236}">
                    <a16:creationId xmlns:a16="http://schemas.microsoft.com/office/drawing/2014/main" id="{B8908457-FF85-25A5-334B-99425DBED65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40899" y="6510602"/>
                <a:ext cx="1698298" cy="1032907"/>
              </a:xfrm>
              <a:prstGeom prst="roundRect">
                <a:avLst/>
              </a:prstGeom>
              <a:blipFill>
                <a:blip r:embed="rId3"/>
                <a:stretch>
                  <a:fillRect/>
                </a:stretch>
              </a:blipFill>
              <a:ln w="63500" cap="flat">
                <a:solidFill>
                  <a:schemeClr val="tx1"/>
                </a:solidFill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90390975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75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33FBD9-BCF1-1BE7-5FAC-280EB8EA05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Rounded Rectangle 1">
                <a:extLst>
                  <a:ext uri="{FF2B5EF4-FFF2-40B4-BE49-F238E27FC236}">
                    <a16:creationId xmlns:a16="http://schemas.microsoft.com/office/drawing/2014/main" id="{1354B84C-1159-B1AE-4AB2-580D42C1858E}"/>
                  </a:ext>
                </a:extLst>
              </p:cNvPr>
              <p:cNvSpPr/>
              <p:nvPr/>
            </p:nvSpPr>
            <p:spPr>
              <a:xfrm>
                <a:off x="852734" y="627636"/>
                <a:ext cx="9543957" cy="10884535"/>
              </a:xfrm>
              <a:prstGeom prst="roundRect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 w="63500" cap="flat">
                <a:solidFill>
                  <a:schemeClr val="tx1"/>
                </a:solidFill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50800" tIns="50800" rIns="50800" bIns="50800" numCol="1" spcCol="38100" rtlCol="0" anchor="ctr">
                <a:spAutoFit/>
              </a:bodyPr>
              <a:lstStyle/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#include </a:t>
                </a:r>
                <a:r>
                  <a:rPr lang="en-IN" sz="28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&lt;</a:t>
                </a:r>
                <a:r>
                  <a:rPr lang="en-IN" sz="2800" dirty="0" err="1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stdio.h</a:t>
                </a:r>
                <a:r>
                  <a:rPr lang="en-IN" sz="28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&gt;</a:t>
                </a:r>
                <a:b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</a:br>
                <a:b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</a:br>
                <a:r>
                  <a:rPr lang="en-IN" sz="28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int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IN" sz="28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main</a:t>
                </a:r>
                <a:r>
                  <a:rPr lang="en-IN" sz="2800" dirty="0">
                    <a:solidFill>
                      <a:schemeClr val="accent4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()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{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US" sz="28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 int</a:t>
                </a:r>
                <a:r>
                  <a:rPr lang="en-US" sz="28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800" i="1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,</a:t>
                </a:r>
                <a14:m>
                  <m:oMath xmlns:m="http://schemas.openxmlformats.org/officeDocument/2006/math">
                    <m:r>
                      <a:rPr lang="en-US" sz="2800" i="1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,</a:t>
                </a:r>
                <a14:m>
                  <m:oMath xmlns:m="http://schemas.openxmlformats.org/officeDocument/2006/math">
                    <m:r>
                      <a:rPr lang="en-IN" sz="28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</a:t>
                </a:r>
                <a:r>
                  <a:rPr lang="en-IN" sz="2800" dirty="0" err="1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scanf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(“%d”, &amp;</a:t>
                </a:r>
                <a14:m>
                  <m:oMath xmlns:m="http://schemas.openxmlformats.org/officeDocument/2006/math">
                    <m:r>
                      <a:rPr lang="en-IN" sz="28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);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int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IN" sz="2800" dirty="0" err="1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num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</a:t>
                </a:r>
                <a14:m>
                  <m:oMath xmlns:m="http://schemas.openxmlformats.org/officeDocument/2006/math">
                    <m:r>
                      <a:rPr lang="en-IN" sz="28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];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</a:t>
                </a:r>
                <a:r>
                  <a:rPr lang="en-IN" sz="28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for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</a:t>
                </a:r>
                <a14:m>
                  <m:oMath xmlns:m="http://schemas.openxmlformats.org/officeDocument/2006/math">
                    <m:r>
                      <a:rPr lang="en-US" sz="2800" i="1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=0 ; </a:t>
                </a:r>
                <a14:m>
                  <m:oMath xmlns:m="http://schemas.openxmlformats.org/officeDocument/2006/math">
                    <m:r>
                      <a:rPr lang="en-US" sz="2800" i="1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&lt; </a:t>
                </a:r>
                <a14:m>
                  <m:oMath xmlns:m="http://schemas.openxmlformats.org/officeDocument/2006/math">
                    <m:r>
                      <a:rPr lang="en-IN" sz="28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; </a:t>
                </a:r>
                <a14:m>
                  <m:oMath xmlns:m="http://schemas.openxmlformats.org/officeDocument/2006/math">
                    <m:r>
                      <a:rPr lang="en-US" sz="2800" i="1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++)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{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</a:t>
                </a:r>
                <a:r>
                  <a:rPr lang="en-IN" sz="2800" dirty="0" err="1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scanf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(“%d”, &amp;</a:t>
                </a:r>
                <a:r>
                  <a:rPr lang="en-IN" sz="2800" dirty="0" err="1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num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</a:t>
                </a:r>
                <a14:m>
                  <m:oMath xmlns:m="http://schemas.openxmlformats.org/officeDocument/2006/math">
                    <m:r>
                      <a:rPr lang="en-US" sz="2800" i="1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]);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for( </a:t>
                </a:r>
                <a14:m>
                  <m:oMath xmlns:m="http://schemas.openxmlformats.org/officeDocument/2006/math">
                    <m:r>
                      <a:rPr lang="en-IN" sz="2800" i="1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= </a:t>
                </a:r>
                <a14:m>
                  <m:oMath xmlns:m="http://schemas.openxmlformats.org/officeDocument/2006/math">
                    <m:r>
                      <a:rPr lang="en-US" sz="2800" i="1">
                        <a:ln w="0"/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effectLst>
                          <a:outerShdw blurRad="38100" dist="19050" dir="2700000" algn="tl" rotWithShape="0">
                            <a:schemeClr val="dk1">
                              <a:alpha val="40000"/>
                            </a:schemeClr>
                          </a:outerShdw>
                        </a:effectLst>
                        <a:latin typeface="Cambria Math" panose="02040503050406030204" pitchFamily="18" charset="0"/>
                        <a:ea typeface="Cambria Math" panose="02040503050406030204" pitchFamily="18" charset="0"/>
                        <a:cs typeface="Helvetica Neue Medium"/>
                        <a:sym typeface="Helvetica Neue Medium"/>
                      </a:rPr>
                      <m:t>𝑖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; </a:t>
                </a:r>
                <a14:m>
                  <m:oMath xmlns:m="http://schemas.openxmlformats.org/officeDocument/2006/math">
                    <m:r>
                      <a:rPr lang="en-IN" sz="28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&gt; 0; </a:t>
                </a:r>
                <a14:m>
                  <m:oMath xmlns:m="http://schemas.openxmlformats.org/officeDocument/2006/math">
                    <m:r>
                      <a:rPr lang="en-IN" sz="28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𝑗</m:t>
                    </m:r>
                    <m:r>
                      <a:rPr lang="en-IN" sz="28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--)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{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	</a:t>
                </a:r>
                <a:r>
                  <a:rPr lang="en-IN" sz="28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if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( </a:t>
                </a:r>
                <a:r>
                  <a:rPr lang="en-IN" sz="2800" dirty="0" err="1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num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</a:t>
                </a:r>
                <a14:m>
                  <m:oMath xmlns:m="http://schemas.openxmlformats.org/officeDocument/2006/math">
                    <m:r>
                      <a:rPr lang="en-IN" sz="2800" i="1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] &lt; </a:t>
                </a:r>
                <a:r>
                  <a:rPr lang="en-IN" sz="2800" dirty="0" err="1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num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</a:t>
                </a:r>
                <a14:m>
                  <m:oMath xmlns:m="http://schemas.openxmlformats.org/officeDocument/2006/math">
                    <m:r>
                      <a:rPr lang="en-IN" sz="28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𝑗</m:t>
                    </m:r>
                    <m:r>
                      <a:rPr lang="en-IN" sz="28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-1] )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	{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		</a:t>
                </a:r>
                <a:r>
                  <a:rPr lang="en-IN" sz="28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int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IN" sz="28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temp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= </a:t>
                </a:r>
                <a:r>
                  <a:rPr lang="en-IN" sz="2800" dirty="0" err="1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num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</a:t>
                </a:r>
                <a14:m>
                  <m:oMath xmlns:m="http://schemas.openxmlformats.org/officeDocument/2006/math">
                    <m:r>
                      <a:rPr lang="en-IN" sz="2800" i="1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];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		</a:t>
                </a:r>
                <a:r>
                  <a:rPr lang="en-IN" sz="2800" dirty="0" err="1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num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</a:t>
                </a:r>
                <a14:m>
                  <m:oMath xmlns:m="http://schemas.openxmlformats.org/officeDocument/2006/math">
                    <m:r>
                      <a:rPr lang="en-IN" sz="28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] = </a:t>
                </a:r>
                <a:r>
                  <a:rPr lang="en-IN" sz="2800" dirty="0" err="1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num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</a:t>
                </a:r>
                <a14:m>
                  <m:oMath xmlns:m="http://schemas.openxmlformats.org/officeDocument/2006/math">
                    <m:r>
                      <a:rPr lang="en-IN" sz="2800" i="1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𝑗</m:t>
                    </m:r>
                    <m:r>
                      <a:rPr lang="en-IN" sz="2800" i="1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-1];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		</a:t>
                </a:r>
                <a:r>
                  <a:rPr lang="en-IN" sz="2800" dirty="0" err="1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num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</a:t>
                </a:r>
                <a14:m>
                  <m:oMath xmlns:m="http://schemas.openxmlformats.org/officeDocument/2006/math">
                    <m:r>
                      <a:rPr lang="en-IN" sz="2800" i="1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𝑗</m:t>
                    </m:r>
                    <m:r>
                      <a:rPr lang="en-IN" sz="2800" i="1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-1] = </a:t>
                </a:r>
                <a:r>
                  <a:rPr lang="en-IN" sz="28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temp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;</a:t>
                </a:r>
                <a:endParaRPr lang="en-IN" sz="2800" dirty="0">
                  <a:solidFill>
                    <a:schemeClr val="accent1">
                      <a:lumMod val="40000"/>
                      <a:lumOff val="60000"/>
                    </a:schemeClr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	}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	</a:t>
                </a:r>
                <a:r>
                  <a:rPr lang="en-IN" sz="28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else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		</a:t>
                </a:r>
                <a:r>
                  <a:rPr lang="en-IN" sz="28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break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} 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}</a:t>
                </a:r>
                <a:b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</a:b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</a:t>
                </a:r>
                <a:r>
                  <a:rPr lang="en-IN" sz="28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return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0;</a:t>
                </a:r>
                <a:b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</a:b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}</a:t>
                </a:r>
                <a:endParaRPr lang="en-US" sz="2800" dirty="0">
                  <a:solidFill>
                    <a:schemeClr val="bg1"/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>
          <p:sp>
            <p:nvSpPr>
              <p:cNvPr id="2" name="Rounded Rectangle 1">
                <a:extLst>
                  <a:ext uri="{FF2B5EF4-FFF2-40B4-BE49-F238E27FC236}">
                    <a16:creationId xmlns:a16="http://schemas.microsoft.com/office/drawing/2014/main" id="{1354B84C-1159-B1AE-4AB2-580D42C1858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2734" y="627636"/>
                <a:ext cx="9543957" cy="10884535"/>
              </a:xfrm>
              <a:prstGeom prst="roundRect">
                <a:avLst/>
              </a:prstGeom>
              <a:blipFill>
                <a:blip r:embed="rId2"/>
                <a:stretch>
                  <a:fillRect/>
                </a:stretch>
              </a:blipFill>
              <a:ln w="63500" cap="flat">
                <a:solidFill>
                  <a:schemeClr val="tx1"/>
                </a:solidFill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0B672270-4A48-A8F6-E5EC-CA2533C3A71E}"/>
              </a:ext>
            </a:extLst>
          </p:cNvPr>
          <p:cNvSpPr/>
          <p:nvPr/>
        </p:nvSpPr>
        <p:spPr>
          <a:xfrm>
            <a:off x="10963279" y="1598114"/>
            <a:ext cx="12766516" cy="930751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dirty="0">
                <a:solidFill>
                  <a:schemeClr val="accent5">
                    <a:lumMod val="40000"/>
                    <a:lumOff val="60000"/>
                  </a:schemeClr>
                </a:solidFill>
                <a:latin typeface="Bradley Hand" pitchFamily="2" charset="77"/>
              </a:rPr>
              <a:t>What is the worst input for Insertion Sort?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88DC1D36-4F88-3115-9994-68D884C04C38}"/>
              </a:ext>
            </a:extLst>
          </p:cNvPr>
          <p:cNvSpPr/>
          <p:nvPr/>
        </p:nvSpPr>
        <p:spPr>
          <a:xfrm>
            <a:off x="10963279" y="3171397"/>
            <a:ext cx="12766516" cy="1032907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accent3">
                    <a:lumMod val="40000"/>
                    <a:lumOff val="60000"/>
                  </a:schemeClr>
                </a:solidFill>
                <a:latin typeface="Bradley Hand" pitchFamily="2" charset="77"/>
              </a:rPr>
              <a:t>Reverse Sorted Array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242439C9-1BAA-F910-ACFD-7D2FECAF56B7}"/>
              </a:ext>
            </a:extLst>
          </p:cNvPr>
          <p:cNvSpPr/>
          <p:nvPr/>
        </p:nvSpPr>
        <p:spPr>
          <a:xfrm>
            <a:off x="17795880" y="5403425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15</a:t>
            </a: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5B2ECFB8-D2C8-117C-E5DD-1365B8C24EB7}"/>
              </a:ext>
            </a:extLst>
          </p:cNvPr>
          <p:cNvSpPr/>
          <p:nvPr/>
        </p:nvSpPr>
        <p:spPr>
          <a:xfrm>
            <a:off x="19603466" y="5364328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54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5</a:t>
            </a: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F799520E-A6A9-9A0D-D32E-53E5563404EC}"/>
              </a:ext>
            </a:extLst>
          </p:cNvPr>
          <p:cNvSpPr/>
          <p:nvPr/>
        </p:nvSpPr>
        <p:spPr>
          <a:xfrm>
            <a:off x="14180710" y="5403425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54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47</a:t>
            </a: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E72799DB-5088-F8CD-2E04-D986017C9280}"/>
              </a:ext>
            </a:extLst>
          </p:cNvPr>
          <p:cNvSpPr/>
          <p:nvPr/>
        </p:nvSpPr>
        <p:spPr>
          <a:xfrm>
            <a:off x="15988295" y="5379879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27</a:t>
            </a: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0" name="Right Brace 9">
            <a:extLst>
              <a:ext uri="{FF2B5EF4-FFF2-40B4-BE49-F238E27FC236}">
                <a16:creationId xmlns:a16="http://schemas.microsoft.com/office/drawing/2014/main" id="{CDFCBEC7-8ED6-2214-131B-8156562A3A34}"/>
              </a:ext>
            </a:extLst>
          </p:cNvPr>
          <p:cNvSpPr/>
          <p:nvPr/>
        </p:nvSpPr>
        <p:spPr>
          <a:xfrm>
            <a:off x="7695589" y="4772722"/>
            <a:ext cx="791485" cy="4508669"/>
          </a:xfrm>
          <a:prstGeom prst="rightBrace">
            <a:avLst/>
          </a:prstGeom>
          <a:noFill/>
          <a:ln w="127000" cap="flat">
            <a:solidFill>
              <a:schemeClr val="bg1"/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91439" tIns="45719" rIns="91439" bIns="45719" numCol="1" spcCol="38100" rtlCol="0" anchor="t">
            <a:noAutofit/>
          </a:bodyPr>
          <a:lstStyle/>
          <a:p>
            <a: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Rounded Rectangle 10">
                <a:extLst>
                  <a:ext uri="{FF2B5EF4-FFF2-40B4-BE49-F238E27FC236}">
                    <a16:creationId xmlns:a16="http://schemas.microsoft.com/office/drawing/2014/main" id="{D3663884-7853-3965-468D-16495238D904}"/>
                  </a:ext>
                </a:extLst>
              </p:cNvPr>
              <p:cNvSpPr/>
              <p:nvPr/>
            </p:nvSpPr>
            <p:spPr>
              <a:xfrm>
                <a:off x="8740899" y="6510602"/>
                <a:ext cx="1698298" cy="1032907"/>
              </a:xfrm>
              <a:prstGeom prst="roundRect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 w="63500" cap="flat">
                <a:solidFill>
                  <a:schemeClr val="tx1"/>
                </a:solidFill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50800" tIns="50800" rIns="50800" bIns="50800" numCol="1" spcCol="38100" rtlCol="0" anchor="ctr">
                <a:spAutoFit/>
              </a:bodyPr>
              <a:lstStyle/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5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𝑐𝑖</m:t>
                      </m:r>
                    </m:oMath>
                  </m:oMathPara>
                </a14:m>
                <a:endParaRPr lang="en-US" sz="5400" dirty="0">
                  <a:solidFill>
                    <a:schemeClr val="bg1"/>
                  </a:solidFill>
                  <a:latin typeface="Bradley Hand" pitchFamily="2" charset="77"/>
                </a:endParaRPr>
              </a:p>
            </p:txBody>
          </p:sp>
        </mc:Choice>
        <mc:Fallback xmlns="">
          <p:sp>
            <p:nvSpPr>
              <p:cNvPr id="11" name="Rounded Rectangle 10">
                <a:extLst>
                  <a:ext uri="{FF2B5EF4-FFF2-40B4-BE49-F238E27FC236}">
                    <a16:creationId xmlns:a16="http://schemas.microsoft.com/office/drawing/2014/main" id="{D3663884-7853-3965-468D-16495238D90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40899" y="6510602"/>
                <a:ext cx="1698298" cy="1032907"/>
              </a:xfrm>
              <a:prstGeom prst="roundRect">
                <a:avLst/>
              </a:prstGeom>
              <a:blipFill>
                <a:blip r:embed="rId3"/>
                <a:stretch>
                  <a:fillRect/>
                </a:stretch>
              </a:blipFill>
              <a:ln w="63500" cap="flat">
                <a:solidFill>
                  <a:schemeClr val="tx1"/>
                </a:solidFill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E069DD54-AEDE-102B-6ED3-28B1341A2509}"/>
              </a:ext>
            </a:extLst>
          </p:cNvPr>
          <p:cNvSpPr/>
          <p:nvPr/>
        </p:nvSpPr>
        <p:spPr>
          <a:xfrm>
            <a:off x="10963279" y="7635453"/>
            <a:ext cx="12766516" cy="930751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dirty="0">
                <a:solidFill>
                  <a:schemeClr val="accent5">
                    <a:lumMod val="40000"/>
                    <a:lumOff val="60000"/>
                  </a:schemeClr>
                </a:solidFill>
                <a:latin typeface="Bradley Hand" pitchFamily="2" charset="77"/>
              </a:rPr>
              <a:t>Running Time of insertion sort on this input?</a:t>
            </a:r>
          </a:p>
        </p:txBody>
      </p:sp>
    </p:spTree>
    <p:extLst>
      <p:ext uri="{BB962C8B-B14F-4D97-AF65-F5344CB8AC3E}">
        <p14:creationId xmlns:p14="http://schemas.microsoft.com/office/powerpoint/2010/main" val="147167020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750">
        <p159:morph option="byObject"/>
      </p:transition>
    </mc:Choice>
    <mc:Fallback xmlns="">
      <p:transition spd="slow">
        <p:fade/>
      </p:transition>
    </mc:Fallback>
  </mc:AlternateContent>
  <mc:AlternateContent xmlns:mc="http://schemas.openxmlformats.org/markup-compatibility/2006">
    <mc:Choice xmlns:p14="http://schemas.microsoft.com/office/powerpoint/2010/main" Requires="p14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1" presetClass="entr" presetSubtype="0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7" presetID="1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9" presetID="1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1" presetID="1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3" presetID="1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15" fill="hold">
                          <p:stCondLst>
                            <p:cond delay="indefinite"/>
                          </p:stCondLst>
                          <p:childTnLst>
                            <p:par>
                              <p:cTn id="16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17" presetID="1" presetClass="entr" presetSubtype="0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19" fill="hold">
                          <p:stCondLst>
                            <p:cond delay="indefinite"/>
                          </p:stCondLst>
                          <p:childTnLst>
                            <p:par>
                              <p:cTn id="20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21" presetID="1" presetClass="entr" presetSubtype="0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3" presetID="1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25" fill="hold">
                          <p:stCondLst>
                            <p:cond delay="indefinite"/>
                          </p:stCondLst>
                          <p:childTnLst>
                            <p:par>
                              <p:cTn id="26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27" presetID="2" presetClass="entr" presetSubtype="2" fill="hold" nodeType="clickEffect" p14:presetBounceEnd="50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1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50000">
                                          <p:cBhvr additive="base">
                                            <p:cTn id="29" dur="500" fill="hold"/>
                                            <p:tgtEl>
                                              <p:spTgt spid="11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50000">
                                          <p:cBhvr additive="base">
                                            <p:cTn id="30" dur="500" fill="hold"/>
                                            <p:tgtEl>
                                              <p:spTgt spid="11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5" grpId="0" animBg="1"/>
          <p:bldP spid="6" grpId="0" animBg="1"/>
          <p:bldP spid="7" grpId="0" animBg="1"/>
          <p:bldP spid="8" grpId="0" animBg="1"/>
          <p:bldP spid="9" grpId="0" animBg="1"/>
          <p:bldP spid="10" grpId="0" animBg="1"/>
          <p:bldP spid="11" grpId="0" animBg="1"/>
          <p:bldP spid="4" grpId="0" animBg="1"/>
        </p:bldLst>
      </p:timing>
    </mc:Choice>
    <mc:Fallback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1" presetClass="entr" presetSubtype="0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7" presetID="1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9" presetID="1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1" presetID="1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3" presetID="1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15" fill="hold">
                          <p:stCondLst>
                            <p:cond delay="indefinite"/>
                          </p:stCondLst>
                          <p:childTnLst>
                            <p:par>
                              <p:cTn id="16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17" presetID="1" presetClass="entr" presetSubtype="0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19" fill="hold">
                          <p:stCondLst>
                            <p:cond delay="indefinite"/>
                          </p:stCondLst>
                          <p:childTnLst>
                            <p:par>
                              <p:cTn id="20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21" presetID="1" presetClass="entr" presetSubtype="0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3" presetID="1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25" fill="hold">
                          <p:stCondLst>
                            <p:cond delay="indefinite"/>
                          </p:stCondLst>
                          <p:childTnLst>
                            <p:par>
                              <p:cTn id="26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27" presetID="2" presetClass="entr" presetSubtype="2" fill="hold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1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29" dur="500" fill="hold"/>
                                            <p:tgtEl>
                                              <p:spTgt spid="11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30" dur="500" fill="hold"/>
                                            <p:tgtEl>
                                              <p:spTgt spid="11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5" grpId="0" animBg="1"/>
          <p:bldP spid="6" grpId="0" animBg="1"/>
          <p:bldP spid="7" grpId="0" animBg="1"/>
          <p:bldP spid="8" grpId="0" animBg="1"/>
          <p:bldP spid="9" grpId="0" animBg="1"/>
          <p:bldP spid="10" grpId="0" animBg="1"/>
          <p:bldP spid="11" grpId="0" animBg="1"/>
          <p:bldP spid="4" grpId="0" animBg="1"/>
        </p:bldLst>
      </p:timing>
    </mc:Fallback>
  </mc:AlternateContent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969A7D-F16F-2887-18D6-9B3FF8C188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Rounded Rectangle 1">
                <a:extLst>
                  <a:ext uri="{FF2B5EF4-FFF2-40B4-BE49-F238E27FC236}">
                    <a16:creationId xmlns:a16="http://schemas.microsoft.com/office/drawing/2014/main" id="{AE030A66-1F75-8E81-D605-34EF59BBC88E}"/>
                  </a:ext>
                </a:extLst>
              </p:cNvPr>
              <p:cNvSpPr/>
              <p:nvPr/>
            </p:nvSpPr>
            <p:spPr>
              <a:xfrm>
                <a:off x="852734" y="627636"/>
                <a:ext cx="9543957" cy="10884535"/>
              </a:xfrm>
              <a:prstGeom prst="roundRect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 w="63500" cap="flat">
                <a:solidFill>
                  <a:schemeClr val="tx1"/>
                </a:solidFill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50800" tIns="50800" rIns="50800" bIns="50800" numCol="1" spcCol="38100" rtlCol="0" anchor="ctr">
                <a:spAutoFit/>
              </a:bodyPr>
              <a:lstStyle/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#include </a:t>
                </a:r>
                <a:r>
                  <a:rPr lang="en-IN" sz="28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&lt;</a:t>
                </a:r>
                <a:r>
                  <a:rPr lang="en-IN" sz="2800" dirty="0" err="1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stdio.h</a:t>
                </a:r>
                <a:r>
                  <a:rPr lang="en-IN" sz="28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&gt;</a:t>
                </a:r>
                <a:b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</a:br>
                <a:b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</a:br>
                <a:r>
                  <a:rPr lang="en-IN" sz="28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int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IN" sz="28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main</a:t>
                </a:r>
                <a:r>
                  <a:rPr lang="en-IN" sz="2800" dirty="0">
                    <a:solidFill>
                      <a:schemeClr val="accent4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()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{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US" sz="28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 int</a:t>
                </a:r>
                <a:r>
                  <a:rPr lang="en-US" sz="28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800" i="1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,</a:t>
                </a:r>
                <a14:m>
                  <m:oMath xmlns:m="http://schemas.openxmlformats.org/officeDocument/2006/math">
                    <m:r>
                      <a:rPr lang="en-US" sz="2800" i="1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,</a:t>
                </a:r>
                <a14:m>
                  <m:oMath xmlns:m="http://schemas.openxmlformats.org/officeDocument/2006/math">
                    <m:r>
                      <a:rPr lang="en-IN" sz="28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</a:t>
                </a:r>
                <a:r>
                  <a:rPr lang="en-IN" sz="2800" dirty="0" err="1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scanf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(“%d”, &amp;</a:t>
                </a:r>
                <a14:m>
                  <m:oMath xmlns:m="http://schemas.openxmlformats.org/officeDocument/2006/math">
                    <m:r>
                      <a:rPr lang="en-IN" sz="28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);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int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IN" sz="2800" dirty="0" err="1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num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</a:t>
                </a:r>
                <a14:m>
                  <m:oMath xmlns:m="http://schemas.openxmlformats.org/officeDocument/2006/math">
                    <m:r>
                      <a:rPr lang="en-IN" sz="28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];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</a:t>
                </a:r>
                <a:r>
                  <a:rPr lang="en-IN" sz="28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for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</a:t>
                </a:r>
                <a14:m>
                  <m:oMath xmlns:m="http://schemas.openxmlformats.org/officeDocument/2006/math">
                    <m:r>
                      <a:rPr lang="en-US" sz="2800" i="1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=0 ; </a:t>
                </a:r>
                <a14:m>
                  <m:oMath xmlns:m="http://schemas.openxmlformats.org/officeDocument/2006/math">
                    <m:r>
                      <a:rPr lang="en-US" sz="2800" i="1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&lt; </a:t>
                </a:r>
                <a14:m>
                  <m:oMath xmlns:m="http://schemas.openxmlformats.org/officeDocument/2006/math">
                    <m:r>
                      <a:rPr lang="en-IN" sz="28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; </a:t>
                </a:r>
                <a14:m>
                  <m:oMath xmlns:m="http://schemas.openxmlformats.org/officeDocument/2006/math">
                    <m:r>
                      <a:rPr lang="en-US" sz="2800" i="1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++)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{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</a:t>
                </a:r>
                <a:r>
                  <a:rPr lang="en-IN" sz="2800" dirty="0" err="1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scanf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(“%d”, &amp;</a:t>
                </a:r>
                <a:r>
                  <a:rPr lang="en-IN" sz="2800" dirty="0" err="1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num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</a:t>
                </a:r>
                <a14:m>
                  <m:oMath xmlns:m="http://schemas.openxmlformats.org/officeDocument/2006/math">
                    <m:r>
                      <a:rPr lang="en-US" sz="2800" i="1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]);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for( </a:t>
                </a:r>
                <a14:m>
                  <m:oMath xmlns:m="http://schemas.openxmlformats.org/officeDocument/2006/math">
                    <m:r>
                      <a:rPr lang="en-IN" sz="2800" i="1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= </a:t>
                </a:r>
                <a14:m>
                  <m:oMath xmlns:m="http://schemas.openxmlformats.org/officeDocument/2006/math">
                    <m:r>
                      <a:rPr lang="en-US" sz="2800" i="1">
                        <a:ln w="0"/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effectLst>
                          <a:outerShdw blurRad="38100" dist="19050" dir="2700000" algn="tl" rotWithShape="0">
                            <a:schemeClr val="dk1">
                              <a:alpha val="40000"/>
                            </a:schemeClr>
                          </a:outerShdw>
                        </a:effectLst>
                        <a:latin typeface="Cambria Math" panose="02040503050406030204" pitchFamily="18" charset="0"/>
                        <a:ea typeface="Cambria Math" panose="02040503050406030204" pitchFamily="18" charset="0"/>
                        <a:cs typeface="Helvetica Neue Medium"/>
                        <a:sym typeface="Helvetica Neue Medium"/>
                      </a:rPr>
                      <m:t>𝑖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; </a:t>
                </a:r>
                <a14:m>
                  <m:oMath xmlns:m="http://schemas.openxmlformats.org/officeDocument/2006/math">
                    <m:r>
                      <a:rPr lang="en-IN" sz="28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&gt; 0; </a:t>
                </a:r>
                <a14:m>
                  <m:oMath xmlns:m="http://schemas.openxmlformats.org/officeDocument/2006/math">
                    <m:r>
                      <a:rPr lang="en-IN" sz="28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𝑗</m:t>
                    </m:r>
                    <m:r>
                      <a:rPr lang="en-IN" sz="28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--)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{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	</a:t>
                </a:r>
                <a:r>
                  <a:rPr lang="en-IN" sz="28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if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( </a:t>
                </a:r>
                <a:r>
                  <a:rPr lang="en-IN" sz="2800" dirty="0" err="1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num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</a:t>
                </a:r>
                <a14:m>
                  <m:oMath xmlns:m="http://schemas.openxmlformats.org/officeDocument/2006/math">
                    <m:r>
                      <a:rPr lang="en-IN" sz="2800" i="1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] &lt; </a:t>
                </a:r>
                <a:r>
                  <a:rPr lang="en-IN" sz="2800" dirty="0" err="1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num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</a:t>
                </a:r>
                <a14:m>
                  <m:oMath xmlns:m="http://schemas.openxmlformats.org/officeDocument/2006/math">
                    <m:r>
                      <a:rPr lang="en-IN" sz="28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𝑗</m:t>
                    </m:r>
                    <m:r>
                      <a:rPr lang="en-IN" sz="28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-1] )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	{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		</a:t>
                </a:r>
                <a:r>
                  <a:rPr lang="en-IN" sz="28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int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IN" sz="28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temp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= </a:t>
                </a:r>
                <a:r>
                  <a:rPr lang="en-IN" sz="2800" dirty="0" err="1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num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</a:t>
                </a:r>
                <a14:m>
                  <m:oMath xmlns:m="http://schemas.openxmlformats.org/officeDocument/2006/math">
                    <m:r>
                      <a:rPr lang="en-IN" sz="2800" i="1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];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		</a:t>
                </a:r>
                <a:r>
                  <a:rPr lang="en-IN" sz="2800" dirty="0" err="1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num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</a:t>
                </a:r>
                <a14:m>
                  <m:oMath xmlns:m="http://schemas.openxmlformats.org/officeDocument/2006/math">
                    <m:r>
                      <a:rPr lang="en-IN" sz="28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] = </a:t>
                </a:r>
                <a:r>
                  <a:rPr lang="en-IN" sz="2800" dirty="0" err="1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num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</a:t>
                </a:r>
                <a14:m>
                  <m:oMath xmlns:m="http://schemas.openxmlformats.org/officeDocument/2006/math">
                    <m:r>
                      <a:rPr lang="en-IN" sz="2800" i="1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𝑗</m:t>
                    </m:r>
                    <m:r>
                      <a:rPr lang="en-IN" sz="2800" i="1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-1];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		</a:t>
                </a:r>
                <a:r>
                  <a:rPr lang="en-IN" sz="2800" dirty="0" err="1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num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</a:t>
                </a:r>
                <a14:m>
                  <m:oMath xmlns:m="http://schemas.openxmlformats.org/officeDocument/2006/math">
                    <m:r>
                      <a:rPr lang="en-IN" sz="2800" i="1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𝑗</m:t>
                    </m:r>
                    <m:r>
                      <a:rPr lang="en-IN" sz="2800" i="1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-1] = </a:t>
                </a:r>
                <a:r>
                  <a:rPr lang="en-IN" sz="28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temp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;</a:t>
                </a:r>
                <a:endParaRPr lang="en-IN" sz="2800" dirty="0">
                  <a:solidFill>
                    <a:schemeClr val="accent1">
                      <a:lumMod val="40000"/>
                      <a:lumOff val="60000"/>
                    </a:schemeClr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	}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	</a:t>
                </a:r>
                <a:r>
                  <a:rPr lang="en-IN" sz="28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else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		</a:t>
                </a:r>
                <a:r>
                  <a:rPr lang="en-IN" sz="28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break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} 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}</a:t>
                </a:r>
                <a:b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</a:b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</a:t>
                </a:r>
                <a:r>
                  <a:rPr lang="en-IN" sz="28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return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0;</a:t>
                </a:r>
                <a:b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</a:b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}</a:t>
                </a:r>
                <a:endParaRPr lang="en-US" sz="2800" dirty="0">
                  <a:solidFill>
                    <a:schemeClr val="bg1"/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>
          <p:sp>
            <p:nvSpPr>
              <p:cNvPr id="2" name="Rounded Rectangle 1">
                <a:extLst>
                  <a:ext uri="{FF2B5EF4-FFF2-40B4-BE49-F238E27FC236}">
                    <a16:creationId xmlns:a16="http://schemas.microsoft.com/office/drawing/2014/main" id="{AE030A66-1F75-8E81-D605-34EF59BBC88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2734" y="627636"/>
                <a:ext cx="9543957" cy="10884535"/>
              </a:xfrm>
              <a:prstGeom prst="roundRect">
                <a:avLst/>
              </a:prstGeom>
              <a:blipFill>
                <a:blip r:embed="rId2"/>
                <a:stretch>
                  <a:fillRect/>
                </a:stretch>
              </a:blipFill>
              <a:ln w="63500" cap="flat">
                <a:solidFill>
                  <a:schemeClr val="tx1"/>
                </a:solidFill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ED1DEF15-4374-E6E0-F20A-821EB1848360}"/>
              </a:ext>
            </a:extLst>
          </p:cNvPr>
          <p:cNvSpPr/>
          <p:nvPr/>
        </p:nvSpPr>
        <p:spPr>
          <a:xfrm>
            <a:off x="10963279" y="1598114"/>
            <a:ext cx="12766516" cy="930751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dirty="0">
                <a:solidFill>
                  <a:schemeClr val="accent5">
                    <a:lumMod val="40000"/>
                    <a:lumOff val="60000"/>
                  </a:schemeClr>
                </a:solidFill>
                <a:latin typeface="Bradley Hand" pitchFamily="2" charset="77"/>
              </a:rPr>
              <a:t>What is the worst input for Insertion Sort?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413F5863-90B1-A0A0-F610-737AA8D3C9B3}"/>
              </a:ext>
            </a:extLst>
          </p:cNvPr>
          <p:cNvSpPr/>
          <p:nvPr/>
        </p:nvSpPr>
        <p:spPr>
          <a:xfrm>
            <a:off x="10963279" y="3171397"/>
            <a:ext cx="12766516" cy="1032907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accent3">
                    <a:lumMod val="40000"/>
                    <a:lumOff val="60000"/>
                  </a:schemeClr>
                </a:solidFill>
                <a:latin typeface="Bradley Hand" pitchFamily="2" charset="77"/>
              </a:rPr>
              <a:t>Reverse Sorted Array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7DD65FB8-A085-8F8F-0614-8DDFA04CFF6C}"/>
              </a:ext>
            </a:extLst>
          </p:cNvPr>
          <p:cNvSpPr/>
          <p:nvPr/>
        </p:nvSpPr>
        <p:spPr>
          <a:xfrm>
            <a:off x="17795880" y="5403425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15</a:t>
            </a: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FF4FCBBB-FF6A-AF23-65AF-04BD1A1E3CF1}"/>
              </a:ext>
            </a:extLst>
          </p:cNvPr>
          <p:cNvSpPr/>
          <p:nvPr/>
        </p:nvSpPr>
        <p:spPr>
          <a:xfrm>
            <a:off x="19603466" y="5364328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54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5</a:t>
            </a: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A427FBF1-B55C-B81F-DD55-CD2140CE3F26}"/>
              </a:ext>
            </a:extLst>
          </p:cNvPr>
          <p:cNvSpPr/>
          <p:nvPr/>
        </p:nvSpPr>
        <p:spPr>
          <a:xfrm>
            <a:off x="14180710" y="5403425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54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47</a:t>
            </a: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654285F2-19DE-D10E-0CAA-9A158FE2B28A}"/>
              </a:ext>
            </a:extLst>
          </p:cNvPr>
          <p:cNvSpPr/>
          <p:nvPr/>
        </p:nvSpPr>
        <p:spPr>
          <a:xfrm>
            <a:off x="15988295" y="5379879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27</a:t>
            </a: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0" name="Right Brace 9">
            <a:extLst>
              <a:ext uri="{FF2B5EF4-FFF2-40B4-BE49-F238E27FC236}">
                <a16:creationId xmlns:a16="http://schemas.microsoft.com/office/drawing/2014/main" id="{C3617606-0F13-0259-34E1-0302EF5BDA13}"/>
              </a:ext>
            </a:extLst>
          </p:cNvPr>
          <p:cNvSpPr/>
          <p:nvPr/>
        </p:nvSpPr>
        <p:spPr>
          <a:xfrm>
            <a:off x="7695589" y="4772722"/>
            <a:ext cx="791485" cy="4508669"/>
          </a:xfrm>
          <a:prstGeom prst="rightBrace">
            <a:avLst/>
          </a:prstGeom>
          <a:noFill/>
          <a:ln w="127000" cap="flat">
            <a:solidFill>
              <a:schemeClr val="bg1"/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91439" tIns="45719" rIns="91439" bIns="45719" numCol="1" spcCol="38100" rtlCol="0" anchor="t">
            <a:noAutofit/>
          </a:bodyPr>
          <a:lstStyle/>
          <a:p>
            <a: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Rounded Rectangle 10">
                <a:extLst>
                  <a:ext uri="{FF2B5EF4-FFF2-40B4-BE49-F238E27FC236}">
                    <a16:creationId xmlns:a16="http://schemas.microsoft.com/office/drawing/2014/main" id="{2ED2B9F0-17D4-49B8-967A-E69B6F1CC91B}"/>
                  </a:ext>
                </a:extLst>
              </p:cNvPr>
              <p:cNvSpPr/>
              <p:nvPr/>
            </p:nvSpPr>
            <p:spPr>
              <a:xfrm>
                <a:off x="8740899" y="6510602"/>
                <a:ext cx="1698298" cy="1032907"/>
              </a:xfrm>
              <a:prstGeom prst="roundRect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 w="63500" cap="flat">
                <a:solidFill>
                  <a:schemeClr val="tx1"/>
                </a:solidFill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50800" tIns="50800" rIns="50800" bIns="50800" numCol="1" spcCol="38100" rtlCol="0" anchor="ctr">
                <a:spAutoFit/>
              </a:bodyPr>
              <a:lstStyle/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5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𝑖</m:t>
                      </m:r>
                    </m:oMath>
                  </m:oMathPara>
                </a14:m>
                <a:endParaRPr lang="en-US" sz="5400" dirty="0">
                  <a:solidFill>
                    <a:schemeClr val="bg1"/>
                  </a:solidFill>
                  <a:latin typeface="Bradley Hand" pitchFamily="2" charset="77"/>
                </a:endParaRPr>
              </a:p>
            </p:txBody>
          </p:sp>
        </mc:Choice>
        <mc:Fallback xmlns="">
          <p:sp>
            <p:nvSpPr>
              <p:cNvPr id="11" name="Rounded Rectangle 10">
                <a:extLst>
                  <a:ext uri="{FF2B5EF4-FFF2-40B4-BE49-F238E27FC236}">
                    <a16:creationId xmlns:a16="http://schemas.microsoft.com/office/drawing/2014/main" id="{2ED2B9F0-17D4-49B8-967A-E69B6F1CC91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40899" y="6510602"/>
                <a:ext cx="1698298" cy="1032907"/>
              </a:xfrm>
              <a:prstGeom prst="roundRect">
                <a:avLst/>
              </a:prstGeom>
              <a:blipFill>
                <a:blip r:embed="rId3"/>
                <a:stretch>
                  <a:fillRect/>
                </a:stretch>
              </a:blipFill>
              <a:ln w="63500" cap="flat">
                <a:solidFill>
                  <a:schemeClr val="tx1"/>
                </a:solidFill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396C590F-105E-E672-0436-F7302759D39D}"/>
              </a:ext>
            </a:extLst>
          </p:cNvPr>
          <p:cNvSpPr/>
          <p:nvPr/>
        </p:nvSpPr>
        <p:spPr>
          <a:xfrm>
            <a:off x="10963279" y="7635453"/>
            <a:ext cx="12766516" cy="930751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dirty="0">
                <a:solidFill>
                  <a:schemeClr val="accent5">
                    <a:lumMod val="40000"/>
                    <a:lumOff val="60000"/>
                  </a:schemeClr>
                </a:solidFill>
                <a:latin typeface="Bradley Hand" pitchFamily="2" charset="77"/>
              </a:rPr>
              <a:t>Running Time of insertion sort on this input?</a:t>
            </a:r>
          </a:p>
        </p:txBody>
      </p:sp>
    </p:spTree>
    <p:extLst>
      <p:ext uri="{BB962C8B-B14F-4D97-AF65-F5344CB8AC3E}">
        <p14:creationId xmlns:p14="http://schemas.microsoft.com/office/powerpoint/2010/main" val="960011660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Char"/>
      </p:transition>
    </mc:Choice>
    <mc:Fallback>
      <p:transition spd="slow">
        <p:fade/>
      </p:transition>
    </mc:Fallback>
  </mc:AlternateContent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64E37B-C611-FB0B-810E-51FE0177F2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Rounded Rectangle 1">
                <a:extLst>
                  <a:ext uri="{FF2B5EF4-FFF2-40B4-BE49-F238E27FC236}">
                    <a16:creationId xmlns:a16="http://schemas.microsoft.com/office/drawing/2014/main" id="{B002666F-CD44-E2E7-CA83-C4B1A3D83EF8}"/>
                  </a:ext>
                </a:extLst>
              </p:cNvPr>
              <p:cNvSpPr/>
              <p:nvPr/>
            </p:nvSpPr>
            <p:spPr>
              <a:xfrm>
                <a:off x="852734" y="627636"/>
                <a:ext cx="9543957" cy="10884535"/>
              </a:xfrm>
              <a:prstGeom prst="roundRect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 w="63500" cap="flat">
                <a:solidFill>
                  <a:schemeClr val="tx1"/>
                </a:solidFill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50800" tIns="50800" rIns="50800" bIns="50800" numCol="1" spcCol="38100" rtlCol="0" anchor="ctr">
                <a:spAutoFit/>
              </a:bodyPr>
              <a:lstStyle/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#include </a:t>
                </a:r>
                <a:r>
                  <a:rPr lang="en-IN" sz="28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&lt;</a:t>
                </a:r>
                <a:r>
                  <a:rPr lang="en-IN" sz="2800" dirty="0" err="1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stdio.h</a:t>
                </a:r>
                <a:r>
                  <a:rPr lang="en-IN" sz="28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&gt;</a:t>
                </a:r>
                <a:b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</a:br>
                <a:b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</a:br>
                <a:r>
                  <a:rPr lang="en-IN" sz="28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int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IN" sz="28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main</a:t>
                </a:r>
                <a:r>
                  <a:rPr lang="en-IN" sz="2800" dirty="0">
                    <a:solidFill>
                      <a:schemeClr val="accent4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()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{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US" sz="28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 int</a:t>
                </a:r>
                <a:r>
                  <a:rPr lang="en-US" sz="28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800" i="1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,</a:t>
                </a:r>
                <a14:m>
                  <m:oMath xmlns:m="http://schemas.openxmlformats.org/officeDocument/2006/math">
                    <m:r>
                      <a:rPr lang="en-US" sz="2800" i="1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,</a:t>
                </a:r>
                <a14:m>
                  <m:oMath xmlns:m="http://schemas.openxmlformats.org/officeDocument/2006/math">
                    <m:r>
                      <a:rPr lang="en-IN" sz="28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</a:t>
                </a:r>
                <a:r>
                  <a:rPr lang="en-IN" sz="2800" dirty="0" err="1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scanf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(“%d”, &amp;</a:t>
                </a:r>
                <a14:m>
                  <m:oMath xmlns:m="http://schemas.openxmlformats.org/officeDocument/2006/math">
                    <m:r>
                      <a:rPr lang="en-IN" sz="28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);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int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IN" sz="2800" dirty="0" err="1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num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</a:t>
                </a:r>
                <a14:m>
                  <m:oMath xmlns:m="http://schemas.openxmlformats.org/officeDocument/2006/math">
                    <m:r>
                      <a:rPr lang="en-IN" sz="28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];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</a:t>
                </a:r>
                <a:r>
                  <a:rPr lang="en-IN" sz="28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for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</a:t>
                </a:r>
                <a14:m>
                  <m:oMath xmlns:m="http://schemas.openxmlformats.org/officeDocument/2006/math">
                    <m:r>
                      <a:rPr lang="en-US" sz="2800" i="1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=0 ; </a:t>
                </a:r>
                <a14:m>
                  <m:oMath xmlns:m="http://schemas.openxmlformats.org/officeDocument/2006/math">
                    <m:r>
                      <a:rPr lang="en-US" sz="2800" i="1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&lt; </a:t>
                </a:r>
                <a14:m>
                  <m:oMath xmlns:m="http://schemas.openxmlformats.org/officeDocument/2006/math">
                    <m:r>
                      <a:rPr lang="en-IN" sz="28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; </a:t>
                </a:r>
                <a14:m>
                  <m:oMath xmlns:m="http://schemas.openxmlformats.org/officeDocument/2006/math">
                    <m:r>
                      <a:rPr lang="en-US" sz="2800" i="1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++)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{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</a:t>
                </a:r>
                <a:r>
                  <a:rPr lang="en-IN" sz="2800" dirty="0" err="1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scanf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(“%d”, &amp;</a:t>
                </a:r>
                <a:r>
                  <a:rPr lang="en-IN" sz="2800" dirty="0" err="1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num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</a:t>
                </a:r>
                <a14:m>
                  <m:oMath xmlns:m="http://schemas.openxmlformats.org/officeDocument/2006/math">
                    <m:r>
                      <a:rPr lang="en-US" sz="2800" i="1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]);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for( </a:t>
                </a:r>
                <a14:m>
                  <m:oMath xmlns:m="http://schemas.openxmlformats.org/officeDocument/2006/math">
                    <m:r>
                      <a:rPr lang="en-IN" sz="2800" i="1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= </a:t>
                </a:r>
                <a14:m>
                  <m:oMath xmlns:m="http://schemas.openxmlformats.org/officeDocument/2006/math">
                    <m:r>
                      <a:rPr lang="en-US" sz="2800" i="1">
                        <a:ln w="0"/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effectLst>
                          <a:outerShdw blurRad="38100" dist="19050" dir="2700000" algn="tl" rotWithShape="0">
                            <a:schemeClr val="dk1">
                              <a:alpha val="40000"/>
                            </a:schemeClr>
                          </a:outerShdw>
                        </a:effectLst>
                        <a:latin typeface="Cambria Math" panose="02040503050406030204" pitchFamily="18" charset="0"/>
                        <a:ea typeface="Cambria Math" panose="02040503050406030204" pitchFamily="18" charset="0"/>
                        <a:cs typeface="Helvetica Neue Medium"/>
                        <a:sym typeface="Helvetica Neue Medium"/>
                      </a:rPr>
                      <m:t>𝑖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; </a:t>
                </a:r>
                <a14:m>
                  <m:oMath xmlns:m="http://schemas.openxmlformats.org/officeDocument/2006/math">
                    <m:r>
                      <a:rPr lang="en-IN" sz="28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&gt; 0; </a:t>
                </a:r>
                <a14:m>
                  <m:oMath xmlns:m="http://schemas.openxmlformats.org/officeDocument/2006/math">
                    <m:r>
                      <a:rPr lang="en-IN" sz="28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𝑗</m:t>
                    </m:r>
                    <m:r>
                      <a:rPr lang="en-IN" sz="28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--)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{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	</a:t>
                </a:r>
                <a:r>
                  <a:rPr lang="en-IN" sz="28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if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( </a:t>
                </a:r>
                <a:r>
                  <a:rPr lang="en-IN" sz="2800" dirty="0" err="1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num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</a:t>
                </a:r>
                <a14:m>
                  <m:oMath xmlns:m="http://schemas.openxmlformats.org/officeDocument/2006/math">
                    <m:r>
                      <a:rPr lang="en-IN" sz="2800" i="1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] &lt; </a:t>
                </a:r>
                <a:r>
                  <a:rPr lang="en-IN" sz="2800" dirty="0" err="1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num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</a:t>
                </a:r>
                <a14:m>
                  <m:oMath xmlns:m="http://schemas.openxmlformats.org/officeDocument/2006/math">
                    <m:r>
                      <a:rPr lang="en-IN" sz="28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𝑗</m:t>
                    </m:r>
                    <m:r>
                      <a:rPr lang="en-IN" sz="28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-1] )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	{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		</a:t>
                </a:r>
                <a:r>
                  <a:rPr lang="en-IN" sz="28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int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IN" sz="28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temp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= </a:t>
                </a:r>
                <a:r>
                  <a:rPr lang="en-IN" sz="2800" dirty="0" err="1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num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</a:t>
                </a:r>
                <a14:m>
                  <m:oMath xmlns:m="http://schemas.openxmlformats.org/officeDocument/2006/math">
                    <m:r>
                      <a:rPr lang="en-IN" sz="2800" i="1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];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		</a:t>
                </a:r>
                <a:r>
                  <a:rPr lang="en-IN" sz="2800" dirty="0" err="1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num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</a:t>
                </a:r>
                <a14:m>
                  <m:oMath xmlns:m="http://schemas.openxmlformats.org/officeDocument/2006/math">
                    <m:r>
                      <a:rPr lang="en-IN" sz="28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] = </a:t>
                </a:r>
                <a:r>
                  <a:rPr lang="en-IN" sz="2800" dirty="0" err="1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num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</a:t>
                </a:r>
                <a14:m>
                  <m:oMath xmlns:m="http://schemas.openxmlformats.org/officeDocument/2006/math">
                    <m:r>
                      <a:rPr lang="en-IN" sz="2800" i="1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𝑗</m:t>
                    </m:r>
                    <m:r>
                      <a:rPr lang="en-IN" sz="2800" i="1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-1];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		</a:t>
                </a:r>
                <a:r>
                  <a:rPr lang="en-IN" sz="2800" dirty="0" err="1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num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</a:t>
                </a:r>
                <a14:m>
                  <m:oMath xmlns:m="http://schemas.openxmlformats.org/officeDocument/2006/math">
                    <m:r>
                      <a:rPr lang="en-IN" sz="2800" i="1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𝑗</m:t>
                    </m:r>
                    <m:r>
                      <a:rPr lang="en-IN" sz="2800" i="1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-1] = </a:t>
                </a:r>
                <a:r>
                  <a:rPr lang="en-IN" sz="28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temp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;</a:t>
                </a:r>
                <a:endParaRPr lang="en-IN" sz="2800" dirty="0">
                  <a:solidFill>
                    <a:schemeClr val="accent1">
                      <a:lumMod val="40000"/>
                      <a:lumOff val="60000"/>
                    </a:schemeClr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	}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	</a:t>
                </a:r>
                <a:r>
                  <a:rPr lang="en-IN" sz="28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else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		</a:t>
                </a:r>
                <a:r>
                  <a:rPr lang="en-IN" sz="28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break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} 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}</a:t>
                </a:r>
                <a:b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</a:b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</a:t>
                </a:r>
                <a:r>
                  <a:rPr lang="en-IN" sz="28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return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0;</a:t>
                </a:r>
                <a:b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</a:b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}</a:t>
                </a:r>
                <a:endParaRPr lang="en-US" sz="2800" dirty="0">
                  <a:solidFill>
                    <a:schemeClr val="bg1"/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>
          <p:sp>
            <p:nvSpPr>
              <p:cNvPr id="2" name="Rounded Rectangle 1">
                <a:extLst>
                  <a:ext uri="{FF2B5EF4-FFF2-40B4-BE49-F238E27FC236}">
                    <a16:creationId xmlns:a16="http://schemas.microsoft.com/office/drawing/2014/main" id="{B002666F-CD44-E2E7-CA83-C4B1A3D83EF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2734" y="627636"/>
                <a:ext cx="9543957" cy="10884535"/>
              </a:xfrm>
              <a:prstGeom prst="roundRect">
                <a:avLst/>
              </a:prstGeom>
              <a:blipFill>
                <a:blip r:embed="rId2"/>
                <a:stretch>
                  <a:fillRect/>
                </a:stretch>
              </a:blipFill>
              <a:ln w="63500" cap="flat">
                <a:solidFill>
                  <a:schemeClr val="tx1"/>
                </a:solidFill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9436F2F4-28F6-772E-A314-F849BB0479E4}"/>
              </a:ext>
            </a:extLst>
          </p:cNvPr>
          <p:cNvSpPr/>
          <p:nvPr/>
        </p:nvSpPr>
        <p:spPr>
          <a:xfrm>
            <a:off x="10963279" y="1598114"/>
            <a:ext cx="12766516" cy="930751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dirty="0">
                <a:solidFill>
                  <a:schemeClr val="accent5">
                    <a:lumMod val="40000"/>
                    <a:lumOff val="60000"/>
                  </a:schemeClr>
                </a:solidFill>
                <a:latin typeface="Bradley Hand" pitchFamily="2" charset="77"/>
              </a:rPr>
              <a:t>What is the worst input for Insertion Sort?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40220547-02DB-3DE3-9847-86C45DE38112}"/>
              </a:ext>
            </a:extLst>
          </p:cNvPr>
          <p:cNvSpPr/>
          <p:nvPr/>
        </p:nvSpPr>
        <p:spPr>
          <a:xfrm>
            <a:off x="10963279" y="3171397"/>
            <a:ext cx="12766516" cy="1032907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accent3">
                    <a:lumMod val="40000"/>
                    <a:lumOff val="60000"/>
                  </a:schemeClr>
                </a:solidFill>
                <a:latin typeface="Bradley Hand" pitchFamily="2" charset="77"/>
              </a:rPr>
              <a:t>Reverse Sorted Array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6E32AD05-0E03-CDEA-45F4-B5D4930C15CB}"/>
              </a:ext>
            </a:extLst>
          </p:cNvPr>
          <p:cNvSpPr/>
          <p:nvPr/>
        </p:nvSpPr>
        <p:spPr>
          <a:xfrm>
            <a:off x="17795880" y="5403425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15</a:t>
            </a: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C9EFE6BF-F4BD-EF93-014A-D18A344B9B26}"/>
              </a:ext>
            </a:extLst>
          </p:cNvPr>
          <p:cNvSpPr/>
          <p:nvPr/>
        </p:nvSpPr>
        <p:spPr>
          <a:xfrm>
            <a:off x="19603466" y="5364328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54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5</a:t>
            </a: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93A9BA3D-ED52-C663-2A00-3BD0DDB4A067}"/>
              </a:ext>
            </a:extLst>
          </p:cNvPr>
          <p:cNvSpPr/>
          <p:nvPr/>
        </p:nvSpPr>
        <p:spPr>
          <a:xfrm>
            <a:off x="14180710" y="5403425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54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47</a:t>
            </a: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0C488D6E-22ED-A11C-307B-6004B1F6AF6D}"/>
              </a:ext>
            </a:extLst>
          </p:cNvPr>
          <p:cNvSpPr/>
          <p:nvPr/>
        </p:nvSpPr>
        <p:spPr>
          <a:xfrm>
            <a:off x="15988295" y="5379879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27</a:t>
            </a: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0" name="Right Brace 9">
            <a:extLst>
              <a:ext uri="{FF2B5EF4-FFF2-40B4-BE49-F238E27FC236}">
                <a16:creationId xmlns:a16="http://schemas.microsoft.com/office/drawing/2014/main" id="{9E6D8538-77C6-8518-B119-F8257E9D9AFE}"/>
              </a:ext>
            </a:extLst>
          </p:cNvPr>
          <p:cNvSpPr/>
          <p:nvPr/>
        </p:nvSpPr>
        <p:spPr>
          <a:xfrm>
            <a:off x="7695589" y="4772722"/>
            <a:ext cx="791485" cy="4508669"/>
          </a:xfrm>
          <a:prstGeom prst="rightBrace">
            <a:avLst/>
          </a:prstGeom>
          <a:noFill/>
          <a:ln w="127000" cap="flat">
            <a:solidFill>
              <a:schemeClr val="bg1"/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91439" tIns="45719" rIns="91439" bIns="45719" numCol="1" spcCol="38100" rtlCol="0" anchor="t">
            <a:noAutofit/>
          </a:bodyPr>
          <a:lstStyle/>
          <a:p>
            <a: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Rounded Rectangle 10">
                <a:extLst>
                  <a:ext uri="{FF2B5EF4-FFF2-40B4-BE49-F238E27FC236}">
                    <a16:creationId xmlns:a16="http://schemas.microsoft.com/office/drawing/2014/main" id="{83CB7DC2-CDDD-9262-2C7D-07A8E161979B}"/>
                  </a:ext>
                </a:extLst>
              </p:cNvPr>
              <p:cNvSpPr/>
              <p:nvPr/>
            </p:nvSpPr>
            <p:spPr>
              <a:xfrm>
                <a:off x="8740899" y="6510602"/>
                <a:ext cx="1698298" cy="1032907"/>
              </a:xfrm>
              <a:prstGeom prst="roundRect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 w="63500" cap="flat">
                <a:solidFill>
                  <a:schemeClr val="tx1"/>
                </a:solidFill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50800" tIns="50800" rIns="50800" bIns="50800" numCol="1" spcCol="38100" rtlCol="0" anchor="ctr">
                <a:spAutoFit/>
              </a:bodyPr>
              <a:lstStyle/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5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𝑛</m:t>
                      </m:r>
                    </m:oMath>
                  </m:oMathPara>
                </a14:m>
                <a:endParaRPr lang="en-US" sz="5400" dirty="0">
                  <a:solidFill>
                    <a:schemeClr val="bg1"/>
                  </a:solidFill>
                  <a:latin typeface="Bradley Hand" pitchFamily="2" charset="77"/>
                </a:endParaRPr>
              </a:p>
            </p:txBody>
          </p:sp>
        </mc:Choice>
        <mc:Fallback xmlns="">
          <p:sp>
            <p:nvSpPr>
              <p:cNvPr id="11" name="Rounded Rectangle 10">
                <a:extLst>
                  <a:ext uri="{FF2B5EF4-FFF2-40B4-BE49-F238E27FC236}">
                    <a16:creationId xmlns:a16="http://schemas.microsoft.com/office/drawing/2014/main" id="{83CB7DC2-CDDD-9262-2C7D-07A8E161979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40899" y="6510602"/>
                <a:ext cx="1698298" cy="1032907"/>
              </a:xfrm>
              <a:prstGeom prst="roundRect">
                <a:avLst/>
              </a:prstGeom>
              <a:blipFill>
                <a:blip r:embed="rId3"/>
                <a:stretch>
                  <a:fillRect/>
                </a:stretch>
              </a:blipFill>
              <a:ln w="63500" cap="flat">
                <a:solidFill>
                  <a:schemeClr val="tx1"/>
                </a:solidFill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D11D7935-EDE0-D787-ADBF-8D1FD089FA05}"/>
              </a:ext>
            </a:extLst>
          </p:cNvPr>
          <p:cNvSpPr/>
          <p:nvPr/>
        </p:nvSpPr>
        <p:spPr>
          <a:xfrm>
            <a:off x="10963279" y="7635453"/>
            <a:ext cx="12766516" cy="930751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dirty="0">
                <a:solidFill>
                  <a:schemeClr val="accent5">
                    <a:lumMod val="40000"/>
                    <a:lumOff val="60000"/>
                  </a:schemeClr>
                </a:solidFill>
                <a:latin typeface="Bradley Hand" pitchFamily="2" charset="77"/>
              </a:rPr>
              <a:t>Running Time of insertion sort on this input?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Rounded Rectangle 3">
                <a:extLst>
                  <a:ext uri="{FF2B5EF4-FFF2-40B4-BE49-F238E27FC236}">
                    <a16:creationId xmlns:a16="http://schemas.microsoft.com/office/drawing/2014/main" id="{3760D3E7-5218-AA8D-72FA-1B6DB71F5B65}"/>
                  </a:ext>
                </a:extLst>
              </p:cNvPr>
              <p:cNvSpPr/>
              <p:nvPr/>
            </p:nvSpPr>
            <p:spPr>
              <a:xfrm>
                <a:off x="10963279" y="8722745"/>
                <a:ext cx="12766516" cy="3518694"/>
              </a:xfrm>
              <a:prstGeom prst="roundRect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 w="63500" cap="flat">
                <a:solidFill>
                  <a:schemeClr val="tx1"/>
                </a:solidFill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50800" tIns="50800" rIns="50800" bIns="50800" numCol="1" spcCol="38100" rtlCol="0" anchor="ctr">
                <a:spAutoFit/>
              </a:bodyPr>
              <a:lstStyle/>
              <a:p>
                <a:pPr marL="685800" indent="-685800" defTabSz="825500">
                  <a:lnSpc>
                    <a:spcPct val="100000"/>
                  </a:lnSpc>
                  <a:spcBef>
                    <a:spcPts val="0"/>
                  </a:spcBef>
                  <a:buFont typeface="Arial" panose="020B0604020202020204" pitchFamily="34" charset="0"/>
                  <a:buChar char="•"/>
                </a:pPr>
                <a:r>
                  <a:rPr lang="en-US" sz="4000" dirty="0">
                    <a:solidFill>
                      <a:schemeClr val="bg1"/>
                    </a:solidFill>
                    <a:latin typeface="Bradley Hand" pitchFamily="2" charset="77"/>
                  </a:rPr>
                  <a:t>Outer for loop runs n times</a:t>
                </a:r>
              </a:p>
              <a:p>
                <a:pPr marL="685800" indent="-685800" defTabSz="825500">
                  <a:lnSpc>
                    <a:spcPct val="100000"/>
                  </a:lnSpc>
                  <a:spcBef>
                    <a:spcPts val="0"/>
                  </a:spcBef>
                  <a:buFont typeface="Arial" panose="020B0604020202020204" pitchFamily="34" charset="0"/>
                  <a:buChar char="•"/>
                </a:pPr>
                <a:r>
                  <a:rPr lang="en-US" sz="4000" dirty="0">
                    <a:solidFill>
                      <a:schemeClr val="bg1"/>
                    </a:solidFill>
                    <a:latin typeface="Bradley Hand" pitchFamily="2" charset="77"/>
                  </a:rPr>
                  <a:t>Each iteration takes O(n) time</a:t>
                </a:r>
              </a:p>
              <a:p>
                <a:pPr marL="685800" indent="-685800" defTabSz="825500">
                  <a:lnSpc>
                    <a:spcPct val="100000"/>
                  </a:lnSpc>
                  <a:spcBef>
                    <a:spcPts val="0"/>
                  </a:spcBef>
                  <a:buFont typeface="Arial" panose="020B0604020202020204" pitchFamily="34" charset="0"/>
                  <a:buChar char="•"/>
                </a:pPr>
                <a:r>
                  <a:rPr lang="en-US" sz="4000" dirty="0">
                    <a:solidFill>
                      <a:schemeClr val="bg1"/>
                    </a:solidFill>
                    <a:latin typeface="Bradley Hand" pitchFamily="2" charset="77"/>
                  </a:rPr>
                  <a:t>So, the running time is </a:t>
                </a:r>
                <a14:m>
                  <m:oMath xmlns:m="http://schemas.openxmlformats.org/officeDocument/2006/math">
                    <m:r>
                      <a:rPr lang="en-US" sz="40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d>
                      <m:dPr>
                        <m:ctrlPr>
                          <a:rPr lang="en-US" sz="40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sz="40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40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p>
                            <m:r>
                              <a:rPr lang="en-US" sz="40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d>
                  </m:oMath>
                </a14:m>
                <a:endParaRPr lang="en-US" sz="4000" dirty="0">
                  <a:solidFill>
                    <a:schemeClr val="bg1"/>
                  </a:solidFill>
                  <a:latin typeface="Bradley Hand" pitchFamily="2" charset="77"/>
                </a:endParaRPr>
              </a:p>
              <a:p>
                <a:pPr marL="685800" indent="-685800" defTabSz="825500">
                  <a:lnSpc>
                    <a:spcPct val="100000"/>
                  </a:lnSpc>
                  <a:spcBef>
                    <a:spcPts val="0"/>
                  </a:spcBef>
                  <a:buFont typeface="Arial" panose="020B0604020202020204" pitchFamily="34" charset="0"/>
                  <a:buChar char="•"/>
                </a:pPr>
                <a:r>
                  <a:rPr lang="en-US" sz="4000" dirty="0">
                    <a:solidFill>
                      <a:schemeClr val="bg1"/>
                    </a:solidFill>
                    <a:latin typeface="Bradley Hand" pitchFamily="2" charset="77"/>
                  </a:rPr>
                  <a:t>But our calculation is not tight as we replaced </a:t>
                </a:r>
                <a14:m>
                  <m:oMath xmlns:m="http://schemas.openxmlformats.org/officeDocument/2006/math">
                    <m:r>
                      <a:rPr lang="en-US" sz="40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US" sz="4000" dirty="0">
                    <a:solidFill>
                      <a:schemeClr val="bg1"/>
                    </a:solidFill>
                    <a:latin typeface="Bradley Hand" pitchFamily="2" charset="77"/>
                  </a:rPr>
                  <a:t> by </a:t>
                </a:r>
                <a14:m>
                  <m:oMath xmlns:m="http://schemas.openxmlformats.org/officeDocument/2006/math">
                    <m:r>
                      <a:rPr lang="en-US" sz="40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endParaRPr lang="en-US" sz="4000" dirty="0">
                  <a:solidFill>
                    <a:schemeClr val="bg1"/>
                  </a:solidFill>
                  <a:latin typeface="Bradley Hand" pitchFamily="2" charset="77"/>
                </a:endParaRPr>
              </a:p>
              <a:p>
                <a:pPr marL="685800" indent="-685800" defTabSz="825500">
                  <a:lnSpc>
                    <a:spcPct val="100000"/>
                  </a:lnSpc>
                  <a:spcBef>
                    <a:spcPts val="0"/>
                  </a:spcBef>
                  <a:buFont typeface="Arial" panose="020B0604020202020204" pitchFamily="34" charset="0"/>
                  <a:buChar char="•"/>
                </a:pPr>
                <a:r>
                  <a:rPr lang="en-US" sz="4000" dirty="0">
                    <a:solidFill>
                      <a:schemeClr val="accent5">
                        <a:lumMod val="40000"/>
                        <a:lumOff val="60000"/>
                      </a:schemeClr>
                    </a:solidFill>
                    <a:latin typeface="Bradley Hand" pitchFamily="2" charset="77"/>
                  </a:rPr>
                  <a:t>Can we do the calculation without replacing </a:t>
                </a:r>
                <a14:m>
                  <m:oMath xmlns:m="http://schemas.openxmlformats.org/officeDocument/2006/math">
                    <m:r>
                      <a:rPr lang="en-US" sz="4000" i="1" dirty="0" smtClean="0">
                        <a:solidFill>
                          <a:schemeClr val="accent5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US" sz="4000" dirty="0">
                    <a:solidFill>
                      <a:schemeClr val="accent5">
                        <a:lumMod val="40000"/>
                        <a:lumOff val="60000"/>
                      </a:schemeClr>
                    </a:solidFill>
                    <a:latin typeface="Bradley Hand" pitchFamily="2" charset="77"/>
                  </a:rPr>
                  <a:t> by </a:t>
                </a:r>
                <a14:m>
                  <m:oMath xmlns:m="http://schemas.openxmlformats.org/officeDocument/2006/math">
                    <m:r>
                      <a:rPr lang="en-US" sz="4000" i="1" dirty="0" smtClean="0">
                        <a:solidFill>
                          <a:schemeClr val="accent5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sz="4000" dirty="0">
                    <a:solidFill>
                      <a:schemeClr val="accent5">
                        <a:lumMod val="40000"/>
                        <a:lumOff val="60000"/>
                      </a:schemeClr>
                    </a:solidFill>
                    <a:latin typeface="Bradley Hand" pitchFamily="2" charset="77"/>
                  </a:rPr>
                  <a:t>?</a:t>
                </a:r>
              </a:p>
            </p:txBody>
          </p:sp>
        </mc:Choice>
        <mc:Fallback>
          <p:sp>
            <p:nvSpPr>
              <p:cNvPr id="4" name="Rounded Rectangle 3">
                <a:extLst>
                  <a:ext uri="{FF2B5EF4-FFF2-40B4-BE49-F238E27FC236}">
                    <a16:creationId xmlns:a16="http://schemas.microsoft.com/office/drawing/2014/main" id="{3760D3E7-5218-AA8D-72FA-1B6DB71F5B6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963279" y="8722745"/>
                <a:ext cx="12766516" cy="3518694"/>
              </a:xfrm>
              <a:prstGeom prst="roundRect">
                <a:avLst/>
              </a:prstGeom>
              <a:blipFill>
                <a:blip r:embed="rId4"/>
                <a:stretch>
                  <a:fillRect l="-198" b="-1413"/>
                </a:stretch>
              </a:blipFill>
              <a:ln w="63500" cap="flat">
                <a:solidFill>
                  <a:schemeClr val="tx1"/>
                </a:solidFill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263381591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Char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8BEAA5-4073-0A76-ED90-71B56B966A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Rounded Rectangle 1">
                <a:extLst>
                  <a:ext uri="{FF2B5EF4-FFF2-40B4-BE49-F238E27FC236}">
                    <a16:creationId xmlns:a16="http://schemas.microsoft.com/office/drawing/2014/main" id="{A29E80E3-F6D0-93FA-7B15-84F84AFFE2C9}"/>
                  </a:ext>
                </a:extLst>
              </p:cNvPr>
              <p:cNvSpPr/>
              <p:nvPr/>
            </p:nvSpPr>
            <p:spPr>
              <a:xfrm>
                <a:off x="852734" y="627636"/>
                <a:ext cx="9543957" cy="10884535"/>
              </a:xfrm>
              <a:prstGeom prst="roundRect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 w="63500" cap="flat">
                <a:solidFill>
                  <a:schemeClr val="tx1"/>
                </a:solidFill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50800" tIns="50800" rIns="50800" bIns="50800" numCol="1" spcCol="38100" rtlCol="0" anchor="ctr">
                <a:spAutoFit/>
              </a:bodyPr>
              <a:lstStyle/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#include </a:t>
                </a:r>
                <a:r>
                  <a:rPr lang="en-IN" sz="28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&lt;</a:t>
                </a:r>
                <a:r>
                  <a:rPr lang="en-IN" sz="2800" dirty="0" err="1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stdio.h</a:t>
                </a:r>
                <a:r>
                  <a:rPr lang="en-IN" sz="28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&gt;</a:t>
                </a:r>
                <a:b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</a:br>
                <a:b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</a:br>
                <a:r>
                  <a:rPr lang="en-IN" sz="28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int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IN" sz="28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main</a:t>
                </a:r>
                <a:r>
                  <a:rPr lang="en-IN" sz="2800" dirty="0">
                    <a:solidFill>
                      <a:schemeClr val="accent4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()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{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US" sz="28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 int</a:t>
                </a:r>
                <a:r>
                  <a:rPr lang="en-US" sz="28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800" i="1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,</a:t>
                </a:r>
                <a14:m>
                  <m:oMath xmlns:m="http://schemas.openxmlformats.org/officeDocument/2006/math">
                    <m:r>
                      <a:rPr lang="en-US" sz="2800" i="1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,</a:t>
                </a:r>
                <a14:m>
                  <m:oMath xmlns:m="http://schemas.openxmlformats.org/officeDocument/2006/math">
                    <m:r>
                      <a:rPr lang="en-IN" sz="28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</a:t>
                </a:r>
                <a:r>
                  <a:rPr lang="en-IN" sz="2800" dirty="0" err="1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scanf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(“%d”, &amp;</a:t>
                </a:r>
                <a14:m>
                  <m:oMath xmlns:m="http://schemas.openxmlformats.org/officeDocument/2006/math">
                    <m:r>
                      <a:rPr lang="en-IN" sz="28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);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int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IN" sz="2800" dirty="0" err="1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num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</a:t>
                </a:r>
                <a14:m>
                  <m:oMath xmlns:m="http://schemas.openxmlformats.org/officeDocument/2006/math">
                    <m:r>
                      <a:rPr lang="en-IN" sz="28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];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</a:t>
                </a:r>
                <a:r>
                  <a:rPr lang="en-IN" sz="28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for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</a:t>
                </a:r>
                <a14:m>
                  <m:oMath xmlns:m="http://schemas.openxmlformats.org/officeDocument/2006/math">
                    <m:r>
                      <a:rPr lang="en-US" sz="2800" i="1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=0 ; </a:t>
                </a:r>
                <a14:m>
                  <m:oMath xmlns:m="http://schemas.openxmlformats.org/officeDocument/2006/math">
                    <m:r>
                      <a:rPr lang="en-US" sz="2800" i="1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&lt; </a:t>
                </a:r>
                <a14:m>
                  <m:oMath xmlns:m="http://schemas.openxmlformats.org/officeDocument/2006/math">
                    <m:r>
                      <a:rPr lang="en-IN" sz="28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; </a:t>
                </a:r>
                <a14:m>
                  <m:oMath xmlns:m="http://schemas.openxmlformats.org/officeDocument/2006/math">
                    <m:r>
                      <a:rPr lang="en-US" sz="2800" i="1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++)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{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</a:t>
                </a:r>
                <a:r>
                  <a:rPr lang="en-IN" sz="2800" dirty="0" err="1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scanf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(“%d”, &amp;</a:t>
                </a:r>
                <a:r>
                  <a:rPr lang="en-IN" sz="2800" dirty="0" err="1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num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</a:t>
                </a:r>
                <a14:m>
                  <m:oMath xmlns:m="http://schemas.openxmlformats.org/officeDocument/2006/math">
                    <m:r>
                      <a:rPr lang="en-US" sz="2800" i="1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]);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for( </a:t>
                </a:r>
                <a14:m>
                  <m:oMath xmlns:m="http://schemas.openxmlformats.org/officeDocument/2006/math">
                    <m:r>
                      <a:rPr lang="en-IN" sz="2800" i="1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= </a:t>
                </a:r>
                <a14:m>
                  <m:oMath xmlns:m="http://schemas.openxmlformats.org/officeDocument/2006/math">
                    <m:r>
                      <a:rPr lang="en-US" sz="2800" i="1">
                        <a:ln w="0"/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effectLst>
                          <a:outerShdw blurRad="38100" dist="19050" dir="2700000" algn="tl" rotWithShape="0">
                            <a:schemeClr val="dk1">
                              <a:alpha val="40000"/>
                            </a:schemeClr>
                          </a:outerShdw>
                        </a:effectLst>
                        <a:latin typeface="Cambria Math" panose="02040503050406030204" pitchFamily="18" charset="0"/>
                        <a:ea typeface="Cambria Math" panose="02040503050406030204" pitchFamily="18" charset="0"/>
                        <a:cs typeface="Helvetica Neue Medium"/>
                        <a:sym typeface="Helvetica Neue Medium"/>
                      </a:rPr>
                      <m:t>𝑖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; </a:t>
                </a:r>
                <a14:m>
                  <m:oMath xmlns:m="http://schemas.openxmlformats.org/officeDocument/2006/math">
                    <m:r>
                      <a:rPr lang="en-IN" sz="28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&gt; 0; </a:t>
                </a:r>
                <a14:m>
                  <m:oMath xmlns:m="http://schemas.openxmlformats.org/officeDocument/2006/math">
                    <m:r>
                      <a:rPr lang="en-IN" sz="28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𝑗</m:t>
                    </m:r>
                    <m:r>
                      <a:rPr lang="en-IN" sz="28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--)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{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	</a:t>
                </a:r>
                <a:r>
                  <a:rPr lang="en-IN" sz="28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if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( </a:t>
                </a:r>
                <a:r>
                  <a:rPr lang="en-IN" sz="2800" dirty="0" err="1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num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</a:t>
                </a:r>
                <a14:m>
                  <m:oMath xmlns:m="http://schemas.openxmlformats.org/officeDocument/2006/math">
                    <m:r>
                      <a:rPr lang="en-IN" sz="2800" i="1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] &lt; </a:t>
                </a:r>
                <a:r>
                  <a:rPr lang="en-IN" sz="2800" dirty="0" err="1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num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</a:t>
                </a:r>
                <a14:m>
                  <m:oMath xmlns:m="http://schemas.openxmlformats.org/officeDocument/2006/math">
                    <m:r>
                      <a:rPr lang="en-IN" sz="28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𝑗</m:t>
                    </m:r>
                    <m:r>
                      <a:rPr lang="en-IN" sz="28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-1] )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	{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		</a:t>
                </a:r>
                <a:r>
                  <a:rPr lang="en-IN" sz="28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int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IN" sz="28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temp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= </a:t>
                </a:r>
                <a:r>
                  <a:rPr lang="en-IN" sz="2800" dirty="0" err="1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num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</a:t>
                </a:r>
                <a14:m>
                  <m:oMath xmlns:m="http://schemas.openxmlformats.org/officeDocument/2006/math">
                    <m:r>
                      <a:rPr lang="en-IN" sz="2800" i="1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];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		</a:t>
                </a:r>
                <a:r>
                  <a:rPr lang="en-IN" sz="2800" dirty="0" err="1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num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</a:t>
                </a:r>
                <a14:m>
                  <m:oMath xmlns:m="http://schemas.openxmlformats.org/officeDocument/2006/math">
                    <m:r>
                      <a:rPr lang="en-IN" sz="28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] = </a:t>
                </a:r>
                <a:r>
                  <a:rPr lang="en-IN" sz="2800" dirty="0" err="1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num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</a:t>
                </a:r>
                <a14:m>
                  <m:oMath xmlns:m="http://schemas.openxmlformats.org/officeDocument/2006/math">
                    <m:r>
                      <a:rPr lang="en-IN" sz="2800" i="1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𝑗</m:t>
                    </m:r>
                    <m:r>
                      <a:rPr lang="en-IN" sz="2800" i="1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-1];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		</a:t>
                </a:r>
                <a:r>
                  <a:rPr lang="en-IN" sz="2800" dirty="0" err="1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num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</a:t>
                </a:r>
                <a14:m>
                  <m:oMath xmlns:m="http://schemas.openxmlformats.org/officeDocument/2006/math">
                    <m:r>
                      <a:rPr lang="en-IN" sz="2800" i="1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𝑗</m:t>
                    </m:r>
                    <m:r>
                      <a:rPr lang="en-IN" sz="2800" i="1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-1] = </a:t>
                </a:r>
                <a:r>
                  <a:rPr lang="en-IN" sz="28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temp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;</a:t>
                </a:r>
                <a:endParaRPr lang="en-IN" sz="2800" dirty="0">
                  <a:solidFill>
                    <a:schemeClr val="accent1">
                      <a:lumMod val="40000"/>
                      <a:lumOff val="60000"/>
                    </a:schemeClr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	}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	</a:t>
                </a:r>
                <a:r>
                  <a:rPr lang="en-IN" sz="28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else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		</a:t>
                </a:r>
                <a:r>
                  <a:rPr lang="en-IN" sz="28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break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} 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}</a:t>
                </a:r>
                <a:b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</a:b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</a:t>
                </a:r>
                <a:r>
                  <a:rPr lang="en-IN" sz="28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return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0;</a:t>
                </a:r>
                <a:b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</a:b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}</a:t>
                </a:r>
                <a:endParaRPr lang="en-US" sz="2800" dirty="0">
                  <a:solidFill>
                    <a:schemeClr val="bg1"/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>
          <p:sp>
            <p:nvSpPr>
              <p:cNvPr id="2" name="Rounded Rectangle 1">
                <a:extLst>
                  <a:ext uri="{FF2B5EF4-FFF2-40B4-BE49-F238E27FC236}">
                    <a16:creationId xmlns:a16="http://schemas.microsoft.com/office/drawing/2014/main" id="{A29E80E3-F6D0-93FA-7B15-84F84AFFE2C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2734" y="627636"/>
                <a:ext cx="9543957" cy="10884535"/>
              </a:xfrm>
              <a:prstGeom prst="roundRect">
                <a:avLst/>
              </a:prstGeom>
              <a:blipFill>
                <a:blip r:embed="rId2"/>
                <a:stretch>
                  <a:fillRect/>
                </a:stretch>
              </a:blipFill>
              <a:ln w="63500" cap="flat">
                <a:solidFill>
                  <a:schemeClr val="tx1"/>
                </a:solidFill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CC808C47-745A-C32D-FA03-3703E98EB808}"/>
              </a:ext>
            </a:extLst>
          </p:cNvPr>
          <p:cNvSpPr/>
          <p:nvPr/>
        </p:nvSpPr>
        <p:spPr>
          <a:xfrm>
            <a:off x="10963279" y="1598114"/>
            <a:ext cx="12766516" cy="930751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dirty="0">
                <a:solidFill>
                  <a:schemeClr val="accent5">
                    <a:lumMod val="40000"/>
                    <a:lumOff val="60000"/>
                  </a:schemeClr>
                </a:solidFill>
                <a:latin typeface="Bradley Hand" pitchFamily="2" charset="77"/>
              </a:rPr>
              <a:t>What is the worst input for Insertion Sort?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2144D34F-C2C6-A9EC-F0BF-DDD10986C6BD}"/>
              </a:ext>
            </a:extLst>
          </p:cNvPr>
          <p:cNvSpPr/>
          <p:nvPr/>
        </p:nvSpPr>
        <p:spPr>
          <a:xfrm>
            <a:off x="10963279" y="3171397"/>
            <a:ext cx="12766516" cy="1032907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accent3">
                    <a:lumMod val="40000"/>
                    <a:lumOff val="60000"/>
                  </a:schemeClr>
                </a:solidFill>
                <a:latin typeface="Bradley Hand" pitchFamily="2" charset="77"/>
              </a:rPr>
              <a:t>Reverse Sorted Array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91A533B6-E2D6-A028-A833-64E6850FDD27}"/>
              </a:ext>
            </a:extLst>
          </p:cNvPr>
          <p:cNvSpPr/>
          <p:nvPr/>
        </p:nvSpPr>
        <p:spPr>
          <a:xfrm>
            <a:off x="17795880" y="5403425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15</a:t>
            </a: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051CFD8C-6BA0-F449-4FFC-18CBA3DD7379}"/>
              </a:ext>
            </a:extLst>
          </p:cNvPr>
          <p:cNvSpPr/>
          <p:nvPr/>
        </p:nvSpPr>
        <p:spPr>
          <a:xfrm>
            <a:off x="19603466" y="5364328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54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5</a:t>
            </a: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A7E29F8E-7D35-B4BE-F590-9A4805AB54D6}"/>
              </a:ext>
            </a:extLst>
          </p:cNvPr>
          <p:cNvSpPr/>
          <p:nvPr/>
        </p:nvSpPr>
        <p:spPr>
          <a:xfrm>
            <a:off x="14180710" y="5403425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54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47</a:t>
            </a: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B7212BAB-EBDE-41C8-6036-FA75A1CC9F29}"/>
              </a:ext>
            </a:extLst>
          </p:cNvPr>
          <p:cNvSpPr/>
          <p:nvPr/>
        </p:nvSpPr>
        <p:spPr>
          <a:xfrm>
            <a:off x="15988295" y="5379879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27</a:t>
            </a: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0" name="Right Brace 9">
            <a:extLst>
              <a:ext uri="{FF2B5EF4-FFF2-40B4-BE49-F238E27FC236}">
                <a16:creationId xmlns:a16="http://schemas.microsoft.com/office/drawing/2014/main" id="{C90FDC91-497B-8800-9C15-43A66951A658}"/>
              </a:ext>
            </a:extLst>
          </p:cNvPr>
          <p:cNvSpPr/>
          <p:nvPr/>
        </p:nvSpPr>
        <p:spPr>
          <a:xfrm>
            <a:off x="7695589" y="4772722"/>
            <a:ext cx="791485" cy="4508669"/>
          </a:xfrm>
          <a:prstGeom prst="rightBrace">
            <a:avLst/>
          </a:prstGeom>
          <a:noFill/>
          <a:ln w="127000" cap="flat">
            <a:solidFill>
              <a:schemeClr val="bg1"/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91439" tIns="45719" rIns="91439" bIns="45719" numCol="1" spcCol="38100" rtlCol="0" anchor="t">
            <a:noAutofit/>
          </a:bodyPr>
          <a:lstStyle/>
          <a:p>
            <a: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Rounded Rectangle 10">
                <a:extLst>
                  <a:ext uri="{FF2B5EF4-FFF2-40B4-BE49-F238E27FC236}">
                    <a16:creationId xmlns:a16="http://schemas.microsoft.com/office/drawing/2014/main" id="{E877EF32-B148-B48B-399C-AD480D4E4EC2}"/>
                  </a:ext>
                </a:extLst>
              </p:cNvPr>
              <p:cNvSpPr/>
              <p:nvPr/>
            </p:nvSpPr>
            <p:spPr>
              <a:xfrm>
                <a:off x="8740899" y="6510602"/>
                <a:ext cx="1698298" cy="1032907"/>
              </a:xfrm>
              <a:prstGeom prst="roundRect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 w="63500" cap="flat">
                <a:solidFill>
                  <a:schemeClr val="tx1"/>
                </a:solidFill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50800" tIns="50800" rIns="50800" bIns="50800" numCol="1" spcCol="38100" rtlCol="0" anchor="ctr">
                <a:spAutoFit/>
              </a:bodyPr>
              <a:lstStyle/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5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𝑖</m:t>
                      </m:r>
                    </m:oMath>
                  </m:oMathPara>
                </a14:m>
                <a:endParaRPr lang="en-US" sz="5400" dirty="0">
                  <a:solidFill>
                    <a:schemeClr val="bg1"/>
                  </a:solidFill>
                  <a:latin typeface="Bradley Hand" pitchFamily="2" charset="77"/>
                </a:endParaRPr>
              </a:p>
            </p:txBody>
          </p:sp>
        </mc:Choice>
        <mc:Fallback xmlns="">
          <p:sp>
            <p:nvSpPr>
              <p:cNvPr id="11" name="Rounded Rectangle 10">
                <a:extLst>
                  <a:ext uri="{FF2B5EF4-FFF2-40B4-BE49-F238E27FC236}">
                    <a16:creationId xmlns:a16="http://schemas.microsoft.com/office/drawing/2014/main" id="{E877EF32-B148-B48B-399C-AD480D4E4EC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40899" y="6510602"/>
                <a:ext cx="1698298" cy="1032907"/>
              </a:xfrm>
              <a:prstGeom prst="roundRect">
                <a:avLst/>
              </a:prstGeom>
              <a:blipFill>
                <a:blip r:embed="rId3"/>
                <a:stretch>
                  <a:fillRect/>
                </a:stretch>
              </a:blipFill>
              <a:ln w="63500" cap="flat">
                <a:solidFill>
                  <a:schemeClr val="tx1"/>
                </a:solidFill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77558721-E8A8-74DE-E9AE-F184E4EF8E78}"/>
              </a:ext>
            </a:extLst>
          </p:cNvPr>
          <p:cNvSpPr/>
          <p:nvPr/>
        </p:nvSpPr>
        <p:spPr>
          <a:xfrm>
            <a:off x="10963279" y="7635453"/>
            <a:ext cx="12766516" cy="930751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dirty="0">
                <a:solidFill>
                  <a:schemeClr val="accent5">
                    <a:lumMod val="40000"/>
                    <a:lumOff val="60000"/>
                  </a:schemeClr>
                </a:solidFill>
                <a:latin typeface="Bradley Hand" pitchFamily="2" charset="77"/>
              </a:rPr>
              <a:t>Running Time of insertion sort on this input?</a:t>
            </a:r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2A1CDBEA-77E2-68C2-35EC-5424130F8313}"/>
              </a:ext>
            </a:extLst>
          </p:cNvPr>
          <p:cNvSpPr/>
          <p:nvPr/>
        </p:nvSpPr>
        <p:spPr>
          <a:xfrm>
            <a:off x="10963279" y="9538313"/>
            <a:ext cx="3399492" cy="658336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3200" dirty="0">
                <a:solidFill>
                  <a:schemeClr val="bg1"/>
                </a:solidFill>
                <a:latin typeface="Bradley Hand" pitchFamily="2" charset="77"/>
              </a:rPr>
              <a:t>Running Time</a:t>
            </a:r>
            <a:endParaRPr lang="en-US" sz="3200" dirty="0">
              <a:solidFill>
                <a:schemeClr val="accent6">
                  <a:lumMod val="40000"/>
                  <a:lumOff val="60000"/>
                </a:schemeClr>
              </a:solidFill>
              <a:latin typeface="Bradley Hand" pitchFamily="2" charset="77"/>
            </a:endParaRPr>
          </a:p>
        </p:txBody>
      </p:sp>
      <p:sp>
        <p:nvSpPr>
          <p:cNvPr id="13" name="Equals 12">
            <a:extLst>
              <a:ext uri="{FF2B5EF4-FFF2-40B4-BE49-F238E27FC236}">
                <a16:creationId xmlns:a16="http://schemas.microsoft.com/office/drawing/2014/main" id="{119878D8-3465-5E18-DF75-A9260FE24A1D}"/>
              </a:ext>
            </a:extLst>
          </p:cNvPr>
          <p:cNvSpPr/>
          <p:nvPr/>
        </p:nvSpPr>
        <p:spPr>
          <a:xfrm>
            <a:off x="14638150" y="9680592"/>
            <a:ext cx="582417" cy="373777"/>
          </a:xfrm>
          <a:prstGeom prst="mathEqual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3200">
              <a:solidFill>
                <a:schemeClr val="bg1"/>
              </a:solidFill>
              <a:latin typeface="Bradley Hand" pitchFamily="2" charset="77"/>
              <a:sym typeface="Helvetica Neue Medium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26C73C12-F5D9-A2A9-B066-0971547D6C01}"/>
                  </a:ext>
                </a:extLst>
              </p:cNvPr>
              <p:cNvSpPr txBox="1"/>
              <p:nvPr/>
            </p:nvSpPr>
            <p:spPr>
              <a:xfrm>
                <a:off x="15387071" y="8882146"/>
                <a:ext cx="1828706" cy="1970668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none" lIns="50800" tIns="50800" rIns="50800" bIns="50800" numCol="1" spcCol="38100" rtlCol="0" anchor="ctr">
                <a:spAutoFit/>
              </a:bodyPr>
              <a:lstStyle/>
              <a:p>
                <a:pPr marL="0" marR="0" indent="0" algn="l" defTabSz="2438338" rtl="0" fontAlgn="auto" latinLnBrk="0" hangingPunct="0">
                  <a:lnSpc>
                    <a:spcPct val="90000"/>
                  </a:lnSpc>
                  <a:spcBef>
                    <a:spcPts val="45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ctrlPr>
                            <a:rPr kumimoji="0" lang="en-US" sz="48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chemeClr val="accent3">
                                  <a:lumMod val="40000"/>
                                  <a:lumOff val="60000"/>
                                </a:schemeClr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Helvetica Neue"/>
                            </a:rPr>
                          </m:ctrlPr>
                        </m:naryPr>
                        <m:sub>
                          <m:r>
                            <a:rPr kumimoji="0" lang="en-US" sz="48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chemeClr val="accent3">
                                  <a:lumMod val="40000"/>
                                  <a:lumOff val="60000"/>
                                </a:schemeClr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Helvetica Neue"/>
                            </a:rPr>
                            <m:t>𝑖</m:t>
                          </m:r>
                          <m:r>
                            <a:rPr kumimoji="0" lang="en-US" sz="48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chemeClr val="accent3">
                                  <a:lumMod val="40000"/>
                                  <a:lumOff val="60000"/>
                                </a:schemeClr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Helvetica Neue"/>
                            </a:rPr>
                            <m:t>=0</m:t>
                          </m:r>
                        </m:sub>
                        <m:sup>
                          <m:r>
                            <a:rPr kumimoji="0" lang="en-US" sz="48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chemeClr val="accent3">
                                  <a:lumMod val="40000"/>
                                  <a:lumOff val="60000"/>
                                </a:schemeClr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Helvetica Neue"/>
                            </a:rPr>
                            <m:t>𝑛</m:t>
                          </m:r>
                          <m:r>
                            <a:rPr kumimoji="0" lang="en-US" sz="48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chemeClr val="accent3">
                                  <a:lumMod val="40000"/>
                                  <a:lumOff val="60000"/>
                                </a:schemeClr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Helvetica Neue"/>
                            </a:rPr>
                            <m:t>−1</m:t>
                          </m:r>
                        </m:sup>
                        <m:e/>
                      </m:nary>
                    </m:oMath>
                  </m:oMathPara>
                </a14:m>
                <a:endParaRPr kumimoji="0" lang="en-US" sz="4800" b="0" i="0" u="none" strike="noStrike" cap="none" spc="0" normalizeH="0" baseline="0" dirty="0">
                  <a:ln>
                    <a:noFill/>
                  </a:ln>
                  <a:solidFill>
                    <a:schemeClr val="bg1"/>
                  </a:solidFill>
                  <a:effectLst/>
                  <a:uFillTx/>
                  <a:latin typeface="+mn-lt"/>
                  <a:ea typeface="+mn-ea"/>
                  <a:cs typeface="+mn-cs"/>
                  <a:sym typeface="Helvetica Neue"/>
                </a:endParaRPr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26C73C12-F5D9-A2A9-B066-0971547D6C0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387071" y="8882146"/>
                <a:ext cx="1828706" cy="1970668"/>
              </a:xfrm>
              <a:prstGeom prst="rect">
                <a:avLst/>
              </a:prstGeom>
              <a:blipFill>
                <a:blip r:embed="rId4"/>
                <a:stretch>
                  <a:fillRect l="-117241" t="-126282" r="-38621" b="-187179"/>
                </a:stretch>
              </a:blipFill>
              <a:ln w="12700" cap="flat">
                <a:noFill/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5715222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75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5" grpId="0"/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228427-3C78-6167-E5B4-543733CEC9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Rounded Rectangle 1">
                <a:extLst>
                  <a:ext uri="{FF2B5EF4-FFF2-40B4-BE49-F238E27FC236}">
                    <a16:creationId xmlns:a16="http://schemas.microsoft.com/office/drawing/2014/main" id="{E92F89C1-214D-E8A1-2267-547B6BC0D4A8}"/>
                  </a:ext>
                </a:extLst>
              </p:cNvPr>
              <p:cNvSpPr/>
              <p:nvPr/>
            </p:nvSpPr>
            <p:spPr>
              <a:xfrm>
                <a:off x="852734" y="627636"/>
                <a:ext cx="9543957" cy="10884535"/>
              </a:xfrm>
              <a:prstGeom prst="roundRect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 w="63500" cap="flat">
                <a:solidFill>
                  <a:schemeClr val="tx1"/>
                </a:solidFill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50800" tIns="50800" rIns="50800" bIns="50800" numCol="1" spcCol="38100" rtlCol="0" anchor="ctr">
                <a:spAutoFit/>
              </a:bodyPr>
              <a:lstStyle/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#include </a:t>
                </a:r>
                <a:r>
                  <a:rPr lang="en-IN" sz="28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&lt;</a:t>
                </a:r>
                <a:r>
                  <a:rPr lang="en-IN" sz="2800" dirty="0" err="1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stdio.h</a:t>
                </a:r>
                <a:r>
                  <a:rPr lang="en-IN" sz="28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&gt;</a:t>
                </a:r>
                <a:b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</a:br>
                <a:b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</a:br>
                <a:r>
                  <a:rPr lang="en-IN" sz="28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int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IN" sz="28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main</a:t>
                </a:r>
                <a:r>
                  <a:rPr lang="en-IN" sz="2800" dirty="0">
                    <a:solidFill>
                      <a:schemeClr val="accent4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()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{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US" sz="28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 int</a:t>
                </a:r>
                <a:r>
                  <a:rPr lang="en-US" sz="28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800" i="1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,</a:t>
                </a:r>
                <a14:m>
                  <m:oMath xmlns:m="http://schemas.openxmlformats.org/officeDocument/2006/math">
                    <m:r>
                      <a:rPr lang="en-US" sz="2800" i="1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,</a:t>
                </a:r>
                <a14:m>
                  <m:oMath xmlns:m="http://schemas.openxmlformats.org/officeDocument/2006/math">
                    <m:r>
                      <a:rPr lang="en-IN" sz="28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</a:t>
                </a:r>
                <a:r>
                  <a:rPr lang="en-IN" sz="2800" dirty="0" err="1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scanf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(“%d”, &amp;</a:t>
                </a:r>
                <a14:m>
                  <m:oMath xmlns:m="http://schemas.openxmlformats.org/officeDocument/2006/math">
                    <m:r>
                      <a:rPr lang="en-IN" sz="28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);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int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IN" sz="2800" dirty="0" err="1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num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</a:t>
                </a:r>
                <a14:m>
                  <m:oMath xmlns:m="http://schemas.openxmlformats.org/officeDocument/2006/math">
                    <m:r>
                      <a:rPr lang="en-IN" sz="28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];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accent3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for(</a:t>
                </a:r>
                <a14:m>
                  <m:oMath xmlns:m="http://schemas.openxmlformats.org/officeDocument/2006/math">
                    <m:r>
                      <a:rPr lang="en-US" sz="2800" i="1">
                        <a:solidFill>
                          <a:schemeClr val="accent3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IN" sz="2800" dirty="0">
                    <a:solidFill>
                      <a:schemeClr val="accent3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=0 ; </a:t>
                </a:r>
                <a14:m>
                  <m:oMath xmlns:m="http://schemas.openxmlformats.org/officeDocument/2006/math">
                    <m:r>
                      <a:rPr lang="en-US" sz="2800" i="1">
                        <a:solidFill>
                          <a:schemeClr val="accent3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IN" sz="2800" dirty="0">
                    <a:solidFill>
                      <a:schemeClr val="accent3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&lt; </a:t>
                </a:r>
                <a14:m>
                  <m:oMath xmlns:m="http://schemas.openxmlformats.org/officeDocument/2006/math">
                    <m:r>
                      <a:rPr lang="en-IN" sz="2800" i="1" dirty="0">
                        <a:solidFill>
                          <a:schemeClr val="accent3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IN" sz="2800" dirty="0">
                    <a:solidFill>
                      <a:schemeClr val="accent3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; </a:t>
                </a:r>
                <a14:m>
                  <m:oMath xmlns:m="http://schemas.openxmlformats.org/officeDocument/2006/math">
                    <m:r>
                      <a:rPr lang="en-US" sz="2800" i="1">
                        <a:solidFill>
                          <a:schemeClr val="accent3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IN" sz="2800" dirty="0">
                    <a:solidFill>
                      <a:schemeClr val="accent3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++)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{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</a:t>
                </a:r>
                <a:r>
                  <a:rPr lang="en-IN" sz="2800" dirty="0" err="1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scanf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(“%d”, &amp;</a:t>
                </a:r>
                <a:r>
                  <a:rPr lang="en-IN" sz="2800" dirty="0" err="1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num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</a:t>
                </a:r>
                <a14:m>
                  <m:oMath xmlns:m="http://schemas.openxmlformats.org/officeDocument/2006/math">
                    <m:r>
                      <a:rPr lang="en-US" sz="2800" i="1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]);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for( </a:t>
                </a:r>
                <a14:m>
                  <m:oMath xmlns:m="http://schemas.openxmlformats.org/officeDocument/2006/math">
                    <m:r>
                      <a:rPr lang="en-IN" sz="2800" i="1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= </a:t>
                </a:r>
                <a14:m>
                  <m:oMath xmlns:m="http://schemas.openxmlformats.org/officeDocument/2006/math">
                    <m:r>
                      <a:rPr lang="en-US" sz="2800" i="1">
                        <a:ln w="0"/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effectLst>
                          <a:outerShdw blurRad="38100" dist="19050" dir="2700000" algn="tl" rotWithShape="0">
                            <a:schemeClr val="dk1">
                              <a:alpha val="40000"/>
                            </a:schemeClr>
                          </a:outerShdw>
                        </a:effectLst>
                        <a:latin typeface="Cambria Math" panose="02040503050406030204" pitchFamily="18" charset="0"/>
                        <a:ea typeface="Cambria Math" panose="02040503050406030204" pitchFamily="18" charset="0"/>
                        <a:cs typeface="Helvetica Neue Medium"/>
                        <a:sym typeface="Helvetica Neue Medium"/>
                      </a:rPr>
                      <m:t>𝑖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; </a:t>
                </a:r>
                <a14:m>
                  <m:oMath xmlns:m="http://schemas.openxmlformats.org/officeDocument/2006/math">
                    <m:r>
                      <a:rPr lang="en-IN" sz="28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&gt; 0; </a:t>
                </a:r>
                <a14:m>
                  <m:oMath xmlns:m="http://schemas.openxmlformats.org/officeDocument/2006/math">
                    <m:r>
                      <a:rPr lang="en-IN" sz="28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𝑗</m:t>
                    </m:r>
                    <m:r>
                      <a:rPr lang="en-IN" sz="28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--)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{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	</a:t>
                </a:r>
                <a:r>
                  <a:rPr lang="en-IN" sz="28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if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( </a:t>
                </a:r>
                <a:r>
                  <a:rPr lang="en-IN" sz="2800" dirty="0" err="1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num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</a:t>
                </a:r>
                <a14:m>
                  <m:oMath xmlns:m="http://schemas.openxmlformats.org/officeDocument/2006/math">
                    <m:r>
                      <a:rPr lang="en-IN" sz="2800" i="1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] &lt; </a:t>
                </a:r>
                <a:r>
                  <a:rPr lang="en-IN" sz="2800" dirty="0" err="1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num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</a:t>
                </a:r>
                <a14:m>
                  <m:oMath xmlns:m="http://schemas.openxmlformats.org/officeDocument/2006/math">
                    <m:r>
                      <a:rPr lang="en-IN" sz="28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𝑗</m:t>
                    </m:r>
                    <m:r>
                      <a:rPr lang="en-IN" sz="28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-1] )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	{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		</a:t>
                </a:r>
                <a:r>
                  <a:rPr lang="en-IN" sz="28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int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IN" sz="28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temp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= </a:t>
                </a:r>
                <a:r>
                  <a:rPr lang="en-IN" sz="2800" dirty="0" err="1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num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</a:t>
                </a:r>
                <a14:m>
                  <m:oMath xmlns:m="http://schemas.openxmlformats.org/officeDocument/2006/math">
                    <m:r>
                      <a:rPr lang="en-IN" sz="2800" i="1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];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		</a:t>
                </a:r>
                <a:r>
                  <a:rPr lang="en-IN" sz="2800" dirty="0" err="1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num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</a:t>
                </a:r>
                <a14:m>
                  <m:oMath xmlns:m="http://schemas.openxmlformats.org/officeDocument/2006/math">
                    <m:r>
                      <a:rPr lang="en-IN" sz="28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] = </a:t>
                </a:r>
                <a:r>
                  <a:rPr lang="en-IN" sz="2800" dirty="0" err="1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num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</a:t>
                </a:r>
                <a14:m>
                  <m:oMath xmlns:m="http://schemas.openxmlformats.org/officeDocument/2006/math">
                    <m:r>
                      <a:rPr lang="en-IN" sz="2800" i="1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𝑗</m:t>
                    </m:r>
                    <m:r>
                      <a:rPr lang="en-IN" sz="2800" i="1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-1];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		</a:t>
                </a:r>
                <a:r>
                  <a:rPr lang="en-IN" sz="2800" dirty="0" err="1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num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</a:t>
                </a:r>
                <a14:m>
                  <m:oMath xmlns:m="http://schemas.openxmlformats.org/officeDocument/2006/math">
                    <m:r>
                      <a:rPr lang="en-IN" sz="2800" i="1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𝑗</m:t>
                    </m:r>
                    <m:r>
                      <a:rPr lang="en-IN" sz="2800" i="1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-1] = </a:t>
                </a:r>
                <a:r>
                  <a:rPr lang="en-IN" sz="28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temp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;</a:t>
                </a:r>
                <a:endParaRPr lang="en-IN" sz="2800" dirty="0">
                  <a:solidFill>
                    <a:schemeClr val="accent1">
                      <a:lumMod val="40000"/>
                      <a:lumOff val="60000"/>
                    </a:schemeClr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	}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	</a:t>
                </a:r>
                <a:r>
                  <a:rPr lang="en-IN" sz="28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else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		</a:t>
                </a:r>
                <a:r>
                  <a:rPr lang="en-IN" sz="28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break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} 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}</a:t>
                </a:r>
                <a:b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</a:b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</a:t>
                </a:r>
                <a:r>
                  <a:rPr lang="en-IN" sz="28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return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0;</a:t>
                </a:r>
                <a:b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</a:b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}</a:t>
                </a:r>
                <a:endParaRPr lang="en-US" sz="2800" dirty="0">
                  <a:solidFill>
                    <a:schemeClr val="bg1"/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>
          <p:sp>
            <p:nvSpPr>
              <p:cNvPr id="2" name="Rounded Rectangle 1">
                <a:extLst>
                  <a:ext uri="{FF2B5EF4-FFF2-40B4-BE49-F238E27FC236}">
                    <a16:creationId xmlns:a16="http://schemas.microsoft.com/office/drawing/2014/main" id="{E92F89C1-214D-E8A1-2267-547B6BC0D4A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2734" y="627636"/>
                <a:ext cx="9543957" cy="10884535"/>
              </a:xfrm>
              <a:prstGeom prst="roundRect">
                <a:avLst/>
              </a:prstGeom>
              <a:blipFill>
                <a:blip r:embed="rId2"/>
                <a:stretch>
                  <a:fillRect/>
                </a:stretch>
              </a:blipFill>
              <a:ln w="63500" cap="flat">
                <a:solidFill>
                  <a:schemeClr val="tx1"/>
                </a:solidFill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7B976C65-CBAD-8E83-8016-B733B2C874E6}"/>
              </a:ext>
            </a:extLst>
          </p:cNvPr>
          <p:cNvSpPr/>
          <p:nvPr/>
        </p:nvSpPr>
        <p:spPr>
          <a:xfrm>
            <a:off x="10963279" y="1598114"/>
            <a:ext cx="12766516" cy="930751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dirty="0">
                <a:solidFill>
                  <a:schemeClr val="accent5">
                    <a:lumMod val="40000"/>
                    <a:lumOff val="60000"/>
                  </a:schemeClr>
                </a:solidFill>
                <a:latin typeface="Bradley Hand" pitchFamily="2" charset="77"/>
              </a:rPr>
              <a:t>What is the worst input for Insertion Sort?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889A4473-B28B-8FF3-7325-614B0A714D7C}"/>
              </a:ext>
            </a:extLst>
          </p:cNvPr>
          <p:cNvSpPr/>
          <p:nvPr/>
        </p:nvSpPr>
        <p:spPr>
          <a:xfrm>
            <a:off x="10963279" y="3171397"/>
            <a:ext cx="12766516" cy="1032907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accent3">
                    <a:lumMod val="40000"/>
                    <a:lumOff val="60000"/>
                  </a:schemeClr>
                </a:solidFill>
                <a:latin typeface="Bradley Hand" pitchFamily="2" charset="77"/>
              </a:rPr>
              <a:t>Reverse Sorted Array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D302B8BF-38BB-9168-ADF8-2E6E5D6722EE}"/>
              </a:ext>
            </a:extLst>
          </p:cNvPr>
          <p:cNvSpPr/>
          <p:nvPr/>
        </p:nvSpPr>
        <p:spPr>
          <a:xfrm>
            <a:off x="17795880" y="5403425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15</a:t>
            </a: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F3D54976-3391-B816-C245-7ACE8DBCE182}"/>
              </a:ext>
            </a:extLst>
          </p:cNvPr>
          <p:cNvSpPr/>
          <p:nvPr/>
        </p:nvSpPr>
        <p:spPr>
          <a:xfrm>
            <a:off x="19603466" y="5364328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54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5</a:t>
            </a: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3134BFCB-1A7A-7EE7-BAAC-921AF87E7F08}"/>
              </a:ext>
            </a:extLst>
          </p:cNvPr>
          <p:cNvSpPr/>
          <p:nvPr/>
        </p:nvSpPr>
        <p:spPr>
          <a:xfrm>
            <a:off x="14180710" y="5403425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54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47</a:t>
            </a: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4EFA8510-8712-5E24-D853-26366A19F0BE}"/>
              </a:ext>
            </a:extLst>
          </p:cNvPr>
          <p:cNvSpPr/>
          <p:nvPr/>
        </p:nvSpPr>
        <p:spPr>
          <a:xfrm>
            <a:off x="15988295" y="5379879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27</a:t>
            </a: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0" name="Right Brace 9">
            <a:extLst>
              <a:ext uri="{FF2B5EF4-FFF2-40B4-BE49-F238E27FC236}">
                <a16:creationId xmlns:a16="http://schemas.microsoft.com/office/drawing/2014/main" id="{00257E0C-C6D0-6D2A-99DF-1BC9ED26A8CC}"/>
              </a:ext>
            </a:extLst>
          </p:cNvPr>
          <p:cNvSpPr/>
          <p:nvPr/>
        </p:nvSpPr>
        <p:spPr>
          <a:xfrm>
            <a:off x="7695589" y="4772722"/>
            <a:ext cx="791485" cy="4508669"/>
          </a:xfrm>
          <a:prstGeom prst="rightBrace">
            <a:avLst/>
          </a:prstGeom>
          <a:noFill/>
          <a:ln w="1270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91439" tIns="45719" rIns="91439" bIns="45719" numCol="1" spcCol="38100" rtlCol="0" anchor="t">
            <a:noAutofit/>
          </a:bodyPr>
          <a:lstStyle/>
          <a:p>
            <a: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Rounded Rectangle 10">
                <a:extLst>
                  <a:ext uri="{FF2B5EF4-FFF2-40B4-BE49-F238E27FC236}">
                    <a16:creationId xmlns:a16="http://schemas.microsoft.com/office/drawing/2014/main" id="{72630961-B06E-E164-34B5-AD4CCB49D79A}"/>
                  </a:ext>
                </a:extLst>
              </p:cNvPr>
              <p:cNvSpPr/>
              <p:nvPr/>
            </p:nvSpPr>
            <p:spPr>
              <a:xfrm>
                <a:off x="8740899" y="6510602"/>
                <a:ext cx="1698298" cy="1032907"/>
              </a:xfrm>
              <a:prstGeom prst="roundRect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 w="63500" cap="flat">
                <a:solidFill>
                  <a:schemeClr val="accent4">
                    <a:lumMod val="40000"/>
                    <a:lumOff val="60000"/>
                  </a:schemeClr>
                </a:solidFill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50800" tIns="50800" rIns="50800" bIns="50800" numCol="1" spcCol="38100" rtlCol="0" anchor="ctr">
                <a:spAutoFit/>
              </a:bodyPr>
              <a:lstStyle/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5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𝑖</m:t>
                      </m:r>
                    </m:oMath>
                  </m:oMathPara>
                </a14:m>
                <a:endParaRPr lang="en-US" sz="5400" dirty="0">
                  <a:solidFill>
                    <a:schemeClr val="bg1"/>
                  </a:solidFill>
                  <a:latin typeface="Bradley Hand" pitchFamily="2" charset="77"/>
                </a:endParaRPr>
              </a:p>
            </p:txBody>
          </p:sp>
        </mc:Choice>
        <mc:Fallback xmlns="">
          <p:sp>
            <p:nvSpPr>
              <p:cNvPr id="11" name="Rounded Rectangle 10">
                <a:extLst>
                  <a:ext uri="{FF2B5EF4-FFF2-40B4-BE49-F238E27FC236}">
                    <a16:creationId xmlns:a16="http://schemas.microsoft.com/office/drawing/2014/main" id="{72630961-B06E-E164-34B5-AD4CCB49D79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40899" y="6510602"/>
                <a:ext cx="1698298" cy="1032907"/>
              </a:xfrm>
              <a:prstGeom prst="roundRect">
                <a:avLst/>
              </a:prstGeom>
              <a:blipFill>
                <a:blip r:embed="rId3"/>
                <a:stretch>
                  <a:fillRect/>
                </a:stretch>
              </a:blipFill>
              <a:ln w="63500" cap="flat">
                <a:solidFill>
                  <a:schemeClr val="accent4">
                    <a:lumMod val="40000"/>
                    <a:lumOff val="60000"/>
                  </a:schemeClr>
                </a:solidFill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91F0D5A2-C3ED-B662-0F2C-1AF489EF8971}"/>
              </a:ext>
            </a:extLst>
          </p:cNvPr>
          <p:cNvSpPr/>
          <p:nvPr/>
        </p:nvSpPr>
        <p:spPr>
          <a:xfrm>
            <a:off x="10963279" y="7635453"/>
            <a:ext cx="12766516" cy="930751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dirty="0">
                <a:solidFill>
                  <a:schemeClr val="accent5">
                    <a:lumMod val="40000"/>
                    <a:lumOff val="60000"/>
                  </a:schemeClr>
                </a:solidFill>
                <a:latin typeface="Bradley Hand" pitchFamily="2" charset="77"/>
              </a:rPr>
              <a:t>Running Time of insertion sort on this input?</a:t>
            </a:r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6993897D-9A72-23B0-CD85-743E7751F84C}"/>
              </a:ext>
            </a:extLst>
          </p:cNvPr>
          <p:cNvSpPr/>
          <p:nvPr/>
        </p:nvSpPr>
        <p:spPr>
          <a:xfrm>
            <a:off x="10963279" y="9538313"/>
            <a:ext cx="3399492" cy="658336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3200" dirty="0">
                <a:solidFill>
                  <a:schemeClr val="bg1"/>
                </a:solidFill>
                <a:latin typeface="Bradley Hand" pitchFamily="2" charset="77"/>
              </a:rPr>
              <a:t>Running Time</a:t>
            </a:r>
            <a:endParaRPr lang="en-US" sz="3200" dirty="0">
              <a:solidFill>
                <a:schemeClr val="accent6">
                  <a:lumMod val="40000"/>
                  <a:lumOff val="60000"/>
                </a:schemeClr>
              </a:solidFill>
              <a:latin typeface="Bradley Hand" pitchFamily="2" charset="77"/>
            </a:endParaRPr>
          </a:p>
        </p:txBody>
      </p:sp>
      <p:sp>
        <p:nvSpPr>
          <p:cNvPr id="13" name="Equals 12">
            <a:extLst>
              <a:ext uri="{FF2B5EF4-FFF2-40B4-BE49-F238E27FC236}">
                <a16:creationId xmlns:a16="http://schemas.microsoft.com/office/drawing/2014/main" id="{2686BC77-F9D1-5C51-00F3-B5D85ADD0A05}"/>
              </a:ext>
            </a:extLst>
          </p:cNvPr>
          <p:cNvSpPr/>
          <p:nvPr/>
        </p:nvSpPr>
        <p:spPr>
          <a:xfrm>
            <a:off x="14638150" y="9680592"/>
            <a:ext cx="582417" cy="373777"/>
          </a:xfrm>
          <a:prstGeom prst="mathEqual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3200">
              <a:solidFill>
                <a:schemeClr val="bg1"/>
              </a:solidFill>
              <a:latin typeface="Bradley Hand" pitchFamily="2" charset="77"/>
              <a:sym typeface="Helvetica Neue Medium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5B478FBD-EE78-F282-0B4F-966E5E11A249}"/>
                  </a:ext>
                </a:extLst>
              </p:cNvPr>
              <p:cNvSpPr txBox="1"/>
              <p:nvPr/>
            </p:nvSpPr>
            <p:spPr>
              <a:xfrm>
                <a:off x="15387071" y="8882146"/>
                <a:ext cx="1477969" cy="1970668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none" lIns="50800" tIns="50800" rIns="50800" bIns="50800" numCol="1" spcCol="38100" rtlCol="0" anchor="ctr">
                <a:spAutoFit/>
              </a:bodyPr>
              <a:lstStyle/>
              <a:p>
                <a:pPr marL="0" marR="0" indent="0" algn="l" defTabSz="2438338" rtl="0" fontAlgn="auto" latinLnBrk="0" hangingPunct="0">
                  <a:lnSpc>
                    <a:spcPct val="90000"/>
                  </a:lnSpc>
                  <a:spcBef>
                    <a:spcPts val="45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ctrlPr>
                            <a:rPr kumimoji="0" lang="en-US" sz="48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chemeClr val="accent3">
                                  <a:lumMod val="40000"/>
                                  <a:lumOff val="60000"/>
                                </a:schemeClr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Helvetica Neue"/>
                            </a:rPr>
                          </m:ctrlPr>
                        </m:naryPr>
                        <m:sub>
                          <m:r>
                            <a:rPr kumimoji="0" lang="en-US" sz="48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chemeClr val="accent3">
                                  <a:lumMod val="40000"/>
                                  <a:lumOff val="60000"/>
                                </a:schemeClr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Helvetica Neue"/>
                            </a:rPr>
                            <m:t>𝑖</m:t>
                          </m:r>
                          <m:r>
                            <a:rPr kumimoji="0" lang="en-US" sz="48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chemeClr val="accent3">
                                  <a:lumMod val="40000"/>
                                  <a:lumOff val="60000"/>
                                </a:schemeClr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Helvetica Neue"/>
                            </a:rPr>
                            <m:t>=0</m:t>
                          </m:r>
                        </m:sub>
                        <m:sup>
                          <m:r>
                            <a:rPr kumimoji="0" lang="en-US" sz="48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chemeClr val="accent3">
                                  <a:lumMod val="40000"/>
                                  <a:lumOff val="60000"/>
                                </a:schemeClr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Helvetica Neue"/>
                            </a:rPr>
                            <m:t>𝑛</m:t>
                          </m:r>
                          <m:r>
                            <a:rPr kumimoji="0" lang="en-US" sz="48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chemeClr val="accent3">
                                  <a:lumMod val="40000"/>
                                  <a:lumOff val="60000"/>
                                </a:schemeClr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Helvetica Neue"/>
                            </a:rPr>
                            <m:t>−1</m:t>
                          </m:r>
                        </m:sup>
                        <m:e>
                          <m:r>
                            <a:rPr kumimoji="0" lang="en-US" sz="48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chemeClr val="accent4">
                                  <a:lumMod val="40000"/>
                                  <a:lumOff val="60000"/>
                                </a:schemeClr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Helvetica Neue"/>
                            </a:rPr>
                            <m:t>𝑖</m:t>
                          </m:r>
                        </m:e>
                      </m:nary>
                    </m:oMath>
                  </m:oMathPara>
                </a14:m>
                <a:endParaRPr kumimoji="0" lang="en-US" sz="4800" b="0" i="0" u="none" strike="noStrike" cap="none" spc="0" normalizeH="0" baseline="0" dirty="0">
                  <a:ln>
                    <a:noFill/>
                  </a:ln>
                  <a:solidFill>
                    <a:schemeClr val="bg1"/>
                  </a:solidFill>
                  <a:effectLst/>
                  <a:uFillTx/>
                  <a:latin typeface="+mn-lt"/>
                  <a:ea typeface="+mn-ea"/>
                  <a:cs typeface="+mn-cs"/>
                  <a:sym typeface="Helvetica Neue"/>
                </a:endParaRPr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5B478FBD-EE78-F282-0B4F-966E5E11A24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387071" y="8882146"/>
                <a:ext cx="1477969" cy="1970668"/>
              </a:xfrm>
              <a:prstGeom prst="rect">
                <a:avLst/>
              </a:prstGeom>
              <a:blipFill>
                <a:blip r:embed="rId4"/>
                <a:stretch>
                  <a:fillRect l="-144068" t="-126282" r="-70339" b="-187179"/>
                </a:stretch>
              </a:blipFill>
              <a:ln w="12700" cap="flat">
                <a:noFill/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Equals 3">
            <a:extLst>
              <a:ext uri="{FF2B5EF4-FFF2-40B4-BE49-F238E27FC236}">
                <a16:creationId xmlns:a16="http://schemas.microsoft.com/office/drawing/2014/main" id="{190CD3AC-470E-D683-3BB3-9B0C135C930E}"/>
              </a:ext>
            </a:extLst>
          </p:cNvPr>
          <p:cNvSpPr/>
          <p:nvPr/>
        </p:nvSpPr>
        <p:spPr>
          <a:xfrm>
            <a:off x="17246475" y="9680592"/>
            <a:ext cx="582417" cy="373777"/>
          </a:xfrm>
          <a:prstGeom prst="mathEqual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3200">
              <a:solidFill>
                <a:schemeClr val="bg1"/>
              </a:solidFill>
              <a:latin typeface="Bradley Hand" pitchFamily="2" charset="77"/>
              <a:sym typeface="Helvetica Neue Medium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641569A1-57EF-9F4C-BAED-79ED8CDDAA81}"/>
                  </a:ext>
                </a:extLst>
              </p:cNvPr>
              <p:cNvSpPr txBox="1"/>
              <p:nvPr/>
            </p:nvSpPr>
            <p:spPr>
              <a:xfrm>
                <a:off x="17995396" y="9185243"/>
                <a:ext cx="2585260" cy="1364476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none" lIns="50800" tIns="50800" rIns="50800" bIns="50800" numCol="1" spcCol="38100" rtlCol="0" anchor="ctr">
                <a:spAutoFit/>
              </a:bodyPr>
              <a:lstStyle/>
              <a:p>
                <a:pPr marL="0" marR="0" indent="0" algn="l" defTabSz="2438338" rtl="0" fontAlgn="auto" latinLnBrk="0" hangingPunct="0">
                  <a:lnSpc>
                    <a:spcPct val="90000"/>
                  </a:lnSpc>
                  <a:spcBef>
                    <a:spcPts val="45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kumimoji="0" lang="en-US" sz="48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chemeClr val="bg1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Helvetica Neue"/>
                            </a:rPr>
                          </m:ctrlPr>
                        </m:fPr>
                        <m:num>
                          <m:r>
                            <a:rPr kumimoji="0" lang="en-US" sz="48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chemeClr val="bg1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Helvetica Neue"/>
                            </a:rPr>
                            <m:t>𝑛</m:t>
                          </m:r>
                          <m:r>
                            <a:rPr kumimoji="0" lang="en-US" sz="48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chemeClr val="bg1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Helvetica Neue"/>
                            </a:rPr>
                            <m:t>(</m:t>
                          </m:r>
                          <m:r>
                            <a:rPr kumimoji="0" lang="en-US" sz="48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chemeClr val="bg1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Helvetica Neue"/>
                            </a:rPr>
                            <m:t>𝑛</m:t>
                          </m:r>
                          <m:r>
                            <a:rPr kumimoji="0" lang="en-US" sz="48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chemeClr val="bg1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Helvetica Neue"/>
                            </a:rPr>
                            <m:t>−1)</m:t>
                          </m:r>
                        </m:num>
                        <m:den>
                          <m:r>
                            <a:rPr kumimoji="0" lang="en-US" sz="48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chemeClr val="bg1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Helvetica Neue"/>
                            </a:rPr>
                            <m:t>2</m:t>
                          </m:r>
                        </m:den>
                      </m:f>
                    </m:oMath>
                  </m:oMathPara>
                </a14:m>
                <a:endParaRPr kumimoji="0" lang="en-US" sz="4800" b="0" i="0" u="none" strike="noStrike" cap="none" spc="0" normalizeH="0" baseline="0" dirty="0">
                  <a:ln>
                    <a:noFill/>
                  </a:ln>
                  <a:solidFill>
                    <a:schemeClr val="bg1"/>
                  </a:solidFill>
                  <a:effectLst/>
                  <a:uFillTx/>
                  <a:latin typeface="+mn-lt"/>
                  <a:ea typeface="+mn-ea"/>
                  <a:cs typeface="+mn-cs"/>
                  <a:sym typeface="Helvetica Neue"/>
                </a:endParaRPr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641569A1-57EF-9F4C-BAED-79ED8CDDAA8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995396" y="9185243"/>
                <a:ext cx="2585260" cy="1364476"/>
              </a:xfrm>
              <a:prstGeom prst="rect">
                <a:avLst/>
              </a:prstGeom>
              <a:blipFill>
                <a:blip r:embed="rId5"/>
                <a:stretch>
                  <a:fillRect t="-8333" r="-5366" b="-13889"/>
                </a:stretch>
              </a:blipFill>
              <a:ln w="12700" cap="flat">
                <a:noFill/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" name="Equals 16">
            <a:extLst>
              <a:ext uri="{FF2B5EF4-FFF2-40B4-BE49-F238E27FC236}">
                <a16:creationId xmlns:a16="http://schemas.microsoft.com/office/drawing/2014/main" id="{B86D8A57-595F-0FED-92D5-6A6DF6015E2B}"/>
              </a:ext>
            </a:extLst>
          </p:cNvPr>
          <p:cNvSpPr/>
          <p:nvPr/>
        </p:nvSpPr>
        <p:spPr>
          <a:xfrm>
            <a:off x="17198105" y="11930997"/>
            <a:ext cx="582417" cy="373777"/>
          </a:xfrm>
          <a:prstGeom prst="mathEqual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3200">
              <a:solidFill>
                <a:schemeClr val="bg1"/>
              </a:solidFill>
              <a:latin typeface="Bradley Hand" pitchFamily="2" charset="77"/>
              <a:sym typeface="Helvetica Neue Medium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30A2AB46-E15B-A8DB-7727-77B1E6D01FEC}"/>
                  </a:ext>
                </a:extLst>
              </p:cNvPr>
              <p:cNvSpPr txBox="1"/>
              <p:nvPr/>
            </p:nvSpPr>
            <p:spPr>
              <a:xfrm>
                <a:off x="17947026" y="11734191"/>
                <a:ext cx="1864036" cy="767390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none" lIns="50800" tIns="50800" rIns="50800" bIns="50800" numCol="1" spcCol="38100" rtlCol="0" anchor="ctr">
                <a:spAutoFit/>
              </a:bodyPr>
              <a:lstStyle/>
              <a:p>
                <a:pPr marL="0" marR="0" indent="0" algn="l" defTabSz="2438338" rtl="0" fontAlgn="auto" latinLnBrk="0" hangingPunct="0">
                  <a:lnSpc>
                    <a:spcPct val="90000"/>
                  </a:lnSpc>
                  <a:spcBef>
                    <a:spcPts val="45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en-US" sz="4800" b="0" i="1" u="none" strike="noStrike" cap="none" spc="0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  <a:sym typeface="Helvetica Neue"/>
                        </a:rPr>
                        <m:t>𝑂</m:t>
                      </m:r>
                      <m:r>
                        <a:rPr kumimoji="0" lang="en-US" sz="4800" b="0" i="1" u="none" strike="noStrike" cap="none" spc="0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  <a:sym typeface="Helvetica Neue"/>
                        </a:rPr>
                        <m:t>(</m:t>
                      </m:r>
                      <m:sSup>
                        <m:sSupPr>
                          <m:ctrlPr>
                            <a:rPr kumimoji="0" lang="en-US" sz="48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chemeClr val="bg1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Helvetica Neue"/>
                            </a:rPr>
                          </m:ctrlPr>
                        </m:sSupPr>
                        <m:e>
                          <m:r>
                            <a:rPr kumimoji="0" lang="en-US" sz="48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chemeClr val="bg1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Helvetica Neue"/>
                            </a:rPr>
                            <m:t>𝑛</m:t>
                          </m:r>
                        </m:e>
                        <m:sup>
                          <m:r>
                            <a:rPr kumimoji="0" lang="en-US" sz="48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chemeClr val="bg1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Helvetica Neue"/>
                            </a:rPr>
                            <m:t>2</m:t>
                          </m:r>
                        </m:sup>
                      </m:sSup>
                      <m:r>
                        <a:rPr kumimoji="0" lang="en-US" sz="4800" b="0" i="1" u="none" strike="noStrike" cap="none" spc="0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  <a:sym typeface="Helvetica Neue"/>
                        </a:rPr>
                        <m:t>)</m:t>
                      </m:r>
                    </m:oMath>
                  </m:oMathPara>
                </a14:m>
                <a:endParaRPr kumimoji="0" lang="en-US" sz="4800" b="0" i="0" u="none" strike="noStrike" cap="none" spc="0" normalizeH="0" baseline="0" dirty="0">
                  <a:ln>
                    <a:noFill/>
                  </a:ln>
                  <a:solidFill>
                    <a:schemeClr val="bg1"/>
                  </a:solidFill>
                  <a:effectLst/>
                  <a:uFillTx/>
                  <a:latin typeface="+mn-lt"/>
                  <a:ea typeface="+mn-ea"/>
                  <a:cs typeface="+mn-cs"/>
                  <a:sym typeface="Helvetica Neue"/>
                </a:endParaRPr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30A2AB46-E15B-A8DB-7727-77B1E6D01FE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947026" y="11734191"/>
                <a:ext cx="1864036" cy="767390"/>
              </a:xfrm>
              <a:prstGeom prst="rect">
                <a:avLst/>
              </a:prstGeom>
              <a:blipFill>
                <a:blip r:embed="rId6"/>
                <a:stretch>
                  <a:fillRect l="-3401" t="-3279" r="-8163" b="-31148"/>
                </a:stretch>
              </a:blipFill>
              <a:ln w="12700" cap="flat">
                <a:noFill/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657276161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Char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16" grpId="0"/>
      <p:bldP spid="17" grpId="0" animBg="1"/>
      <p:bldP spid="18" grpId="0"/>
    </p:bld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DAB461D1-16FB-28B1-74D4-490869DE0F6E}"/>
              </a:ext>
            </a:extLst>
          </p:cNvPr>
          <p:cNvSpPr/>
          <p:nvPr/>
        </p:nvSpPr>
        <p:spPr>
          <a:xfrm>
            <a:off x="5432274" y="1078535"/>
            <a:ext cx="8818984" cy="930751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dirty="0">
                <a:solidFill>
                  <a:schemeClr val="bg1"/>
                </a:solidFill>
                <a:latin typeface="Bradley Hand" pitchFamily="2" charset="77"/>
              </a:rPr>
              <a:t>Worst Case Running Time</a:t>
            </a:r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1993F57A-3511-5AC1-2779-2680BD624C2C}"/>
              </a:ext>
            </a:extLst>
          </p:cNvPr>
          <p:cNvSpPr/>
          <p:nvPr/>
        </p:nvSpPr>
        <p:spPr>
          <a:xfrm>
            <a:off x="5432274" y="2591384"/>
            <a:ext cx="8818984" cy="930751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dirty="0">
                <a:solidFill>
                  <a:schemeClr val="bg1"/>
                </a:solidFill>
                <a:latin typeface="Bradley Hand" pitchFamily="2" charset="77"/>
              </a:rPr>
              <a:t>Best Case Running Time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Rounded Rectangle 3">
                <a:extLst>
                  <a:ext uri="{FF2B5EF4-FFF2-40B4-BE49-F238E27FC236}">
                    <a16:creationId xmlns:a16="http://schemas.microsoft.com/office/drawing/2014/main" id="{DAE5D035-E393-AD18-07C4-0FFFEF3DCA9A}"/>
                  </a:ext>
                </a:extLst>
              </p:cNvPr>
              <p:cNvSpPr/>
              <p:nvPr/>
            </p:nvSpPr>
            <p:spPr>
              <a:xfrm>
                <a:off x="15107815" y="1078534"/>
                <a:ext cx="4094585" cy="930751"/>
              </a:xfrm>
              <a:prstGeom prst="roundRect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 w="63500" cap="flat">
                <a:solidFill>
                  <a:schemeClr val="tx1"/>
                </a:solidFill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50800" tIns="50800" rIns="50800" bIns="50800" numCol="1" spcCol="38100" rtlCol="0" anchor="ctr">
                <a:spAutoFit/>
              </a:bodyPr>
              <a:lstStyle/>
              <a:p>
                <a:pPr algn="ctr" defTabSz="825500">
                  <a:lnSpc>
                    <a:spcPct val="100000"/>
                  </a:lnSpc>
                  <a:spcBef>
                    <a:spcPts val="0"/>
                  </a:spcBef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𝑂</m:t>
                      </m:r>
                      <m:r>
                        <a:rPr lang="en-US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sSup>
                        <m:sSupPr>
                          <m:ctrlP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  <m:sup>
                          <m: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dirty="0">
                  <a:solidFill>
                    <a:schemeClr val="bg1"/>
                  </a:solidFill>
                  <a:latin typeface="Bradley Hand" pitchFamily="2" charset="77"/>
                </a:endParaRPr>
              </a:p>
            </p:txBody>
          </p:sp>
        </mc:Choice>
        <mc:Fallback>
          <p:sp>
            <p:nvSpPr>
              <p:cNvPr id="4" name="Rounded Rectangle 3">
                <a:extLst>
                  <a:ext uri="{FF2B5EF4-FFF2-40B4-BE49-F238E27FC236}">
                    <a16:creationId xmlns:a16="http://schemas.microsoft.com/office/drawing/2014/main" id="{DAE5D035-E393-AD18-07C4-0FFFEF3DCA9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107815" y="1078534"/>
                <a:ext cx="4094585" cy="930751"/>
              </a:xfrm>
              <a:prstGeom prst="roundRect">
                <a:avLst/>
              </a:prstGeom>
              <a:blipFill>
                <a:blip r:embed="rId2"/>
                <a:stretch>
                  <a:fillRect b="-8861"/>
                </a:stretch>
              </a:blipFill>
              <a:ln w="63500" cap="flat">
                <a:solidFill>
                  <a:schemeClr val="tx1"/>
                </a:solidFill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" name="Rounded Rectangle 4">
                <a:extLst>
                  <a:ext uri="{FF2B5EF4-FFF2-40B4-BE49-F238E27FC236}">
                    <a16:creationId xmlns:a16="http://schemas.microsoft.com/office/drawing/2014/main" id="{AA0BB1B6-936F-54FE-0F1B-C3FE7FCADB24}"/>
                  </a:ext>
                </a:extLst>
              </p:cNvPr>
              <p:cNvSpPr/>
              <p:nvPr/>
            </p:nvSpPr>
            <p:spPr>
              <a:xfrm>
                <a:off x="15107815" y="2461870"/>
                <a:ext cx="4094585" cy="930751"/>
              </a:xfrm>
              <a:prstGeom prst="roundRect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 w="63500" cap="flat">
                <a:solidFill>
                  <a:schemeClr val="tx1"/>
                </a:solidFill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50800" tIns="50800" rIns="50800" bIns="50800" numCol="1" spcCol="38100" rtlCol="0" anchor="ctr">
                <a:spAutoFit/>
              </a:bodyPr>
              <a:lstStyle/>
              <a:p>
                <a:pPr algn="ctr" defTabSz="825500">
                  <a:lnSpc>
                    <a:spcPct val="100000"/>
                  </a:lnSpc>
                  <a:spcBef>
                    <a:spcPts val="0"/>
                  </a:spcBef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𝑂</m:t>
                      </m:r>
                      <m:r>
                        <a:rPr lang="en-US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en-US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dirty="0">
                  <a:solidFill>
                    <a:schemeClr val="bg1"/>
                  </a:solidFill>
                  <a:latin typeface="Bradley Hand" pitchFamily="2" charset="77"/>
                </a:endParaRPr>
              </a:p>
            </p:txBody>
          </p:sp>
        </mc:Choice>
        <mc:Fallback>
          <p:sp>
            <p:nvSpPr>
              <p:cNvPr id="5" name="Rounded Rectangle 4">
                <a:extLst>
                  <a:ext uri="{FF2B5EF4-FFF2-40B4-BE49-F238E27FC236}">
                    <a16:creationId xmlns:a16="http://schemas.microsoft.com/office/drawing/2014/main" id="{AA0BB1B6-936F-54FE-0F1B-C3FE7FCADB2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107815" y="2461870"/>
                <a:ext cx="4094585" cy="930751"/>
              </a:xfrm>
              <a:prstGeom prst="roundRect">
                <a:avLst/>
              </a:prstGeom>
              <a:blipFill>
                <a:blip r:embed="rId3"/>
                <a:stretch>
                  <a:fillRect b="-8861"/>
                </a:stretch>
              </a:blipFill>
              <a:ln w="63500" cap="flat">
                <a:solidFill>
                  <a:schemeClr val="tx1"/>
                </a:solidFill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" name="Rounded Rectangle 5">
                <a:extLst>
                  <a:ext uri="{FF2B5EF4-FFF2-40B4-BE49-F238E27FC236}">
                    <a16:creationId xmlns:a16="http://schemas.microsoft.com/office/drawing/2014/main" id="{98BE5A84-F4CF-A134-B2D7-D3F52D3D633B}"/>
                  </a:ext>
                </a:extLst>
              </p:cNvPr>
              <p:cNvSpPr/>
              <p:nvPr/>
            </p:nvSpPr>
            <p:spPr>
              <a:xfrm>
                <a:off x="793367" y="4305211"/>
                <a:ext cx="22824916" cy="1747996"/>
              </a:xfrm>
              <a:prstGeom prst="roundRect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 w="63500" cap="flat">
                <a:solidFill>
                  <a:schemeClr val="tx1"/>
                </a:solidFill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50800" tIns="50800" rIns="50800" bIns="50800" numCol="1" spcCol="38100" rtlCol="0" anchor="ctr">
                <a:spAutoFit/>
              </a:bodyPr>
              <a:lstStyle/>
              <a:p>
                <a:pPr marL="685800" indent="-685800" defTabSz="825500">
                  <a:lnSpc>
                    <a:spcPct val="100000"/>
                  </a:lnSpc>
                  <a:spcBef>
                    <a:spcPts val="0"/>
                  </a:spcBef>
                  <a:buFont typeface="Arial" panose="020B0604020202020204" pitchFamily="34" charset="0"/>
                  <a:buChar char="•"/>
                </a:pPr>
                <a:r>
                  <a:rPr lang="en-US" dirty="0">
                    <a:solidFill>
                      <a:schemeClr val="accent5">
                        <a:lumMod val="40000"/>
                        <a:lumOff val="60000"/>
                      </a:schemeClr>
                    </a:solidFill>
                    <a:latin typeface="Bradley Hand" pitchFamily="2" charset="77"/>
                  </a:rPr>
                  <a:t>If I give Insertion Sort a random input, is its running time O(n) or O(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solidFill>
                              <a:schemeClr val="accent5">
                                <a:lumMod val="40000"/>
                                <a:lumOff val="6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solidFill>
                              <a:schemeClr val="accent5">
                                <a:lumMod val="40000"/>
                                <a:lumOff val="6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US" b="0" i="1" smtClean="0">
                            <a:solidFill>
                              <a:schemeClr val="accent5">
                                <a:lumMod val="40000"/>
                                <a:lumOff val="6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dirty="0">
                    <a:solidFill>
                      <a:schemeClr val="accent5">
                        <a:lumMod val="40000"/>
                        <a:lumOff val="60000"/>
                      </a:schemeClr>
                    </a:solidFill>
                    <a:latin typeface="Bradley Hand" pitchFamily="2" charset="77"/>
                  </a:rPr>
                  <a:t>)?</a:t>
                </a:r>
              </a:p>
              <a:p>
                <a:pPr marL="685800" indent="-685800" defTabSz="825500">
                  <a:lnSpc>
                    <a:spcPct val="100000"/>
                  </a:lnSpc>
                  <a:spcBef>
                    <a:spcPts val="0"/>
                  </a:spcBef>
                  <a:buFont typeface="Arial" panose="020B0604020202020204" pitchFamily="34" charset="0"/>
                  <a:buChar char="•"/>
                </a:pPr>
                <a:r>
                  <a:rPr lang="en-US" dirty="0">
                    <a:solidFill>
                      <a:schemeClr val="accent5">
                        <a:lumMod val="40000"/>
                        <a:lumOff val="60000"/>
                      </a:schemeClr>
                    </a:solidFill>
                    <a:latin typeface="Bradley Hand" pitchFamily="2" charset="77"/>
                  </a:rPr>
                  <a:t>On average, how does Insertion sort behave -- closer to best case or worst case?</a:t>
                </a:r>
              </a:p>
            </p:txBody>
          </p:sp>
        </mc:Choice>
        <mc:Fallback>
          <p:sp>
            <p:nvSpPr>
              <p:cNvPr id="6" name="Rounded Rectangle 5">
                <a:extLst>
                  <a:ext uri="{FF2B5EF4-FFF2-40B4-BE49-F238E27FC236}">
                    <a16:creationId xmlns:a16="http://schemas.microsoft.com/office/drawing/2014/main" id="{98BE5A84-F4CF-A134-B2D7-D3F52D3D633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3367" y="4305211"/>
                <a:ext cx="22824916" cy="1747996"/>
              </a:xfrm>
              <a:prstGeom prst="roundRect">
                <a:avLst/>
              </a:prstGeom>
              <a:blipFill>
                <a:blip r:embed="rId4"/>
                <a:stretch>
                  <a:fillRect l="-777" t="-1389" b="-10417"/>
                </a:stretch>
              </a:blipFill>
              <a:ln w="63500" cap="flat">
                <a:solidFill>
                  <a:schemeClr val="tx1"/>
                </a:solidFill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BA17A314-48C0-14B8-7117-373F3A04B941}"/>
              </a:ext>
            </a:extLst>
          </p:cNvPr>
          <p:cNvSpPr/>
          <p:nvPr/>
        </p:nvSpPr>
        <p:spPr>
          <a:xfrm>
            <a:off x="779542" y="7244905"/>
            <a:ext cx="22824916" cy="1747996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685800" indent="-685800" defTabSz="82550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accent3">
                    <a:lumMod val="40000"/>
                    <a:lumOff val="60000"/>
                  </a:schemeClr>
                </a:solidFill>
                <a:latin typeface="Bradley Hand" pitchFamily="2" charset="77"/>
              </a:rPr>
              <a:t>Intuitively, it feels like Insertion Sort should be closer to its worst case on average</a:t>
            </a:r>
          </a:p>
          <a:p>
            <a:pPr marL="685800" indent="-685800" defTabSz="82550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accent5">
                    <a:lumMod val="40000"/>
                    <a:lumOff val="60000"/>
                  </a:schemeClr>
                </a:solidFill>
                <a:latin typeface="Bradley Hand" pitchFamily="2" charset="77"/>
              </a:rPr>
              <a:t>But how can we state this formally?</a:t>
            </a:r>
          </a:p>
        </p:txBody>
      </p:sp>
    </p:spTree>
    <p:extLst>
      <p:ext uri="{BB962C8B-B14F-4D97-AF65-F5344CB8AC3E}">
        <p14:creationId xmlns:p14="http://schemas.microsoft.com/office/powerpoint/2010/main" val="52246834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75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</p:bld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254CF99B-D0C1-4042-BA38-05B3293A0853}"/>
              </a:ext>
            </a:extLst>
          </p:cNvPr>
          <p:cNvSpPr/>
          <p:nvPr/>
        </p:nvSpPr>
        <p:spPr>
          <a:xfrm>
            <a:off x="779542" y="480773"/>
            <a:ext cx="22824916" cy="930751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dirty="0">
                <a:solidFill>
                  <a:schemeClr val="bg1"/>
                </a:solidFill>
                <a:latin typeface="Bradley Hand" pitchFamily="2" charset="77"/>
              </a:rPr>
              <a:t>Average Case Running Time of an Algorithm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Rounded Rectangle 2">
                <a:extLst>
                  <a:ext uri="{FF2B5EF4-FFF2-40B4-BE49-F238E27FC236}">
                    <a16:creationId xmlns:a16="http://schemas.microsoft.com/office/drawing/2014/main" id="{C685BE85-C65A-EEFC-4C45-1D0B9D9B2A5F}"/>
                  </a:ext>
                </a:extLst>
              </p:cNvPr>
              <p:cNvSpPr/>
              <p:nvPr/>
            </p:nvSpPr>
            <p:spPr>
              <a:xfrm>
                <a:off x="779542" y="1878279"/>
                <a:ext cx="22824916" cy="2565241"/>
              </a:xfrm>
              <a:prstGeom prst="roundRect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 w="63500" cap="flat">
                <a:solidFill>
                  <a:schemeClr val="tx1"/>
                </a:solidFill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50800" tIns="50800" rIns="50800" bIns="50800" numCol="1" spcCol="38100" rtlCol="0" anchor="ctr">
                <a:spAutoFit/>
              </a:bodyPr>
              <a:lstStyle/>
              <a:p>
                <a:pPr marL="685800" indent="-685800" defTabSz="825500">
                  <a:lnSpc>
                    <a:spcPct val="100000"/>
                  </a:lnSpc>
                  <a:spcBef>
                    <a:spcPts val="0"/>
                  </a:spcBef>
                  <a:buFont typeface="Arial" panose="020B0604020202020204" pitchFamily="34" charset="0"/>
                  <a:buChar char="•"/>
                </a:pPr>
                <a:r>
                  <a:rPr lang="en-US" dirty="0">
                    <a:solidFill>
                      <a:schemeClr val="bg1"/>
                    </a:solidFill>
                    <a:latin typeface="Bradley Hand" pitchFamily="2" charset="77"/>
                  </a:rPr>
                  <a:t>Find the running time of Insertion Sort on all possible permutations of {1,2,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…</m:t>
                    </m:r>
                  </m:oMath>
                </a14:m>
                <a:r>
                  <a:rPr lang="en-US" dirty="0">
                    <a:solidFill>
                      <a:schemeClr val="bg1"/>
                    </a:solidFill>
                    <a:latin typeface="Bradley Hand" pitchFamily="2" charset="77"/>
                  </a:rPr>
                  <a:t>,n}</a:t>
                </a:r>
              </a:p>
              <a:p>
                <a:pPr marL="685800" indent="-685800" defTabSz="825500">
                  <a:lnSpc>
                    <a:spcPct val="100000"/>
                  </a:lnSpc>
                  <a:spcBef>
                    <a:spcPts val="0"/>
                  </a:spcBef>
                  <a:buFont typeface="Arial" panose="020B0604020202020204" pitchFamily="34" charset="0"/>
                  <a:buChar char="•"/>
                </a:pPr>
                <a:r>
                  <a:rPr lang="en-US" dirty="0">
                    <a:solidFill>
                      <a:schemeClr val="bg1"/>
                    </a:solidFill>
                    <a:latin typeface="Bradley Hand" pitchFamily="2" charset="77"/>
                  </a:rPr>
                  <a:t>There are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!</m:t>
                    </m:r>
                  </m:oMath>
                </a14:m>
                <a:r>
                  <a:rPr lang="en-US" dirty="0">
                    <a:solidFill>
                      <a:schemeClr val="bg1"/>
                    </a:solidFill>
                    <a:latin typeface="Bradley Hand" pitchFamily="2" charset="77"/>
                  </a:rPr>
                  <a:t> such inputs</a:t>
                </a:r>
              </a:p>
              <a:p>
                <a:pPr marL="685800" indent="-685800" defTabSz="825500">
                  <a:lnSpc>
                    <a:spcPct val="100000"/>
                  </a:lnSpc>
                  <a:spcBef>
                    <a:spcPts val="0"/>
                  </a:spcBef>
                  <a:buFont typeface="Arial" panose="020B0604020202020204" pitchFamily="34" charset="0"/>
                  <a:buChar char="•"/>
                </a:pPr>
                <a:r>
                  <a:rPr lang="en-US" dirty="0">
                    <a:solidFill>
                      <a:schemeClr val="bg1"/>
                    </a:solidFill>
                    <a:latin typeface="Bradley Hand" pitchFamily="2" charset="77"/>
                  </a:rPr>
                  <a:t>Take the average of the running time</a:t>
                </a:r>
              </a:p>
            </p:txBody>
          </p:sp>
        </mc:Choice>
        <mc:Fallback>
          <p:sp>
            <p:nvSpPr>
              <p:cNvPr id="3" name="Rounded Rectangle 2">
                <a:extLst>
                  <a:ext uri="{FF2B5EF4-FFF2-40B4-BE49-F238E27FC236}">
                    <a16:creationId xmlns:a16="http://schemas.microsoft.com/office/drawing/2014/main" id="{C685BE85-C65A-EEFC-4C45-1D0B9D9B2A5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9542" y="1878279"/>
                <a:ext cx="22824916" cy="2565241"/>
              </a:xfrm>
              <a:prstGeom prst="roundRect">
                <a:avLst/>
              </a:prstGeom>
              <a:blipFill>
                <a:blip r:embed="rId2"/>
                <a:stretch>
                  <a:fillRect l="-610" r="-166" b="-5288"/>
                </a:stretch>
              </a:blipFill>
              <a:ln w="63500" cap="flat">
                <a:solidFill>
                  <a:schemeClr val="tx1"/>
                </a:solidFill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BF35BF82-390A-2CBB-2668-C5217E25655C}"/>
              </a:ext>
            </a:extLst>
          </p:cNvPr>
          <p:cNvSpPr/>
          <p:nvPr/>
        </p:nvSpPr>
        <p:spPr>
          <a:xfrm>
            <a:off x="907133" y="5805124"/>
            <a:ext cx="2072238" cy="862648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4400" dirty="0">
                <a:solidFill>
                  <a:schemeClr val="bg1"/>
                </a:solidFill>
                <a:latin typeface="Bradley Hand" pitchFamily="2" charset="77"/>
              </a:rPr>
              <a:t>n=3</a:t>
            </a:r>
            <a:endParaRPr lang="en-US" sz="4400" dirty="0">
              <a:solidFill>
                <a:schemeClr val="accent6">
                  <a:lumMod val="40000"/>
                  <a:lumOff val="60000"/>
                </a:schemeClr>
              </a:solidFill>
              <a:latin typeface="Bradley Hand" pitchFamily="2" charset="77"/>
            </a:endParaRP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CA82C179-00F4-BDCE-02D8-F9E76101CDA6}"/>
              </a:ext>
            </a:extLst>
          </p:cNvPr>
          <p:cNvSpPr/>
          <p:nvPr/>
        </p:nvSpPr>
        <p:spPr>
          <a:xfrm>
            <a:off x="907133" y="6899700"/>
            <a:ext cx="2072238" cy="862648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4400" dirty="0">
                <a:solidFill>
                  <a:schemeClr val="bg1"/>
                </a:solidFill>
                <a:latin typeface="Bradley Hand" pitchFamily="2" charset="77"/>
              </a:rPr>
              <a:t>123</a:t>
            </a:r>
            <a:endParaRPr lang="en-US" sz="4400" dirty="0">
              <a:solidFill>
                <a:schemeClr val="accent6">
                  <a:lumMod val="40000"/>
                  <a:lumOff val="60000"/>
                </a:schemeClr>
              </a:solidFill>
              <a:latin typeface="Bradley Hand" pitchFamily="2" charset="77"/>
            </a:endParaRP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665E667A-4D69-8AEF-DFE4-B1BB96EBC9C9}"/>
              </a:ext>
            </a:extLst>
          </p:cNvPr>
          <p:cNvSpPr/>
          <p:nvPr/>
        </p:nvSpPr>
        <p:spPr>
          <a:xfrm>
            <a:off x="907133" y="7994276"/>
            <a:ext cx="2072238" cy="862648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4400" dirty="0">
                <a:solidFill>
                  <a:schemeClr val="bg1"/>
                </a:solidFill>
                <a:latin typeface="Bradley Hand" pitchFamily="2" charset="77"/>
              </a:rPr>
              <a:t>132</a:t>
            </a:r>
            <a:endParaRPr lang="en-US" sz="4400" dirty="0">
              <a:solidFill>
                <a:schemeClr val="accent6">
                  <a:lumMod val="40000"/>
                  <a:lumOff val="60000"/>
                </a:schemeClr>
              </a:solidFill>
              <a:latin typeface="Bradley Hand" pitchFamily="2" charset="77"/>
            </a:endParaRP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AB60F65F-E2E5-20C6-5986-695FB912E616}"/>
              </a:ext>
            </a:extLst>
          </p:cNvPr>
          <p:cNvSpPr/>
          <p:nvPr/>
        </p:nvSpPr>
        <p:spPr>
          <a:xfrm>
            <a:off x="907133" y="9088852"/>
            <a:ext cx="2072238" cy="862648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4400" dirty="0">
                <a:solidFill>
                  <a:schemeClr val="bg1"/>
                </a:solidFill>
                <a:latin typeface="Bradley Hand" pitchFamily="2" charset="77"/>
              </a:rPr>
              <a:t>213</a:t>
            </a:r>
            <a:endParaRPr lang="en-US" sz="4400" dirty="0">
              <a:solidFill>
                <a:schemeClr val="accent6">
                  <a:lumMod val="40000"/>
                  <a:lumOff val="60000"/>
                </a:schemeClr>
              </a:solidFill>
              <a:latin typeface="Bradley Hand" pitchFamily="2" charset="77"/>
            </a:endParaRP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77AEEAEA-DAB4-F43A-15A2-186C848060CF}"/>
              </a:ext>
            </a:extLst>
          </p:cNvPr>
          <p:cNvSpPr/>
          <p:nvPr/>
        </p:nvSpPr>
        <p:spPr>
          <a:xfrm>
            <a:off x="907133" y="10183428"/>
            <a:ext cx="2072238" cy="862648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4400" dirty="0">
                <a:solidFill>
                  <a:schemeClr val="bg1"/>
                </a:solidFill>
                <a:latin typeface="Bradley Hand" pitchFamily="2" charset="77"/>
              </a:rPr>
              <a:t>231</a:t>
            </a:r>
            <a:endParaRPr lang="en-US" sz="4400" dirty="0">
              <a:solidFill>
                <a:schemeClr val="accent6">
                  <a:lumMod val="40000"/>
                  <a:lumOff val="60000"/>
                </a:schemeClr>
              </a:solidFill>
              <a:latin typeface="Bradley Hand" pitchFamily="2" charset="77"/>
            </a:endParaRP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A6B83C2B-1EBF-2066-A8BC-3D3C78E5504C}"/>
              </a:ext>
            </a:extLst>
          </p:cNvPr>
          <p:cNvSpPr/>
          <p:nvPr/>
        </p:nvSpPr>
        <p:spPr>
          <a:xfrm>
            <a:off x="907133" y="11278004"/>
            <a:ext cx="2072238" cy="862648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4400" dirty="0">
                <a:solidFill>
                  <a:schemeClr val="bg1"/>
                </a:solidFill>
                <a:latin typeface="Bradley Hand" pitchFamily="2" charset="77"/>
              </a:rPr>
              <a:t>312</a:t>
            </a:r>
            <a:endParaRPr lang="en-US" sz="4400" dirty="0">
              <a:solidFill>
                <a:schemeClr val="accent6">
                  <a:lumMod val="40000"/>
                  <a:lumOff val="60000"/>
                </a:schemeClr>
              </a:solidFill>
              <a:latin typeface="Bradley Hand" pitchFamily="2" charset="77"/>
            </a:endParaRP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9C9AB851-80DC-F694-74A1-3E19566E5926}"/>
              </a:ext>
            </a:extLst>
          </p:cNvPr>
          <p:cNvSpPr/>
          <p:nvPr/>
        </p:nvSpPr>
        <p:spPr>
          <a:xfrm>
            <a:off x="907133" y="12372579"/>
            <a:ext cx="2072238" cy="862648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4400" dirty="0">
                <a:solidFill>
                  <a:schemeClr val="bg1"/>
                </a:solidFill>
                <a:latin typeface="Bradley Hand" pitchFamily="2" charset="77"/>
              </a:rPr>
              <a:t>321</a:t>
            </a:r>
            <a:endParaRPr lang="en-US" sz="4400" dirty="0">
              <a:solidFill>
                <a:schemeClr val="accent6">
                  <a:lumMod val="40000"/>
                  <a:lumOff val="60000"/>
                </a:schemeClr>
              </a:solidFill>
              <a:latin typeface="Bradley Hand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42603880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75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</p:bld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D6DBCA-A511-0063-3A14-AE88DB95BF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BA3EF78D-773C-5946-6531-E6C15CC231E8}"/>
              </a:ext>
            </a:extLst>
          </p:cNvPr>
          <p:cNvSpPr/>
          <p:nvPr/>
        </p:nvSpPr>
        <p:spPr>
          <a:xfrm>
            <a:off x="1183580" y="2679151"/>
            <a:ext cx="2072238" cy="862648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4400" dirty="0">
                <a:solidFill>
                  <a:schemeClr val="bg1"/>
                </a:solidFill>
                <a:latin typeface="Bradley Hand" pitchFamily="2" charset="77"/>
              </a:rPr>
              <a:t>n=3</a:t>
            </a:r>
            <a:endParaRPr lang="en-US" sz="4400" dirty="0">
              <a:solidFill>
                <a:schemeClr val="accent6">
                  <a:lumMod val="40000"/>
                  <a:lumOff val="60000"/>
                </a:schemeClr>
              </a:solidFill>
              <a:latin typeface="Bradley Hand" pitchFamily="2" charset="77"/>
            </a:endParaRP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093DBCDE-8316-2463-6F59-5E5C8D0BC201}"/>
              </a:ext>
            </a:extLst>
          </p:cNvPr>
          <p:cNvSpPr/>
          <p:nvPr/>
        </p:nvSpPr>
        <p:spPr>
          <a:xfrm>
            <a:off x="1183580" y="3773727"/>
            <a:ext cx="2072238" cy="862648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4400" dirty="0">
                <a:solidFill>
                  <a:schemeClr val="bg1"/>
                </a:solidFill>
                <a:latin typeface="Bradley Hand" pitchFamily="2" charset="77"/>
              </a:rPr>
              <a:t>123</a:t>
            </a:r>
            <a:endParaRPr lang="en-US" sz="4400" dirty="0">
              <a:solidFill>
                <a:schemeClr val="accent6">
                  <a:lumMod val="40000"/>
                  <a:lumOff val="60000"/>
                </a:schemeClr>
              </a:solidFill>
              <a:latin typeface="Bradley Hand" pitchFamily="2" charset="77"/>
            </a:endParaRP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6815A6D3-363A-A93A-6DF5-21B933FBA1B7}"/>
              </a:ext>
            </a:extLst>
          </p:cNvPr>
          <p:cNvSpPr/>
          <p:nvPr/>
        </p:nvSpPr>
        <p:spPr>
          <a:xfrm>
            <a:off x="1183580" y="4868303"/>
            <a:ext cx="2072238" cy="862648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4400" dirty="0">
                <a:solidFill>
                  <a:schemeClr val="bg1"/>
                </a:solidFill>
                <a:latin typeface="Bradley Hand" pitchFamily="2" charset="77"/>
              </a:rPr>
              <a:t>132</a:t>
            </a:r>
            <a:endParaRPr lang="en-US" sz="4400" dirty="0">
              <a:solidFill>
                <a:schemeClr val="accent6">
                  <a:lumMod val="40000"/>
                  <a:lumOff val="60000"/>
                </a:schemeClr>
              </a:solidFill>
              <a:latin typeface="Bradley Hand" pitchFamily="2" charset="77"/>
            </a:endParaRP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5BCFA8D4-0EEE-8B55-CD92-1777B1C2D32B}"/>
              </a:ext>
            </a:extLst>
          </p:cNvPr>
          <p:cNvSpPr/>
          <p:nvPr/>
        </p:nvSpPr>
        <p:spPr>
          <a:xfrm>
            <a:off x="1183580" y="5962879"/>
            <a:ext cx="2072238" cy="862648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4400" dirty="0">
                <a:solidFill>
                  <a:schemeClr val="bg1"/>
                </a:solidFill>
                <a:latin typeface="Bradley Hand" pitchFamily="2" charset="77"/>
              </a:rPr>
              <a:t>213</a:t>
            </a:r>
            <a:endParaRPr lang="en-US" sz="4400" dirty="0">
              <a:solidFill>
                <a:schemeClr val="accent6">
                  <a:lumMod val="40000"/>
                  <a:lumOff val="60000"/>
                </a:schemeClr>
              </a:solidFill>
              <a:latin typeface="Bradley Hand" pitchFamily="2" charset="77"/>
            </a:endParaRP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45171CB9-0184-284B-4F1D-51F13A3CBE75}"/>
              </a:ext>
            </a:extLst>
          </p:cNvPr>
          <p:cNvSpPr/>
          <p:nvPr/>
        </p:nvSpPr>
        <p:spPr>
          <a:xfrm>
            <a:off x="1183580" y="7057455"/>
            <a:ext cx="2072238" cy="862648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4400" dirty="0">
                <a:solidFill>
                  <a:schemeClr val="bg1"/>
                </a:solidFill>
                <a:latin typeface="Bradley Hand" pitchFamily="2" charset="77"/>
              </a:rPr>
              <a:t>231</a:t>
            </a:r>
            <a:endParaRPr lang="en-US" sz="4400" dirty="0">
              <a:solidFill>
                <a:schemeClr val="accent6">
                  <a:lumMod val="40000"/>
                  <a:lumOff val="60000"/>
                </a:schemeClr>
              </a:solidFill>
              <a:latin typeface="Bradley Hand" pitchFamily="2" charset="77"/>
            </a:endParaRP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595A3864-433D-074C-FD19-1B515152A4D9}"/>
              </a:ext>
            </a:extLst>
          </p:cNvPr>
          <p:cNvSpPr/>
          <p:nvPr/>
        </p:nvSpPr>
        <p:spPr>
          <a:xfrm>
            <a:off x="1183580" y="8152031"/>
            <a:ext cx="2072238" cy="862648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4400" dirty="0">
                <a:solidFill>
                  <a:schemeClr val="bg1"/>
                </a:solidFill>
                <a:latin typeface="Bradley Hand" pitchFamily="2" charset="77"/>
              </a:rPr>
              <a:t>312</a:t>
            </a:r>
            <a:endParaRPr lang="en-US" sz="4400" dirty="0">
              <a:solidFill>
                <a:schemeClr val="accent6">
                  <a:lumMod val="40000"/>
                  <a:lumOff val="60000"/>
                </a:schemeClr>
              </a:solidFill>
              <a:latin typeface="Bradley Hand" pitchFamily="2" charset="77"/>
            </a:endParaRP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A12922D0-A40D-8EAD-F6B8-69EB758A20EE}"/>
              </a:ext>
            </a:extLst>
          </p:cNvPr>
          <p:cNvSpPr/>
          <p:nvPr/>
        </p:nvSpPr>
        <p:spPr>
          <a:xfrm>
            <a:off x="1183580" y="9246606"/>
            <a:ext cx="2072238" cy="862648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4400" dirty="0">
                <a:solidFill>
                  <a:schemeClr val="bg1"/>
                </a:solidFill>
                <a:latin typeface="Bradley Hand" pitchFamily="2" charset="77"/>
              </a:rPr>
              <a:t>321</a:t>
            </a:r>
            <a:endParaRPr lang="en-US" sz="4400" dirty="0">
              <a:solidFill>
                <a:schemeClr val="accent6">
                  <a:lumMod val="40000"/>
                  <a:lumOff val="60000"/>
                </a:schemeClr>
              </a:solidFill>
              <a:latin typeface="Bradley Hand" pitchFamily="2" charset="77"/>
            </a:endParaRPr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62A4A612-7E19-D756-A476-59F11E114586}"/>
              </a:ext>
            </a:extLst>
          </p:cNvPr>
          <p:cNvSpPr/>
          <p:nvPr/>
        </p:nvSpPr>
        <p:spPr>
          <a:xfrm>
            <a:off x="779542" y="337722"/>
            <a:ext cx="22824916" cy="930751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dirty="0">
                <a:solidFill>
                  <a:schemeClr val="bg1"/>
                </a:solidFill>
                <a:latin typeface="Bradley Hand" pitchFamily="2" charset="77"/>
              </a:rPr>
              <a:t>Number of swaps in each iteration of Insertion Sort</a:t>
            </a:r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27CDB2AF-BB6B-8C23-D680-D71F1F1E7A67}"/>
              </a:ext>
            </a:extLst>
          </p:cNvPr>
          <p:cNvSpPr/>
          <p:nvPr/>
        </p:nvSpPr>
        <p:spPr>
          <a:xfrm>
            <a:off x="4270566" y="1658452"/>
            <a:ext cx="2072238" cy="862648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4400" dirty="0">
                <a:solidFill>
                  <a:schemeClr val="bg1"/>
                </a:solidFill>
                <a:latin typeface="Bradley Hand" pitchFamily="2" charset="77"/>
              </a:rPr>
              <a:t>1</a:t>
            </a:r>
            <a:endParaRPr lang="en-US" sz="4400" dirty="0">
              <a:solidFill>
                <a:schemeClr val="accent6">
                  <a:lumMod val="40000"/>
                  <a:lumOff val="60000"/>
                </a:schemeClr>
              </a:solidFill>
              <a:latin typeface="Bradley Hand" pitchFamily="2" charset="77"/>
            </a:endParaRPr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E955DA25-058F-E41D-C03D-C33E861189A8}"/>
              </a:ext>
            </a:extLst>
          </p:cNvPr>
          <p:cNvSpPr/>
          <p:nvPr/>
        </p:nvSpPr>
        <p:spPr>
          <a:xfrm>
            <a:off x="4270566" y="3731640"/>
            <a:ext cx="2072238" cy="862648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4400" dirty="0">
                <a:solidFill>
                  <a:schemeClr val="bg1"/>
                </a:solidFill>
                <a:latin typeface="Bradley Hand" pitchFamily="2" charset="77"/>
              </a:rPr>
              <a:t>0</a:t>
            </a:r>
            <a:endParaRPr lang="en-US" sz="4400" dirty="0">
              <a:solidFill>
                <a:schemeClr val="accent6">
                  <a:lumMod val="40000"/>
                  <a:lumOff val="60000"/>
                </a:schemeClr>
              </a:solidFill>
              <a:latin typeface="Bradley Hand" pitchFamily="2" charset="77"/>
            </a:endParaRPr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E562D4D7-B616-39D5-38F9-CB334D101FE7}"/>
              </a:ext>
            </a:extLst>
          </p:cNvPr>
          <p:cNvSpPr/>
          <p:nvPr/>
        </p:nvSpPr>
        <p:spPr>
          <a:xfrm>
            <a:off x="4270566" y="4826215"/>
            <a:ext cx="2072238" cy="862648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4400" dirty="0">
                <a:solidFill>
                  <a:schemeClr val="bg1"/>
                </a:solidFill>
                <a:latin typeface="Bradley Hand" pitchFamily="2" charset="77"/>
              </a:rPr>
              <a:t>0</a:t>
            </a:r>
            <a:endParaRPr lang="en-US" sz="4400" dirty="0">
              <a:solidFill>
                <a:schemeClr val="accent6">
                  <a:lumMod val="40000"/>
                  <a:lumOff val="60000"/>
                </a:schemeClr>
              </a:solidFill>
              <a:latin typeface="Bradley Hand" pitchFamily="2" charset="77"/>
            </a:endParaRPr>
          </a:p>
        </p:txBody>
      </p: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20AA63B9-B306-9BA5-420D-505A2176E6BE}"/>
              </a:ext>
            </a:extLst>
          </p:cNvPr>
          <p:cNvSpPr/>
          <p:nvPr/>
        </p:nvSpPr>
        <p:spPr>
          <a:xfrm>
            <a:off x="4270566" y="5936613"/>
            <a:ext cx="2072238" cy="862648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4400" dirty="0">
                <a:solidFill>
                  <a:schemeClr val="bg1"/>
                </a:solidFill>
                <a:latin typeface="Bradley Hand" pitchFamily="2" charset="77"/>
              </a:rPr>
              <a:t>0</a:t>
            </a:r>
            <a:endParaRPr lang="en-US" sz="4400" dirty="0">
              <a:solidFill>
                <a:schemeClr val="accent6">
                  <a:lumMod val="40000"/>
                  <a:lumOff val="60000"/>
                </a:schemeClr>
              </a:solidFill>
              <a:latin typeface="Bradley Hand" pitchFamily="2" charset="77"/>
            </a:endParaRPr>
          </a:p>
        </p:txBody>
      </p: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C2BA2451-AEF8-35ED-237C-7A87714D221F}"/>
              </a:ext>
            </a:extLst>
          </p:cNvPr>
          <p:cNvSpPr/>
          <p:nvPr/>
        </p:nvSpPr>
        <p:spPr>
          <a:xfrm>
            <a:off x="4270566" y="7031188"/>
            <a:ext cx="2072238" cy="862648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4400" dirty="0">
                <a:solidFill>
                  <a:schemeClr val="bg1"/>
                </a:solidFill>
                <a:latin typeface="Bradley Hand" pitchFamily="2" charset="77"/>
              </a:rPr>
              <a:t>0</a:t>
            </a:r>
            <a:endParaRPr lang="en-US" sz="4400" dirty="0">
              <a:solidFill>
                <a:schemeClr val="accent6">
                  <a:lumMod val="40000"/>
                  <a:lumOff val="60000"/>
                </a:schemeClr>
              </a:solidFill>
              <a:latin typeface="Bradley Hand" pitchFamily="2" charset="77"/>
            </a:endParaRPr>
          </a:p>
        </p:txBody>
      </p:sp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9ADB625F-1A14-8021-8C09-D1DA42022963}"/>
              </a:ext>
            </a:extLst>
          </p:cNvPr>
          <p:cNvSpPr/>
          <p:nvPr/>
        </p:nvSpPr>
        <p:spPr>
          <a:xfrm>
            <a:off x="4270566" y="8125763"/>
            <a:ext cx="2072238" cy="862648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4400" dirty="0">
                <a:solidFill>
                  <a:schemeClr val="bg1"/>
                </a:solidFill>
                <a:latin typeface="Bradley Hand" pitchFamily="2" charset="77"/>
              </a:rPr>
              <a:t>0</a:t>
            </a:r>
            <a:endParaRPr lang="en-US" sz="4400" dirty="0">
              <a:solidFill>
                <a:schemeClr val="accent6">
                  <a:lumMod val="40000"/>
                  <a:lumOff val="60000"/>
                </a:schemeClr>
              </a:solidFill>
              <a:latin typeface="Bradley Hand" pitchFamily="2" charset="77"/>
            </a:endParaRPr>
          </a:p>
        </p:txBody>
      </p:sp>
      <p:sp>
        <p:nvSpPr>
          <p:cNvPr id="18" name="Rounded Rectangle 17">
            <a:extLst>
              <a:ext uri="{FF2B5EF4-FFF2-40B4-BE49-F238E27FC236}">
                <a16:creationId xmlns:a16="http://schemas.microsoft.com/office/drawing/2014/main" id="{E104328F-9978-2102-E275-8651587C349C}"/>
              </a:ext>
            </a:extLst>
          </p:cNvPr>
          <p:cNvSpPr/>
          <p:nvPr/>
        </p:nvSpPr>
        <p:spPr>
          <a:xfrm>
            <a:off x="4270566" y="9220338"/>
            <a:ext cx="2072238" cy="862648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4400" dirty="0">
                <a:solidFill>
                  <a:schemeClr val="bg1"/>
                </a:solidFill>
                <a:latin typeface="Bradley Hand" pitchFamily="2" charset="77"/>
              </a:rPr>
              <a:t>0</a:t>
            </a:r>
            <a:endParaRPr lang="en-US" sz="4400" dirty="0">
              <a:solidFill>
                <a:schemeClr val="accent6">
                  <a:lumMod val="40000"/>
                  <a:lumOff val="60000"/>
                </a:schemeClr>
              </a:solidFill>
              <a:latin typeface="Bradley Hand" pitchFamily="2" charset="77"/>
            </a:endParaRPr>
          </a:p>
        </p:txBody>
      </p:sp>
      <p:sp>
        <p:nvSpPr>
          <p:cNvPr id="19" name="Rounded Rectangle 18">
            <a:extLst>
              <a:ext uri="{FF2B5EF4-FFF2-40B4-BE49-F238E27FC236}">
                <a16:creationId xmlns:a16="http://schemas.microsoft.com/office/drawing/2014/main" id="{0D0ACC48-8450-A3FA-8AE1-190E91DD74C9}"/>
              </a:ext>
            </a:extLst>
          </p:cNvPr>
          <p:cNvSpPr/>
          <p:nvPr/>
        </p:nvSpPr>
        <p:spPr>
          <a:xfrm>
            <a:off x="6953515" y="1658452"/>
            <a:ext cx="2072238" cy="862648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4400" dirty="0">
                <a:solidFill>
                  <a:schemeClr val="bg1"/>
                </a:solidFill>
                <a:latin typeface="Bradley Hand" pitchFamily="2" charset="77"/>
              </a:rPr>
              <a:t>2</a:t>
            </a:r>
            <a:endParaRPr lang="en-US" sz="4400" dirty="0">
              <a:solidFill>
                <a:schemeClr val="accent6">
                  <a:lumMod val="40000"/>
                  <a:lumOff val="60000"/>
                </a:schemeClr>
              </a:solidFill>
              <a:latin typeface="Bradley Hand" pitchFamily="2" charset="77"/>
            </a:endParaRPr>
          </a:p>
        </p:txBody>
      </p:sp>
      <p:sp>
        <p:nvSpPr>
          <p:cNvPr id="20" name="Rounded Rectangle 19">
            <a:extLst>
              <a:ext uri="{FF2B5EF4-FFF2-40B4-BE49-F238E27FC236}">
                <a16:creationId xmlns:a16="http://schemas.microsoft.com/office/drawing/2014/main" id="{383558C7-AC0C-08E1-CE4C-BCBA37673E1D}"/>
              </a:ext>
            </a:extLst>
          </p:cNvPr>
          <p:cNvSpPr/>
          <p:nvPr/>
        </p:nvSpPr>
        <p:spPr>
          <a:xfrm>
            <a:off x="6953515" y="3731640"/>
            <a:ext cx="2072238" cy="862648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4400" dirty="0">
                <a:solidFill>
                  <a:schemeClr val="bg1"/>
                </a:solidFill>
                <a:latin typeface="Bradley Hand" pitchFamily="2" charset="77"/>
              </a:rPr>
              <a:t>0</a:t>
            </a:r>
            <a:endParaRPr lang="en-US" sz="4400" dirty="0">
              <a:solidFill>
                <a:schemeClr val="accent6">
                  <a:lumMod val="40000"/>
                  <a:lumOff val="60000"/>
                </a:schemeClr>
              </a:solidFill>
              <a:latin typeface="Bradley Hand" pitchFamily="2" charset="77"/>
            </a:endParaRPr>
          </a:p>
        </p:txBody>
      </p:sp>
      <p:sp>
        <p:nvSpPr>
          <p:cNvPr id="21" name="Rounded Rectangle 20">
            <a:extLst>
              <a:ext uri="{FF2B5EF4-FFF2-40B4-BE49-F238E27FC236}">
                <a16:creationId xmlns:a16="http://schemas.microsoft.com/office/drawing/2014/main" id="{7A56B14F-3D1F-AA70-E777-E4BA05DD02D8}"/>
              </a:ext>
            </a:extLst>
          </p:cNvPr>
          <p:cNvSpPr/>
          <p:nvPr/>
        </p:nvSpPr>
        <p:spPr>
          <a:xfrm>
            <a:off x="6953515" y="4826215"/>
            <a:ext cx="2072238" cy="862648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4400" dirty="0">
                <a:solidFill>
                  <a:schemeClr val="bg1"/>
                </a:solidFill>
                <a:latin typeface="Bradley Hand" pitchFamily="2" charset="77"/>
              </a:rPr>
              <a:t>0</a:t>
            </a:r>
            <a:endParaRPr lang="en-US" sz="4400" dirty="0">
              <a:solidFill>
                <a:schemeClr val="accent6">
                  <a:lumMod val="40000"/>
                  <a:lumOff val="60000"/>
                </a:schemeClr>
              </a:solidFill>
              <a:latin typeface="Bradley Hand" pitchFamily="2" charset="77"/>
            </a:endParaRPr>
          </a:p>
        </p:txBody>
      </p:sp>
      <p:sp>
        <p:nvSpPr>
          <p:cNvPr id="22" name="Rounded Rectangle 21">
            <a:extLst>
              <a:ext uri="{FF2B5EF4-FFF2-40B4-BE49-F238E27FC236}">
                <a16:creationId xmlns:a16="http://schemas.microsoft.com/office/drawing/2014/main" id="{77EDDF35-E26C-DEEF-CA74-ADEA907000CC}"/>
              </a:ext>
            </a:extLst>
          </p:cNvPr>
          <p:cNvSpPr/>
          <p:nvPr/>
        </p:nvSpPr>
        <p:spPr>
          <a:xfrm>
            <a:off x="6953515" y="5936613"/>
            <a:ext cx="2072238" cy="862648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4400" dirty="0">
                <a:solidFill>
                  <a:schemeClr val="bg1"/>
                </a:solidFill>
                <a:latin typeface="Bradley Hand" pitchFamily="2" charset="77"/>
              </a:rPr>
              <a:t>1</a:t>
            </a:r>
            <a:endParaRPr lang="en-US" sz="4400" dirty="0">
              <a:solidFill>
                <a:schemeClr val="accent6">
                  <a:lumMod val="40000"/>
                  <a:lumOff val="60000"/>
                </a:schemeClr>
              </a:solidFill>
              <a:latin typeface="Bradley Hand" pitchFamily="2" charset="77"/>
            </a:endParaRPr>
          </a:p>
        </p:txBody>
      </p:sp>
      <p:sp>
        <p:nvSpPr>
          <p:cNvPr id="23" name="Rounded Rectangle 22">
            <a:extLst>
              <a:ext uri="{FF2B5EF4-FFF2-40B4-BE49-F238E27FC236}">
                <a16:creationId xmlns:a16="http://schemas.microsoft.com/office/drawing/2014/main" id="{A61B70BF-8FB4-B72F-811B-6314B3DC213B}"/>
              </a:ext>
            </a:extLst>
          </p:cNvPr>
          <p:cNvSpPr/>
          <p:nvPr/>
        </p:nvSpPr>
        <p:spPr>
          <a:xfrm>
            <a:off x="6953515" y="7031188"/>
            <a:ext cx="2072238" cy="862648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4400" dirty="0">
                <a:solidFill>
                  <a:schemeClr val="bg1"/>
                </a:solidFill>
                <a:latin typeface="Bradley Hand" pitchFamily="2" charset="77"/>
              </a:rPr>
              <a:t>0</a:t>
            </a:r>
            <a:endParaRPr lang="en-US" sz="4400" dirty="0">
              <a:solidFill>
                <a:schemeClr val="accent6">
                  <a:lumMod val="40000"/>
                  <a:lumOff val="60000"/>
                </a:schemeClr>
              </a:solidFill>
              <a:latin typeface="Bradley Hand" pitchFamily="2" charset="77"/>
            </a:endParaRPr>
          </a:p>
        </p:txBody>
      </p:sp>
      <p:sp>
        <p:nvSpPr>
          <p:cNvPr id="24" name="Rounded Rectangle 23">
            <a:extLst>
              <a:ext uri="{FF2B5EF4-FFF2-40B4-BE49-F238E27FC236}">
                <a16:creationId xmlns:a16="http://schemas.microsoft.com/office/drawing/2014/main" id="{68CD114B-CFD0-6698-264D-D160D917FE63}"/>
              </a:ext>
            </a:extLst>
          </p:cNvPr>
          <p:cNvSpPr/>
          <p:nvPr/>
        </p:nvSpPr>
        <p:spPr>
          <a:xfrm>
            <a:off x="6953515" y="8125763"/>
            <a:ext cx="2072238" cy="862648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4400" dirty="0">
                <a:solidFill>
                  <a:schemeClr val="bg1"/>
                </a:solidFill>
                <a:latin typeface="Bradley Hand" pitchFamily="2" charset="77"/>
              </a:rPr>
              <a:t>1</a:t>
            </a:r>
            <a:endParaRPr lang="en-US" sz="4400" dirty="0">
              <a:solidFill>
                <a:schemeClr val="accent6">
                  <a:lumMod val="40000"/>
                  <a:lumOff val="60000"/>
                </a:schemeClr>
              </a:solidFill>
              <a:latin typeface="Bradley Hand" pitchFamily="2" charset="77"/>
            </a:endParaRPr>
          </a:p>
        </p:txBody>
      </p:sp>
      <p:sp>
        <p:nvSpPr>
          <p:cNvPr id="25" name="Rounded Rectangle 24">
            <a:extLst>
              <a:ext uri="{FF2B5EF4-FFF2-40B4-BE49-F238E27FC236}">
                <a16:creationId xmlns:a16="http://schemas.microsoft.com/office/drawing/2014/main" id="{D3FC8A09-0810-11C5-281E-A621385C33AA}"/>
              </a:ext>
            </a:extLst>
          </p:cNvPr>
          <p:cNvSpPr/>
          <p:nvPr/>
        </p:nvSpPr>
        <p:spPr>
          <a:xfrm>
            <a:off x="6953515" y="9220338"/>
            <a:ext cx="2072238" cy="862648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4400" dirty="0">
                <a:solidFill>
                  <a:schemeClr val="bg1"/>
                </a:solidFill>
                <a:latin typeface="Bradley Hand" pitchFamily="2" charset="77"/>
              </a:rPr>
              <a:t>1</a:t>
            </a:r>
            <a:endParaRPr lang="en-US" sz="4400" dirty="0">
              <a:solidFill>
                <a:schemeClr val="accent6">
                  <a:lumMod val="40000"/>
                  <a:lumOff val="60000"/>
                </a:schemeClr>
              </a:solidFill>
              <a:latin typeface="Bradley Hand" pitchFamily="2" charset="77"/>
            </a:endParaRPr>
          </a:p>
        </p:txBody>
      </p:sp>
      <p:sp>
        <p:nvSpPr>
          <p:cNvPr id="26" name="Rounded Rectangle 25">
            <a:extLst>
              <a:ext uri="{FF2B5EF4-FFF2-40B4-BE49-F238E27FC236}">
                <a16:creationId xmlns:a16="http://schemas.microsoft.com/office/drawing/2014/main" id="{044BE69A-AD1D-C1FB-B8A7-2CE1ACAD4BB8}"/>
              </a:ext>
            </a:extLst>
          </p:cNvPr>
          <p:cNvSpPr/>
          <p:nvPr/>
        </p:nvSpPr>
        <p:spPr>
          <a:xfrm>
            <a:off x="9636464" y="1658452"/>
            <a:ext cx="2072238" cy="862648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4400" dirty="0">
                <a:solidFill>
                  <a:schemeClr val="bg1"/>
                </a:solidFill>
                <a:latin typeface="Bradley Hand" pitchFamily="2" charset="77"/>
              </a:rPr>
              <a:t>3</a:t>
            </a:r>
            <a:endParaRPr lang="en-US" sz="4400" dirty="0">
              <a:solidFill>
                <a:schemeClr val="accent6">
                  <a:lumMod val="40000"/>
                  <a:lumOff val="60000"/>
                </a:schemeClr>
              </a:solidFill>
              <a:latin typeface="Bradley Hand" pitchFamily="2" charset="77"/>
            </a:endParaRPr>
          </a:p>
        </p:txBody>
      </p:sp>
      <p:sp>
        <p:nvSpPr>
          <p:cNvPr id="27" name="Rounded Rectangle 26">
            <a:extLst>
              <a:ext uri="{FF2B5EF4-FFF2-40B4-BE49-F238E27FC236}">
                <a16:creationId xmlns:a16="http://schemas.microsoft.com/office/drawing/2014/main" id="{51405555-ABAC-7988-8B56-DB2AF4DFFD0D}"/>
              </a:ext>
            </a:extLst>
          </p:cNvPr>
          <p:cNvSpPr/>
          <p:nvPr/>
        </p:nvSpPr>
        <p:spPr>
          <a:xfrm>
            <a:off x="9636464" y="3731640"/>
            <a:ext cx="2072238" cy="862648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4400" dirty="0">
                <a:solidFill>
                  <a:schemeClr val="bg1"/>
                </a:solidFill>
                <a:latin typeface="Bradley Hand" pitchFamily="2" charset="77"/>
              </a:rPr>
              <a:t>0</a:t>
            </a:r>
            <a:endParaRPr lang="en-US" sz="4400" dirty="0">
              <a:solidFill>
                <a:schemeClr val="accent6">
                  <a:lumMod val="40000"/>
                  <a:lumOff val="60000"/>
                </a:schemeClr>
              </a:solidFill>
              <a:latin typeface="Bradley Hand" pitchFamily="2" charset="77"/>
            </a:endParaRPr>
          </a:p>
        </p:txBody>
      </p:sp>
      <p:sp>
        <p:nvSpPr>
          <p:cNvPr id="28" name="Rounded Rectangle 27">
            <a:extLst>
              <a:ext uri="{FF2B5EF4-FFF2-40B4-BE49-F238E27FC236}">
                <a16:creationId xmlns:a16="http://schemas.microsoft.com/office/drawing/2014/main" id="{E56F5D74-CE83-47EF-11C5-04C82E13D27D}"/>
              </a:ext>
            </a:extLst>
          </p:cNvPr>
          <p:cNvSpPr/>
          <p:nvPr/>
        </p:nvSpPr>
        <p:spPr>
          <a:xfrm>
            <a:off x="9636464" y="4826215"/>
            <a:ext cx="2072238" cy="862648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4400" dirty="0">
                <a:solidFill>
                  <a:schemeClr val="bg1"/>
                </a:solidFill>
                <a:latin typeface="Bradley Hand" pitchFamily="2" charset="77"/>
              </a:rPr>
              <a:t>1</a:t>
            </a:r>
            <a:endParaRPr lang="en-US" sz="4400" dirty="0">
              <a:solidFill>
                <a:schemeClr val="accent6">
                  <a:lumMod val="40000"/>
                  <a:lumOff val="60000"/>
                </a:schemeClr>
              </a:solidFill>
              <a:latin typeface="Bradley Hand" pitchFamily="2" charset="77"/>
            </a:endParaRPr>
          </a:p>
        </p:txBody>
      </p:sp>
      <p:sp>
        <p:nvSpPr>
          <p:cNvPr id="29" name="Rounded Rectangle 28">
            <a:extLst>
              <a:ext uri="{FF2B5EF4-FFF2-40B4-BE49-F238E27FC236}">
                <a16:creationId xmlns:a16="http://schemas.microsoft.com/office/drawing/2014/main" id="{58E37086-1D2E-3ABE-1FB6-1C06643058BB}"/>
              </a:ext>
            </a:extLst>
          </p:cNvPr>
          <p:cNvSpPr/>
          <p:nvPr/>
        </p:nvSpPr>
        <p:spPr>
          <a:xfrm>
            <a:off x="9636464" y="5936613"/>
            <a:ext cx="2072238" cy="862648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4400" dirty="0">
                <a:solidFill>
                  <a:schemeClr val="bg1"/>
                </a:solidFill>
                <a:latin typeface="Bradley Hand" pitchFamily="2" charset="77"/>
              </a:rPr>
              <a:t>0</a:t>
            </a:r>
            <a:endParaRPr lang="en-US" sz="4400" dirty="0">
              <a:solidFill>
                <a:schemeClr val="accent6">
                  <a:lumMod val="40000"/>
                  <a:lumOff val="60000"/>
                </a:schemeClr>
              </a:solidFill>
              <a:latin typeface="Bradley Hand" pitchFamily="2" charset="77"/>
            </a:endParaRPr>
          </a:p>
        </p:txBody>
      </p:sp>
      <p:sp>
        <p:nvSpPr>
          <p:cNvPr id="30" name="Rounded Rectangle 29">
            <a:extLst>
              <a:ext uri="{FF2B5EF4-FFF2-40B4-BE49-F238E27FC236}">
                <a16:creationId xmlns:a16="http://schemas.microsoft.com/office/drawing/2014/main" id="{18367F30-3A85-4D2E-567F-87C7784227BF}"/>
              </a:ext>
            </a:extLst>
          </p:cNvPr>
          <p:cNvSpPr/>
          <p:nvPr/>
        </p:nvSpPr>
        <p:spPr>
          <a:xfrm>
            <a:off x="9636464" y="7031188"/>
            <a:ext cx="2072238" cy="862648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4400" dirty="0">
                <a:solidFill>
                  <a:schemeClr val="bg1"/>
                </a:solidFill>
                <a:latin typeface="Bradley Hand" pitchFamily="2" charset="77"/>
              </a:rPr>
              <a:t>2</a:t>
            </a:r>
            <a:endParaRPr lang="en-US" sz="4400" dirty="0">
              <a:solidFill>
                <a:schemeClr val="accent6">
                  <a:lumMod val="40000"/>
                  <a:lumOff val="60000"/>
                </a:schemeClr>
              </a:solidFill>
              <a:latin typeface="Bradley Hand" pitchFamily="2" charset="77"/>
            </a:endParaRPr>
          </a:p>
        </p:txBody>
      </p:sp>
      <p:sp>
        <p:nvSpPr>
          <p:cNvPr id="31" name="Rounded Rectangle 30">
            <a:extLst>
              <a:ext uri="{FF2B5EF4-FFF2-40B4-BE49-F238E27FC236}">
                <a16:creationId xmlns:a16="http://schemas.microsoft.com/office/drawing/2014/main" id="{A0BE4E67-96CF-71FB-07C6-566B888FAE46}"/>
              </a:ext>
            </a:extLst>
          </p:cNvPr>
          <p:cNvSpPr/>
          <p:nvPr/>
        </p:nvSpPr>
        <p:spPr>
          <a:xfrm>
            <a:off x="9636464" y="8125763"/>
            <a:ext cx="2072238" cy="862648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4400" dirty="0">
                <a:solidFill>
                  <a:schemeClr val="bg1"/>
                </a:solidFill>
                <a:latin typeface="Bradley Hand" pitchFamily="2" charset="77"/>
              </a:rPr>
              <a:t>1</a:t>
            </a:r>
            <a:endParaRPr lang="en-US" sz="4400" dirty="0">
              <a:solidFill>
                <a:schemeClr val="accent6">
                  <a:lumMod val="40000"/>
                  <a:lumOff val="60000"/>
                </a:schemeClr>
              </a:solidFill>
              <a:latin typeface="Bradley Hand" pitchFamily="2" charset="77"/>
            </a:endParaRPr>
          </a:p>
        </p:txBody>
      </p:sp>
      <p:sp>
        <p:nvSpPr>
          <p:cNvPr id="32" name="Rounded Rectangle 31">
            <a:extLst>
              <a:ext uri="{FF2B5EF4-FFF2-40B4-BE49-F238E27FC236}">
                <a16:creationId xmlns:a16="http://schemas.microsoft.com/office/drawing/2014/main" id="{92C07DBA-F289-1D1F-915F-3DD3E3EB5F84}"/>
              </a:ext>
            </a:extLst>
          </p:cNvPr>
          <p:cNvSpPr/>
          <p:nvPr/>
        </p:nvSpPr>
        <p:spPr>
          <a:xfrm>
            <a:off x="9636464" y="9220338"/>
            <a:ext cx="2072238" cy="862648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4400" dirty="0">
                <a:solidFill>
                  <a:schemeClr val="bg1"/>
                </a:solidFill>
                <a:latin typeface="Bradley Hand" pitchFamily="2" charset="77"/>
              </a:rPr>
              <a:t>2</a:t>
            </a:r>
            <a:endParaRPr lang="en-US" sz="4400" dirty="0">
              <a:solidFill>
                <a:schemeClr val="accent6">
                  <a:lumMod val="40000"/>
                  <a:lumOff val="60000"/>
                </a:schemeClr>
              </a:solidFill>
              <a:latin typeface="Bradley Hand" pitchFamily="2" charset="77"/>
            </a:endParaRPr>
          </a:p>
        </p:txBody>
      </p:sp>
      <p:sp>
        <p:nvSpPr>
          <p:cNvPr id="33" name="Rounded Rectangle 32">
            <a:extLst>
              <a:ext uri="{FF2B5EF4-FFF2-40B4-BE49-F238E27FC236}">
                <a16:creationId xmlns:a16="http://schemas.microsoft.com/office/drawing/2014/main" id="{2A644208-DC84-D98B-21FF-84EF66E9B837}"/>
              </a:ext>
            </a:extLst>
          </p:cNvPr>
          <p:cNvSpPr/>
          <p:nvPr/>
        </p:nvSpPr>
        <p:spPr>
          <a:xfrm>
            <a:off x="12319413" y="1637408"/>
            <a:ext cx="2072238" cy="862648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4400" dirty="0">
                <a:solidFill>
                  <a:schemeClr val="bg1"/>
                </a:solidFill>
                <a:latin typeface="Bradley Hand" pitchFamily="2" charset="77"/>
              </a:rPr>
              <a:t>Total</a:t>
            </a:r>
            <a:endParaRPr lang="en-US" sz="4400" dirty="0">
              <a:solidFill>
                <a:schemeClr val="accent6">
                  <a:lumMod val="40000"/>
                  <a:lumOff val="60000"/>
                </a:schemeClr>
              </a:solidFill>
              <a:latin typeface="Bradley Hand" pitchFamily="2" charset="77"/>
            </a:endParaRPr>
          </a:p>
        </p:txBody>
      </p:sp>
      <p:sp>
        <p:nvSpPr>
          <p:cNvPr id="34" name="Rounded Rectangle 33">
            <a:extLst>
              <a:ext uri="{FF2B5EF4-FFF2-40B4-BE49-F238E27FC236}">
                <a16:creationId xmlns:a16="http://schemas.microsoft.com/office/drawing/2014/main" id="{ACA8E4A3-B380-6AFA-B043-30707E01D84D}"/>
              </a:ext>
            </a:extLst>
          </p:cNvPr>
          <p:cNvSpPr/>
          <p:nvPr/>
        </p:nvSpPr>
        <p:spPr>
          <a:xfrm>
            <a:off x="12319413" y="3731640"/>
            <a:ext cx="2072238" cy="862648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4400" dirty="0">
                <a:solidFill>
                  <a:schemeClr val="bg1"/>
                </a:solidFill>
                <a:latin typeface="Bradley Hand" pitchFamily="2" charset="77"/>
              </a:rPr>
              <a:t>0</a:t>
            </a:r>
            <a:endParaRPr lang="en-US" sz="4400" dirty="0">
              <a:solidFill>
                <a:schemeClr val="accent6">
                  <a:lumMod val="40000"/>
                  <a:lumOff val="60000"/>
                </a:schemeClr>
              </a:solidFill>
              <a:latin typeface="Bradley Hand" pitchFamily="2" charset="77"/>
            </a:endParaRPr>
          </a:p>
        </p:txBody>
      </p:sp>
      <p:sp>
        <p:nvSpPr>
          <p:cNvPr id="35" name="Rounded Rectangle 34">
            <a:extLst>
              <a:ext uri="{FF2B5EF4-FFF2-40B4-BE49-F238E27FC236}">
                <a16:creationId xmlns:a16="http://schemas.microsoft.com/office/drawing/2014/main" id="{E573B674-DA21-903D-FE8A-8E56DFDBB598}"/>
              </a:ext>
            </a:extLst>
          </p:cNvPr>
          <p:cNvSpPr/>
          <p:nvPr/>
        </p:nvSpPr>
        <p:spPr>
          <a:xfrm>
            <a:off x="12319413" y="4826215"/>
            <a:ext cx="2072238" cy="862648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4400" dirty="0">
                <a:solidFill>
                  <a:schemeClr val="bg1"/>
                </a:solidFill>
                <a:latin typeface="Bradley Hand" pitchFamily="2" charset="77"/>
              </a:rPr>
              <a:t>1</a:t>
            </a:r>
            <a:endParaRPr lang="en-US" sz="4400" dirty="0">
              <a:solidFill>
                <a:schemeClr val="accent6">
                  <a:lumMod val="40000"/>
                  <a:lumOff val="60000"/>
                </a:schemeClr>
              </a:solidFill>
              <a:latin typeface="Bradley Hand" pitchFamily="2" charset="77"/>
            </a:endParaRPr>
          </a:p>
        </p:txBody>
      </p:sp>
      <p:sp>
        <p:nvSpPr>
          <p:cNvPr id="36" name="Rounded Rectangle 35">
            <a:extLst>
              <a:ext uri="{FF2B5EF4-FFF2-40B4-BE49-F238E27FC236}">
                <a16:creationId xmlns:a16="http://schemas.microsoft.com/office/drawing/2014/main" id="{33933A3B-F43B-DF83-8F9D-8F8A02CD5A25}"/>
              </a:ext>
            </a:extLst>
          </p:cNvPr>
          <p:cNvSpPr/>
          <p:nvPr/>
        </p:nvSpPr>
        <p:spPr>
          <a:xfrm>
            <a:off x="12319413" y="5936613"/>
            <a:ext cx="2072238" cy="862648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4400" dirty="0">
                <a:solidFill>
                  <a:schemeClr val="bg1"/>
                </a:solidFill>
                <a:latin typeface="Bradley Hand" pitchFamily="2" charset="77"/>
              </a:rPr>
              <a:t>1</a:t>
            </a:r>
            <a:endParaRPr lang="en-US" sz="4400" dirty="0">
              <a:solidFill>
                <a:schemeClr val="accent6">
                  <a:lumMod val="40000"/>
                  <a:lumOff val="60000"/>
                </a:schemeClr>
              </a:solidFill>
              <a:latin typeface="Bradley Hand" pitchFamily="2" charset="77"/>
            </a:endParaRPr>
          </a:p>
        </p:txBody>
      </p:sp>
      <p:sp>
        <p:nvSpPr>
          <p:cNvPr id="37" name="Rounded Rectangle 36">
            <a:extLst>
              <a:ext uri="{FF2B5EF4-FFF2-40B4-BE49-F238E27FC236}">
                <a16:creationId xmlns:a16="http://schemas.microsoft.com/office/drawing/2014/main" id="{8D16F7F7-374C-D218-A028-0670E6E3FAA7}"/>
              </a:ext>
            </a:extLst>
          </p:cNvPr>
          <p:cNvSpPr/>
          <p:nvPr/>
        </p:nvSpPr>
        <p:spPr>
          <a:xfrm>
            <a:off x="12319413" y="7031188"/>
            <a:ext cx="2072238" cy="862648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4400" dirty="0">
                <a:solidFill>
                  <a:schemeClr val="bg1"/>
                </a:solidFill>
                <a:latin typeface="Bradley Hand" pitchFamily="2" charset="77"/>
              </a:rPr>
              <a:t>2</a:t>
            </a:r>
            <a:endParaRPr lang="en-US" sz="4400" dirty="0">
              <a:solidFill>
                <a:schemeClr val="accent6">
                  <a:lumMod val="40000"/>
                  <a:lumOff val="60000"/>
                </a:schemeClr>
              </a:solidFill>
              <a:latin typeface="Bradley Hand" pitchFamily="2" charset="77"/>
            </a:endParaRPr>
          </a:p>
        </p:txBody>
      </p:sp>
      <p:sp>
        <p:nvSpPr>
          <p:cNvPr id="38" name="Rounded Rectangle 37">
            <a:extLst>
              <a:ext uri="{FF2B5EF4-FFF2-40B4-BE49-F238E27FC236}">
                <a16:creationId xmlns:a16="http://schemas.microsoft.com/office/drawing/2014/main" id="{C8223999-D45A-7707-BFEE-D3B5732333C3}"/>
              </a:ext>
            </a:extLst>
          </p:cNvPr>
          <p:cNvSpPr/>
          <p:nvPr/>
        </p:nvSpPr>
        <p:spPr>
          <a:xfrm>
            <a:off x="12319413" y="8125763"/>
            <a:ext cx="2072238" cy="862648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4400" dirty="0">
                <a:solidFill>
                  <a:schemeClr val="bg1"/>
                </a:solidFill>
                <a:latin typeface="Bradley Hand" pitchFamily="2" charset="77"/>
              </a:rPr>
              <a:t>2</a:t>
            </a:r>
            <a:endParaRPr lang="en-US" sz="4400" dirty="0">
              <a:solidFill>
                <a:schemeClr val="accent6">
                  <a:lumMod val="40000"/>
                  <a:lumOff val="60000"/>
                </a:schemeClr>
              </a:solidFill>
              <a:latin typeface="Bradley Hand" pitchFamily="2" charset="77"/>
            </a:endParaRPr>
          </a:p>
        </p:txBody>
      </p:sp>
      <p:sp>
        <p:nvSpPr>
          <p:cNvPr id="39" name="Rounded Rectangle 38">
            <a:extLst>
              <a:ext uri="{FF2B5EF4-FFF2-40B4-BE49-F238E27FC236}">
                <a16:creationId xmlns:a16="http://schemas.microsoft.com/office/drawing/2014/main" id="{9D570AEA-DAED-A12B-54DD-5E365D505B96}"/>
              </a:ext>
            </a:extLst>
          </p:cNvPr>
          <p:cNvSpPr/>
          <p:nvPr/>
        </p:nvSpPr>
        <p:spPr>
          <a:xfrm>
            <a:off x="12319413" y="9220338"/>
            <a:ext cx="2072238" cy="862648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4400" dirty="0">
                <a:solidFill>
                  <a:schemeClr val="bg1"/>
                </a:solidFill>
                <a:latin typeface="Bradley Hand" pitchFamily="2" charset="77"/>
              </a:rPr>
              <a:t>3</a:t>
            </a:r>
            <a:endParaRPr lang="en-US" sz="4400" dirty="0">
              <a:solidFill>
                <a:schemeClr val="accent6">
                  <a:lumMod val="40000"/>
                  <a:lumOff val="60000"/>
                </a:schemeClr>
              </a:solidFill>
              <a:latin typeface="Bradley Hand" pitchFamily="2" charset="77"/>
            </a:endParaRPr>
          </a:p>
        </p:txBody>
      </p:sp>
      <p:sp>
        <p:nvSpPr>
          <p:cNvPr id="40" name="Rounded Rectangle 39">
            <a:extLst>
              <a:ext uri="{FF2B5EF4-FFF2-40B4-BE49-F238E27FC236}">
                <a16:creationId xmlns:a16="http://schemas.microsoft.com/office/drawing/2014/main" id="{E11C879E-AAB0-B1E6-E8B8-F5960412A0B0}"/>
              </a:ext>
            </a:extLst>
          </p:cNvPr>
          <p:cNvSpPr/>
          <p:nvPr/>
        </p:nvSpPr>
        <p:spPr>
          <a:xfrm>
            <a:off x="15725376" y="6367937"/>
            <a:ext cx="6709322" cy="862648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4400" dirty="0">
                <a:solidFill>
                  <a:schemeClr val="bg1"/>
                </a:solidFill>
                <a:latin typeface="Bradley Hand" pitchFamily="2" charset="77"/>
              </a:rPr>
              <a:t>Average = 9/6=1.5</a:t>
            </a:r>
            <a:endParaRPr lang="en-US" sz="4400" dirty="0">
              <a:solidFill>
                <a:schemeClr val="accent6">
                  <a:lumMod val="40000"/>
                  <a:lumOff val="60000"/>
                </a:schemeClr>
              </a:solidFill>
              <a:latin typeface="Bradley Hand" pitchFamily="2" charset="77"/>
            </a:endParaRPr>
          </a:p>
        </p:txBody>
      </p:sp>
      <p:sp>
        <p:nvSpPr>
          <p:cNvPr id="42" name="Rounded Rectangle 41">
            <a:extLst>
              <a:ext uri="{FF2B5EF4-FFF2-40B4-BE49-F238E27FC236}">
                <a16:creationId xmlns:a16="http://schemas.microsoft.com/office/drawing/2014/main" id="{A1987C27-AA96-5308-2240-29CD4F404673}"/>
              </a:ext>
            </a:extLst>
          </p:cNvPr>
          <p:cNvSpPr/>
          <p:nvPr/>
        </p:nvSpPr>
        <p:spPr>
          <a:xfrm>
            <a:off x="652130" y="11239037"/>
            <a:ext cx="22824916" cy="930751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dirty="0">
                <a:solidFill>
                  <a:schemeClr val="accent5">
                    <a:lumMod val="40000"/>
                    <a:lumOff val="60000"/>
                  </a:schemeClr>
                </a:solidFill>
                <a:latin typeface="Bradley Hand" pitchFamily="2" charset="77"/>
              </a:rPr>
              <a:t>But in general, how do we calculate the average number of swaps?</a:t>
            </a:r>
          </a:p>
        </p:txBody>
      </p:sp>
    </p:spTree>
    <p:extLst>
      <p:ext uri="{BB962C8B-B14F-4D97-AF65-F5344CB8AC3E}">
        <p14:creationId xmlns:p14="http://schemas.microsoft.com/office/powerpoint/2010/main" val="152091685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75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  <p:bldP spid="36" grpId="0" animBg="1"/>
      <p:bldP spid="37" grpId="0" animBg="1"/>
      <p:bldP spid="38" grpId="0" animBg="1"/>
      <p:bldP spid="39" grpId="0" animBg="1"/>
      <p:bldP spid="40" grpId="0" animBg="1"/>
      <p:bldP spid="42" grpId="0" animBg="1"/>
    </p:bld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62222B7E-0C25-2DB3-D0A7-138B57CE7E13}"/>
              </a:ext>
            </a:extLst>
          </p:cNvPr>
          <p:cNvSpPr/>
          <p:nvPr/>
        </p:nvSpPr>
        <p:spPr>
          <a:xfrm>
            <a:off x="779542" y="389663"/>
            <a:ext cx="22824916" cy="2565241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685800" indent="-685800" defTabSz="82550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  <a:latin typeface="Bradley Hand" pitchFamily="2" charset="77"/>
              </a:rPr>
              <a:t>Look at all permutations of size n</a:t>
            </a:r>
          </a:p>
          <a:p>
            <a:pPr marL="685800" indent="-685800" defTabSz="82550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  <a:latin typeface="Bradley Hand" pitchFamily="2" charset="77"/>
              </a:rPr>
              <a:t>Look at the second iteration of insertion sort</a:t>
            </a:r>
          </a:p>
          <a:p>
            <a:pPr marL="685800" indent="-685800" defTabSz="82550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endParaRPr lang="en-US" dirty="0">
              <a:solidFill>
                <a:schemeClr val="bg1"/>
              </a:solidFill>
              <a:latin typeface="Bradley Hand" pitchFamily="2" charset="77"/>
            </a:endParaRPr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3E3F2760-4B6A-DF52-3B15-5A2518D150B5}"/>
              </a:ext>
            </a:extLst>
          </p:cNvPr>
          <p:cNvSpPr/>
          <p:nvPr/>
        </p:nvSpPr>
        <p:spPr>
          <a:xfrm>
            <a:off x="4288287" y="5374187"/>
            <a:ext cx="2072238" cy="862648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4400" dirty="0">
                <a:solidFill>
                  <a:schemeClr val="bg1"/>
                </a:solidFill>
                <a:latin typeface="Bradley Hand" pitchFamily="2" charset="77"/>
              </a:rPr>
              <a:t>n=3</a:t>
            </a:r>
            <a:endParaRPr lang="en-US" sz="4400" dirty="0">
              <a:solidFill>
                <a:schemeClr val="accent6">
                  <a:lumMod val="40000"/>
                  <a:lumOff val="60000"/>
                </a:schemeClr>
              </a:solidFill>
              <a:latin typeface="Bradley Hand" pitchFamily="2" charset="77"/>
            </a:endParaRPr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A8C7959A-4974-BDE7-1194-F16521DA3274}"/>
              </a:ext>
            </a:extLst>
          </p:cNvPr>
          <p:cNvSpPr/>
          <p:nvPr/>
        </p:nvSpPr>
        <p:spPr>
          <a:xfrm>
            <a:off x="4288287" y="6468763"/>
            <a:ext cx="2072238" cy="862648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4400" dirty="0">
                <a:solidFill>
                  <a:schemeClr val="bg1"/>
                </a:solidFill>
                <a:latin typeface="Bradley Hand" pitchFamily="2" charset="77"/>
              </a:rPr>
              <a:t>123</a:t>
            </a:r>
            <a:endParaRPr lang="en-US" sz="4400" dirty="0">
              <a:solidFill>
                <a:schemeClr val="accent6">
                  <a:lumMod val="40000"/>
                  <a:lumOff val="60000"/>
                </a:schemeClr>
              </a:solidFill>
              <a:latin typeface="Bradley Hand" pitchFamily="2" charset="77"/>
            </a:endParaRP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03999BD6-BDCE-3503-4CA8-DA0E5369B60C}"/>
              </a:ext>
            </a:extLst>
          </p:cNvPr>
          <p:cNvSpPr/>
          <p:nvPr/>
        </p:nvSpPr>
        <p:spPr>
          <a:xfrm>
            <a:off x="4288287" y="7563339"/>
            <a:ext cx="2072238" cy="862648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4400" dirty="0">
                <a:solidFill>
                  <a:schemeClr val="bg1"/>
                </a:solidFill>
                <a:latin typeface="Bradley Hand" pitchFamily="2" charset="77"/>
              </a:rPr>
              <a:t>132</a:t>
            </a:r>
            <a:endParaRPr lang="en-US" sz="4400" dirty="0">
              <a:solidFill>
                <a:schemeClr val="accent6">
                  <a:lumMod val="40000"/>
                  <a:lumOff val="60000"/>
                </a:schemeClr>
              </a:solidFill>
              <a:latin typeface="Bradley Hand" pitchFamily="2" charset="77"/>
            </a:endParaRP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FC650827-435B-6165-9A0E-280E0BBF4D84}"/>
              </a:ext>
            </a:extLst>
          </p:cNvPr>
          <p:cNvSpPr/>
          <p:nvPr/>
        </p:nvSpPr>
        <p:spPr>
          <a:xfrm>
            <a:off x="4288287" y="8657915"/>
            <a:ext cx="2072238" cy="862648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4400" dirty="0">
                <a:solidFill>
                  <a:schemeClr val="bg1"/>
                </a:solidFill>
                <a:latin typeface="Bradley Hand" pitchFamily="2" charset="77"/>
              </a:rPr>
              <a:t>213</a:t>
            </a:r>
            <a:endParaRPr lang="en-US" sz="4400" dirty="0">
              <a:solidFill>
                <a:schemeClr val="accent6">
                  <a:lumMod val="40000"/>
                  <a:lumOff val="60000"/>
                </a:schemeClr>
              </a:solidFill>
              <a:latin typeface="Bradley Hand" pitchFamily="2" charset="77"/>
            </a:endParaRP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F290D55E-01DF-59BD-E7ED-D34408A963BC}"/>
              </a:ext>
            </a:extLst>
          </p:cNvPr>
          <p:cNvSpPr/>
          <p:nvPr/>
        </p:nvSpPr>
        <p:spPr>
          <a:xfrm>
            <a:off x="4288287" y="9752491"/>
            <a:ext cx="2072238" cy="862648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4400" dirty="0">
                <a:solidFill>
                  <a:schemeClr val="bg1"/>
                </a:solidFill>
                <a:latin typeface="Bradley Hand" pitchFamily="2" charset="77"/>
              </a:rPr>
              <a:t>231</a:t>
            </a:r>
            <a:endParaRPr lang="en-US" sz="4400" dirty="0">
              <a:solidFill>
                <a:schemeClr val="accent6">
                  <a:lumMod val="40000"/>
                  <a:lumOff val="60000"/>
                </a:schemeClr>
              </a:solidFill>
              <a:latin typeface="Bradley Hand" pitchFamily="2" charset="77"/>
            </a:endParaRP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24A2CBF7-FFFD-ED30-9E26-CE1F3BE85B8F}"/>
              </a:ext>
            </a:extLst>
          </p:cNvPr>
          <p:cNvSpPr/>
          <p:nvPr/>
        </p:nvSpPr>
        <p:spPr>
          <a:xfrm>
            <a:off x="4288287" y="10847067"/>
            <a:ext cx="2072238" cy="862648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4400" dirty="0">
                <a:solidFill>
                  <a:schemeClr val="bg1"/>
                </a:solidFill>
                <a:latin typeface="Bradley Hand" pitchFamily="2" charset="77"/>
              </a:rPr>
              <a:t>312</a:t>
            </a:r>
            <a:endParaRPr lang="en-US" sz="4400" dirty="0">
              <a:solidFill>
                <a:schemeClr val="accent6">
                  <a:lumMod val="40000"/>
                  <a:lumOff val="60000"/>
                </a:schemeClr>
              </a:solidFill>
              <a:latin typeface="Bradley Hand" pitchFamily="2" charset="77"/>
            </a:endParaRP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7C638EA4-1862-EEB6-381E-C36B4468DE79}"/>
              </a:ext>
            </a:extLst>
          </p:cNvPr>
          <p:cNvSpPr/>
          <p:nvPr/>
        </p:nvSpPr>
        <p:spPr>
          <a:xfrm>
            <a:off x="4288287" y="11941642"/>
            <a:ext cx="2072238" cy="862648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4400" dirty="0">
                <a:solidFill>
                  <a:schemeClr val="bg1"/>
                </a:solidFill>
                <a:latin typeface="Bradley Hand" pitchFamily="2" charset="77"/>
              </a:rPr>
              <a:t>321</a:t>
            </a:r>
            <a:endParaRPr lang="en-US" sz="4400" dirty="0">
              <a:solidFill>
                <a:schemeClr val="accent6">
                  <a:lumMod val="40000"/>
                  <a:lumOff val="60000"/>
                </a:schemeClr>
              </a:solidFill>
              <a:latin typeface="Bradley Hand" pitchFamily="2" charset="77"/>
            </a:endParaRP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269A4C3B-A9C7-DF21-0CD7-236377BF90F4}"/>
              </a:ext>
            </a:extLst>
          </p:cNvPr>
          <p:cNvSpPr/>
          <p:nvPr/>
        </p:nvSpPr>
        <p:spPr>
          <a:xfrm>
            <a:off x="7375273" y="4353488"/>
            <a:ext cx="2072238" cy="862648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4400" dirty="0">
                <a:solidFill>
                  <a:schemeClr val="bg1"/>
                </a:solidFill>
                <a:latin typeface="Bradley Hand" pitchFamily="2" charset="77"/>
              </a:rPr>
              <a:t>1</a:t>
            </a:r>
            <a:endParaRPr lang="en-US" sz="4400" dirty="0">
              <a:solidFill>
                <a:schemeClr val="accent6">
                  <a:lumMod val="40000"/>
                  <a:lumOff val="60000"/>
                </a:schemeClr>
              </a:solidFill>
              <a:latin typeface="Bradley Hand" pitchFamily="2" charset="77"/>
            </a:endParaRP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55C9D598-1BC7-4F9D-3872-71B08BF40354}"/>
              </a:ext>
            </a:extLst>
          </p:cNvPr>
          <p:cNvSpPr/>
          <p:nvPr/>
        </p:nvSpPr>
        <p:spPr>
          <a:xfrm>
            <a:off x="7375273" y="6426676"/>
            <a:ext cx="2072238" cy="862648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4400" dirty="0">
                <a:solidFill>
                  <a:schemeClr val="bg1"/>
                </a:solidFill>
                <a:latin typeface="Bradley Hand" pitchFamily="2" charset="77"/>
              </a:rPr>
              <a:t>0</a:t>
            </a:r>
            <a:endParaRPr lang="en-US" sz="4400" dirty="0">
              <a:solidFill>
                <a:schemeClr val="accent6">
                  <a:lumMod val="40000"/>
                  <a:lumOff val="60000"/>
                </a:schemeClr>
              </a:solidFill>
              <a:latin typeface="Bradley Hand" pitchFamily="2" charset="77"/>
            </a:endParaRPr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9EF72232-0BD8-3AFD-F7B0-724D4B408E36}"/>
              </a:ext>
            </a:extLst>
          </p:cNvPr>
          <p:cNvSpPr/>
          <p:nvPr/>
        </p:nvSpPr>
        <p:spPr>
          <a:xfrm>
            <a:off x="7375273" y="7521251"/>
            <a:ext cx="2072238" cy="862648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4400" dirty="0">
                <a:solidFill>
                  <a:schemeClr val="bg1"/>
                </a:solidFill>
                <a:latin typeface="Bradley Hand" pitchFamily="2" charset="77"/>
              </a:rPr>
              <a:t>0</a:t>
            </a:r>
            <a:endParaRPr lang="en-US" sz="4400" dirty="0">
              <a:solidFill>
                <a:schemeClr val="accent6">
                  <a:lumMod val="40000"/>
                  <a:lumOff val="60000"/>
                </a:schemeClr>
              </a:solidFill>
              <a:latin typeface="Bradley Hand" pitchFamily="2" charset="77"/>
            </a:endParaRPr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4441EE1B-4D30-C395-CC34-929F01234832}"/>
              </a:ext>
            </a:extLst>
          </p:cNvPr>
          <p:cNvSpPr/>
          <p:nvPr/>
        </p:nvSpPr>
        <p:spPr>
          <a:xfrm>
            <a:off x="7375273" y="8631649"/>
            <a:ext cx="2072238" cy="862648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4400" dirty="0">
                <a:solidFill>
                  <a:schemeClr val="bg1"/>
                </a:solidFill>
                <a:latin typeface="Bradley Hand" pitchFamily="2" charset="77"/>
              </a:rPr>
              <a:t>0</a:t>
            </a:r>
            <a:endParaRPr lang="en-US" sz="4400" dirty="0">
              <a:solidFill>
                <a:schemeClr val="accent6">
                  <a:lumMod val="40000"/>
                  <a:lumOff val="60000"/>
                </a:schemeClr>
              </a:solidFill>
              <a:latin typeface="Bradley Hand" pitchFamily="2" charset="77"/>
            </a:endParaRPr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8C2EAC01-2D6D-5B1F-1CC3-B78ED0E6420E}"/>
              </a:ext>
            </a:extLst>
          </p:cNvPr>
          <p:cNvSpPr/>
          <p:nvPr/>
        </p:nvSpPr>
        <p:spPr>
          <a:xfrm>
            <a:off x="7375273" y="9726224"/>
            <a:ext cx="2072238" cy="862648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4400" dirty="0">
                <a:solidFill>
                  <a:schemeClr val="bg1"/>
                </a:solidFill>
                <a:latin typeface="Bradley Hand" pitchFamily="2" charset="77"/>
              </a:rPr>
              <a:t>0</a:t>
            </a:r>
            <a:endParaRPr lang="en-US" sz="4400" dirty="0">
              <a:solidFill>
                <a:schemeClr val="accent6">
                  <a:lumMod val="40000"/>
                  <a:lumOff val="60000"/>
                </a:schemeClr>
              </a:solidFill>
              <a:latin typeface="Bradley Hand" pitchFamily="2" charset="77"/>
            </a:endParaRPr>
          </a:p>
        </p:txBody>
      </p: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E91DDC2D-12C4-E0DE-DC45-03A0F62D4EBC}"/>
              </a:ext>
            </a:extLst>
          </p:cNvPr>
          <p:cNvSpPr/>
          <p:nvPr/>
        </p:nvSpPr>
        <p:spPr>
          <a:xfrm>
            <a:off x="7375273" y="10820799"/>
            <a:ext cx="2072238" cy="862648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4400" dirty="0">
                <a:solidFill>
                  <a:schemeClr val="bg1"/>
                </a:solidFill>
                <a:latin typeface="Bradley Hand" pitchFamily="2" charset="77"/>
              </a:rPr>
              <a:t>0</a:t>
            </a:r>
            <a:endParaRPr lang="en-US" sz="4400" dirty="0">
              <a:solidFill>
                <a:schemeClr val="accent6">
                  <a:lumMod val="40000"/>
                  <a:lumOff val="60000"/>
                </a:schemeClr>
              </a:solidFill>
              <a:latin typeface="Bradley Hand" pitchFamily="2" charset="77"/>
            </a:endParaRPr>
          </a:p>
        </p:txBody>
      </p: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E13A65A2-052D-9729-22C1-E1E046A6B307}"/>
              </a:ext>
            </a:extLst>
          </p:cNvPr>
          <p:cNvSpPr/>
          <p:nvPr/>
        </p:nvSpPr>
        <p:spPr>
          <a:xfrm>
            <a:off x="7375273" y="11915374"/>
            <a:ext cx="2072238" cy="862648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4400" dirty="0">
                <a:solidFill>
                  <a:schemeClr val="bg1"/>
                </a:solidFill>
                <a:latin typeface="Bradley Hand" pitchFamily="2" charset="77"/>
              </a:rPr>
              <a:t>0</a:t>
            </a:r>
            <a:endParaRPr lang="en-US" sz="4400" dirty="0">
              <a:solidFill>
                <a:schemeClr val="accent6">
                  <a:lumMod val="40000"/>
                  <a:lumOff val="60000"/>
                </a:schemeClr>
              </a:solidFill>
              <a:latin typeface="Bradley Hand" pitchFamily="2" charset="77"/>
            </a:endParaRPr>
          </a:p>
        </p:txBody>
      </p:sp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35D5103A-2AF7-BEE8-421C-60C32D6883F1}"/>
              </a:ext>
            </a:extLst>
          </p:cNvPr>
          <p:cNvSpPr/>
          <p:nvPr/>
        </p:nvSpPr>
        <p:spPr>
          <a:xfrm>
            <a:off x="10058222" y="4353488"/>
            <a:ext cx="2072238" cy="862648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4400" dirty="0">
                <a:solidFill>
                  <a:schemeClr val="bg1"/>
                </a:solidFill>
                <a:latin typeface="Bradley Hand" pitchFamily="2" charset="77"/>
              </a:rPr>
              <a:t>2</a:t>
            </a:r>
            <a:endParaRPr lang="en-US" sz="4400" dirty="0">
              <a:solidFill>
                <a:schemeClr val="accent6">
                  <a:lumMod val="40000"/>
                  <a:lumOff val="60000"/>
                </a:schemeClr>
              </a:solidFill>
              <a:latin typeface="Bradley Hand" pitchFamily="2" charset="77"/>
            </a:endParaRPr>
          </a:p>
        </p:txBody>
      </p:sp>
      <p:sp>
        <p:nvSpPr>
          <p:cNvPr id="18" name="Rounded Rectangle 17">
            <a:extLst>
              <a:ext uri="{FF2B5EF4-FFF2-40B4-BE49-F238E27FC236}">
                <a16:creationId xmlns:a16="http://schemas.microsoft.com/office/drawing/2014/main" id="{F117AD9B-D927-EBBD-5270-C5A3C2852F6F}"/>
              </a:ext>
            </a:extLst>
          </p:cNvPr>
          <p:cNvSpPr/>
          <p:nvPr/>
        </p:nvSpPr>
        <p:spPr>
          <a:xfrm>
            <a:off x="10058222" y="6426676"/>
            <a:ext cx="2072238" cy="862648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4400" dirty="0">
                <a:solidFill>
                  <a:schemeClr val="bg1"/>
                </a:solidFill>
                <a:latin typeface="Bradley Hand" pitchFamily="2" charset="77"/>
              </a:rPr>
              <a:t>0</a:t>
            </a:r>
            <a:endParaRPr lang="en-US" sz="4400" dirty="0">
              <a:solidFill>
                <a:schemeClr val="accent6">
                  <a:lumMod val="40000"/>
                  <a:lumOff val="60000"/>
                </a:schemeClr>
              </a:solidFill>
              <a:latin typeface="Bradley Hand" pitchFamily="2" charset="77"/>
            </a:endParaRPr>
          </a:p>
        </p:txBody>
      </p:sp>
      <p:sp>
        <p:nvSpPr>
          <p:cNvPr id="19" name="Rounded Rectangle 18">
            <a:extLst>
              <a:ext uri="{FF2B5EF4-FFF2-40B4-BE49-F238E27FC236}">
                <a16:creationId xmlns:a16="http://schemas.microsoft.com/office/drawing/2014/main" id="{BB498BA5-8211-EDB3-C2B5-BD5073DD2304}"/>
              </a:ext>
            </a:extLst>
          </p:cNvPr>
          <p:cNvSpPr/>
          <p:nvPr/>
        </p:nvSpPr>
        <p:spPr>
          <a:xfrm>
            <a:off x="10058222" y="7521251"/>
            <a:ext cx="2072238" cy="862648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4400" dirty="0">
                <a:solidFill>
                  <a:schemeClr val="bg1"/>
                </a:solidFill>
                <a:latin typeface="Bradley Hand" pitchFamily="2" charset="77"/>
              </a:rPr>
              <a:t>0</a:t>
            </a:r>
            <a:endParaRPr lang="en-US" sz="4400" dirty="0">
              <a:solidFill>
                <a:schemeClr val="accent6">
                  <a:lumMod val="40000"/>
                  <a:lumOff val="60000"/>
                </a:schemeClr>
              </a:solidFill>
              <a:latin typeface="Bradley Hand" pitchFamily="2" charset="77"/>
            </a:endParaRPr>
          </a:p>
        </p:txBody>
      </p:sp>
      <p:sp>
        <p:nvSpPr>
          <p:cNvPr id="20" name="Rounded Rectangle 19">
            <a:extLst>
              <a:ext uri="{FF2B5EF4-FFF2-40B4-BE49-F238E27FC236}">
                <a16:creationId xmlns:a16="http://schemas.microsoft.com/office/drawing/2014/main" id="{2E6FF724-9F14-A02C-8F67-13083481239D}"/>
              </a:ext>
            </a:extLst>
          </p:cNvPr>
          <p:cNvSpPr/>
          <p:nvPr/>
        </p:nvSpPr>
        <p:spPr>
          <a:xfrm>
            <a:off x="10058222" y="8631649"/>
            <a:ext cx="2072238" cy="862648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4400" dirty="0">
                <a:solidFill>
                  <a:schemeClr val="bg1"/>
                </a:solidFill>
                <a:latin typeface="Bradley Hand" pitchFamily="2" charset="77"/>
              </a:rPr>
              <a:t>1</a:t>
            </a:r>
            <a:endParaRPr lang="en-US" sz="4400" dirty="0">
              <a:solidFill>
                <a:schemeClr val="accent6">
                  <a:lumMod val="40000"/>
                  <a:lumOff val="60000"/>
                </a:schemeClr>
              </a:solidFill>
              <a:latin typeface="Bradley Hand" pitchFamily="2" charset="77"/>
            </a:endParaRPr>
          </a:p>
        </p:txBody>
      </p:sp>
      <p:sp>
        <p:nvSpPr>
          <p:cNvPr id="21" name="Rounded Rectangle 20">
            <a:extLst>
              <a:ext uri="{FF2B5EF4-FFF2-40B4-BE49-F238E27FC236}">
                <a16:creationId xmlns:a16="http://schemas.microsoft.com/office/drawing/2014/main" id="{2F9014C4-2DF2-8505-EDF3-10F11BF858EC}"/>
              </a:ext>
            </a:extLst>
          </p:cNvPr>
          <p:cNvSpPr/>
          <p:nvPr/>
        </p:nvSpPr>
        <p:spPr>
          <a:xfrm>
            <a:off x="10058222" y="9726224"/>
            <a:ext cx="2072238" cy="862648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4400" dirty="0">
                <a:solidFill>
                  <a:schemeClr val="bg1"/>
                </a:solidFill>
                <a:latin typeface="Bradley Hand" pitchFamily="2" charset="77"/>
              </a:rPr>
              <a:t>0</a:t>
            </a:r>
            <a:endParaRPr lang="en-US" sz="4400" dirty="0">
              <a:solidFill>
                <a:schemeClr val="accent6">
                  <a:lumMod val="40000"/>
                  <a:lumOff val="60000"/>
                </a:schemeClr>
              </a:solidFill>
              <a:latin typeface="Bradley Hand" pitchFamily="2" charset="77"/>
            </a:endParaRPr>
          </a:p>
        </p:txBody>
      </p:sp>
      <p:sp>
        <p:nvSpPr>
          <p:cNvPr id="22" name="Rounded Rectangle 21">
            <a:extLst>
              <a:ext uri="{FF2B5EF4-FFF2-40B4-BE49-F238E27FC236}">
                <a16:creationId xmlns:a16="http://schemas.microsoft.com/office/drawing/2014/main" id="{B5FA7FFF-326B-2586-3E2C-5729C59CBF6B}"/>
              </a:ext>
            </a:extLst>
          </p:cNvPr>
          <p:cNvSpPr/>
          <p:nvPr/>
        </p:nvSpPr>
        <p:spPr>
          <a:xfrm>
            <a:off x="10058222" y="10820799"/>
            <a:ext cx="2072238" cy="862648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4400" dirty="0">
                <a:solidFill>
                  <a:schemeClr val="bg1"/>
                </a:solidFill>
                <a:latin typeface="Bradley Hand" pitchFamily="2" charset="77"/>
              </a:rPr>
              <a:t>1</a:t>
            </a:r>
            <a:endParaRPr lang="en-US" sz="4400" dirty="0">
              <a:solidFill>
                <a:schemeClr val="accent6">
                  <a:lumMod val="40000"/>
                  <a:lumOff val="60000"/>
                </a:schemeClr>
              </a:solidFill>
              <a:latin typeface="Bradley Hand" pitchFamily="2" charset="77"/>
            </a:endParaRPr>
          </a:p>
        </p:txBody>
      </p:sp>
      <p:sp>
        <p:nvSpPr>
          <p:cNvPr id="23" name="Rounded Rectangle 22">
            <a:extLst>
              <a:ext uri="{FF2B5EF4-FFF2-40B4-BE49-F238E27FC236}">
                <a16:creationId xmlns:a16="http://schemas.microsoft.com/office/drawing/2014/main" id="{BAD6D419-CF52-D74C-6A69-6A5C60CA42D3}"/>
              </a:ext>
            </a:extLst>
          </p:cNvPr>
          <p:cNvSpPr/>
          <p:nvPr/>
        </p:nvSpPr>
        <p:spPr>
          <a:xfrm>
            <a:off x="10058222" y="11915374"/>
            <a:ext cx="2072238" cy="862648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4400" dirty="0">
                <a:solidFill>
                  <a:schemeClr val="bg1"/>
                </a:solidFill>
                <a:latin typeface="Bradley Hand" pitchFamily="2" charset="77"/>
              </a:rPr>
              <a:t>1</a:t>
            </a:r>
            <a:endParaRPr lang="en-US" sz="4400" dirty="0">
              <a:solidFill>
                <a:schemeClr val="accent6">
                  <a:lumMod val="40000"/>
                  <a:lumOff val="60000"/>
                </a:schemeClr>
              </a:solidFill>
              <a:latin typeface="Bradley Hand" pitchFamily="2" charset="77"/>
            </a:endParaRPr>
          </a:p>
        </p:txBody>
      </p:sp>
      <p:sp>
        <p:nvSpPr>
          <p:cNvPr id="24" name="Rounded Rectangle 23">
            <a:extLst>
              <a:ext uri="{FF2B5EF4-FFF2-40B4-BE49-F238E27FC236}">
                <a16:creationId xmlns:a16="http://schemas.microsoft.com/office/drawing/2014/main" id="{226035E6-5887-A061-B8EE-099B61144525}"/>
              </a:ext>
            </a:extLst>
          </p:cNvPr>
          <p:cNvSpPr/>
          <p:nvPr/>
        </p:nvSpPr>
        <p:spPr>
          <a:xfrm>
            <a:off x="12741171" y="4353488"/>
            <a:ext cx="2072238" cy="862648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4400" dirty="0">
                <a:solidFill>
                  <a:schemeClr val="bg1"/>
                </a:solidFill>
                <a:latin typeface="Bradley Hand" pitchFamily="2" charset="77"/>
              </a:rPr>
              <a:t>3</a:t>
            </a:r>
            <a:endParaRPr lang="en-US" sz="4400" dirty="0">
              <a:solidFill>
                <a:schemeClr val="accent6">
                  <a:lumMod val="40000"/>
                  <a:lumOff val="60000"/>
                </a:schemeClr>
              </a:solidFill>
              <a:latin typeface="Bradley Hand" pitchFamily="2" charset="77"/>
            </a:endParaRPr>
          </a:p>
        </p:txBody>
      </p:sp>
      <p:sp>
        <p:nvSpPr>
          <p:cNvPr id="25" name="Rounded Rectangle 24">
            <a:extLst>
              <a:ext uri="{FF2B5EF4-FFF2-40B4-BE49-F238E27FC236}">
                <a16:creationId xmlns:a16="http://schemas.microsoft.com/office/drawing/2014/main" id="{331B8DE3-1A18-BE7A-9E63-6F46E931E50C}"/>
              </a:ext>
            </a:extLst>
          </p:cNvPr>
          <p:cNvSpPr/>
          <p:nvPr/>
        </p:nvSpPr>
        <p:spPr>
          <a:xfrm>
            <a:off x="12741171" y="6426676"/>
            <a:ext cx="2072238" cy="862648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4400" dirty="0">
                <a:solidFill>
                  <a:schemeClr val="bg1"/>
                </a:solidFill>
                <a:latin typeface="Bradley Hand" pitchFamily="2" charset="77"/>
              </a:rPr>
              <a:t>0</a:t>
            </a:r>
            <a:endParaRPr lang="en-US" sz="4400" dirty="0">
              <a:solidFill>
                <a:schemeClr val="accent6">
                  <a:lumMod val="40000"/>
                  <a:lumOff val="60000"/>
                </a:schemeClr>
              </a:solidFill>
              <a:latin typeface="Bradley Hand" pitchFamily="2" charset="77"/>
            </a:endParaRPr>
          </a:p>
        </p:txBody>
      </p:sp>
      <p:sp>
        <p:nvSpPr>
          <p:cNvPr id="26" name="Rounded Rectangle 25">
            <a:extLst>
              <a:ext uri="{FF2B5EF4-FFF2-40B4-BE49-F238E27FC236}">
                <a16:creationId xmlns:a16="http://schemas.microsoft.com/office/drawing/2014/main" id="{00C76453-E181-53DF-0C70-930AA0DD1F53}"/>
              </a:ext>
            </a:extLst>
          </p:cNvPr>
          <p:cNvSpPr/>
          <p:nvPr/>
        </p:nvSpPr>
        <p:spPr>
          <a:xfrm>
            <a:off x="12741171" y="7521251"/>
            <a:ext cx="2072238" cy="862648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4400" dirty="0">
                <a:solidFill>
                  <a:schemeClr val="bg1"/>
                </a:solidFill>
                <a:latin typeface="Bradley Hand" pitchFamily="2" charset="77"/>
              </a:rPr>
              <a:t>1</a:t>
            </a:r>
            <a:endParaRPr lang="en-US" sz="4400" dirty="0">
              <a:solidFill>
                <a:schemeClr val="accent6">
                  <a:lumMod val="40000"/>
                  <a:lumOff val="60000"/>
                </a:schemeClr>
              </a:solidFill>
              <a:latin typeface="Bradley Hand" pitchFamily="2" charset="77"/>
            </a:endParaRPr>
          </a:p>
        </p:txBody>
      </p:sp>
      <p:sp>
        <p:nvSpPr>
          <p:cNvPr id="27" name="Rounded Rectangle 26">
            <a:extLst>
              <a:ext uri="{FF2B5EF4-FFF2-40B4-BE49-F238E27FC236}">
                <a16:creationId xmlns:a16="http://schemas.microsoft.com/office/drawing/2014/main" id="{32561986-1CD9-8A96-BFCE-9D2F426BB11F}"/>
              </a:ext>
            </a:extLst>
          </p:cNvPr>
          <p:cNvSpPr/>
          <p:nvPr/>
        </p:nvSpPr>
        <p:spPr>
          <a:xfrm>
            <a:off x="12741171" y="8631649"/>
            <a:ext cx="2072238" cy="862648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4400" dirty="0">
                <a:solidFill>
                  <a:schemeClr val="bg1"/>
                </a:solidFill>
                <a:latin typeface="Bradley Hand" pitchFamily="2" charset="77"/>
              </a:rPr>
              <a:t>0</a:t>
            </a:r>
            <a:endParaRPr lang="en-US" sz="4400" dirty="0">
              <a:solidFill>
                <a:schemeClr val="accent6">
                  <a:lumMod val="40000"/>
                  <a:lumOff val="60000"/>
                </a:schemeClr>
              </a:solidFill>
              <a:latin typeface="Bradley Hand" pitchFamily="2" charset="77"/>
            </a:endParaRPr>
          </a:p>
        </p:txBody>
      </p:sp>
      <p:sp>
        <p:nvSpPr>
          <p:cNvPr id="28" name="Rounded Rectangle 27">
            <a:extLst>
              <a:ext uri="{FF2B5EF4-FFF2-40B4-BE49-F238E27FC236}">
                <a16:creationId xmlns:a16="http://schemas.microsoft.com/office/drawing/2014/main" id="{2064811A-B968-158B-21C0-FC4C190C161A}"/>
              </a:ext>
            </a:extLst>
          </p:cNvPr>
          <p:cNvSpPr/>
          <p:nvPr/>
        </p:nvSpPr>
        <p:spPr>
          <a:xfrm>
            <a:off x="12741171" y="9726224"/>
            <a:ext cx="2072238" cy="862648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4400" dirty="0">
                <a:solidFill>
                  <a:schemeClr val="bg1"/>
                </a:solidFill>
                <a:latin typeface="Bradley Hand" pitchFamily="2" charset="77"/>
              </a:rPr>
              <a:t>2</a:t>
            </a:r>
            <a:endParaRPr lang="en-US" sz="4400" dirty="0">
              <a:solidFill>
                <a:schemeClr val="accent6">
                  <a:lumMod val="40000"/>
                  <a:lumOff val="60000"/>
                </a:schemeClr>
              </a:solidFill>
              <a:latin typeface="Bradley Hand" pitchFamily="2" charset="77"/>
            </a:endParaRPr>
          </a:p>
        </p:txBody>
      </p:sp>
      <p:sp>
        <p:nvSpPr>
          <p:cNvPr id="29" name="Rounded Rectangle 28">
            <a:extLst>
              <a:ext uri="{FF2B5EF4-FFF2-40B4-BE49-F238E27FC236}">
                <a16:creationId xmlns:a16="http://schemas.microsoft.com/office/drawing/2014/main" id="{01E29C93-2231-8254-8ED9-7FE51E38F23B}"/>
              </a:ext>
            </a:extLst>
          </p:cNvPr>
          <p:cNvSpPr/>
          <p:nvPr/>
        </p:nvSpPr>
        <p:spPr>
          <a:xfrm>
            <a:off x="12741171" y="10820799"/>
            <a:ext cx="2072238" cy="862648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4400" dirty="0">
                <a:solidFill>
                  <a:schemeClr val="bg1"/>
                </a:solidFill>
                <a:latin typeface="Bradley Hand" pitchFamily="2" charset="77"/>
              </a:rPr>
              <a:t>1</a:t>
            </a:r>
            <a:endParaRPr lang="en-US" sz="4400" dirty="0">
              <a:solidFill>
                <a:schemeClr val="accent6">
                  <a:lumMod val="40000"/>
                  <a:lumOff val="60000"/>
                </a:schemeClr>
              </a:solidFill>
              <a:latin typeface="Bradley Hand" pitchFamily="2" charset="77"/>
            </a:endParaRPr>
          </a:p>
        </p:txBody>
      </p:sp>
      <p:sp>
        <p:nvSpPr>
          <p:cNvPr id="30" name="Rounded Rectangle 29">
            <a:extLst>
              <a:ext uri="{FF2B5EF4-FFF2-40B4-BE49-F238E27FC236}">
                <a16:creationId xmlns:a16="http://schemas.microsoft.com/office/drawing/2014/main" id="{5AD0F6F5-F8EA-4D21-2C8D-63C46B7A21BE}"/>
              </a:ext>
            </a:extLst>
          </p:cNvPr>
          <p:cNvSpPr/>
          <p:nvPr/>
        </p:nvSpPr>
        <p:spPr>
          <a:xfrm>
            <a:off x="12741171" y="11915374"/>
            <a:ext cx="2072238" cy="862648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4400" dirty="0">
                <a:solidFill>
                  <a:schemeClr val="bg1"/>
                </a:solidFill>
                <a:latin typeface="Bradley Hand" pitchFamily="2" charset="77"/>
              </a:rPr>
              <a:t>2</a:t>
            </a:r>
            <a:endParaRPr lang="en-US" sz="4400" dirty="0">
              <a:solidFill>
                <a:schemeClr val="accent6">
                  <a:lumMod val="40000"/>
                  <a:lumOff val="60000"/>
                </a:schemeClr>
              </a:solidFill>
              <a:latin typeface="Bradley Hand" pitchFamily="2" charset="77"/>
            </a:endParaRPr>
          </a:p>
        </p:txBody>
      </p:sp>
      <p:sp>
        <p:nvSpPr>
          <p:cNvPr id="31" name="Rounded Rectangle 30">
            <a:extLst>
              <a:ext uri="{FF2B5EF4-FFF2-40B4-BE49-F238E27FC236}">
                <a16:creationId xmlns:a16="http://schemas.microsoft.com/office/drawing/2014/main" id="{A3B889B6-8D20-5D00-4258-0DA3CC17E99C}"/>
              </a:ext>
            </a:extLst>
          </p:cNvPr>
          <p:cNvSpPr/>
          <p:nvPr/>
        </p:nvSpPr>
        <p:spPr>
          <a:xfrm>
            <a:off x="15424120" y="4332444"/>
            <a:ext cx="2072238" cy="862648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4400" dirty="0">
                <a:solidFill>
                  <a:schemeClr val="bg1"/>
                </a:solidFill>
                <a:latin typeface="Bradley Hand" pitchFamily="2" charset="77"/>
              </a:rPr>
              <a:t>Total</a:t>
            </a:r>
            <a:endParaRPr lang="en-US" sz="4400" dirty="0">
              <a:solidFill>
                <a:schemeClr val="accent6">
                  <a:lumMod val="40000"/>
                  <a:lumOff val="60000"/>
                </a:schemeClr>
              </a:solidFill>
              <a:latin typeface="Bradley Hand" pitchFamily="2" charset="77"/>
            </a:endParaRPr>
          </a:p>
        </p:txBody>
      </p:sp>
      <p:sp>
        <p:nvSpPr>
          <p:cNvPr id="32" name="Rounded Rectangle 31">
            <a:extLst>
              <a:ext uri="{FF2B5EF4-FFF2-40B4-BE49-F238E27FC236}">
                <a16:creationId xmlns:a16="http://schemas.microsoft.com/office/drawing/2014/main" id="{C05EA2EE-B714-E4A5-7640-80AEAC572561}"/>
              </a:ext>
            </a:extLst>
          </p:cNvPr>
          <p:cNvSpPr/>
          <p:nvPr/>
        </p:nvSpPr>
        <p:spPr>
          <a:xfrm>
            <a:off x="15424120" y="6426676"/>
            <a:ext cx="2072238" cy="862648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4400" dirty="0">
                <a:solidFill>
                  <a:schemeClr val="bg1"/>
                </a:solidFill>
                <a:latin typeface="Bradley Hand" pitchFamily="2" charset="77"/>
              </a:rPr>
              <a:t>0</a:t>
            </a:r>
            <a:endParaRPr lang="en-US" sz="4400" dirty="0">
              <a:solidFill>
                <a:schemeClr val="accent6">
                  <a:lumMod val="40000"/>
                  <a:lumOff val="60000"/>
                </a:schemeClr>
              </a:solidFill>
              <a:latin typeface="Bradley Hand" pitchFamily="2" charset="77"/>
            </a:endParaRPr>
          </a:p>
        </p:txBody>
      </p:sp>
      <p:sp>
        <p:nvSpPr>
          <p:cNvPr id="33" name="Rounded Rectangle 32">
            <a:extLst>
              <a:ext uri="{FF2B5EF4-FFF2-40B4-BE49-F238E27FC236}">
                <a16:creationId xmlns:a16="http://schemas.microsoft.com/office/drawing/2014/main" id="{BCFBDF77-49DE-C5D7-2990-9F4BCC5DD99A}"/>
              </a:ext>
            </a:extLst>
          </p:cNvPr>
          <p:cNvSpPr/>
          <p:nvPr/>
        </p:nvSpPr>
        <p:spPr>
          <a:xfrm>
            <a:off x="15424120" y="7521251"/>
            <a:ext cx="2072238" cy="862648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4400" dirty="0">
                <a:solidFill>
                  <a:schemeClr val="bg1"/>
                </a:solidFill>
                <a:latin typeface="Bradley Hand" pitchFamily="2" charset="77"/>
              </a:rPr>
              <a:t>1</a:t>
            </a:r>
            <a:endParaRPr lang="en-US" sz="4400" dirty="0">
              <a:solidFill>
                <a:schemeClr val="accent6">
                  <a:lumMod val="40000"/>
                  <a:lumOff val="60000"/>
                </a:schemeClr>
              </a:solidFill>
              <a:latin typeface="Bradley Hand" pitchFamily="2" charset="77"/>
            </a:endParaRPr>
          </a:p>
        </p:txBody>
      </p:sp>
      <p:sp>
        <p:nvSpPr>
          <p:cNvPr id="34" name="Rounded Rectangle 33">
            <a:extLst>
              <a:ext uri="{FF2B5EF4-FFF2-40B4-BE49-F238E27FC236}">
                <a16:creationId xmlns:a16="http://schemas.microsoft.com/office/drawing/2014/main" id="{B75AFC9F-0765-875C-A338-9E614B6DBA3F}"/>
              </a:ext>
            </a:extLst>
          </p:cNvPr>
          <p:cNvSpPr/>
          <p:nvPr/>
        </p:nvSpPr>
        <p:spPr>
          <a:xfrm>
            <a:off x="15424120" y="8631649"/>
            <a:ext cx="2072238" cy="862648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4400" dirty="0">
                <a:solidFill>
                  <a:schemeClr val="bg1"/>
                </a:solidFill>
                <a:latin typeface="Bradley Hand" pitchFamily="2" charset="77"/>
              </a:rPr>
              <a:t>1</a:t>
            </a:r>
            <a:endParaRPr lang="en-US" sz="4400" dirty="0">
              <a:solidFill>
                <a:schemeClr val="accent6">
                  <a:lumMod val="40000"/>
                  <a:lumOff val="60000"/>
                </a:schemeClr>
              </a:solidFill>
              <a:latin typeface="Bradley Hand" pitchFamily="2" charset="77"/>
            </a:endParaRPr>
          </a:p>
        </p:txBody>
      </p:sp>
      <p:sp>
        <p:nvSpPr>
          <p:cNvPr id="35" name="Rounded Rectangle 34">
            <a:extLst>
              <a:ext uri="{FF2B5EF4-FFF2-40B4-BE49-F238E27FC236}">
                <a16:creationId xmlns:a16="http://schemas.microsoft.com/office/drawing/2014/main" id="{0369D53A-DA11-6D09-4F34-CD5112B81D76}"/>
              </a:ext>
            </a:extLst>
          </p:cNvPr>
          <p:cNvSpPr/>
          <p:nvPr/>
        </p:nvSpPr>
        <p:spPr>
          <a:xfrm>
            <a:off x="15424120" y="9726224"/>
            <a:ext cx="2072238" cy="862648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4400" dirty="0">
                <a:solidFill>
                  <a:schemeClr val="bg1"/>
                </a:solidFill>
                <a:latin typeface="Bradley Hand" pitchFamily="2" charset="77"/>
              </a:rPr>
              <a:t>2</a:t>
            </a:r>
            <a:endParaRPr lang="en-US" sz="4400" dirty="0">
              <a:solidFill>
                <a:schemeClr val="accent6">
                  <a:lumMod val="40000"/>
                  <a:lumOff val="60000"/>
                </a:schemeClr>
              </a:solidFill>
              <a:latin typeface="Bradley Hand" pitchFamily="2" charset="77"/>
            </a:endParaRPr>
          </a:p>
        </p:txBody>
      </p:sp>
      <p:sp>
        <p:nvSpPr>
          <p:cNvPr id="36" name="Rounded Rectangle 35">
            <a:extLst>
              <a:ext uri="{FF2B5EF4-FFF2-40B4-BE49-F238E27FC236}">
                <a16:creationId xmlns:a16="http://schemas.microsoft.com/office/drawing/2014/main" id="{931994E9-5053-5D07-24C0-E24964B50F9D}"/>
              </a:ext>
            </a:extLst>
          </p:cNvPr>
          <p:cNvSpPr/>
          <p:nvPr/>
        </p:nvSpPr>
        <p:spPr>
          <a:xfrm>
            <a:off x="15424120" y="10820799"/>
            <a:ext cx="2072238" cy="862648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4400" dirty="0">
                <a:solidFill>
                  <a:schemeClr val="bg1"/>
                </a:solidFill>
                <a:latin typeface="Bradley Hand" pitchFamily="2" charset="77"/>
              </a:rPr>
              <a:t>2</a:t>
            </a:r>
            <a:endParaRPr lang="en-US" sz="4400" dirty="0">
              <a:solidFill>
                <a:schemeClr val="accent6">
                  <a:lumMod val="40000"/>
                  <a:lumOff val="60000"/>
                </a:schemeClr>
              </a:solidFill>
              <a:latin typeface="Bradley Hand" pitchFamily="2" charset="77"/>
            </a:endParaRPr>
          </a:p>
        </p:txBody>
      </p:sp>
      <p:sp>
        <p:nvSpPr>
          <p:cNvPr id="37" name="Rounded Rectangle 36">
            <a:extLst>
              <a:ext uri="{FF2B5EF4-FFF2-40B4-BE49-F238E27FC236}">
                <a16:creationId xmlns:a16="http://schemas.microsoft.com/office/drawing/2014/main" id="{45FEB944-2EE2-7308-ACC8-7AAA847F72E5}"/>
              </a:ext>
            </a:extLst>
          </p:cNvPr>
          <p:cNvSpPr/>
          <p:nvPr/>
        </p:nvSpPr>
        <p:spPr>
          <a:xfrm>
            <a:off x="15424120" y="11915374"/>
            <a:ext cx="2072238" cy="862648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4400" dirty="0">
                <a:solidFill>
                  <a:schemeClr val="bg1"/>
                </a:solidFill>
                <a:latin typeface="Bradley Hand" pitchFamily="2" charset="77"/>
              </a:rPr>
              <a:t>3</a:t>
            </a:r>
            <a:endParaRPr lang="en-US" sz="4400" dirty="0">
              <a:solidFill>
                <a:schemeClr val="accent6">
                  <a:lumMod val="40000"/>
                  <a:lumOff val="60000"/>
                </a:schemeClr>
              </a:solidFill>
              <a:latin typeface="Bradley Hand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100190343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750">
        <p159:morph option="byObject"/>
      </p:transition>
    </mc:Choice>
    <mc:Fallback xmlns="">
      <p:transition spd="slow">
        <p:fade/>
      </p:transition>
    </mc:Fallback>
  </mc:AlternateContent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3A90A0-8DA0-577A-3789-A105152CCD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C2CC8E56-D267-6877-440B-DA999767C806}"/>
              </a:ext>
            </a:extLst>
          </p:cNvPr>
          <p:cNvSpPr/>
          <p:nvPr/>
        </p:nvSpPr>
        <p:spPr>
          <a:xfrm>
            <a:off x="779542" y="389663"/>
            <a:ext cx="22824916" cy="2565241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685800" indent="-685800" defTabSz="82550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  <a:latin typeface="Bradley Hand" pitchFamily="2" charset="77"/>
              </a:rPr>
              <a:t>Look at all permutations of size n</a:t>
            </a:r>
          </a:p>
          <a:p>
            <a:pPr marL="685800" indent="-685800" defTabSz="82550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  <a:latin typeface="Bradley Hand" pitchFamily="2" charset="77"/>
              </a:rPr>
              <a:t>Look at the second iteration of insertion sort</a:t>
            </a:r>
          </a:p>
          <a:p>
            <a:pPr marL="685800" indent="-685800" defTabSz="82550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accent6">
                    <a:lumMod val="40000"/>
                    <a:lumOff val="60000"/>
                  </a:schemeClr>
                </a:solidFill>
                <a:latin typeface="Bradley Hand" pitchFamily="2" charset="77"/>
              </a:rPr>
              <a:t>How many permutations require no swaps?</a:t>
            </a:r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752DA414-5A58-6D35-36BB-9636CF8DE205}"/>
              </a:ext>
            </a:extLst>
          </p:cNvPr>
          <p:cNvSpPr/>
          <p:nvPr/>
        </p:nvSpPr>
        <p:spPr>
          <a:xfrm>
            <a:off x="4288287" y="5374187"/>
            <a:ext cx="2072238" cy="862648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4400" dirty="0">
                <a:solidFill>
                  <a:schemeClr val="bg1"/>
                </a:solidFill>
                <a:latin typeface="Bradley Hand" pitchFamily="2" charset="77"/>
              </a:rPr>
              <a:t>n=3</a:t>
            </a:r>
            <a:endParaRPr lang="en-US" sz="4400" dirty="0">
              <a:solidFill>
                <a:schemeClr val="accent6">
                  <a:lumMod val="40000"/>
                  <a:lumOff val="60000"/>
                </a:schemeClr>
              </a:solidFill>
              <a:latin typeface="Bradley Hand" pitchFamily="2" charset="77"/>
            </a:endParaRPr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BA8E1CD4-6FC7-4FCA-3D01-023AB9EFABE0}"/>
              </a:ext>
            </a:extLst>
          </p:cNvPr>
          <p:cNvSpPr/>
          <p:nvPr/>
        </p:nvSpPr>
        <p:spPr>
          <a:xfrm>
            <a:off x="4288287" y="6468763"/>
            <a:ext cx="2072238" cy="862648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4400" dirty="0">
                <a:solidFill>
                  <a:schemeClr val="bg1"/>
                </a:solidFill>
                <a:latin typeface="Bradley Hand" pitchFamily="2" charset="77"/>
              </a:rPr>
              <a:t>123</a:t>
            </a:r>
            <a:endParaRPr lang="en-US" sz="4400" dirty="0">
              <a:solidFill>
                <a:schemeClr val="accent6">
                  <a:lumMod val="40000"/>
                  <a:lumOff val="60000"/>
                </a:schemeClr>
              </a:solidFill>
              <a:latin typeface="Bradley Hand" pitchFamily="2" charset="77"/>
            </a:endParaRP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DED3330C-C5B5-F3FE-0200-F80C8C0EC4EA}"/>
              </a:ext>
            </a:extLst>
          </p:cNvPr>
          <p:cNvSpPr/>
          <p:nvPr/>
        </p:nvSpPr>
        <p:spPr>
          <a:xfrm>
            <a:off x="4288287" y="7563339"/>
            <a:ext cx="2072238" cy="862648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4400" dirty="0">
                <a:solidFill>
                  <a:schemeClr val="bg1"/>
                </a:solidFill>
                <a:latin typeface="Bradley Hand" pitchFamily="2" charset="77"/>
              </a:rPr>
              <a:t>132</a:t>
            </a:r>
            <a:endParaRPr lang="en-US" sz="4400" dirty="0">
              <a:solidFill>
                <a:schemeClr val="accent6">
                  <a:lumMod val="40000"/>
                  <a:lumOff val="60000"/>
                </a:schemeClr>
              </a:solidFill>
              <a:latin typeface="Bradley Hand" pitchFamily="2" charset="77"/>
            </a:endParaRP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E552C882-C3FC-1CE9-1854-D49C17F8CD55}"/>
              </a:ext>
            </a:extLst>
          </p:cNvPr>
          <p:cNvSpPr/>
          <p:nvPr/>
        </p:nvSpPr>
        <p:spPr>
          <a:xfrm>
            <a:off x="4288287" y="8657915"/>
            <a:ext cx="2072238" cy="862648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4400" dirty="0">
                <a:solidFill>
                  <a:schemeClr val="bg1"/>
                </a:solidFill>
                <a:latin typeface="Bradley Hand" pitchFamily="2" charset="77"/>
              </a:rPr>
              <a:t>213</a:t>
            </a:r>
            <a:endParaRPr lang="en-US" sz="4400" dirty="0">
              <a:solidFill>
                <a:schemeClr val="accent6">
                  <a:lumMod val="40000"/>
                  <a:lumOff val="60000"/>
                </a:schemeClr>
              </a:solidFill>
              <a:latin typeface="Bradley Hand" pitchFamily="2" charset="77"/>
            </a:endParaRP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0402F23C-14F2-8E54-7637-91EB9533530A}"/>
              </a:ext>
            </a:extLst>
          </p:cNvPr>
          <p:cNvSpPr/>
          <p:nvPr/>
        </p:nvSpPr>
        <p:spPr>
          <a:xfrm>
            <a:off x="4288287" y="9752491"/>
            <a:ext cx="2072238" cy="862648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4400" dirty="0">
                <a:solidFill>
                  <a:schemeClr val="bg1"/>
                </a:solidFill>
                <a:latin typeface="Bradley Hand" pitchFamily="2" charset="77"/>
              </a:rPr>
              <a:t>231</a:t>
            </a:r>
            <a:endParaRPr lang="en-US" sz="4400" dirty="0">
              <a:solidFill>
                <a:schemeClr val="accent6">
                  <a:lumMod val="40000"/>
                  <a:lumOff val="60000"/>
                </a:schemeClr>
              </a:solidFill>
              <a:latin typeface="Bradley Hand" pitchFamily="2" charset="77"/>
            </a:endParaRP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9E4F07CF-1A66-5EB9-998D-F431ED020ACD}"/>
              </a:ext>
            </a:extLst>
          </p:cNvPr>
          <p:cNvSpPr/>
          <p:nvPr/>
        </p:nvSpPr>
        <p:spPr>
          <a:xfrm>
            <a:off x="4288287" y="10847067"/>
            <a:ext cx="2072238" cy="862648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4400" dirty="0">
                <a:solidFill>
                  <a:schemeClr val="bg1"/>
                </a:solidFill>
                <a:latin typeface="Bradley Hand" pitchFamily="2" charset="77"/>
              </a:rPr>
              <a:t>312</a:t>
            </a:r>
            <a:endParaRPr lang="en-US" sz="4400" dirty="0">
              <a:solidFill>
                <a:schemeClr val="accent6">
                  <a:lumMod val="40000"/>
                  <a:lumOff val="60000"/>
                </a:schemeClr>
              </a:solidFill>
              <a:latin typeface="Bradley Hand" pitchFamily="2" charset="77"/>
            </a:endParaRP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4DD03D14-17E1-10E7-0DA9-A76C2178E2E9}"/>
              </a:ext>
            </a:extLst>
          </p:cNvPr>
          <p:cNvSpPr/>
          <p:nvPr/>
        </p:nvSpPr>
        <p:spPr>
          <a:xfrm>
            <a:off x="4288287" y="11941642"/>
            <a:ext cx="2072238" cy="862648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4400" dirty="0">
                <a:solidFill>
                  <a:schemeClr val="bg1"/>
                </a:solidFill>
                <a:latin typeface="Bradley Hand" pitchFamily="2" charset="77"/>
              </a:rPr>
              <a:t>321</a:t>
            </a:r>
            <a:endParaRPr lang="en-US" sz="4400" dirty="0">
              <a:solidFill>
                <a:schemeClr val="accent6">
                  <a:lumMod val="40000"/>
                  <a:lumOff val="60000"/>
                </a:schemeClr>
              </a:solidFill>
              <a:latin typeface="Bradley Hand" pitchFamily="2" charset="77"/>
            </a:endParaRP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BDC8042B-B66C-1F6A-DA19-E9AD36A13B42}"/>
              </a:ext>
            </a:extLst>
          </p:cNvPr>
          <p:cNvSpPr/>
          <p:nvPr/>
        </p:nvSpPr>
        <p:spPr>
          <a:xfrm>
            <a:off x="7375273" y="4353488"/>
            <a:ext cx="2072238" cy="862648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4400" dirty="0">
                <a:solidFill>
                  <a:schemeClr val="bg1"/>
                </a:solidFill>
                <a:latin typeface="Bradley Hand" pitchFamily="2" charset="77"/>
              </a:rPr>
              <a:t>1</a:t>
            </a:r>
            <a:endParaRPr lang="en-US" sz="4400" dirty="0">
              <a:solidFill>
                <a:schemeClr val="accent6">
                  <a:lumMod val="40000"/>
                  <a:lumOff val="60000"/>
                </a:schemeClr>
              </a:solidFill>
              <a:latin typeface="Bradley Hand" pitchFamily="2" charset="77"/>
            </a:endParaRP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6EA1D3AE-1499-ABAB-5034-41AA1A8C9991}"/>
              </a:ext>
            </a:extLst>
          </p:cNvPr>
          <p:cNvSpPr/>
          <p:nvPr/>
        </p:nvSpPr>
        <p:spPr>
          <a:xfrm>
            <a:off x="7375273" y="6426676"/>
            <a:ext cx="2072238" cy="862648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4400" dirty="0">
                <a:solidFill>
                  <a:schemeClr val="bg1"/>
                </a:solidFill>
                <a:latin typeface="Bradley Hand" pitchFamily="2" charset="77"/>
              </a:rPr>
              <a:t>0</a:t>
            </a:r>
            <a:endParaRPr lang="en-US" sz="4400" dirty="0">
              <a:solidFill>
                <a:schemeClr val="accent6">
                  <a:lumMod val="40000"/>
                  <a:lumOff val="60000"/>
                </a:schemeClr>
              </a:solidFill>
              <a:latin typeface="Bradley Hand" pitchFamily="2" charset="77"/>
            </a:endParaRPr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8ADAC3A5-D5B4-A2F5-64C6-061349D00925}"/>
              </a:ext>
            </a:extLst>
          </p:cNvPr>
          <p:cNvSpPr/>
          <p:nvPr/>
        </p:nvSpPr>
        <p:spPr>
          <a:xfrm>
            <a:off x="7375273" y="7521251"/>
            <a:ext cx="2072238" cy="862648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4400" dirty="0">
                <a:solidFill>
                  <a:schemeClr val="bg1"/>
                </a:solidFill>
                <a:latin typeface="Bradley Hand" pitchFamily="2" charset="77"/>
              </a:rPr>
              <a:t>0</a:t>
            </a:r>
            <a:endParaRPr lang="en-US" sz="4400" dirty="0">
              <a:solidFill>
                <a:schemeClr val="accent6">
                  <a:lumMod val="40000"/>
                  <a:lumOff val="60000"/>
                </a:schemeClr>
              </a:solidFill>
              <a:latin typeface="Bradley Hand" pitchFamily="2" charset="77"/>
            </a:endParaRPr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FC0E9EF9-1810-3C8E-DD7B-7568638AB00D}"/>
              </a:ext>
            </a:extLst>
          </p:cNvPr>
          <p:cNvSpPr/>
          <p:nvPr/>
        </p:nvSpPr>
        <p:spPr>
          <a:xfrm>
            <a:off x="7375273" y="8631649"/>
            <a:ext cx="2072238" cy="862648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4400" dirty="0">
                <a:solidFill>
                  <a:schemeClr val="bg1"/>
                </a:solidFill>
                <a:latin typeface="Bradley Hand" pitchFamily="2" charset="77"/>
              </a:rPr>
              <a:t>0</a:t>
            </a:r>
            <a:endParaRPr lang="en-US" sz="4400" dirty="0">
              <a:solidFill>
                <a:schemeClr val="accent6">
                  <a:lumMod val="40000"/>
                  <a:lumOff val="60000"/>
                </a:schemeClr>
              </a:solidFill>
              <a:latin typeface="Bradley Hand" pitchFamily="2" charset="77"/>
            </a:endParaRPr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0C12AA27-2EB0-D5A5-D9CB-49DF28F7006E}"/>
              </a:ext>
            </a:extLst>
          </p:cNvPr>
          <p:cNvSpPr/>
          <p:nvPr/>
        </p:nvSpPr>
        <p:spPr>
          <a:xfrm>
            <a:off x="7375273" y="9726224"/>
            <a:ext cx="2072238" cy="862648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4400" dirty="0">
                <a:solidFill>
                  <a:schemeClr val="bg1"/>
                </a:solidFill>
                <a:latin typeface="Bradley Hand" pitchFamily="2" charset="77"/>
              </a:rPr>
              <a:t>0</a:t>
            </a:r>
            <a:endParaRPr lang="en-US" sz="4400" dirty="0">
              <a:solidFill>
                <a:schemeClr val="accent6">
                  <a:lumMod val="40000"/>
                  <a:lumOff val="60000"/>
                </a:schemeClr>
              </a:solidFill>
              <a:latin typeface="Bradley Hand" pitchFamily="2" charset="77"/>
            </a:endParaRPr>
          </a:p>
        </p:txBody>
      </p: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E0AA0FA2-FCC8-B65E-7851-51935CB8B549}"/>
              </a:ext>
            </a:extLst>
          </p:cNvPr>
          <p:cNvSpPr/>
          <p:nvPr/>
        </p:nvSpPr>
        <p:spPr>
          <a:xfrm>
            <a:off x="7375273" y="10820799"/>
            <a:ext cx="2072238" cy="862648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4400" dirty="0">
                <a:solidFill>
                  <a:schemeClr val="bg1"/>
                </a:solidFill>
                <a:latin typeface="Bradley Hand" pitchFamily="2" charset="77"/>
              </a:rPr>
              <a:t>0</a:t>
            </a:r>
            <a:endParaRPr lang="en-US" sz="4400" dirty="0">
              <a:solidFill>
                <a:schemeClr val="accent6">
                  <a:lumMod val="40000"/>
                  <a:lumOff val="60000"/>
                </a:schemeClr>
              </a:solidFill>
              <a:latin typeface="Bradley Hand" pitchFamily="2" charset="77"/>
            </a:endParaRPr>
          </a:p>
        </p:txBody>
      </p: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7CF8E85F-52D3-A09F-A7C2-16B403D1A310}"/>
              </a:ext>
            </a:extLst>
          </p:cNvPr>
          <p:cNvSpPr/>
          <p:nvPr/>
        </p:nvSpPr>
        <p:spPr>
          <a:xfrm>
            <a:off x="7375273" y="11915374"/>
            <a:ext cx="2072238" cy="862648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4400" dirty="0">
                <a:solidFill>
                  <a:schemeClr val="bg1"/>
                </a:solidFill>
                <a:latin typeface="Bradley Hand" pitchFamily="2" charset="77"/>
              </a:rPr>
              <a:t>0</a:t>
            </a:r>
            <a:endParaRPr lang="en-US" sz="4400" dirty="0">
              <a:solidFill>
                <a:schemeClr val="accent6">
                  <a:lumMod val="40000"/>
                  <a:lumOff val="60000"/>
                </a:schemeClr>
              </a:solidFill>
              <a:latin typeface="Bradley Hand" pitchFamily="2" charset="77"/>
            </a:endParaRPr>
          </a:p>
        </p:txBody>
      </p:sp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CFAAF185-8B54-CC48-86F8-473410D37EFB}"/>
              </a:ext>
            </a:extLst>
          </p:cNvPr>
          <p:cNvSpPr/>
          <p:nvPr/>
        </p:nvSpPr>
        <p:spPr>
          <a:xfrm>
            <a:off x="10058222" y="4353488"/>
            <a:ext cx="2072238" cy="862648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4400" dirty="0">
                <a:solidFill>
                  <a:schemeClr val="bg1"/>
                </a:solidFill>
                <a:latin typeface="Bradley Hand" pitchFamily="2" charset="77"/>
              </a:rPr>
              <a:t>2</a:t>
            </a:r>
            <a:endParaRPr lang="en-US" sz="4400" dirty="0">
              <a:solidFill>
                <a:schemeClr val="accent6">
                  <a:lumMod val="40000"/>
                  <a:lumOff val="60000"/>
                </a:schemeClr>
              </a:solidFill>
              <a:latin typeface="Bradley Hand" pitchFamily="2" charset="77"/>
            </a:endParaRPr>
          </a:p>
        </p:txBody>
      </p:sp>
      <p:sp>
        <p:nvSpPr>
          <p:cNvPr id="18" name="Rounded Rectangle 17">
            <a:extLst>
              <a:ext uri="{FF2B5EF4-FFF2-40B4-BE49-F238E27FC236}">
                <a16:creationId xmlns:a16="http://schemas.microsoft.com/office/drawing/2014/main" id="{F8BF1CE4-840C-F9F5-054D-6364490A2C72}"/>
              </a:ext>
            </a:extLst>
          </p:cNvPr>
          <p:cNvSpPr/>
          <p:nvPr/>
        </p:nvSpPr>
        <p:spPr>
          <a:xfrm>
            <a:off x="10058222" y="6426676"/>
            <a:ext cx="2072238" cy="862648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4400" dirty="0">
                <a:solidFill>
                  <a:schemeClr val="bg1"/>
                </a:solidFill>
                <a:latin typeface="Bradley Hand" pitchFamily="2" charset="77"/>
              </a:rPr>
              <a:t>0</a:t>
            </a:r>
            <a:endParaRPr lang="en-US" sz="4400" dirty="0">
              <a:solidFill>
                <a:schemeClr val="accent6">
                  <a:lumMod val="40000"/>
                  <a:lumOff val="60000"/>
                </a:schemeClr>
              </a:solidFill>
              <a:latin typeface="Bradley Hand" pitchFamily="2" charset="77"/>
            </a:endParaRPr>
          </a:p>
        </p:txBody>
      </p:sp>
      <p:sp>
        <p:nvSpPr>
          <p:cNvPr id="19" name="Rounded Rectangle 18">
            <a:extLst>
              <a:ext uri="{FF2B5EF4-FFF2-40B4-BE49-F238E27FC236}">
                <a16:creationId xmlns:a16="http://schemas.microsoft.com/office/drawing/2014/main" id="{6B3829A8-98F6-94F5-1C0C-2CD2ACA6722B}"/>
              </a:ext>
            </a:extLst>
          </p:cNvPr>
          <p:cNvSpPr/>
          <p:nvPr/>
        </p:nvSpPr>
        <p:spPr>
          <a:xfrm>
            <a:off x="10058222" y="7521251"/>
            <a:ext cx="2072238" cy="862648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4400" dirty="0">
                <a:solidFill>
                  <a:schemeClr val="bg1"/>
                </a:solidFill>
                <a:latin typeface="Bradley Hand" pitchFamily="2" charset="77"/>
              </a:rPr>
              <a:t>0</a:t>
            </a:r>
            <a:endParaRPr lang="en-US" sz="4400" dirty="0">
              <a:solidFill>
                <a:schemeClr val="accent6">
                  <a:lumMod val="40000"/>
                  <a:lumOff val="60000"/>
                </a:schemeClr>
              </a:solidFill>
              <a:latin typeface="Bradley Hand" pitchFamily="2" charset="77"/>
            </a:endParaRPr>
          </a:p>
        </p:txBody>
      </p:sp>
      <p:sp>
        <p:nvSpPr>
          <p:cNvPr id="20" name="Rounded Rectangle 19">
            <a:extLst>
              <a:ext uri="{FF2B5EF4-FFF2-40B4-BE49-F238E27FC236}">
                <a16:creationId xmlns:a16="http://schemas.microsoft.com/office/drawing/2014/main" id="{3AA38F8B-99FC-8765-2EEA-7EC660A07571}"/>
              </a:ext>
            </a:extLst>
          </p:cNvPr>
          <p:cNvSpPr/>
          <p:nvPr/>
        </p:nvSpPr>
        <p:spPr>
          <a:xfrm>
            <a:off x="10058222" y="8631649"/>
            <a:ext cx="2072238" cy="862648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4400" dirty="0">
                <a:solidFill>
                  <a:schemeClr val="bg1"/>
                </a:solidFill>
                <a:latin typeface="Bradley Hand" pitchFamily="2" charset="77"/>
              </a:rPr>
              <a:t>1</a:t>
            </a:r>
            <a:endParaRPr lang="en-US" sz="4400" dirty="0">
              <a:solidFill>
                <a:schemeClr val="accent6">
                  <a:lumMod val="40000"/>
                  <a:lumOff val="60000"/>
                </a:schemeClr>
              </a:solidFill>
              <a:latin typeface="Bradley Hand" pitchFamily="2" charset="77"/>
            </a:endParaRPr>
          </a:p>
        </p:txBody>
      </p:sp>
      <p:sp>
        <p:nvSpPr>
          <p:cNvPr id="21" name="Rounded Rectangle 20">
            <a:extLst>
              <a:ext uri="{FF2B5EF4-FFF2-40B4-BE49-F238E27FC236}">
                <a16:creationId xmlns:a16="http://schemas.microsoft.com/office/drawing/2014/main" id="{509A7686-0547-871F-F0C5-386A888E06C4}"/>
              </a:ext>
            </a:extLst>
          </p:cNvPr>
          <p:cNvSpPr/>
          <p:nvPr/>
        </p:nvSpPr>
        <p:spPr>
          <a:xfrm>
            <a:off x="10058222" y="9726224"/>
            <a:ext cx="2072238" cy="862648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4400" dirty="0">
                <a:solidFill>
                  <a:schemeClr val="bg1"/>
                </a:solidFill>
                <a:latin typeface="Bradley Hand" pitchFamily="2" charset="77"/>
              </a:rPr>
              <a:t>0</a:t>
            </a:r>
            <a:endParaRPr lang="en-US" sz="4400" dirty="0">
              <a:solidFill>
                <a:schemeClr val="accent6">
                  <a:lumMod val="40000"/>
                  <a:lumOff val="60000"/>
                </a:schemeClr>
              </a:solidFill>
              <a:latin typeface="Bradley Hand" pitchFamily="2" charset="77"/>
            </a:endParaRPr>
          </a:p>
        </p:txBody>
      </p:sp>
      <p:sp>
        <p:nvSpPr>
          <p:cNvPr id="22" name="Rounded Rectangle 21">
            <a:extLst>
              <a:ext uri="{FF2B5EF4-FFF2-40B4-BE49-F238E27FC236}">
                <a16:creationId xmlns:a16="http://schemas.microsoft.com/office/drawing/2014/main" id="{FDF2FB1C-9E7E-FD65-6D4B-66123602B453}"/>
              </a:ext>
            </a:extLst>
          </p:cNvPr>
          <p:cNvSpPr/>
          <p:nvPr/>
        </p:nvSpPr>
        <p:spPr>
          <a:xfrm>
            <a:off x="10058222" y="10820799"/>
            <a:ext cx="2072238" cy="862648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4400" dirty="0">
                <a:solidFill>
                  <a:schemeClr val="bg1"/>
                </a:solidFill>
                <a:latin typeface="Bradley Hand" pitchFamily="2" charset="77"/>
              </a:rPr>
              <a:t>1</a:t>
            </a:r>
            <a:endParaRPr lang="en-US" sz="4400" dirty="0">
              <a:solidFill>
                <a:schemeClr val="accent6">
                  <a:lumMod val="40000"/>
                  <a:lumOff val="60000"/>
                </a:schemeClr>
              </a:solidFill>
              <a:latin typeface="Bradley Hand" pitchFamily="2" charset="77"/>
            </a:endParaRPr>
          </a:p>
        </p:txBody>
      </p:sp>
      <p:sp>
        <p:nvSpPr>
          <p:cNvPr id="23" name="Rounded Rectangle 22">
            <a:extLst>
              <a:ext uri="{FF2B5EF4-FFF2-40B4-BE49-F238E27FC236}">
                <a16:creationId xmlns:a16="http://schemas.microsoft.com/office/drawing/2014/main" id="{BFE89D4F-CE20-3273-C631-FB88BC6E9F59}"/>
              </a:ext>
            </a:extLst>
          </p:cNvPr>
          <p:cNvSpPr/>
          <p:nvPr/>
        </p:nvSpPr>
        <p:spPr>
          <a:xfrm>
            <a:off x="10058222" y="11915374"/>
            <a:ext cx="2072238" cy="862648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4400" dirty="0">
                <a:solidFill>
                  <a:schemeClr val="bg1"/>
                </a:solidFill>
                <a:latin typeface="Bradley Hand" pitchFamily="2" charset="77"/>
              </a:rPr>
              <a:t>1</a:t>
            </a:r>
            <a:endParaRPr lang="en-US" sz="4400" dirty="0">
              <a:solidFill>
                <a:schemeClr val="accent6">
                  <a:lumMod val="40000"/>
                  <a:lumOff val="60000"/>
                </a:schemeClr>
              </a:solidFill>
              <a:latin typeface="Bradley Hand" pitchFamily="2" charset="77"/>
            </a:endParaRPr>
          </a:p>
        </p:txBody>
      </p:sp>
      <p:sp>
        <p:nvSpPr>
          <p:cNvPr id="24" name="Rounded Rectangle 23">
            <a:extLst>
              <a:ext uri="{FF2B5EF4-FFF2-40B4-BE49-F238E27FC236}">
                <a16:creationId xmlns:a16="http://schemas.microsoft.com/office/drawing/2014/main" id="{2F730D8A-D99F-8329-1F41-AD3F947CCD96}"/>
              </a:ext>
            </a:extLst>
          </p:cNvPr>
          <p:cNvSpPr/>
          <p:nvPr/>
        </p:nvSpPr>
        <p:spPr>
          <a:xfrm>
            <a:off x="12741171" y="4353488"/>
            <a:ext cx="2072238" cy="862648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4400" dirty="0">
                <a:solidFill>
                  <a:schemeClr val="bg1"/>
                </a:solidFill>
                <a:latin typeface="Bradley Hand" pitchFamily="2" charset="77"/>
              </a:rPr>
              <a:t>3</a:t>
            </a:r>
            <a:endParaRPr lang="en-US" sz="4400" dirty="0">
              <a:solidFill>
                <a:schemeClr val="accent6">
                  <a:lumMod val="40000"/>
                  <a:lumOff val="60000"/>
                </a:schemeClr>
              </a:solidFill>
              <a:latin typeface="Bradley Hand" pitchFamily="2" charset="77"/>
            </a:endParaRPr>
          </a:p>
        </p:txBody>
      </p:sp>
      <p:sp>
        <p:nvSpPr>
          <p:cNvPr id="25" name="Rounded Rectangle 24">
            <a:extLst>
              <a:ext uri="{FF2B5EF4-FFF2-40B4-BE49-F238E27FC236}">
                <a16:creationId xmlns:a16="http://schemas.microsoft.com/office/drawing/2014/main" id="{F2FE647E-734E-6ADD-A243-D3B7DBCAFDDE}"/>
              </a:ext>
            </a:extLst>
          </p:cNvPr>
          <p:cNvSpPr/>
          <p:nvPr/>
        </p:nvSpPr>
        <p:spPr>
          <a:xfrm>
            <a:off x="12741171" y="6426676"/>
            <a:ext cx="2072238" cy="862648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4400" dirty="0">
                <a:solidFill>
                  <a:schemeClr val="bg1"/>
                </a:solidFill>
                <a:latin typeface="Bradley Hand" pitchFamily="2" charset="77"/>
              </a:rPr>
              <a:t>0</a:t>
            </a:r>
            <a:endParaRPr lang="en-US" sz="4400" dirty="0">
              <a:solidFill>
                <a:schemeClr val="accent6">
                  <a:lumMod val="40000"/>
                  <a:lumOff val="60000"/>
                </a:schemeClr>
              </a:solidFill>
              <a:latin typeface="Bradley Hand" pitchFamily="2" charset="77"/>
            </a:endParaRPr>
          </a:p>
        </p:txBody>
      </p:sp>
      <p:sp>
        <p:nvSpPr>
          <p:cNvPr id="26" name="Rounded Rectangle 25">
            <a:extLst>
              <a:ext uri="{FF2B5EF4-FFF2-40B4-BE49-F238E27FC236}">
                <a16:creationId xmlns:a16="http://schemas.microsoft.com/office/drawing/2014/main" id="{7B1F93ED-32DC-892D-3052-CC6FDAA5040D}"/>
              </a:ext>
            </a:extLst>
          </p:cNvPr>
          <p:cNvSpPr/>
          <p:nvPr/>
        </p:nvSpPr>
        <p:spPr>
          <a:xfrm>
            <a:off x="12741171" y="7521251"/>
            <a:ext cx="2072238" cy="862648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4400" dirty="0">
                <a:solidFill>
                  <a:schemeClr val="bg1"/>
                </a:solidFill>
                <a:latin typeface="Bradley Hand" pitchFamily="2" charset="77"/>
              </a:rPr>
              <a:t>1</a:t>
            </a:r>
            <a:endParaRPr lang="en-US" sz="4400" dirty="0">
              <a:solidFill>
                <a:schemeClr val="accent6">
                  <a:lumMod val="40000"/>
                  <a:lumOff val="60000"/>
                </a:schemeClr>
              </a:solidFill>
              <a:latin typeface="Bradley Hand" pitchFamily="2" charset="77"/>
            </a:endParaRPr>
          </a:p>
        </p:txBody>
      </p:sp>
      <p:sp>
        <p:nvSpPr>
          <p:cNvPr id="27" name="Rounded Rectangle 26">
            <a:extLst>
              <a:ext uri="{FF2B5EF4-FFF2-40B4-BE49-F238E27FC236}">
                <a16:creationId xmlns:a16="http://schemas.microsoft.com/office/drawing/2014/main" id="{8C118188-AC8A-C5E8-5D50-04567AB10B9B}"/>
              </a:ext>
            </a:extLst>
          </p:cNvPr>
          <p:cNvSpPr/>
          <p:nvPr/>
        </p:nvSpPr>
        <p:spPr>
          <a:xfrm>
            <a:off x="12741171" y="8631649"/>
            <a:ext cx="2072238" cy="862648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4400" dirty="0">
                <a:solidFill>
                  <a:schemeClr val="bg1"/>
                </a:solidFill>
                <a:latin typeface="Bradley Hand" pitchFamily="2" charset="77"/>
              </a:rPr>
              <a:t>0</a:t>
            </a:r>
            <a:endParaRPr lang="en-US" sz="4400" dirty="0">
              <a:solidFill>
                <a:schemeClr val="accent6">
                  <a:lumMod val="40000"/>
                  <a:lumOff val="60000"/>
                </a:schemeClr>
              </a:solidFill>
              <a:latin typeface="Bradley Hand" pitchFamily="2" charset="77"/>
            </a:endParaRPr>
          </a:p>
        </p:txBody>
      </p:sp>
      <p:sp>
        <p:nvSpPr>
          <p:cNvPr id="28" name="Rounded Rectangle 27">
            <a:extLst>
              <a:ext uri="{FF2B5EF4-FFF2-40B4-BE49-F238E27FC236}">
                <a16:creationId xmlns:a16="http://schemas.microsoft.com/office/drawing/2014/main" id="{3C3D3636-E538-84F7-EE9D-13087C30DA8A}"/>
              </a:ext>
            </a:extLst>
          </p:cNvPr>
          <p:cNvSpPr/>
          <p:nvPr/>
        </p:nvSpPr>
        <p:spPr>
          <a:xfrm>
            <a:off x="12741171" y="9726224"/>
            <a:ext cx="2072238" cy="862648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4400" dirty="0">
                <a:solidFill>
                  <a:schemeClr val="bg1"/>
                </a:solidFill>
                <a:latin typeface="Bradley Hand" pitchFamily="2" charset="77"/>
              </a:rPr>
              <a:t>2</a:t>
            </a:r>
            <a:endParaRPr lang="en-US" sz="4400" dirty="0">
              <a:solidFill>
                <a:schemeClr val="accent6">
                  <a:lumMod val="40000"/>
                  <a:lumOff val="60000"/>
                </a:schemeClr>
              </a:solidFill>
              <a:latin typeface="Bradley Hand" pitchFamily="2" charset="77"/>
            </a:endParaRPr>
          </a:p>
        </p:txBody>
      </p:sp>
      <p:sp>
        <p:nvSpPr>
          <p:cNvPr id="29" name="Rounded Rectangle 28">
            <a:extLst>
              <a:ext uri="{FF2B5EF4-FFF2-40B4-BE49-F238E27FC236}">
                <a16:creationId xmlns:a16="http://schemas.microsoft.com/office/drawing/2014/main" id="{63997E55-196D-FBBA-C360-AC3637B7B196}"/>
              </a:ext>
            </a:extLst>
          </p:cNvPr>
          <p:cNvSpPr/>
          <p:nvPr/>
        </p:nvSpPr>
        <p:spPr>
          <a:xfrm>
            <a:off x="12741171" y="10820799"/>
            <a:ext cx="2072238" cy="862648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4400" dirty="0">
                <a:solidFill>
                  <a:schemeClr val="bg1"/>
                </a:solidFill>
                <a:latin typeface="Bradley Hand" pitchFamily="2" charset="77"/>
              </a:rPr>
              <a:t>1</a:t>
            </a:r>
            <a:endParaRPr lang="en-US" sz="4400" dirty="0">
              <a:solidFill>
                <a:schemeClr val="accent6">
                  <a:lumMod val="40000"/>
                  <a:lumOff val="60000"/>
                </a:schemeClr>
              </a:solidFill>
              <a:latin typeface="Bradley Hand" pitchFamily="2" charset="77"/>
            </a:endParaRPr>
          </a:p>
        </p:txBody>
      </p:sp>
      <p:sp>
        <p:nvSpPr>
          <p:cNvPr id="30" name="Rounded Rectangle 29">
            <a:extLst>
              <a:ext uri="{FF2B5EF4-FFF2-40B4-BE49-F238E27FC236}">
                <a16:creationId xmlns:a16="http://schemas.microsoft.com/office/drawing/2014/main" id="{CCFC1679-16A7-AE11-0F89-AAEC1BDF1131}"/>
              </a:ext>
            </a:extLst>
          </p:cNvPr>
          <p:cNvSpPr/>
          <p:nvPr/>
        </p:nvSpPr>
        <p:spPr>
          <a:xfrm>
            <a:off x="12741171" y="11915374"/>
            <a:ext cx="2072238" cy="862648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4400" dirty="0">
                <a:solidFill>
                  <a:schemeClr val="bg1"/>
                </a:solidFill>
                <a:latin typeface="Bradley Hand" pitchFamily="2" charset="77"/>
              </a:rPr>
              <a:t>2</a:t>
            </a:r>
            <a:endParaRPr lang="en-US" sz="4400" dirty="0">
              <a:solidFill>
                <a:schemeClr val="accent6">
                  <a:lumMod val="40000"/>
                  <a:lumOff val="60000"/>
                </a:schemeClr>
              </a:solidFill>
              <a:latin typeface="Bradley Hand" pitchFamily="2" charset="77"/>
            </a:endParaRPr>
          </a:p>
        </p:txBody>
      </p:sp>
      <p:sp>
        <p:nvSpPr>
          <p:cNvPr id="31" name="Rounded Rectangle 30">
            <a:extLst>
              <a:ext uri="{FF2B5EF4-FFF2-40B4-BE49-F238E27FC236}">
                <a16:creationId xmlns:a16="http://schemas.microsoft.com/office/drawing/2014/main" id="{31DCE88E-DF39-F795-2200-F91F9F32525F}"/>
              </a:ext>
            </a:extLst>
          </p:cNvPr>
          <p:cNvSpPr/>
          <p:nvPr/>
        </p:nvSpPr>
        <p:spPr>
          <a:xfrm>
            <a:off x="15424120" y="4332444"/>
            <a:ext cx="2072238" cy="862648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4400" dirty="0">
                <a:solidFill>
                  <a:schemeClr val="bg1"/>
                </a:solidFill>
                <a:latin typeface="Bradley Hand" pitchFamily="2" charset="77"/>
              </a:rPr>
              <a:t>Total</a:t>
            </a:r>
            <a:endParaRPr lang="en-US" sz="4400" dirty="0">
              <a:solidFill>
                <a:schemeClr val="accent6">
                  <a:lumMod val="40000"/>
                  <a:lumOff val="60000"/>
                </a:schemeClr>
              </a:solidFill>
              <a:latin typeface="Bradley Hand" pitchFamily="2" charset="77"/>
            </a:endParaRPr>
          </a:p>
        </p:txBody>
      </p:sp>
      <p:sp>
        <p:nvSpPr>
          <p:cNvPr id="32" name="Rounded Rectangle 31">
            <a:extLst>
              <a:ext uri="{FF2B5EF4-FFF2-40B4-BE49-F238E27FC236}">
                <a16:creationId xmlns:a16="http://schemas.microsoft.com/office/drawing/2014/main" id="{B1950329-5720-7B71-C020-BF6AA9BD9C20}"/>
              </a:ext>
            </a:extLst>
          </p:cNvPr>
          <p:cNvSpPr/>
          <p:nvPr/>
        </p:nvSpPr>
        <p:spPr>
          <a:xfrm>
            <a:off x="15424120" y="6426676"/>
            <a:ext cx="2072238" cy="862648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4400" dirty="0">
                <a:solidFill>
                  <a:schemeClr val="bg1"/>
                </a:solidFill>
                <a:latin typeface="Bradley Hand" pitchFamily="2" charset="77"/>
              </a:rPr>
              <a:t>0</a:t>
            </a:r>
            <a:endParaRPr lang="en-US" sz="4400" dirty="0">
              <a:solidFill>
                <a:schemeClr val="accent6">
                  <a:lumMod val="40000"/>
                  <a:lumOff val="60000"/>
                </a:schemeClr>
              </a:solidFill>
              <a:latin typeface="Bradley Hand" pitchFamily="2" charset="77"/>
            </a:endParaRPr>
          </a:p>
        </p:txBody>
      </p:sp>
      <p:sp>
        <p:nvSpPr>
          <p:cNvPr id="33" name="Rounded Rectangle 32">
            <a:extLst>
              <a:ext uri="{FF2B5EF4-FFF2-40B4-BE49-F238E27FC236}">
                <a16:creationId xmlns:a16="http://schemas.microsoft.com/office/drawing/2014/main" id="{843ADF38-77CE-7BA1-2888-2F54AFF50F5D}"/>
              </a:ext>
            </a:extLst>
          </p:cNvPr>
          <p:cNvSpPr/>
          <p:nvPr/>
        </p:nvSpPr>
        <p:spPr>
          <a:xfrm>
            <a:off x="15424120" y="7521251"/>
            <a:ext cx="2072238" cy="862648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4400" dirty="0">
                <a:solidFill>
                  <a:schemeClr val="bg1"/>
                </a:solidFill>
                <a:latin typeface="Bradley Hand" pitchFamily="2" charset="77"/>
              </a:rPr>
              <a:t>1</a:t>
            </a:r>
            <a:endParaRPr lang="en-US" sz="4400" dirty="0">
              <a:solidFill>
                <a:schemeClr val="accent6">
                  <a:lumMod val="40000"/>
                  <a:lumOff val="60000"/>
                </a:schemeClr>
              </a:solidFill>
              <a:latin typeface="Bradley Hand" pitchFamily="2" charset="77"/>
            </a:endParaRPr>
          </a:p>
        </p:txBody>
      </p:sp>
      <p:sp>
        <p:nvSpPr>
          <p:cNvPr id="34" name="Rounded Rectangle 33">
            <a:extLst>
              <a:ext uri="{FF2B5EF4-FFF2-40B4-BE49-F238E27FC236}">
                <a16:creationId xmlns:a16="http://schemas.microsoft.com/office/drawing/2014/main" id="{BE65E368-F2E9-34B7-EBDB-1083651CE37D}"/>
              </a:ext>
            </a:extLst>
          </p:cNvPr>
          <p:cNvSpPr/>
          <p:nvPr/>
        </p:nvSpPr>
        <p:spPr>
          <a:xfrm>
            <a:off x="15424120" y="8631649"/>
            <a:ext cx="2072238" cy="862648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4400" dirty="0">
                <a:solidFill>
                  <a:schemeClr val="bg1"/>
                </a:solidFill>
                <a:latin typeface="Bradley Hand" pitchFamily="2" charset="77"/>
              </a:rPr>
              <a:t>1</a:t>
            </a:r>
            <a:endParaRPr lang="en-US" sz="4400" dirty="0">
              <a:solidFill>
                <a:schemeClr val="accent6">
                  <a:lumMod val="40000"/>
                  <a:lumOff val="60000"/>
                </a:schemeClr>
              </a:solidFill>
              <a:latin typeface="Bradley Hand" pitchFamily="2" charset="77"/>
            </a:endParaRPr>
          </a:p>
        </p:txBody>
      </p:sp>
      <p:sp>
        <p:nvSpPr>
          <p:cNvPr id="35" name="Rounded Rectangle 34">
            <a:extLst>
              <a:ext uri="{FF2B5EF4-FFF2-40B4-BE49-F238E27FC236}">
                <a16:creationId xmlns:a16="http://schemas.microsoft.com/office/drawing/2014/main" id="{1F1ABDDF-1A98-C2EE-0F49-982DB14501FF}"/>
              </a:ext>
            </a:extLst>
          </p:cNvPr>
          <p:cNvSpPr/>
          <p:nvPr/>
        </p:nvSpPr>
        <p:spPr>
          <a:xfrm>
            <a:off x="15424120" y="9726224"/>
            <a:ext cx="2072238" cy="862648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4400" dirty="0">
                <a:solidFill>
                  <a:schemeClr val="bg1"/>
                </a:solidFill>
                <a:latin typeface="Bradley Hand" pitchFamily="2" charset="77"/>
              </a:rPr>
              <a:t>2</a:t>
            </a:r>
            <a:endParaRPr lang="en-US" sz="4400" dirty="0">
              <a:solidFill>
                <a:schemeClr val="accent6">
                  <a:lumMod val="40000"/>
                  <a:lumOff val="60000"/>
                </a:schemeClr>
              </a:solidFill>
              <a:latin typeface="Bradley Hand" pitchFamily="2" charset="77"/>
            </a:endParaRPr>
          </a:p>
        </p:txBody>
      </p:sp>
      <p:sp>
        <p:nvSpPr>
          <p:cNvPr id="36" name="Rounded Rectangle 35">
            <a:extLst>
              <a:ext uri="{FF2B5EF4-FFF2-40B4-BE49-F238E27FC236}">
                <a16:creationId xmlns:a16="http://schemas.microsoft.com/office/drawing/2014/main" id="{CAFE5A62-7F8D-C834-E30F-206A18D74D75}"/>
              </a:ext>
            </a:extLst>
          </p:cNvPr>
          <p:cNvSpPr/>
          <p:nvPr/>
        </p:nvSpPr>
        <p:spPr>
          <a:xfrm>
            <a:off x="15424120" y="10820799"/>
            <a:ext cx="2072238" cy="862648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4400" dirty="0">
                <a:solidFill>
                  <a:schemeClr val="bg1"/>
                </a:solidFill>
                <a:latin typeface="Bradley Hand" pitchFamily="2" charset="77"/>
              </a:rPr>
              <a:t>2</a:t>
            </a:r>
            <a:endParaRPr lang="en-US" sz="4400" dirty="0">
              <a:solidFill>
                <a:schemeClr val="accent6">
                  <a:lumMod val="40000"/>
                  <a:lumOff val="60000"/>
                </a:schemeClr>
              </a:solidFill>
              <a:latin typeface="Bradley Hand" pitchFamily="2" charset="77"/>
            </a:endParaRPr>
          </a:p>
        </p:txBody>
      </p:sp>
      <p:sp>
        <p:nvSpPr>
          <p:cNvPr id="37" name="Rounded Rectangle 36">
            <a:extLst>
              <a:ext uri="{FF2B5EF4-FFF2-40B4-BE49-F238E27FC236}">
                <a16:creationId xmlns:a16="http://schemas.microsoft.com/office/drawing/2014/main" id="{E47EAF04-9DD3-6E4B-5BC4-97801F2B1904}"/>
              </a:ext>
            </a:extLst>
          </p:cNvPr>
          <p:cNvSpPr/>
          <p:nvPr/>
        </p:nvSpPr>
        <p:spPr>
          <a:xfrm>
            <a:off x="15424120" y="11915374"/>
            <a:ext cx="2072238" cy="862648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4400" dirty="0">
                <a:solidFill>
                  <a:schemeClr val="bg1"/>
                </a:solidFill>
                <a:latin typeface="Bradley Hand" pitchFamily="2" charset="77"/>
              </a:rPr>
              <a:t>3</a:t>
            </a:r>
            <a:endParaRPr lang="en-US" sz="4400" dirty="0">
              <a:solidFill>
                <a:schemeClr val="accent6">
                  <a:lumMod val="40000"/>
                  <a:lumOff val="60000"/>
                </a:schemeClr>
              </a:solidFill>
              <a:latin typeface="Bradley Hand" pitchFamily="2" charset="77"/>
            </a:endParaRPr>
          </a:p>
        </p:txBody>
      </p:sp>
      <p:sp>
        <p:nvSpPr>
          <p:cNvPr id="38" name="Rounded Rectangle 37">
            <a:extLst>
              <a:ext uri="{FF2B5EF4-FFF2-40B4-BE49-F238E27FC236}">
                <a16:creationId xmlns:a16="http://schemas.microsoft.com/office/drawing/2014/main" id="{4D563E79-5A09-6769-5E14-52C2CBD2786C}"/>
              </a:ext>
            </a:extLst>
          </p:cNvPr>
          <p:cNvSpPr/>
          <p:nvPr/>
        </p:nvSpPr>
        <p:spPr>
          <a:xfrm>
            <a:off x="9654363" y="6236835"/>
            <a:ext cx="2806995" cy="2394814"/>
          </a:xfrm>
          <a:prstGeom prst="roundRect">
            <a:avLst/>
          </a:prstGeom>
          <a:solidFill>
            <a:schemeClr val="accent4">
              <a:lumMod val="40000"/>
              <a:lumOff val="60000"/>
              <a:alpha val="58873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39" name="Rounded Rectangle 38">
            <a:extLst>
              <a:ext uri="{FF2B5EF4-FFF2-40B4-BE49-F238E27FC236}">
                <a16:creationId xmlns:a16="http://schemas.microsoft.com/office/drawing/2014/main" id="{84E9E08B-283C-DB20-E1B0-14AEDD3497B5}"/>
              </a:ext>
            </a:extLst>
          </p:cNvPr>
          <p:cNvSpPr/>
          <p:nvPr/>
        </p:nvSpPr>
        <p:spPr>
          <a:xfrm>
            <a:off x="9727325" y="9494297"/>
            <a:ext cx="2734034" cy="1326502"/>
          </a:xfrm>
          <a:prstGeom prst="roundRect">
            <a:avLst/>
          </a:prstGeom>
          <a:solidFill>
            <a:schemeClr val="accent4">
              <a:lumMod val="40000"/>
              <a:lumOff val="60000"/>
              <a:alpha val="58873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</p:spTree>
    <p:extLst>
      <p:ext uri="{BB962C8B-B14F-4D97-AF65-F5344CB8AC3E}">
        <p14:creationId xmlns:p14="http://schemas.microsoft.com/office/powerpoint/2010/main" val="1575698801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Word"/>
      </p:transition>
    </mc:Choice>
    <mc:Fallback>
      <p:transition spd="slow">
        <p:fade/>
      </p:transition>
    </mc:Fallback>
  </mc:AlternateContent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18AA1F-1E58-D3FC-F7B5-FFBD64ED0D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6BC7753E-82B6-86CB-A902-3F862C923121}"/>
              </a:ext>
            </a:extLst>
          </p:cNvPr>
          <p:cNvSpPr/>
          <p:nvPr/>
        </p:nvSpPr>
        <p:spPr>
          <a:xfrm>
            <a:off x="779542" y="389663"/>
            <a:ext cx="22824916" cy="2565241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685800" indent="-685800" defTabSz="82550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  <a:latin typeface="Bradley Hand" pitchFamily="2" charset="77"/>
              </a:rPr>
              <a:t>Look at all permutations of size n</a:t>
            </a:r>
          </a:p>
          <a:p>
            <a:pPr marL="685800" indent="-685800" defTabSz="82550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  <a:latin typeface="Bradley Hand" pitchFamily="2" charset="77"/>
              </a:rPr>
              <a:t>Look at the second iteration of insertion sort</a:t>
            </a:r>
          </a:p>
          <a:p>
            <a:pPr marL="685800" indent="-685800" defTabSz="82550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accent6">
                    <a:lumMod val="40000"/>
                    <a:lumOff val="60000"/>
                  </a:schemeClr>
                </a:solidFill>
                <a:latin typeface="Bradley Hand" pitchFamily="2" charset="77"/>
              </a:rPr>
              <a:t>How many permutations require no swaps?</a:t>
            </a:r>
          </a:p>
        </p:txBody>
      </p:sp>
      <p:sp>
        <p:nvSpPr>
          <p:cNvPr id="40" name="Rounded Rectangle 39">
            <a:extLst>
              <a:ext uri="{FF2B5EF4-FFF2-40B4-BE49-F238E27FC236}">
                <a16:creationId xmlns:a16="http://schemas.microsoft.com/office/drawing/2014/main" id="{2284961A-331F-76B7-DC70-686B2BBB6419}"/>
              </a:ext>
            </a:extLst>
          </p:cNvPr>
          <p:cNvSpPr/>
          <p:nvPr/>
        </p:nvSpPr>
        <p:spPr>
          <a:xfrm>
            <a:off x="779542" y="3568291"/>
            <a:ext cx="22824916" cy="2565241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685800" indent="-685800" defTabSz="82550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  <a:latin typeface="Bradley Hand" pitchFamily="2" charset="77"/>
              </a:rPr>
              <a:t>Pick any two numbers out of n</a:t>
            </a:r>
          </a:p>
          <a:p>
            <a:pPr marL="685800" indent="-685800" defTabSz="82550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endParaRPr lang="en-US" dirty="0">
              <a:solidFill>
                <a:schemeClr val="bg1"/>
              </a:solidFill>
              <a:latin typeface="Bradley Hand" pitchFamily="2" charset="77"/>
            </a:endParaRPr>
          </a:p>
          <a:p>
            <a:pPr marL="685800" indent="-685800" defTabSz="82550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endParaRPr lang="en-US" dirty="0">
              <a:solidFill>
                <a:schemeClr val="bg1"/>
              </a:solidFill>
              <a:latin typeface="Bradley Hand" pitchFamily="2" charset="77"/>
            </a:endParaRPr>
          </a:p>
        </p:txBody>
      </p:sp>
      <p:sp>
        <p:nvSpPr>
          <p:cNvPr id="41" name="Rounded Rectangle 40">
            <a:extLst>
              <a:ext uri="{FF2B5EF4-FFF2-40B4-BE49-F238E27FC236}">
                <a16:creationId xmlns:a16="http://schemas.microsoft.com/office/drawing/2014/main" id="{E8A7126C-CDC4-B887-B784-407D8712C3D3}"/>
              </a:ext>
            </a:extLst>
          </p:cNvPr>
          <p:cNvSpPr/>
          <p:nvPr/>
        </p:nvSpPr>
        <p:spPr>
          <a:xfrm>
            <a:off x="1749224" y="6958185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54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a</a:t>
            </a:r>
          </a:p>
        </p:txBody>
      </p:sp>
      <p:sp>
        <p:nvSpPr>
          <p:cNvPr id="42" name="Rounded Rectangle 41">
            <a:extLst>
              <a:ext uri="{FF2B5EF4-FFF2-40B4-BE49-F238E27FC236}">
                <a16:creationId xmlns:a16="http://schemas.microsoft.com/office/drawing/2014/main" id="{69F74220-2A3C-A44D-490E-558BDF34825E}"/>
              </a:ext>
            </a:extLst>
          </p:cNvPr>
          <p:cNvSpPr/>
          <p:nvPr/>
        </p:nvSpPr>
        <p:spPr>
          <a:xfrm>
            <a:off x="3752752" y="6958185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b</a:t>
            </a: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</p:spTree>
    <p:extLst>
      <p:ext uri="{BB962C8B-B14F-4D97-AF65-F5344CB8AC3E}">
        <p14:creationId xmlns:p14="http://schemas.microsoft.com/office/powerpoint/2010/main" val="399801066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750">
        <p159:morph option="byObject"/>
      </p:transition>
    </mc:Choice>
    <mc:Fallback xmlns="">
      <p:transition spd="slow">
        <p:fade/>
      </p:transition>
    </mc:Fallback>
  </mc:AlternateContent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92FAC6-101D-9019-8760-3434A409E6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8C5C6F61-17FE-3A14-4B2A-3B63AD45C911}"/>
              </a:ext>
            </a:extLst>
          </p:cNvPr>
          <p:cNvSpPr/>
          <p:nvPr/>
        </p:nvSpPr>
        <p:spPr>
          <a:xfrm>
            <a:off x="779542" y="389663"/>
            <a:ext cx="22824916" cy="2565241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685800" indent="-685800" defTabSz="82550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  <a:latin typeface="Bradley Hand" pitchFamily="2" charset="77"/>
              </a:rPr>
              <a:t>Look at all permutations of size n</a:t>
            </a:r>
          </a:p>
          <a:p>
            <a:pPr marL="685800" indent="-685800" defTabSz="82550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  <a:latin typeface="Bradley Hand" pitchFamily="2" charset="77"/>
              </a:rPr>
              <a:t>Look at the second iteration of insertion sort</a:t>
            </a:r>
          </a:p>
          <a:p>
            <a:pPr marL="685800" indent="-685800" defTabSz="82550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accent6">
                    <a:lumMod val="40000"/>
                    <a:lumOff val="60000"/>
                  </a:schemeClr>
                </a:solidFill>
                <a:latin typeface="Bradley Hand" pitchFamily="2" charset="77"/>
              </a:rPr>
              <a:t>How many permutations require no swaps?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0" name="Rounded Rectangle 39">
                <a:extLst>
                  <a:ext uri="{FF2B5EF4-FFF2-40B4-BE49-F238E27FC236}">
                    <a16:creationId xmlns:a16="http://schemas.microsoft.com/office/drawing/2014/main" id="{A7E2128B-4A8A-8759-7649-5040FEAF90E4}"/>
                  </a:ext>
                </a:extLst>
              </p:cNvPr>
              <p:cNvSpPr/>
              <p:nvPr/>
            </p:nvSpPr>
            <p:spPr>
              <a:xfrm>
                <a:off x="779542" y="3568291"/>
                <a:ext cx="22824916" cy="2565241"/>
              </a:xfrm>
              <a:prstGeom prst="roundRect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 w="63500" cap="flat">
                <a:solidFill>
                  <a:schemeClr val="tx1"/>
                </a:solidFill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50800" tIns="50800" rIns="50800" bIns="50800" numCol="1" spcCol="38100" rtlCol="0" anchor="ctr">
                <a:spAutoFit/>
              </a:bodyPr>
              <a:lstStyle/>
              <a:p>
                <a:pPr marL="685800" indent="-685800" defTabSz="825500">
                  <a:lnSpc>
                    <a:spcPct val="100000"/>
                  </a:lnSpc>
                  <a:spcBef>
                    <a:spcPts val="0"/>
                  </a:spcBef>
                  <a:buFont typeface="Arial" panose="020B0604020202020204" pitchFamily="34" charset="0"/>
                  <a:buChar char="•"/>
                </a:pPr>
                <a:r>
                  <a:rPr lang="en-US" dirty="0">
                    <a:solidFill>
                      <a:schemeClr val="bg1"/>
                    </a:solidFill>
                    <a:latin typeface="Bradley Hand" pitchFamily="2" charset="77"/>
                  </a:rPr>
                  <a:t>Pick any two numbers out of n</a:t>
                </a:r>
              </a:p>
              <a:p>
                <a:pPr marL="685800" indent="-685800" defTabSz="825500">
                  <a:lnSpc>
                    <a:spcPct val="100000"/>
                  </a:lnSpc>
                  <a:spcBef>
                    <a:spcPts val="0"/>
                  </a:spcBef>
                  <a:buFont typeface="Arial" panose="020B0604020202020204" pitchFamily="34" charset="0"/>
                  <a:buChar char="•"/>
                </a:pPr>
                <a:r>
                  <a:rPr lang="en-US" dirty="0">
                    <a:solidFill>
                      <a:schemeClr val="bg1"/>
                    </a:solidFill>
                    <a:latin typeface="Bradley Hand" pitchFamily="2" charset="77"/>
                  </a:rPr>
                  <a:t>Let us assume a is less than b</a:t>
                </a:r>
              </a:p>
              <a:p>
                <a:pPr marL="685800" indent="-685800" defTabSz="825500">
                  <a:lnSpc>
                    <a:spcPct val="100000"/>
                  </a:lnSpc>
                  <a:spcBef>
                    <a:spcPts val="0"/>
                  </a:spcBef>
                  <a:buFont typeface="Arial" panose="020B0604020202020204" pitchFamily="34" charset="0"/>
                  <a:buChar char="•"/>
                </a:pPr>
                <a:r>
                  <a:rPr lang="en-US" dirty="0">
                    <a:solidFill>
                      <a:schemeClr val="bg1"/>
                    </a:solidFill>
                    <a:latin typeface="Bradley Hand" pitchFamily="2" charset="77"/>
                  </a:rPr>
                  <a:t>Put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en-US" dirty="0">
                    <a:solidFill>
                      <a:schemeClr val="bg1"/>
                    </a:solidFill>
                    <a:latin typeface="Bradley Hand" pitchFamily="2" charset="77"/>
                  </a:rPr>
                  <a:t> as the first and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lang="en-US" dirty="0">
                    <a:solidFill>
                      <a:schemeClr val="bg1"/>
                    </a:solidFill>
                    <a:latin typeface="Bradley Hand" pitchFamily="2" charset="77"/>
                  </a:rPr>
                  <a:t> as the second number in the sequence</a:t>
                </a:r>
              </a:p>
            </p:txBody>
          </p:sp>
        </mc:Choice>
        <mc:Fallback xmlns="">
          <p:sp>
            <p:nvSpPr>
              <p:cNvPr id="40" name="Rounded Rectangle 39">
                <a:extLst>
                  <a:ext uri="{FF2B5EF4-FFF2-40B4-BE49-F238E27FC236}">
                    <a16:creationId xmlns:a16="http://schemas.microsoft.com/office/drawing/2014/main" id="{A7E2128B-4A8A-8759-7649-5040FEAF90E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9542" y="3568291"/>
                <a:ext cx="22824916" cy="2565241"/>
              </a:xfrm>
              <a:prstGeom prst="roundRect">
                <a:avLst/>
              </a:prstGeom>
              <a:blipFill>
                <a:blip r:embed="rId2"/>
                <a:stretch>
                  <a:fillRect l="-610" t="-481" b="-6250"/>
                </a:stretch>
              </a:blipFill>
              <a:ln w="63500" cap="flat">
                <a:solidFill>
                  <a:schemeClr val="tx1"/>
                </a:solidFill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1" name="Rounded Rectangle 40">
            <a:extLst>
              <a:ext uri="{FF2B5EF4-FFF2-40B4-BE49-F238E27FC236}">
                <a16:creationId xmlns:a16="http://schemas.microsoft.com/office/drawing/2014/main" id="{4D040291-46E7-F880-2693-48618FD24AC7}"/>
              </a:ext>
            </a:extLst>
          </p:cNvPr>
          <p:cNvSpPr/>
          <p:nvPr/>
        </p:nvSpPr>
        <p:spPr>
          <a:xfrm>
            <a:off x="1749224" y="6958185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54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a</a:t>
            </a:r>
          </a:p>
        </p:txBody>
      </p:sp>
      <p:sp>
        <p:nvSpPr>
          <p:cNvPr id="42" name="Rounded Rectangle 41">
            <a:extLst>
              <a:ext uri="{FF2B5EF4-FFF2-40B4-BE49-F238E27FC236}">
                <a16:creationId xmlns:a16="http://schemas.microsoft.com/office/drawing/2014/main" id="{D179FB05-032B-52F4-FF33-627704D71A6B}"/>
              </a:ext>
            </a:extLst>
          </p:cNvPr>
          <p:cNvSpPr/>
          <p:nvPr/>
        </p:nvSpPr>
        <p:spPr>
          <a:xfrm>
            <a:off x="3752752" y="6958185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b</a:t>
            </a: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9EC47588-10FC-A3F3-0488-82A6A634F581}"/>
                  </a:ext>
                </a:extLst>
              </p:cNvPr>
              <p:cNvSpPr txBox="1"/>
              <p:nvPr/>
            </p:nvSpPr>
            <p:spPr>
              <a:xfrm>
                <a:off x="2829224" y="7007843"/>
                <a:ext cx="892873" cy="933589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none" lIns="50800" tIns="50800" rIns="50800" bIns="50800" numCol="1" spcCol="38100" rtlCol="0" anchor="ctr">
                <a:spAutoFit/>
              </a:bodyPr>
              <a:lstStyle/>
              <a:p>
                <a:pPr marL="0" marR="0" indent="0" algn="l" defTabSz="2438338" rtl="0" fontAlgn="auto" latinLnBrk="0" hangingPunct="0">
                  <a:lnSpc>
                    <a:spcPct val="90000"/>
                  </a:lnSpc>
                  <a:spcBef>
                    <a:spcPts val="45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en-US" sz="6000" b="0" i="1" u="none" strike="noStrike" cap="none" spc="0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  <a:sym typeface="Helvetica Neue"/>
                        </a:rPr>
                        <m:t>&lt;</m:t>
                      </m:r>
                    </m:oMath>
                  </m:oMathPara>
                </a14:m>
                <a:endParaRPr kumimoji="0" lang="en-US" sz="4800" b="0" i="0" u="none" strike="noStrike" cap="none" spc="0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n-lt"/>
                  <a:ea typeface="+mn-ea"/>
                  <a:cs typeface="+mn-cs"/>
                  <a:sym typeface="Helvetica Neue"/>
                </a:endParaRPr>
              </a:p>
            </p:txBody>
          </p:sp>
        </mc:Choice>
        <mc:Fallback xmlns=""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9EC47588-10FC-A3F3-0488-82A6A634F58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29224" y="7007843"/>
                <a:ext cx="892873" cy="933589"/>
              </a:xfrm>
              <a:prstGeom prst="rect">
                <a:avLst/>
              </a:prstGeom>
              <a:blipFill>
                <a:blip r:embed="rId3"/>
                <a:stretch>
                  <a:fillRect l="-8333" r="-6944" b="-2703"/>
                </a:stretch>
              </a:blipFill>
              <a:ln w="12700" cap="flat">
                <a:noFill/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4EC231B2-90C7-0D92-BC10-F6D3D5897647}"/>
              </a:ext>
            </a:extLst>
          </p:cNvPr>
          <p:cNvSpPr/>
          <p:nvPr/>
        </p:nvSpPr>
        <p:spPr>
          <a:xfrm>
            <a:off x="779542" y="8831943"/>
            <a:ext cx="22824916" cy="1747996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685800" indent="-685800" defTabSz="82550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accent6">
                    <a:lumMod val="40000"/>
                    <a:lumOff val="60000"/>
                  </a:schemeClr>
                </a:solidFill>
                <a:latin typeface="Bradley Hand" pitchFamily="2" charset="77"/>
              </a:rPr>
              <a:t>What about the remaining n-2 numbers?</a:t>
            </a:r>
          </a:p>
          <a:p>
            <a:pPr marL="685800" indent="-685800" defTabSz="82550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  <a:latin typeface="Bradley Hand" pitchFamily="2" charset="77"/>
              </a:rPr>
              <a:t>Don’t care. Put rest n-2 numbers in any order</a:t>
            </a:r>
          </a:p>
        </p:txBody>
      </p:sp>
    </p:spTree>
    <p:extLst>
      <p:ext uri="{BB962C8B-B14F-4D97-AF65-F5344CB8AC3E}">
        <p14:creationId xmlns:p14="http://schemas.microsoft.com/office/powerpoint/2010/main" val="1655637327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Word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81A2D9-43A8-0104-BB1E-C9BDEC135F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F13DF77A-50A7-6F36-616F-EB0F41B5E235}"/>
              </a:ext>
            </a:extLst>
          </p:cNvPr>
          <p:cNvSpPr/>
          <p:nvPr/>
        </p:nvSpPr>
        <p:spPr>
          <a:xfrm>
            <a:off x="779542" y="389663"/>
            <a:ext cx="22824916" cy="2565241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685800" indent="-685800" defTabSz="82550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  <a:latin typeface="Bradley Hand" pitchFamily="2" charset="77"/>
              </a:rPr>
              <a:t>Look at all permutations of size n</a:t>
            </a:r>
          </a:p>
          <a:p>
            <a:pPr marL="685800" indent="-685800" defTabSz="82550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  <a:latin typeface="Bradley Hand" pitchFamily="2" charset="77"/>
              </a:rPr>
              <a:t>Look at the second iteration of insertion sort</a:t>
            </a:r>
          </a:p>
          <a:p>
            <a:pPr marL="685800" indent="-685800" defTabSz="82550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accent6">
                    <a:lumMod val="40000"/>
                    <a:lumOff val="60000"/>
                  </a:schemeClr>
                </a:solidFill>
                <a:latin typeface="Bradley Hand" pitchFamily="2" charset="77"/>
              </a:rPr>
              <a:t>How many permutations require no swaps?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0" name="Rounded Rectangle 39">
                <a:extLst>
                  <a:ext uri="{FF2B5EF4-FFF2-40B4-BE49-F238E27FC236}">
                    <a16:creationId xmlns:a16="http://schemas.microsoft.com/office/drawing/2014/main" id="{60E9F26C-FDD7-DF27-D58B-2475B6992807}"/>
                  </a:ext>
                </a:extLst>
              </p:cNvPr>
              <p:cNvSpPr/>
              <p:nvPr/>
            </p:nvSpPr>
            <p:spPr>
              <a:xfrm>
                <a:off x="779542" y="3568291"/>
                <a:ext cx="22824916" cy="2565241"/>
              </a:xfrm>
              <a:prstGeom prst="roundRect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 w="63500" cap="flat">
                <a:solidFill>
                  <a:schemeClr val="tx1"/>
                </a:solidFill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50800" tIns="50800" rIns="50800" bIns="50800" numCol="1" spcCol="38100" rtlCol="0" anchor="ctr">
                <a:spAutoFit/>
              </a:bodyPr>
              <a:lstStyle/>
              <a:p>
                <a:pPr marL="685800" indent="-685800" defTabSz="825500">
                  <a:lnSpc>
                    <a:spcPct val="100000"/>
                  </a:lnSpc>
                  <a:spcBef>
                    <a:spcPts val="0"/>
                  </a:spcBef>
                  <a:buFont typeface="Arial" panose="020B0604020202020204" pitchFamily="34" charset="0"/>
                  <a:buChar char="•"/>
                </a:pPr>
                <a:r>
                  <a:rPr lang="en-US" dirty="0">
                    <a:solidFill>
                      <a:schemeClr val="bg1"/>
                    </a:solidFill>
                    <a:latin typeface="Bradley Hand" pitchFamily="2" charset="77"/>
                  </a:rPr>
                  <a:t>Pick any two numbers out of n</a:t>
                </a:r>
              </a:p>
              <a:p>
                <a:pPr marL="685800" indent="-685800" defTabSz="825500">
                  <a:lnSpc>
                    <a:spcPct val="100000"/>
                  </a:lnSpc>
                  <a:spcBef>
                    <a:spcPts val="0"/>
                  </a:spcBef>
                  <a:buFont typeface="Arial" panose="020B0604020202020204" pitchFamily="34" charset="0"/>
                  <a:buChar char="•"/>
                </a:pPr>
                <a:r>
                  <a:rPr lang="en-US" dirty="0">
                    <a:solidFill>
                      <a:schemeClr val="bg1"/>
                    </a:solidFill>
                    <a:latin typeface="Bradley Hand" pitchFamily="2" charset="77"/>
                  </a:rPr>
                  <a:t>Let us assume a is less than b</a:t>
                </a:r>
              </a:p>
              <a:p>
                <a:pPr marL="685800" indent="-685800" defTabSz="825500">
                  <a:lnSpc>
                    <a:spcPct val="100000"/>
                  </a:lnSpc>
                  <a:spcBef>
                    <a:spcPts val="0"/>
                  </a:spcBef>
                  <a:buFont typeface="Arial" panose="020B0604020202020204" pitchFamily="34" charset="0"/>
                  <a:buChar char="•"/>
                </a:pPr>
                <a:r>
                  <a:rPr lang="en-US" dirty="0">
                    <a:solidFill>
                      <a:schemeClr val="bg1"/>
                    </a:solidFill>
                    <a:latin typeface="Bradley Hand" pitchFamily="2" charset="77"/>
                  </a:rPr>
                  <a:t>Put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en-US" dirty="0">
                    <a:solidFill>
                      <a:schemeClr val="bg1"/>
                    </a:solidFill>
                    <a:latin typeface="Bradley Hand" pitchFamily="2" charset="77"/>
                  </a:rPr>
                  <a:t> as the first and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lang="en-US" dirty="0">
                    <a:solidFill>
                      <a:schemeClr val="bg1"/>
                    </a:solidFill>
                    <a:latin typeface="Bradley Hand" pitchFamily="2" charset="77"/>
                  </a:rPr>
                  <a:t> as the second number in the sequence</a:t>
                </a:r>
              </a:p>
            </p:txBody>
          </p:sp>
        </mc:Choice>
        <mc:Fallback xmlns="">
          <p:sp>
            <p:nvSpPr>
              <p:cNvPr id="40" name="Rounded Rectangle 39">
                <a:extLst>
                  <a:ext uri="{FF2B5EF4-FFF2-40B4-BE49-F238E27FC236}">
                    <a16:creationId xmlns:a16="http://schemas.microsoft.com/office/drawing/2014/main" id="{60E9F26C-FDD7-DF27-D58B-2475B699280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9542" y="3568291"/>
                <a:ext cx="22824916" cy="2565241"/>
              </a:xfrm>
              <a:prstGeom prst="roundRect">
                <a:avLst/>
              </a:prstGeom>
              <a:blipFill>
                <a:blip r:embed="rId2"/>
                <a:stretch>
                  <a:fillRect l="-610" t="-481" b="-6250"/>
                </a:stretch>
              </a:blipFill>
              <a:ln w="63500" cap="flat">
                <a:solidFill>
                  <a:schemeClr val="tx1"/>
                </a:solidFill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1" name="Rounded Rectangle 40">
            <a:extLst>
              <a:ext uri="{FF2B5EF4-FFF2-40B4-BE49-F238E27FC236}">
                <a16:creationId xmlns:a16="http://schemas.microsoft.com/office/drawing/2014/main" id="{AC323445-0C6D-2B32-7CC9-F949A6206397}"/>
              </a:ext>
            </a:extLst>
          </p:cNvPr>
          <p:cNvSpPr/>
          <p:nvPr/>
        </p:nvSpPr>
        <p:spPr>
          <a:xfrm>
            <a:off x="1749224" y="6958185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54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a</a:t>
            </a:r>
          </a:p>
        </p:txBody>
      </p:sp>
      <p:sp>
        <p:nvSpPr>
          <p:cNvPr id="42" name="Rounded Rectangle 41">
            <a:extLst>
              <a:ext uri="{FF2B5EF4-FFF2-40B4-BE49-F238E27FC236}">
                <a16:creationId xmlns:a16="http://schemas.microsoft.com/office/drawing/2014/main" id="{0CAF9ED0-2872-6667-1F24-F39EE20F3F1F}"/>
              </a:ext>
            </a:extLst>
          </p:cNvPr>
          <p:cNvSpPr/>
          <p:nvPr/>
        </p:nvSpPr>
        <p:spPr>
          <a:xfrm>
            <a:off x="3752752" y="6958185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b</a:t>
            </a: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77944A16-E72B-D32A-ECA6-C4436A6DD005}"/>
                  </a:ext>
                </a:extLst>
              </p:cNvPr>
              <p:cNvSpPr txBox="1"/>
              <p:nvPr/>
            </p:nvSpPr>
            <p:spPr>
              <a:xfrm>
                <a:off x="2829224" y="7007843"/>
                <a:ext cx="892873" cy="933589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none" lIns="50800" tIns="50800" rIns="50800" bIns="50800" numCol="1" spcCol="38100" rtlCol="0" anchor="ctr">
                <a:spAutoFit/>
              </a:bodyPr>
              <a:lstStyle/>
              <a:p>
                <a:pPr marL="0" marR="0" indent="0" algn="l" defTabSz="2438338" rtl="0" fontAlgn="auto" latinLnBrk="0" hangingPunct="0">
                  <a:lnSpc>
                    <a:spcPct val="90000"/>
                  </a:lnSpc>
                  <a:spcBef>
                    <a:spcPts val="45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en-US" sz="6000" b="0" i="1" u="none" strike="noStrike" cap="none" spc="0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  <a:sym typeface="Helvetica Neue"/>
                        </a:rPr>
                        <m:t>&lt;</m:t>
                      </m:r>
                    </m:oMath>
                  </m:oMathPara>
                </a14:m>
                <a:endParaRPr kumimoji="0" lang="en-US" sz="4800" b="0" i="0" u="none" strike="noStrike" cap="none" spc="0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n-lt"/>
                  <a:ea typeface="+mn-ea"/>
                  <a:cs typeface="+mn-cs"/>
                  <a:sym typeface="Helvetica Neue"/>
                </a:endParaRPr>
              </a:p>
            </p:txBody>
          </p:sp>
        </mc:Choice>
        <mc:Fallback xmlns=""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77944A16-E72B-D32A-ECA6-C4436A6DD00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29224" y="7007843"/>
                <a:ext cx="892873" cy="933589"/>
              </a:xfrm>
              <a:prstGeom prst="rect">
                <a:avLst/>
              </a:prstGeom>
              <a:blipFill>
                <a:blip r:embed="rId3"/>
                <a:stretch>
                  <a:fillRect l="-8333" r="-6944" b="-2703"/>
                </a:stretch>
              </a:blipFill>
              <a:ln w="12700" cap="flat">
                <a:noFill/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>
                <a:extLst>
                  <a:ext uri="{FF2B5EF4-FFF2-40B4-BE49-F238E27FC236}">
                    <a16:creationId xmlns:a16="http://schemas.microsoft.com/office/drawing/2014/main" id="{44923EFA-0798-19BB-5B8D-B9A745C0D355}"/>
                  </a:ext>
                </a:extLst>
              </p:cNvPr>
              <p:cNvSpPr/>
              <p:nvPr/>
            </p:nvSpPr>
            <p:spPr>
              <a:xfrm>
                <a:off x="5756280" y="6958185"/>
                <a:ext cx="17848178" cy="1032907"/>
              </a:xfrm>
              <a:prstGeom prst="round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 w="63500" cap="flat">
                <a:solidFill>
                  <a:schemeClr val="accent1">
                    <a:lumMod val="60000"/>
                    <a:lumOff val="40000"/>
                  </a:schemeClr>
                </a:solidFill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50800" tIns="50800" rIns="50800" bIns="50800" numCol="1" spcCol="38100" rtlCol="0" anchor="ctr">
                <a:spAutoFit/>
              </a:bodyPr>
              <a:lstStyle/>
              <a:p>
                <a:pPr marL="0" marR="0" indent="0" algn="ctr" defTabSz="8255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14:m>
                  <m:oMath xmlns:m="http://schemas.openxmlformats.org/officeDocument/2006/math">
                    <m:r>
                      <a:rPr kumimoji="0" lang="en-US" sz="5400" b="0" i="1" u="none" strike="noStrike" cap="none" spc="0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FillTx/>
                        <a:latin typeface="Cambria Math" panose="02040503050406030204" pitchFamily="18" charset="0"/>
                        <a:ea typeface="Helvetica Neue Medium"/>
                        <a:cs typeface="Helvetica Neue Medium"/>
                        <a:sym typeface="Helvetica Neue Medium"/>
                      </a:rPr>
                      <m:t>𝑛</m:t>
                    </m:r>
                    <m:r>
                      <a:rPr kumimoji="0" lang="en-US" sz="5400" b="0" i="1" u="none" strike="noStrike" cap="none" spc="0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FillTx/>
                        <a:latin typeface="Cambria Math" panose="02040503050406030204" pitchFamily="18" charset="0"/>
                        <a:ea typeface="Helvetica Neue Medium"/>
                        <a:cs typeface="Helvetica Neue Medium"/>
                        <a:sym typeface="Helvetica Neue Medium"/>
                      </a:rPr>
                      <m:t>−2</m:t>
                    </m:r>
                  </m:oMath>
                </a14:m>
                <a:r>
                  <a:rPr kumimoji="0" lang="en-US" sz="5400" b="0" i="0" u="none" strike="noStrike" cap="none" spc="0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uFillTx/>
                    <a:latin typeface="Helvetica Neue Medium"/>
                    <a:ea typeface="Helvetica Neue Medium"/>
                    <a:cs typeface="Helvetica Neue Medium"/>
                    <a:sym typeface="Helvetica Neue Medium"/>
                  </a:rPr>
                  <a:t> numbers</a:t>
                </a:r>
              </a:p>
            </p:txBody>
          </p:sp>
        </mc:Choice>
        <mc:Fallback xmlns="">
          <p:sp>
            <p:nvSpPr>
              <p:cNvPr id="4" name="Rounded Rectangle 3">
                <a:extLst>
                  <a:ext uri="{FF2B5EF4-FFF2-40B4-BE49-F238E27FC236}">
                    <a16:creationId xmlns:a16="http://schemas.microsoft.com/office/drawing/2014/main" id="{44923EFA-0798-19BB-5B8D-B9A745C0D35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56280" y="6958185"/>
                <a:ext cx="17848178" cy="1032907"/>
              </a:xfrm>
              <a:prstGeom prst="roundRect">
                <a:avLst/>
              </a:prstGeom>
              <a:blipFill>
                <a:blip r:embed="rId4"/>
                <a:stretch>
                  <a:fillRect t="-6897" b="-25287"/>
                </a:stretch>
              </a:blipFill>
              <a:ln w="63500" cap="flat">
                <a:solidFill>
                  <a:schemeClr val="accent1">
                    <a:lumMod val="60000"/>
                    <a:lumOff val="40000"/>
                  </a:schemeClr>
                </a:solidFill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F1414A18-2C4F-4FC1-B701-D0395F23A2A1}"/>
              </a:ext>
            </a:extLst>
          </p:cNvPr>
          <p:cNvSpPr/>
          <p:nvPr/>
        </p:nvSpPr>
        <p:spPr>
          <a:xfrm>
            <a:off x="1062571" y="8183292"/>
            <a:ext cx="4336744" cy="3110071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4400" dirty="0">
                <a:solidFill>
                  <a:schemeClr val="accent6">
                    <a:lumMod val="40000"/>
                    <a:lumOff val="60000"/>
                  </a:schemeClr>
                </a:solidFill>
                <a:latin typeface="Bradley Hand" pitchFamily="2" charset="77"/>
              </a:rPr>
              <a:t>In how many ways can we select these two numbers?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Rounded Rectangle 5">
                <a:extLst>
                  <a:ext uri="{FF2B5EF4-FFF2-40B4-BE49-F238E27FC236}">
                    <a16:creationId xmlns:a16="http://schemas.microsoft.com/office/drawing/2014/main" id="{4EA78E0A-033D-E9C8-A104-065A1A3CA85D}"/>
                  </a:ext>
                </a:extLst>
              </p:cNvPr>
              <p:cNvSpPr/>
              <p:nvPr/>
            </p:nvSpPr>
            <p:spPr>
              <a:xfrm>
                <a:off x="1754971" y="11715650"/>
                <a:ext cx="2537781" cy="995096"/>
              </a:xfrm>
              <a:prstGeom prst="roundRect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 w="63500" cap="flat">
                <a:solidFill>
                  <a:schemeClr val="tx1"/>
                </a:solidFill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50800" tIns="50800" rIns="50800" bIns="50800" numCol="1" spcCol="38100" rtlCol="0" anchor="ctr">
                <a:spAutoFit/>
              </a:bodyPr>
              <a:lstStyle/>
              <a:p>
                <a:pPr algn="ctr" defTabSz="825500">
                  <a:lnSpc>
                    <a:spcPct val="100000"/>
                  </a:lnSpc>
                  <a:spcBef>
                    <a:spcPts val="0"/>
                  </a:spcBef>
                </a:pPr>
                <a14:m>
                  <m:oMath xmlns:m="http://schemas.openxmlformats.org/officeDocument/2006/math">
                    <m:d>
                      <m:dPr>
                        <m:ctrlPr>
                          <a:rPr lang="en-US" sz="440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noBar"/>
                            <m:ctrlPr>
                              <a:rPr lang="en-US" sz="44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44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num>
                          <m:den>
                            <m:r>
                              <a:rPr lang="en-US" sz="44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</m:oMath>
                </a14:m>
                <a:r>
                  <a:rPr lang="en-US" sz="4400" dirty="0">
                    <a:solidFill>
                      <a:schemeClr val="bg1"/>
                    </a:solidFill>
                    <a:latin typeface="Bradley Hand" pitchFamily="2" charset="77"/>
                  </a:rPr>
                  <a:t> </a:t>
                </a:r>
              </a:p>
            </p:txBody>
          </p:sp>
        </mc:Choice>
        <mc:Fallback xmlns="">
          <p:sp>
            <p:nvSpPr>
              <p:cNvPr id="6" name="Rounded Rectangle 5">
                <a:extLst>
                  <a:ext uri="{FF2B5EF4-FFF2-40B4-BE49-F238E27FC236}">
                    <a16:creationId xmlns:a16="http://schemas.microsoft.com/office/drawing/2014/main" id="{4EA78E0A-033D-E9C8-A104-065A1A3CA85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54971" y="11715650"/>
                <a:ext cx="2537781" cy="995096"/>
              </a:xfrm>
              <a:prstGeom prst="roundRect">
                <a:avLst/>
              </a:prstGeom>
              <a:blipFill>
                <a:blip r:embed="rId5"/>
                <a:stretch>
                  <a:fillRect/>
                </a:stretch>
              </a:blipFill>
              <a:ln w="63500" cap="flat">
                <a:solidFill>
                  <a:schemeClr val="tx1"/>
                </a:solidFill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03F82129-1024-9686-7F07-BB4A31A36AAD}"/>
              </a:ext>
            </a:extLst>
          </p:cNvPr>
          <p:cNvSpPr/>
          <p:nvPr/>
        </p:nvSpPr>
        <p:spPr>
          <a:xfrm>
            <a:off x="11767147" y="8183293"/>
            <a:ext cx="4336744" cy="3110071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4400" dirty="0">
                <a:solidFill>
                  <a:schemeClr val="accent6">
                    <a:lumMod val="40000"/>
                    <a:lumOff val="60000"/>
                  </a:schemeClr>
                </a:solidFill>
                <a:latin typeface="Bradley Hand" pitchFamily="2" charset="77"/>
              </a:rPr>
              <a:t>In how many ways can we arrange the rest numbers?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Rounded Rectangle 7">
                <a:extLst>
                  <a:ext uri="{FF2B5EF4-FFF2-40B4-BE49-F238E27FC236}">
                    <a16:creationId xmlns:a16="http://schemas.microsoft.com/office/drawing/2014/main" id="{9D75E2EC-D4D5-0C57-757F-5DEF4DCE936D}"/>
                  </a:ext>
                </a:extLst>
              </p:cNvPr>
              <p:cNvSpPr/>
              <p:nvPr/>
            </p:nvSpPr>
            <p:spPr>
              <a:xfrm>
                <a:off x="12666628" y="11781874"/>
                <a:ext cx="2537781" cy="862648"/>
              </a:xfrm>
              <a:prstGeom prst="roundRect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 w="63500" cap="flat">
                <a:solidFill>
                  <a:schemeClr val="tx1"/>
                </a:solidFill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50800" tIns="50800" rIns="50800" bIns="50800" numCol="1" spcCol="38100" rtlCol="0" anchor="ctr">
                <a:spAutoFit/>
              </a:bodyPr>
              <a:lstStyle/>
              <a:p>
                <a:pPr algn="ctr" defTabSz="825500">
                  <a:lnSpc>
                    <a:spcPct val="100000"/>
                  </a:lnSpc>
                  <a:spcBef>
                    <a:spcPts val="0"/>
                  </a:spcBef>
                </a:pPr>
                <a14:m>
                  <m:oMath xmlns:m="http://schemas.openxmlformats.org/officeDocument/2006/math">
                    <m:d>
                      <m:dPr>
                        <m:ctrlPr>
                          <a:rPr lang="en-US" sz="4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4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sz="4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−2</m:t>
                        </m:r>
                      </m:e>
                    </m:d>
                    <m:r>
                      <a:rPr lang="en-US" sz="4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!</m:t>
                    </m:r>
                  </m:oMath>
                </a14:m>
                <a:r>
                  <a:rPr lang="en-US" sz="4400" dirty="0">
                    <a:solidFill>
                      <a:schemeClr val="bg1"/>
                    </a:solidFill>
                    <a:latin typeface="Bradley Hand" pitchFamily="2" charset="77"/>
                  </a:rPr>
                  <a:t> </a:t>
                </a:r>
              </a:p>
            </p:txBody>
          </p:sp>
        </mc:Choice>
        <mc:Fallback xmlns="">
          <p:sp>
            <p:nvSpPr>
              <p:cNvPr id="8" name="Rounded Rectangle 7">
                <a:extLst>
                  <a:ext uri="{FF2B5EF4-FFF2-40B4-BE49-F238E27FC236}">
                    <a16:creationId xmlns:a16="http://schemas.microsoft.com/office/drawing/2014/main" id="{9D75E2EC-D4D5-0C57-757F-5DEF4DCE936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666628" y="11781874"/>
                <a:ext cx="2537781" cy="862648"/>
              </a:xfrm>
              <a:prstGeom prst="roundRect">
                <a:avLst/>
              </a:prstGeom>
              <a:blipFill>
                <a:blip r:embed="rId6"/>
                <a:stretch>
                  <a:fillRect/>
                </a:stretch>
              </a:blipFill>
              <a:ln w="63500" cap="flat">
                <a:solidFill>
                  <a:schemeClr val="tx1"/>
                </a:solidFill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81442774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75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8" grpId="0" animBg="1"/>
    </p:bld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541346-E016-5B21-7145-F77A422F28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72582318-0A59-DA7D-71B6-7E9484A5B1D2}"/>
              </a:ext>
            </a:extLst>
          </p:cNvPr>
          <p:cNvSpPr/>
          <p:nvPr/>
        </p:nvSpPr>
        <p:spPr>
          <a:xfrm>
            <a:off x="779542" y="389663"/>
            <a:ext cx="22824916" cy="2565241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685800" indent="-685800" defTabSz="82550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  <a:latin typeface="Bradley Hand" pitchFamily="2" charset="77"/>
              </a:rPr>
              <a:t>Look at all permutations of size n</a:t>
            </a:r>
          </a:p>
          <a:p>
            <a:pPr marL="685800" indent="-685800" defTabSz="82550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  <a:latin typeface="Bradley Hand" pitchFamily="2" charset="77"/>
              </a:rPr>
              <a:t>Look at the second iteration of insertion sort</a:t>
            </a:r>
          </a:p>
          <a:p>
            <a:pPr marL="685800" indent="-685800" defTabSz="82550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accent6">
                    <a:lumMod val="40000"/>
                    <a:lumOff val="60000"/>
                  </a:schemeClr>
                </a:solidFill>
                <a:latin typeface="Bradley Hand" pitchFamily="2" charset="77"/>
              </a:rPr>
              <a:t>How many permutations require no swaps?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Rounded Rectangle 5">
                <a:extLst>
                  <a:ext uri="{FF2B5EF4-FFF2-40B4-BE49-F238E27FC236}">
                    <a16:creationId xmlns:a16="http://schemas.microsoft.com/office/drawing/2014/main" id="{F135DD03-A1F0-A73E-4EBC-5317B379EC11}"/>
                  </a:ext>
                </a:extLst>
              </p:cNvPr>
              <p:cNvSpPr/>
              <p:nvPr/>
            </p:nvSpPr>
            <p:spPr>
              <a:xfrm>
                <a:off x="1823551" y="3486050"/>
                <a:ext cx="2537781" cy="995096"/>
              </a:xfrm>
              <a:prstGeom prst="roundRect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 w="63500" cap="flat">
                <a:solidFill>
                  <a:schemeClr val="tx1"/>
                </a:solidFill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50800" tIns="50800" rIns="50800" bIns="50800" numCol="1" spcCol="38100" rtlCol="0" anchor="ctr">
                <a:spAutoFit/>
              </a:bodyPr>
              <a:lstStyle/>
              <a:p>
                <a:pPr algn="ctr" defTabSz="825500">
                  <a:lnSpc>
                    <a:spcPct val="100000"/>
                  </a:lnSpc>
                  <a:spcBef>
                    <a:spcPts val="0"/>
                  </a:spcBef>
                </a:pPr>
                <a14:m>
                  <m:oMath xmlns:m="http://schemas.openxmlformats.org/officeDocument/2006/math">
                    <m:d>
                      <m:dPr>
                        <m:ctrlPr>
                          <a:rPr lang="en-US" sz="440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noBar"/>
                            <m:ctrlPr>
                              <a:rPr lang="en-US" sz="44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44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num>
                          <m:den>
                            <m:r>
                              <a:rPr lang="en-US" sz="44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</m:oMath>
                </a14:m>
                <a:r>
                  <a:rPr lang="en-US" sz="4400" dirty="0">
                    <a:solidFill>
                      <a:schemeClr val="bg1"/>
                    </a:solidFill>
                    <a:latin typeface="Bradley Hand" pitchFamily="2" charset="77"/>
                  </a:rPr>
                  <a:t> </a:t>
                </a:r>
              </a:p>
            </p:txBody>
          </p:sp>
        </mc:Choice>
        <mc:Fallback xmlns="">
          <p:sp>
            <p:nvSpPr>
              <p:cNvPr id="6" name="Rounded Rectangle 5">
                <a:extLst>
                  <a:ext uri="{FF2B5EF4-FFF2-40B4-BE49-F238E27FC236}">
                    <a16:creationId xmlns:a16="http://schemas.microsoft.com/office/drawing/2014/main" id="{F135DD03-A1F0-A73E-4EBC-5317B379EC1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23551" y="3486050"/>
                <a:ext cx="2537781" cy="995096"/>
              </a:xfrm>
              <a:prstGeom prst="roundRect">
                <a:avLst/>
              </a:prstGeom>
              <a:blipFill>
                <a:blip r:embed="rId2"/>
                <a:stretch>
                  <a:fillRect/>
                </a:stretch>
              </a:blipFill>
              <a:ln w="63500" cap="flat">
                <a:solidFill>
                  <a:schemeClr val="tx1"/>
                </a:solidFill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Rounded Rectangle 7">
                <a:extLst>
                  <a:ext uri="{FF2B5EF4-FFF2-40B4-BE49-F238E27FC236}">
                    <a16:creationId xmlns:a16="http://schemas.microsoft.com/office/drawing/2014/main" id="{75355B86-303E-25D2-6CC7-697D59220C7E}"/>
                  </a:ext>
                </a:extLst>
              </p:cNvPr>
              <p:cNvSpPr/>
              <p:nvPr/>
            </p:nvSpPr>
            <p:spPr>
              <a:xfrm>
                <a:off x="5237128" y="3517884"/>
                <a:ext cx="2537781" cy="862648"/>
              </a:xfrm>
              <a:prstGeom prst="roundRect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 w="63500" cap="flat">
                <a:solidFill>
                  <a:schemeClr val="tx1"/>
                </a:solidFill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50800" tIns="50800" rIns="50800" bIns="50800" numCol="1" spcCol="38100" rtlCol="0" anchor="ctr">
                <a:spAutoFit/>
              </a:bodyPr>
              <a:lstStyle/>
              <a:p>
                <a:pPr algn="ctr" defTabSz="825500">
                  <a:lnSpc>
                    <a:spcPct val="100000"/>
                  </a:lnSpc>
                  <a:spcBef>
                    <a:spcPts val="0"/>
                  </a:spcBef>
                </a:pPr>
                <a14:m>
                  <m:oMath xmlns:m="http://schemas.openxmlformats.org/officeDocument/2006/math">
                    <m:d>
                      <m:dPr>
                        <m:ctrlPr>
                          <a:rPr lang="en-US" sz="4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4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sz="4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−2</m:t>
                        </m:r>
                      </m:e>
                    </m:d>
                    <m:r>
                      <a:rPr lang="en-US" sz="4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!</m:t>
                    </m:r>
                  </m:oMath>
                </a14:m>
                <a:r>
                  <a:rPr lang="en-US" sz="4400" dirty="0">
                    <a:solidFill>
                      <a:schemeClr val="bg1"/>
                    </a:solidFill>
                    <a:latin typeface="Bradley Hand" pitchFamily="2" charset="77"/>
                  </a:rPr>
                  <a:t> </a:t>
                </a:r>
              </a:p>
            </p:txBody>
          </p:sp>
        </mc:Choice>
        <mc:Fallback xmlns="">
          <p:sp>
            <p:nvSpPr>
              <p:cNvPr id="8" name="Rounded Rectangle 7">
                <a:extLst>
                  <a:ext uri="{FF2B5EF4-FFF2-40B4-BE49-F238E27FC236}">
                    <a16:creationId xmlns:a16="http://schemas.microsoft.com/office/drawing/2014/main" id="{75355B86-303E-25D2-6CC7-697D59220C7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37128" y="3517884"/>
                <a:ext cx="2537781" cy="862648"/>
              </a:xfrm>
              <a:prstGeom prst="roundRect">
                <a:avLst/>
              </a:prstGeom>
              <a:blipFill>
                <a:blip r:embed="rId3"/>
                <a:stretch>
                  <a:fillRect/>
                </a:stretch>
              </a:blipFill>
              <a:ln w="63500" cap="flat">
                <a:solidFill>
                  <a:schemeClr val="tx1"/>
                </a:solidFill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Multiply 2">
            <a:extLst>
              <a:ext uri="{FF2B5EF4-FFF2-40B4-BE49-F238E27FC236}">
                <a16:creationId xmlns:a16="http://schemas.microsoft.com/office/drawing/2014/main" id="{63E22E01-D759-6455-B955-FFBD74394FB6}"/>
              </a:ext>
            </a:extLst>
          </p:cNvPr>
          <p:cNvSpPr/>
          <p:nvPr/>
        </p:nvSpPr>
        <p:spPr>
          <a:xfrm>
            <a:off x="4368448" y="3551183"/>
            <a:ext cx="868680" cy="829349"/>
          </a:xfrm>
          <a:prstGeom prst="mathMultiply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4400" i="1">
              <a:solidFill>
                <a:schemeClr val="bg1"/>
              </a:solidFill>
              <a:latin typeface="Cambria Math" panose="02040503050406030204" pitchFamily="18" charset="0"/>
              <a:sym typeface="Helvetica Neue Medium"/>
            </a:endParaRPr>
          </a:p>
        </p:txBody>
      </p:sp>
    </p:spTree>
    <p:extLst>
      <p:ext uri="{BB962C8B-B14F-4D97-AF65-F5344CB8AC3E}">
        <p14:creationId xmlns:p14="http://schemas.microsoft.com/office/powerpoint/2010/main" val="4042929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750">
        <p159:morph option="byObject"/>
      </p:transition>
    </mc:Choice>
    <mc:Fallback xmlns="">
      <p:transition spd="slow">
        <p:fade/>
      </p:transition>
    </mc:Fallback>
  </mc:AlternateContent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682F22-D8B4-CD23-E0B3-82046B4295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EFB6F9A1-02F1-7C16-6D24-44CCFE7F0463}"/>
              </a:ext>
            </a:extLst>
          </p:cNvPr>
          <p:cNvSpPr/>
          <p:nvPr/>
        </p:nvSpPr>
        <p:spPr>
          <a:xfrm>
            <a:off x="779542" y="389663"/>
            <a:ext cx="22824916" cy="2565241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685800" indent="-685800" defTabSz="82550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  <a:latin typeface="Bradley Hand" pitchFamily="2" charset="77"/>
              </a:rPr>
              <a:t>Look at all permutations of size n</a:t>
            </a:r>
          </a:p>
          <a:p>
            <a:pPr marL="685800" indent="-685800" defTabSz="82550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  <a:latin typeface="Bradley Hand" pitchFamily="2" charset="77"/>
              </a:rPr>
              <a:t>Look at the second iteration of insertion sort</a:t>
            </a:r>
          </a:p>
          <a:p>
            <a:pPr marL="685800" indent="-685800" defTabSz="82550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accent6">
                    <a:lumMod val="40000"/>
                    <a:lumOff val="60000"/>
                  </a:schemeClr>
                </a:solidFill>
                <a:latin typeface="Bradley Hand" pitchFamily="2" charset="77"/>
              </a:rPr>
              <a:t>How many permutations require one swap?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0" name="Rounded Rectangle 39">
                <a:extLst>
                  <a:ext uri="{FF2B5EF4-FFF2-40B4-BE49-F238E27FC236}">
                    <a16:creationId xmlns:a16="http://schemas.microsoft.com/office/drawing/2014/main" id="{E2761E0F-9411-F665-B8EF-8FCBEA12A935}"/>
                  </a:ext>
                </a:extLst>
              </p:cNvPr>
              <p:cNvSpPr/>
              <p:nvPr/>
            </p:nvSpPr>
            <p:spPr>
              <a:xfrm>
                <a:off x="779542" y="3568291"/>
                <a:ext cx="22824916" cy="2565241"/>
              </a:xfrm>
              <a:prstGeom prst="roundRect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 w="63500" cap="flat">
                <a:solidFill>
                  <a:schemeClr val="tx1"/>
                </a:solidFill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50800" tIns="50800" rIns="50800" bIns="50800" numCol="1" spcCol="38100" rtlCol="0" anchor="ctr">
                <a:spAutoFit/>
              </a:bodyPr>
              <a:lstStyle/>
              <a:p>
                <a:pPr marL="685800" indent="-685800" defTabSz="825500">
                  <a:lnSpc>
                    <a:spcPct val="100000"/>
                  </a:lnSpc>
                  <a:spcBef>
                    <a:spcPts val="0"/>
                  </a:spcBef>
                  <a:buFont typeface="Arial" panose="020B0604020202020204" pitchFamily="34" charset="0"/>
                  <a:buChar char="•"/>
                </a:pPr>
                <a:r>
                  <a:rPr lang="en-US" dirty="0">
                    <a:solidFill>
                      <a:schemeClr val="bg1"/>
                    </a:solidFill>
                    <a:latin typeface="Bradley Hand" pitchFamily="2" charset="77"/>
                  </a:rPr>
                  <a:t>Pick any two numbers out of n</a:t>
                </a:r>
              </a:p>
              <a:p>
                <a:pPr marL="685800" indent="-685800" defTabSz="825500">
                  <a:lnSpc>
                    <a:spcPct val="100000"/>
                  </a:lnSpc>
                  <a:spcBef>
                    <a:spcPts val="0"/>
                  </a:spcBef>
                  <a:buFont typeface="Arial" panose="020B0604020202020204" pitchFamily="34" charset="0"/>
                  <a:buChar char="•"/>
                </a:pPr>
                <a:r>
                  <a:rPr lang="en-US" dirty="0">
                    <a:solidFill>
                      <a:schemeClr val="bg1"/>
                    </a:solidFill>
                    <a:latin typeface="Bradley Hand" pitchFamily="2" charset="77"/>
                  </a:rPr>
                  <a:t>Let us assume a is less than b</a:t>
                </a:r>
              </a:p>
              <a:p>
                <a:pPr marL="685800" indent="-685800" defTabSz="825500">
                  <a:lnSpc>
                    <a:spcPct val="100000"/>
                  </a:lnSpc>
                  <a:spcBef>
                    <a:spcPts val="0"/>
                  </a:spcBef>
                  <a:buFont typeface="Arial" panose="020B0604020202020204" pitchFamily="34" charset="0"/>
                  <a:buChar char="•"/>
                </a:pPr>
                <a:r>
                  <a:rPr lang="en-US" dirty="0">
                    <a:solidFill>
                      <a:schemeClr val="bg1"/>
                    </a:solidFill>
                    <a:latin typeface="Bradley Hand" pitchFamily="2" charset="77"/>
                  </a:rPr>
                  <a:t>Put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lang="en-US" dirty="0">
                    <a:solidFill>
                      <a:schemeClr val="bg1"/>
                    </a:solidFill>
                    <a:latin typeface="Bradley Hand" pitchFamily="2" charset="77"/>
                  </a:rPr>
                  <a:t> as the first and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en-US" dirty="0">
                    <a:solidFill>
                      <a:schemeClr val="bg1"/>
                    </a:solidFill>
                    <a:latin typeface="Bradley Hand" pitchFamily="2" charset="77"/>
                  </a:rPr>
                  <a:t> as the second number in the sequence</a:t>
                </a:r>
              </a:p>
            </p:txBody>
          </p:sp>
        </mc:Choice>
        <mc:Fallback>
          <p:sp>
            <p:nvSpPr>
              <p:cNvPr id="40" name="Rounded Rectangle 39">
                <a:extLst>
                  <a:ext uri="{FF2B5EF4-FFF2-40B4-BE49-F238E27FC236}">
                    <a16:creationId xmlns:a16="http://schemas.microsoft.com/office/drawing/2014/main" id="{E2761E0F-9411-F665-B8EF-8FCBEA12A93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9542" y="3568291"/>
                <a:ext cx="22824916" cy="2565241"/>
              </a:xfrm>
              <a:prstGeom prst="roundRect">
                <a:avLst/>
              </a:prstGeom>
              <a:blipFill>
                <a:blip r:embed="rId2"/>
                <a:stretch>
                  <a:fillRect l="-610" t="-481" b="-6250"/>
                </a:stretch>
              </a:blipFill>
              <a:ln w="63500" cap="flat">
                <a:solidFill>
                  <a:schemeClr val="tx1"/>
                </a:solidFill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1" name="Rounded Rectangle 40">
            <a:extLst>
              <a:ext uri="{FF2B5EF4-FFF2-40B4-BE49-F238E27FC236}">
                <a16:creationId xmlns:a16="http://schemas.microsoft.com/office/drawing/2014/main" id="{5C3E59AA-8FD9-E30C-A7FE-E4419D16BBBF}"/>
              </a:ext>
            </a:extLst>
          </p:cNvPr>
          <p:cNvSpPr/>
          <p:nvPr/>
        </p:nvSpPr>
        <p:spPr>
          <a:xfrm>
            <a:off x="1749224" y="6958185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54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a</a:t>
            </a:r>
          </a:p>
        </p:txBody>
      </p:sp>
      <p:sp>
        <p:nvSpPr>
          <p:cNvPr id="42" name="Rounded Rectangle 41">
            <a:extLst>
              <a:ext uri="{FF2B5EF4-FFF2-40B4-BE49-F238E27FC236}">
                <a16:creationId xmlns:a16="http://schemas.microsoft.com/office/drawing/2014/main" id="{5768C788-8064-43F6-5258-40FC57B9E6C0}"/>
              </a:ext>
            </a:extLst>
          </p:cNvPr>
          <p:cNvSpPr/>
          <p:nvPr/>
        </p:nvSpPr>
        <p:spPr>
          <a:xfrm>
            <a:off x="3752752" y="6958185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b</a:t>
            </a: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A7E15756-F8EC-2AF2-B26E-CF93ED3346E9}"/>
                  </a:ext>
                </a:extLst>
              </p:cNvPr>
              <p:cNvSpPr txBox="1"/>
              <p:nvPr/>
            </p:nvSpPr>
            <p:spPr>
              <a:xfrm>
                <a:off x="2829224" y="7007843"/>
                <a:ext cx="892873" cy="933589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none" lIns="50800" tIns="50800" rIns="50800" bIns="50800" numCol="1" spcCol="38100" rtlCol="0" anchor="ctr">
                <a:spAutoFit/>
              </a:bodyPr>
              <a:lstStyle/>
              <a:p>
                <a:pPr marL="0" marR="0" indent="0" algn="l" defTabSz="2438338" rtl="0" fontAlgn="auto" latinLnBrk="0" hangingPunct="0">
                  <a:lnSpc>
                    <a:spcPct val="90000"/>
                  </a:lnSpc>
                  <a:spcBef>
                    <a:spcPts val="45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en-US" sz="6000" b="0" i="1" u="none" strike="noStrike" cap="none" spc="0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  <a:sym typeface="Helvetica Neue"/>
                        </a:rPr>
                        <m:t>&lt;</m:t>
                      </m:r>
                    </m:oMath>
                  </m:oMathPara>
                </a14:m>
                <a:endParaRPr kumimoji="0" lang="en-US" sz="4800" b="0" i="0" u="none" strike="noStrike" cap="none" spc="0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n-lt"/>
                  <a:ea typeface="+mn-ea"/>
                  <a:cs typeface="+mn-cs"/>
                  <a:sym typeface="Helvetica Neue"/>
                </a:endParaRPr>
              </a:p>
            </p:txBody>
          </p:sp>
        </mc:Choice>
        <mc:Fallback xmlns=""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A7E15756-F8EC-2AF2-B26E-CF93ED3346E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29224" y="7007843"/>
                <a:ext cx="892873" cy="933589"/>
              </a:xfrm>
              <a:prstGeom prst="rect">
                <a:avLst/>
              </a:prstGeom>
              <a:blipFill>
                <a:blip r:embed="rId3"/>
                <a:stretch>
                  <a:fillRect l="-8333" r="-6944" b="-2703"/>
                </a:stretch>
              </a:blipFill>
              <a:ln w="12700" cap="flat">
                <a:noFill/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546385179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Word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737D25-082E-B0BE-2283-21BC9655F9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81CE4054-995B-E7E1-AFF0-90C50F2DC75B}"/>
              </a:ext>
            </a:extLst>
          </p:cNvPr>
          <p:cNvSpPr/>
          <p:nvPr/>
        </p:nvSpPr>
        <p:spPr>
          <a:xfrm>
            <a:off x="779542" y="389663"/>
            <a:ext cx="22824916" cy="2565241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685800" indent="-685800" defTabSz="82550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  <a:latin typeface="Bradley Hand" pitchFamily="2" charset="77"/>
              </a:rPr>
              <a:t>Look at all permutations of size n</a:t>
            </a:r>
          </a:p>
          <a:p>
            <a:pPr marL="685800" indent="-685800" defTabSz="82550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  <a:latin typeface="Bradley Hand" pitchFamily="2" charset="77"/>
              </a:rPr>
              <a:t>Look at the second iteration of insertion sort</a:t>
            </a:r>
          </a:p>
          <a:p>
            <a:pPr marL="685800" indent="-685800" defTabSz="82550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accent6">
                    <a:lumMod val="40000"/>
                    <a:lumOff val="60000"/>
                  </a:schemeClr>
                </a:solidFill>
                <a:latin typeface="Bradley Hand" pitchFamily="2" charset="77"/>
              </a:rPr>
              <a:t>How many permutations require one swap?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0" name="Rounded Rectangle 39">
                <a:extLst>
                  <a:ext uri="{FF2B5EF4-FFF2-40B4-BE49-F238E27FC236}">
                    <a16:creationId xmlns:a16="http://schemas.microsoft.com/office/drawing/2014/main" id="{EFC872C7-6D41-9D2D-BBD1-DE5E818130B7}"/>
                  </a:ext>
                </a:extLst>
              </p:cNvPr>
              <p:cNvSpPr/>
              <p:nvPr/>
            </p:nvSpPr>
            <p:spPr>
              <a:xfrm>
                <a:off x="779542" y="3568291"/>
                <a:ext cx="22824916" cy="2565241"/>
              </a:xfrm>
              <a:prstGeom prst="roundRect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 w="63500" cap="flat">
                <a:solidFill>
                  <a:schemeClr val="tx1"/>
                </a:solidFill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50800" tIns="50800" rIns="50800" bIns="50800" numCol="1" spcCol="38100" rtlCol="0" anchor="ctr">
                <a:spAutoFit/>
              </a:bodyPr>
              <a:lstStyle/>
              <a:p>
                <a:pPr marL="685800" indent="-685800" defTabSz="825500">
                  <a:lnSpc>
                    <a:spcPct val="100000"/>
                  </a:lnSpc>
                  <a:spcBef>
                    <a:spcPts val="0"/>
                  </a:spcBef>
                  <a:buFont typeface="Arial" panose="020B0604020202020204" pitchFamily="34" charset="0"/>
                  <a:buChar char="•"/>
                </a:pPr>
                <a:r>
                  <a:rPr lang="en-US" dirty="0">
                    <a:solidFill>
                      <a:schemeClr val="bg1"/>
                    </a:solidFill>
                    <a:latin typeface="Bradley Hand" pitchFamily="2" charset="77"/>
                  </a:rPr>
                  <a:t>Pick any two numbers out of n</a:t>
                </a:r>
              </a:p>
              <a:p>
                <a:pPr marL="685800" indent="-685800" defTabSz="825500">
                  <a:lnSpc>
                    <a:spcPct val="100000"/>
                  </a:lnSpc>
                  <a:spcBef>
                    <a:spcPts val="0"/>
                  </a:spcBef>
                  <a:buFont typeface="Arial" panose="020B0604020202020204" pitchFamily="34" charset="0"/>
                  <a:buChar char="•"/>
                </a:pPr>
                <a:r>
                  <a:rPr lang="en-US" dirty="0">
                    <a:solidFill>
                      <a:schemeClr val="bg1"/>
                    </a:solidFill>
                    <a:latin typeface="Bradley Hand" pitchFamily="2" charset="77"/>
                  </a:rPr>
                  <a:t>Let us assume a is less than b</a:t>
                </a:r>
              </a:p>
              <a:p>
                <a:pPr marL="685800" indent="-685800" defTabSz="825500">
                  <a:lnSpc>
                    <a:spcPct val="100000"/>
                  </a:lnSpc>
                  <a:spcBef>
                    <a:spcPts val="0"/>
                  </a:spcBef>
                  <a:buFont typeface="Arial" panose="020B0604020202020204" pitchFamily="34" charset="0"/>
                  <a:buChar char="•"/>
                </a:pPr>
                <a:r>
                  <a:rPr lang="en-US" dirty="0">
                    <a:solidFill>
                      <a:schemeClr val="bg1"/>
                    </a:solidFill>
                    <a:latin typeface="Bradley Hand" pitchFamily="2" charset="77"/>
                  </a:rPr>
                  <a:t>Put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lang="en-US" dirty="0">
                    <a:solidFill>
                      <a:schemeClr val="bg1"/>
                    </a:solidFill>
                    <a:latin typeface="Bradley Hand" pitchFamily="2" charset="77"/>
                  </a:rPr>
                  <a:t> as the first and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en-US" dirty="0">
                    <a:solidFill>
                      <a:schemeClr val="bg1"/>
                    </a:solidFill>
                    <a:latin typeface="Bradley Hand" pitchFamily="2" charset="77"/>
                  </a:rPr>
                  <a:t> as the second number in the sequence</a:t>
                </a:r>
              </a:p>
            </p:txBody>
          </p:sp>
        </mc:Choice>
        <mc:Fallback>
          <p:sp>
            <p:nvSpPr>
              <p:cNvPr id="40" name="Rounded Rectangle 39">
                <a:extLst>
                  <a:ext uri="{FF2B5EF4-FFF2-40B4-BE49-F238E27FC236}">
                    <a16:creationId xmlns:a16="http://schemas.microsoft.com/office/drawing/2014/main" id="{EFC872C7-6D41-9D2D-BBD1-DE5E818130B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9542" y="3568291"/>
                <a:ext cx="22824916" cy="2565241"/>
              </a:xfrm>
              <a:prstGeom prst="roundRect">
                <a:avLst/>
              </a:prstGeom>
              <a:blipFill>
                <a:blip r:embed="rId2"/>
                <a:stretch>
                  <a:fillRect l="-610" t="-481" b="-6250"/>
                </a:stretch>
              </a:blipFill>
              <a:ln w="63500" cap="flat">
                <a:solidFill>
                  <a:schemeClr val="tx1"/>
                </a:solidFill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1" name="Rounded Rectangle 40">
            <a:extLst>
              <a:ext uri="{FF2B5EF4-FFF2-40B4-BE49-F238E27FC236}">
                <a16:creationId xmlns:a16="http://schemas.microsoft.com/office/drawing/2014/main" id="{DE7CA076-7BB7-ACC2-AB8E-43D57B7D6439}"/>
              </a:ext>
            </a:extLst>
          </p:cNvPr>
          <p:cNvSpPr/>
          <p:nvPr/>
        </p:nvSpPr>
        <p:spPr>
          <a:xfrm>
            <a:off x="3722097" y="6958183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54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a</a:t>
            </a:r>
          </a:p>
        </p:txBody>
      </p:sp>
      <p:sp>
        <p:nvSpPr>
          <p:cNvPr id="42" name="Rounded Rectangle 41">
            <a:extLst>
              <a:ext uri="{FF2B5EF4-FFF2-40B4-BE49-F238E27FC236}">
                <a16:creationId xmlns:a16="http://schemas.microsoft.com/office/drawing/2014/main" id="{B894FB26-896A-D97A-F0F4-6809163A2B75}"/>
              </a:ext>
            </a:extLst>
          </p:cNvPr>
          <p:cNvSpPr/>
          <p:nvPr/>
        </p:nvSpPr>
        <p:spPr>
          <a:xfrm>
            <a:off x="1749224" y="6958183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b</a:t>
            </a: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</p:spTree>
    <p:extLst>
      <p:ext uri="{BB962C8B-B14F-4D97-AF65-F5344CB8AC3E}">
        <p14:creationId xmlns:p14="http://schemas.microsoft.com/office/powerpoint/2010/main" val="2696808597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Word"/>
      </p:transition>
    </mc:Choice>
    <mc:Fallback>
      <p:transition spd="slow">
        <p:fade/>
      </p:transition>
    </mc:Fallback>
  </mc:AlternateContent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9319CC-859C-B5ED-8128-D7030BFB74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17C35B84-180F-42BE-A18D-473536BE3039}"/>
              </a:ext>
            </a:extLst>
          </p:cNvPr>
          <p:cNvSpPr/>
          <p:nvPr/>
        </p:nvSpPr>
        <p:spPr>
          <a:xfrm>
            <a:off x="779542" y="389663"/>
            <a:ext cx="22824916" cy="2565241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685800" indent="-685800" defTabSz="82550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  <a:latin typeface="Bradley Hand" pitchFamily="2" charset="77"/>
              </a:rPr>
              <a:t>Look at all permutations of size n</a:t>
            </a:r>
          </a:p>
          <a:p>
            <a:pPr marL="685800" indent="-685800" defTabSz="82550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  <a:latin typeface="Bradley Hand" pitchFamily="2" charset="77"/>
              </a:rPr>
              <a:t>Look at the second iteration of insertion sort</a:t>
            </a:r>
          </a:p>
          <a:p>
            <a:pPr marL="685800" indent="-685800" defTabSz="82550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accent6">
                    <a:lumMod val="40000"/>
                    <a:lumOff val="60000"/>
                  </a:schemeClr>
                </a:solidFill>
                <a:latin typeface="Bradley Hand" pitchFamily="2" charset="77"/>
              </a:rPr>
              <a:t>How many permutations require one swap?</a:t>
            </a:r>
          </a:p>
        </p:txBody>
      </p:sp>
      <p:sp>
        <p:nvSpPr>
          <p:cNvPr id="41" name="Rounded Rectangle 40">
            <a:extLst>
              <a:ext uri="{FF2B5EF4-FFF2-40B4-BE49-F238E27FC236}">
                <a16:creationId xmlns:a16="http://schemas.microsoft.com/office/drawing/2014/main" id="{9CDFC654-7323-F223-2C95-10E18DB0024B}"/>
              </a:ext>
            </a:extLst>
          </p:cNvPr>
          <p:cNvSpPr/>
          <p:nvPr/>
        </p:nvSpPr>
        <p:spPr>
          <a:xfrm>
            <a:off x="3722097" y="6958183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54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a</a:t>
            </a:r>
          </a:p>
        </p:txBody>
      </p:sp>
      <p:sp>
        <p:nvSpPr>
          <p:cNvPr id="42" name="Rounded Rectangle 41">
            <a:extLst>
              <a:ext uri="{FF2B5EF4-FFF2-40B4-BE49-F238E27FC236}">
                <a16:creationId xmlns:a16="http://schemas.microsoft.com/office/drawing/2014/main" id="{428CF319-44E6-0976-CFCF-A2003C6D665B}"/>
              </a:ext>
            </a:extLst>
          </p:cNvPr>
          <p:cNvSpPr/>
          <p:nvPr/>
        </p:nvSpPr>
        <p:spPr>
          <a:xfrm>
            <a:off x="1749224" y="6958183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b</a:t>
            </a: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Rounded Rectangle 2">
                <a:extLst>
                  <a:ext uri="{FF2B5EF4-FFF2-40B4-BE49-F238E27FC236}">
                    <a16:creationId xmlns:a16="http://schemas.microsoft.com/office/drawing/2014/main" id="{E51C28E2-0AAA-859B-1493-142C7524D6FA}"/>
                  </a:ext>
                </a:extLst>
              </p:cNvPr>
              <p:cNvSpPr/>
              <p:nvPr/>
            </p:nvSpPr>
            <p:spPr>
              <a:xfrm>
                <a:off x="5756280" y="6958185"/>
                <a:ext cx="17848178" cy="1032907"/>
              </a:xfrm>
              <a:prstGeom prst="round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 w="63500" cap="flat">
                <a:solidFill>
                  <a:schemeClr val="accent1">
                    <a:lumMod val="60000"/>
                    <a:lumOff val="40000"/>
                  </a:schemeClr>
                </a:solidFill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50800" tIns="50800" rIns="50800" bIns="50800" numCol="1" spcCol="38100" rtlCol="0" anchor="ctr">
                <a:spAutoFit/>
              </a:bodyPr>
              <a:lstStyle/>
              <a:p>
                <a:pPr marL="0" marR="0" indent="0" algn="ctr" defTabSz="8255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14:m>
                  <m:oMath xmlns:m="http://schemas.openxmlformats.org/officeDocument/2006/math">
                    <m:r>
                      <a:rPr kumimoji="0" lang="en-US" sz="5400" b="0" i="1" u="none" strike="noStrike" cap="none" spc="0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FillTx/>
                        <a:latin typeface="Cambria Math" panose="02040503050406030204" pitchFamily="18" charset="0"/>
                        <a:ea typeface="Helvetica Neue Medium"/>
                        <a:cs typeface="Helvetica Neue Medium"/>
                        <a:sym typeface="Helvetica Neue Medium"/>
                      </a:rPr>
                      <m:t>𝑛</m:t>
                    </m:r>
                    <m:r>
                      <a:rPr kumimoji="0" lang="en-US" sz="5400" b="0" i="1" u="none" strike="noStrike" cap="none" spc="0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FillTx/>
                        <a:latin typeface="Cambria Math" panose="02040503050406030204" pitchFamily="18" charset="0"/>
                        <a:ea typeface="Helvetica Neue Medium"/>
                        <a:cs typeface="Helvetica Neue Medium"/>
                        <a:sym typeface="Helvetica Neue Medium"/>
                      </a:rPr>
                      <m:t>−2</m:t>
                    </m:r>
                  </m:oMath>
                </a14:m>
                <a:r>
                  <a:rPr kumimoji="0" lang="en-US" sz="5400" b="0" i="0" u="none" strike="noStrike" cap="none" spc="0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uFillTx/>
                    <a:latin typeface="Helvetica Neue Medium"/>
                    <a:ea typeface="Helvetica Neue Medium"/>
                    <a:cs typeface="Helvetica Neue Medium"/>
                    <a:sym typeface="Helvetica Neue Medium"/>
                  </a:rPr>
                  <a:t> numbers</a:t>
                </a:r>
              </a:p>
            </p:txBody>
          </p:sp>
        </mc:Choice>
        <mc:Fallback xmlns="">
          <p:sp>
            <p:nvSpPr>
              <p:cNvPr id="3" name="Rounded Rectangle 2">
                <a:extLst>
                  <a:ext uri="{FF2B5EF4-FFF2-40B4-BE49-F238E27FC236}">
                    <a16:creationId xmlns:a16="http://schemas.microsoft.com/office/drawing/2014/main" id="{E51C28E2-0AAA-859B-1493-142C7524D6F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56280" y="6958185"/>
                <a:ext cx="17848178" cy="1032907"/>
              </a:xfrm>
              <a:prstGeom prst="roundRect">
                <a:avLst/>
              </a:prstGeom>
              <a:blipFill>
                <a:blip r:embed="rId3"/>
                <a:stretch>
                  <a:fillRect t="-6897" b="-25287"/>
                </a:stretch>
              </a:blipFill>
              <a:ln w="63500" cap="flat">
                <a:solidFill>
                  <a:schemeClr val="accent1">
                    <a:lumMod val="60000"/>
                    <a:lumOff val="40000"/>
                  </a:schemeClr>
                </a:solidFill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8D8AF93A-1462-87B4-86AA-8727F171DE45}"/>
              </a:ext>
            </a:extLst>
          </p:cNvPr>
          <p:cNvSpPr/>
          <p:nvPr/>
        </p:nvSpPr>
        <p:spPr>
          <a:xfrm>
            <a:off x="1062571" y="8183292"/>
            <a:ext cx="4336744" cy="3110071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4400" dirty="0">
                <a:solidFill>
                  <a:schemeClr val="accent6">
                    <a:lumMod val="40000"/>
                    <a:lumOff val="60000"/>
                  </a:schemeClr>
                </a:solidFill>
                <a:latin typeface="Bradley Hand" pitchFamily="2" charset="77"/>
              </a:rPr>
              <a:t>In how many ways can we select these two numbers?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>
                <a:extLst>
                  <a:ext uri="{FF2B5EF4-FFF2-40B4-BE49-F238E27FC236}">
                    <a16:creationId xmlns:a16="http://schemas.microsoft.com/office/drawing/2014/main" id="{5BB832BC-E60D-15D1-AAF7-3A8DC7AA7FF4}"/>
                  </a:ext>
                </a:extLst>
              </p:cNvPr>
              <p:cNvSpPr/>
              <p:nvPr/>
            </p:nvSpPr>
            <p:spPr>
              <a:xfrm>
                <a:off x="1754971" y="11715650"/>
                <a:ext cx="2537781" cy="995096"/>
              </a:xfrm>
              <a:prstGeom prst="roundRect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 w="63500" cap="flat">
                <a:solidFill>
                  <a:schemeClr val="tx1"/>
                </a:solidFill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50800" tIns="50800" rIns="50800" bIns="50800" numCol="1" spcCol="38100" rtlCol="0" anchor="ctr">
                <a:spAutoFit/>
              </a:bodyPr>
              <a:lstStyle/>
              <a:p>
                <a:pPr algn="ctr" defTabSz="825500">
                  <a:lnSpc>
                    <a:spcPct val="100000"/>
                  </a:lnSpc>
                  <a:spcBef>
                    <a:spcPts val="0"/>
                  </a:spcBef>
                </a:pPr>
                <a14:m>
                  <m:oMath xmlns:m="http://schemas.openxmlformats.org/officeDocument/2006/math">
                    <m:d>
                      <m:dPr>
                        <m:ctrlPr>
                          <a:rPr lang="en-US" sz="440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noBar"/>
                            <m:ctrlPr>
                              <a:rPr lang="en-US" sz="44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44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num>
                          <m:den>
                            <m:r>
                              <a:rPr lang="en-US" sz="44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</m:oMath>
                </a14:m>
                <a:r>
                  <a:rPr lang="en-US" sz="4400" dirty="0">
                    <a:solidFill>
                      <a:schemeClr val="bg1"/>
                    </a:solidFill>
                    <a:latin typeface="Bradley Hand" pitchFamily="2" charset="77"/>
                  </a:rPr>
                  <a:t> </a:t>
                </a:r>
              </a:p>
            </p:txBody>
          </p:sp>
        </mc:Choice>
        <mc:Fallback xmlns="">
          <p:sp>
            <p:nvSpPr>
              <p:cNvPr id="5" name="Rounded Rectangle 4">
                <a:extLst>
                  <a:ext uri="{FF2B5EF4-FFF2-40B4-BE49-F238E27FC236}">
                    <a16:creationId xmlns:a16="http://schemas.microsoft.com/office/drawing/2014/main" id="{5BB832BC-E60D-15D1-AAF7-3A8DC7AA7FF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54971" y="11715650"/>
                <a:ext cx="2537781" cy="995096"/>
              </a:xfrm>
              <a:prstGeom prst="roundRect">
                <a:avLst/>
              </a:prstGeom>
              <a:blipFill>
                <a:blip r:embed="rId4"/>
                <a:stretch>
                  <a:fillRect/>
                </a:stretch>
              </a:blipFill>
              <a:ln w="63500" cap="flat">
                <a:solidFill>
                  <a:schemeClr val="tx1"/>
                </a:solidFill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4FE7A7BF-DE6B-E2BA-479B-69A307123767}"/>
              </a:ext>
            </a:extLst>
          </p:cNvPr>
          <p:cNvSpPr/>
          <p:nvPr/>
        </p:nvSpPr>
        <p:spPr>
          <a:xfrm>
            <a:off x="11767147" y="8183293"/>
            <a:ext cx="4336744" cy="3110071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4400" dirty="0">
                <a:solidFill>
                  <a:schemeClr val="accent6">
                    <a:lumMod val="40000"/>
                    <a:lumOff val="60000"/>
                  </a:schemeClr>
                </a:solidFill>
                <a:latin typeface="Bradley Hand" pitchFamily="2" charset="77"/>
              </a:rPr>
              <a:t>In how many ways can we arrange the rest numbers?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Rounded Rectangle 6">
                <a:extLst>
                  <a:ext uri="{FF2B5EF4-FFF2-40B4-BE49-F238E27FC236}">
                    <a16:creationId xmlns:a16="http://schemas.microsoft.com/office/drawing/2014/main" id="{A23770BC-271F-46E9-79CB-5010891FD14D}"/>
                  </a:ext>
                </a:extLst>
              </p:cNvPr>
              <p:cNvSpPr/>
              <p:nvPr/>
            </p:nvSpPr>
            <p:spPr>
              <a:xfrm>
                <a:off x="12666628" y="11781874"/>
                <a:ext cx="2537781" cy="862648"/>
              </a:xfrm>
              <a:prstGeom prst="roundRect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 w="63500" cap="flat">
                <a:solidFill>
                  <a:schemeClr val="tx1"/>
                </a:solidFill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50800" tIns="50800" rIns="50800" bIns="50800" numCol="1" spcCol="38100" rtlCol="0" anchor="ctr">
                <a:spAutoFit/>
              </a:bodyPr>
              <a:lstStyle/>
              <a:p>
                <a:pPr algn="ctr" defTabSz="825500">
                  <a:lnSpc>
                    <a:spcPct val="100000"/>
                  </a:lnSpc>
                  <a:spcBef>
                    <a:spcPts val="0"/>
                  </a:spcBef>
                </a:pPr>
                <a14:m>
                  <m:oMath xmlns:m="http://schemas.openxmlformats.org/officeDocument/2006/math">
                    <m:d>
                      <m:dPr>
                        <m:ctrlPr>
                          <a:rPr lang="en-US" sz="4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4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sz="4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−2</m:t>
                        </m:r>
                      </m:e>
                    </m:d>
                    <m:r>
                      <a:rPr lang="en-US" sz="4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!</m:t>
                    </m:r>
                  </m:oMath>
                </a14:m>
                <a:r>
                  <a:rPr lang="en-US" sz="4400" dirty="0">
                    <a:solidFill>
                      <a:schemeClr val="bg1"/>
                    </a:solidFill>
                    <a:latin typeface="Bradley Hand" pitchFamily="2" charset="77"/>
                  </a:rPr>
                  <a:t> </a:t>
                </a:r>
              </a:p>
            </p:txBody>
          </p:sp>
        </mc:Choice>
        <mc:Fallback xmlns="">
          <p:sp>
            <p:nvSpPr>
              <p:cNvPr id="7" name="Rounded Rectangle 6">
                <a:extLst>
                  <a:ext uri="{FF2B5EF4-FFF2-40B4-BE49-F238E27FC236}">
                    <a16:creationId xmlns:a16="http://schemas.microsoft.com/office/drawing/2014/main" id="{A23770BC-271F-46E9-79CB-5010891FD14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666628" y="11781874"/>
                <a:ext cx="2537781" cy="862648"/>
              </a:xfrm>
              <a:prstGeom prst="roundRect">
                <a:avLst/>
              </a:prstGeom>
              <a:blipFill>
                <a:blip r:embed="rId5"/>
                <a:stretch>
                  <a:fillRect/>
                </a:stretch>
              </a:blipFill>
              <a:ln w="63500" cap="flat">
                <a:solidFill>
                  <a:schemeClr val="tx1"/>
                </a:solidFill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8" name="Rounded Rectangle 7">
                <a:extLst>
                  <a:ext uri="{FF2B5EF4-FFF2-40B4-BE49-F238E27FC236}">
                    <a16:creationId xmlns:a16="http://schemas.microsoft.com/office/drawing/2014/main" id="{F59BAC1F-8C0C-F1F2-CA55-9E2BB9B2173E}"/>
                  </a:ext>
                </a:extLst>
              </p:cNvPr>
              <p:cNvSpPr/>
              <p:nvPr/>
            </p:nvSpPr>
            <p:spPr>
              <a:xfrm>
                <a:off x="779542" y="3568291"/>
                <a:ext cx="22824916" cy="2565241"/>
              </a:xfrm>
              <a:prstGeom prst="roundRect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 w="63500" cap="flat">
                <a:solidFill>
                  <a:schemeClr val="tx1"/>
                </a:solidFill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50800" tIns="50800" rIns="50800" bIns="50800" numCol="1" spcCol="38100" rtlCol="0" anchor="ctr">
                <a:spAutoFit/>
              </a:bodyPr>
              <a:lstStyle/>
              <a:p>
                <a:pPr marL="685800" indent="-685800" defTabSz="825500">
                  <a:lnSpc>
                    <a:spcPct val="100000"/>
                  </a:lnSpc>
                  <a:spcBef>
                    <a:spcPts val="0"/>
                  </a:spcBef>
                  <a:buFont typeface="Arial" panose="020B0604020202020204" pitchFamily="34" charset="0"/>
                  <a:buChar char="•"/>
                </a:pPr>
                <a:r>
                  <a:rPr lang="en-US" dirty="0">
                    <a:solidFill>
                      <a:schemeClr val="bg1"/>
                    </a:solidFill>
                    <a:latin typeface="Bradley Hand" pitchFamily="2" charset="77"/>
                  </a:rPr>
                  <a:t>Pick any two numbers out of n</a:t>
                </a:r>
              </a:p>
              <a:p>
                <a:pPr marL="685800" indent="-685800" defTabSz="825500">
                  <a:lnSpc>
                    <a:spcPct val="100000"/>
                  </a:lnSpc>
                  <a:spcBef>
                    <a:spcPts val="0"/>
                  </a:spcBef>
                  <a:buFont typeface="Arial" panose="020B0604020202020204" pitchFamily="34" charset="0"/>
                  <a:buChar char="•"/>
                </a:pPr>
                <a:r>
                  <a:rPr lang="en-US" dirty="0">
                    <a:solidFill>
                      <a:schemeClr val="bg1"/>
                    </a:solidFill>
                    <a:latin typeface="Bradley Hand" pitchFamily="2" charset="77"/>
                  </a:rPr>
                  <a:t>Let us assume a is less than b</a:t>
                </a:r>
              </a:p>
              <a:p>
                <a:pPr marL="685800" indent="-685800" defTabSz="825500">
                  <a:lnSpc>
                    <a:spcPct val="100000"/>
                  </a:lnSpc>
                  <a:spcBef>
                    <a:spcPts val="0"/>
                  </a:spcBef>
                  <a:buFont typeface="Arial" panose="020B0604020202020204" pitchFamily="34" charset="0"/>
                  <a:buChar char="•"/>
                </a:pPr>
                <a:r>
                  <a:rPr lang="en-US" dirty="0">
                    <a:solidFill>
                      <a:schemeClr val="bg1"/>
                    </a:solidFill>
                    <a:latin typeface="Bradley Hand" pitchFamily="2" charset="77"/>
                  </a:rPr>
                  <a:t>Put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lang="en-US" dirty="0">
                    <a:solidFill>
                      <a:schemeClr val="bg1"/>
                    </a:solidFill>
                    <a:latin typeface="Bradley Hand" pitchFamily="2" charset="77"/>
                  </a:rPr>
                  <a:t> as the first and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en-US" dirty="0">
                    <a:solidFill>
                      <a:schemeClr val="bg1"/>
                    </a:solidFill>
                    <a:latin typeface="Bradley Hand" pitchFamily="2" charset="77"/>
                  </a:rPr>
                  <a:t> as the second number in the sequence</a:t>
                </a:r>
              </a:p>
            </p:txBody>
          </p:sp>
        </mc:Choice>
        <mc:Fallback>
          <p:sp>
            <p:nvSpPr>
              <p:cNvPr id="8" name="Rounded Rectangle 7">
                <a:extLst>
                  <a:ext uri="{FF2B5EF4-FFF2-40B4-BE49-F238E27FC236}">
                    <a16:creationId xmlns:a16="http://schemas.microsoft.com/office/drawing/2014/main" id="{F59BAC1F-8C0C-F1F2-CA55-9E2BB9B2173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9542" y="3568291"/>
                <a:ext cx="22824916" cy="2565241"/>
              </a:xfrm>
              <a:prstGeom prst="roundRect">
                <a:avLst/>
              </a:prstGeom>
              <a:blipFill>
                <a:blip r:embed="rId6"/>
                <a:stretch>
                  <a:fillRect l="-610" t="-481" b="-6250"/>
                </a:stretch>
              </a:blipFill>
              <a:ln w="63500" cap="flat">
                <a:solidFill>
                  <a:schemeClr val="tx1"/>
                </a:solidFill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8461513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75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</p:bld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C3FCE2-392C-E206-8BAC-DF29CF6CCB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>
                <a:extLst>
                  <a:ext uri="{FF2B5EF4-FFF2-40B4-BE49-F238E27FC236}">
                    <a16:creationId xmlns:a16="http://schemas.microsoft.com/office/drawing/2014/main" id="{8D26D4AA-2D6E-A3BE-B853-209C3D05F412}"/>
                  </a:ext>
                </a:extLst>
              </p:cNvPr>
              <p:cNvSpPr/>
              <p:nvPr/>
            </p:nvSpPr>
            <p:spPr>
              <a:xfrm>
                <a:off x="1526371" y="3851810"/>
                <a:ext cx="2537781" cy="995096"/>
              </a:xfrm>
              <a:prstGeom prst="roundRect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 w="63500" cap="flat">
                <a:solidFill>
                  <a:schemeClr val="tx1"/>
                </a:solidFill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50800" tIns="50800" rIns="50800" bIns="50800" numCol="1" spcCol="38100" rtlCol="0" anchor="ctr">
                <a:spAutoFit/>
              </a:bodyPr>
              <a:lstStyle/>
              <a:p>
                <a:pPr algn="ctr" defTabSz="825500">
                  <a:lnSpc>
                    <a:spcPct val="100000"/>
                  </a:lnSpc>
                  <a:spcBef>
                    <a:spcPts val="0"/>
                  </a:spcBef>
                </a:pPr>
                <a14:m>
                  <m:oMath xmlns:m="http://schemas.openxmlformats.org/officeDocument/2006/math">
                    <m:d>
                      <m:dPr>
                        <m:ctrlPr>
                          <a:rPr lang="en-US" sz="440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noBar"/>
                            <m:ctrlPr>
                              <a:rPr lang="en-US" sz="44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44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num>
                          <m:den>
                            <m:r>
                              <a:rPr lang="en-US" sz="44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</m:oMath>
                </a14:m>
                <a:r>
                  <a:rPr lang="en-US" sz="4400" dirty="0">
                    <a:solidFill>
                      <a:schemeClr val="bg1"/>
                    </a:solidFill>
                    <a:latin typeface="Bradley Hand" pitchFamily="2" charset="77"/>
                  </a:rPr>
                  <a:t> </a:t>
                </a:r>
              </a:p>
            </p:txBody>
          </p:sp>
        </mc:Choice>
        <mc:Fallback xmlns="">
          <p:sp>
            <p:nvSpPr>
              <p:cNvPr id="5" name="Rounded Rectangle 4">
                <a:extLst>
                  <a:ext uri="{FF2B5EF4-FFF2-40B4-BE49-F238E27FC236}">
                    <a16:creationId xmlns:a16="http://schemas.microsoft.com/office/drawing/2014/main" id="{8D26D4AA-2D6E-A3BE-B853-209C3D05F41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26371" y="3851810"/>
                <a:ext cx="2537781" cy="995096"/>
              </a:xfrm>
              <a:prstGeom prst="roundRect">
                <a:avLst/>
              </a:prstGeom>
              <a:blipFill>
                <a:blip r:embed="rId2"/>
                <a:stretch>
                  <a:fillRect/>
                </a:stretch>
              </a:blipFill>
              <a:ln w="63500" cap="flat">
                <a:solidFill>
                  <a:schemeClr val="tx1"/>
                </a:solidFill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Rounded Rectangle 6">
                <a:extLst>
                  <a:ext uri="{FF2B5EF4-FFF2-40B4-BE49-F238E27FC236}">
                    <a16:creationId xmlns:a16="http://schemas.microsoft.com/office/drawing/2014/main" id="{6B8E27EA-4B6A-FB4F-316D-334F93ACC383}"/>
                  </a:ext>
                </a:extLst>
              </p:cNvPr>
              <p:cNvSpPr/>
              <p:nvPr/>
            </p:nvSpPr>
            <p:spPr>
              <a:xfrm>
                <a:off x="5077108" y="3851810"/>
                <a:ext cx="2537781" cy="862648"/>
              </a:xfrm>
              <a:prstGeom prst="roundRect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 w="63500" cap="flat">
                <a:solidFill>
                  <a:schemeClr val="tx1"/>
                </a:solidFill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50800" tIns="50800" rIns="50800" bIns="50800" numCol="1" spcCol="38100" rtlCol="0" anchor="ctr">
                <a:spAutoFit/>
              </a:bodyPr>
              <a:lstStyle/>
              <a:p>
                <a:pPr algn="ctr" defTabSz="825500">
                  <a:lnSpc>
                    <a:spcPct val="100000"/>
                  </a:lnSpc>
                  <a:spcBef>
                    <a:spcPts val="0"/>
                  </a:spcBef>
                </a:pPr>
                <a14:m>
                  <m:oMath xmlns:m="http://schemas.openxmlformats.org/officeDocument/2006/math">
                    <m:d>
                      <m:dPr>
                        <m:ctrlPr>
                          <a:rPr lang="en-US" sz="4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4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sz="4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−2</m:t>
                        </m:r>
                      </m:e>
                    </m:d>
                    <m:r>
                      <a:rPr lang="en-US" sz="4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!</m:t>
                    </m:r>
                  </m:oMath>
                </a14:m>
                <a:r>
                  <a:rPr lang="en-US" sz="4400" dirty="0">
                    <a:solidFill>
                      <a:schemeClr val="bg1"/>
                    </a:solidFill>
                    <a:latin typeface="Bradley Hand" pitchFamily="2" charset="77"/>
                  </a:rPr>
                  <a:t> </a:t>
                </a:r>
              </a:p>
            </p:txBody>
          </p:sp>
        </mc:Choice>
        <mc:Fallback xmlns="">
          <p:sp>
            <p:nvSpPr>
              <p:cNvPr id="7" name="Rounded Rectangle 6">
                <a:extLst>
                  <a:ext uri="{FF2B5EF4-FFF2-40B4-BE49-F238E27FC236}">
                    <a16:creationId xmlns:a16="http://schemas.microsoft.com/office/drawing/2014/main" id="{6B8E27EA-4B6A-FB4F-316D-334F93ACC38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77108" y="3851810"/>
                <a:ext cx="2537781" cy="862648"/>
              </a:xfrm>
              <a:prstGeom prst="roundRect">
                <a:avLst/>
              </a:prstGeom>
              <a:blipFill>
                <a:blip r:embed="rId3"/>
                <a:stretch>
                  <a:fillRect/>
                </a:stretch>
              </a:blipFill>
              <a:ln w="63500" cap="flat">
                <a:solidFill>
                  <a:schemeClr val="tx1"/>
                </a:solidFill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Multiply 7">
            <a:extLst>
              <a:ext uri="{FF2B5EF4-FFF2-40B4-BE49-F238E27FC236}">
                <a16:creationId xmlns:a16="http://schemas.microsoft.com/office/drawing/2014/main" id="{B1004AC9-D750-809B-2053-39EAE397561B}"/>
              </a:ext>
            </a:extLst>
          </p:cNvPr>
          <p:cNvSpPr/>
          <p:nvPr/>
        </p:nvSpPr>
        <p:spPr>
          <a:xfrm>
            <a:off x="4136290" y="3885109"/>
            <a:ext cx="868680" cy="829349"/>
          </a:xfrm>
          <a:prstGeom prst="mathMultiply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4400" i="1">
              <a:solidFill>
                <a:schemeClr val="bg1"/>
              </a:solidFill>
              <a:latin typeface="Cambria Math" panose="02040503050406030204" pitchFamily="18" charset="0"/>
              <a:sym typeface="Helvetica Neue Medium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Rounded Rectangle 9">
                <a:extLst>
                  <a:ext uri="{FF2B5EF4-FFF2-40B4-BE49-F238E27FC236}">
                    <a16:creationId xmlns:a16="http://schemas.microsoft.com/office/drawing/2014/main" id="{074E9D34-F660-986B-727E-24164EC716D8}"/>
                  </a:ext>
                </a:extLst>
              </p:cNvPr>
              <p:cNvSpPr/>
              <p:nvPr/>
            </p:nvSpPr>
            <p:spPr>
              <a:xfrm>
                <a:off x="1663531" y="8671766"/>
                <a:ext cx="2537781" cy="995096"/>
              </a:xfrm>
              <a:prstGeom prst="roundRect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 w="63500" cap="flat">
                <a:solidFill>
                  <a:schemeClr val="tx1"/>
                </a:solidFill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50800" tIns="50800" rIns="50800" bIns="50800" numCol="1" spcCol="38100" rtlCol="0" anchor="ctr">
                <a:spAutoFit/>
              </a:bodyPr>
              <a:lstStyle/>
              <a:p>
                <a:pPr algn="ctr" defTabSz="825500">
                  <a:lnSpc>
                    <a:spcPct val="100000"/>
                  </a:lnSpc>
                  <a:spcBef>
                    <a:spcPts val="0"/>
                  </a:spcBef>
                </a:pPr>
                <a14:m>
                  <m:oMath xmlns:m="http://schemas.openxmlformats.org/officeDocument/2006/math">
                    <m:d>
                      <m:dPr>
                        <m:ctrlPr>
                          <a:rPr lang="en-US" sz="440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noBar"/>
                            <m:ctrlPr>
                              <a:rPr lang="en-US" sz="44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44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num>
                          <m:den>
                            <m:r>
                              <a:rPr lang="en-US" sz="44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</m:oMath>
                </a14:m>
                <a:r>
                  <a:rPr lang="en-US" sz="4400" dirty="0">
                    <a:solidFill>
                      <a:schemeClr val="bg1"/>
                    </a:solidFill>
                    <a:latin typeface="Bradley Hand" pitchFamily="2" charset="77"/>
                  </a:rPr>
                  <a:t> </a:t>
                </a:r>
              </a:p>
            </p:txBody>
          </p:sp>
        </mc:Choice>
        <mc:Fallback xmlns="">
          <p:sp>
            <p:nvSpPr>
              <p:cNvPr id="10" name="Rounded Rectangle 9">
                <a:extLst>
                  <a:ext uri="{FF2B5EF4-FFF2-40B4-BE49-F238E27FC236}">
                    <a16:creationId xmlns:a16="http://schemas.microsoft.com/office/drawing/2014/main" id="{074E9D34-F660-986B-727E-24164EC716D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63531" y="8671766"/>
                <a:ext cx="2537781" cy="995096"/>
              </a:xfrm>
              <a:prstGeom prst="roundRect">
                <a:avLst/>
              </a:prstGeom>
              <a:blipFill>
                <a:blip r:embed="rId4"/>
                <a:stretch>
                  <a:fillRect/>
                </a:stretch>
              </a:blipFill>
              <a:ln w="63500" cap="flat">
                <a:solidFill>
                  <a:schemeClr val="tx1"/>
                </a:solidFill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Rounded Rectangle 10">
                <a:extLst>
                  <a:ext uri="{FF2B5EF4-FFF2-40B4-BE49-F238E27FC236}">
                    <a16:creationId xmlns:a16="http://schemas.microsoft.com/office/drawing/2014/main" id="{BB220078-BF4D-F3DE-98DE-AF32EC86CC8E}"/>
                  </a:ext>
                </a:extLst>
              </p:cNvPr>
              <p:cNvSpPr/>
              <p:nvPr/>
            </p:nvSpPr>
            <p:spPr>
              <a:xfrm>
                <a:off x="5077108" y="8703600"/>
                <a:ext cx="2537781" cy="862648"/>
              </a:xfrm>
              <a:prstGeom prst="roundRect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 w="63500" cap="flat">
                <a:solidFill>
                  <a:schemeClr val="tx1"/>
                </a:solidFill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50800" tIns="50800" rIns="50800" bIns="50800" numCol="1" spcCol="38100" rtlCol="0" anchor="ctr">
                <a:spAutoFit/>
              </a:bodyPr>
              <a:lstStyle/>
              <a:p>
                <a:pPr algn="ctr" defTabSz="825500">
                  <a:lnSpc>
                    <a:spcPct val="100000"/>
                  </a:lnSpc>
                  <a:spcBef>
                    <a:spcPts val="0"/>
                  </a:spcBef>
                </a:pPr>
                <a14:m>
                  <m:oMath xmlns:m="http://schemas.openxmlformats.org/officeDocument/2006/math">
                    <m:d>
                      <m:dPr>
                        <m:ctrlPr>
                          <a:rPr lang="en-US" sz="4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4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sz="4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−2</m:t>
                        </m:r>
                      </m:e>
                    </m:d>
                    <m:r>
                      <a:rPr lang="en-US" sz="4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!</m:t>
                    </m:r>
                  </m:oMath>
                </a14:m>
                <a:r>
                  <a:rPr lang="en-US" sz="4400" dirty="0">
                    <a:solidFill>
                      <a:schemeClr val="bg1"/>
                    </a:solidFill>
                    <a:latin typeface="Bradley Hand" pitchFamily="2" charset="77"/>
                  </a:rPr>
                  <a:t> </a:t>
                </a:r>
              </a:p>
            </p:txBody>
          </p:sp>
        </mc:Choice>
        <mc:Fallback xmlns="">
          <p:sp>
            <p:nvSpPr>
              <p:cNvPr id="11" name="Rounded Rectangle 10">
                <a:extLst>
                  <a:ext uri="{FF2B5EF4-FFF2-40B4-BE49-F238E27FC236}">
                    <a16:creationId xmlns:a16="http://schemas.microsoft.com/office/drawing/2014/main" id="{BB220078-BF4D-F3DE-98DE-AF32EC86CC8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77108" y="8703600"/>
                <a:ext cx="2537781" cy="862648"/>
              </a:xfrm>
              <a:prstGeom prst="roundRect">
                <a:avLst/>
              </a:prstGeom>
              <a:blipFill>
                <a:blip r:embed="rId5"/>
                <a:stretch>
                  <a:fillRect/>
                </a:stretch>
              </a:blipFill>
              <a:ln w="63500" cap="flat">
                <a:solidFill>
                  <a:schemeClr val="tx1"/>
                </a:solidFill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Multiply 11">
            <a:extLst>
              <a:ext uri="{FF2B5EF4-FFF2-40B4-BE49-F238E27FC236}">
                <a16:creationId xmlns:a16="http://schemas.microsoft.com/office/drawing/2014/main" id="{B9434523-95C5-1958-EE02-1F06FB84B784}"/>
              </a:ext>
            </a:extLst>
          </p:cNvPr>
          <p:cNvSpPr/>
          <p:nvPr/>
        </p:nvSpPr>
        <p:spPr>
          <a:xfrm>
            <a:off x="4208428" y="8736899"/>
            <a:ext cx="868680" cy="829349"/>
          </a:xfrm>
          <a:prstGeom prst="mathMultiply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4400" i="1">
              <a:solidFill>
                <a:schemeClr val="bg1"/>
              </a:solidFill>
              <a:latin typeface="Cambria Math" panose="02040503050406030204" pitchFamily="18" charset="0"/>
              <a:sym typeface="Helvetica Neue Medium"/>
            </a:endParaRPr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B8EF08CE-84B8-6B29-1A5F-6ABC79D157B9}"/>
              </a:ext>
            </a:extLst>
          </p:cNvPr>
          <p:cNvSpPr/>
          <p:nvPr/>
        </p:nvSpPr>
        <p:spPr>
          <a:xfrm>
            <a:off x="779542" y="389663"/>
            <a:ext cx="22824916" cy="2565241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685800" indent="-685800" defTabSz="82550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  <a:latin typeface="Bradley Hand" pitchFamily="2" charset="77"/>
              </a:rPr>
              <a:t>Look at all permutations of size n</a:t>
            </a:r>
          </a:p>
          <a:p>
            <a:pPr marL="685800" indent="-685800" defTabSz="82550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  <a:latin typeface="Bradley Hand" pitchFamily="2" charset="77"/>
              </a:rPr>
              <a:t>Look at the second iteration of insertion sort</a:t>
            </a:r>
          </a:p>
          <a:p>
            <a:pPr marL="685800" indent="-685800" defTabSz="82550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accent6">
                    <a:lumMod val="40000"/>
                    <a:lumOff val="60000"/>
                  </a:schemeClr>
                </a:solidFill>
                <a:latin typeface="Bradley Hand" pitchFamily="2" charset="77"/>
              </a:rPr>
              <a:t>How many permutations require one swap?</a:t>
            </a:r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B8A9A7E1-12C6-0EB9-8091-4A949D6DC046}"/>
              </a:ext>
            </a:extLst>
          </p:cNvPr>
          <p:cNvSpPr/>
          <p:nvPr/>
        </p:nvSpPr>
        <p:spPr>
          <a:xfrm>
            <a:off x="619522" y="5575379"/>
            <a:ext cx="22824916" cy="2565241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685800" indent="-685800" defTabSz="82550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  <a:latin typeface="Bradley Hand" pitchFamily="2" charset="77"/>
              </a:rPr>
              <a:t>Look at all permutations of size n</a:t>
            </a:r>
          </a:p>
          <a:p>
            <a:pPr marL="685800" indent="-685800" defTabSz="82550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  <a:latin typeface="Bradley Hand" pitchFamily="2" charset="77"/>
              </a:rPr>
              <a:t>Look at the second iteration of insertion sort</a:t>
            </a:r>
          </a:p>
          <a:p>
            <a:pPr marL="685800" indent="-685800" defTabSz="82550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accent6">
                    <a:lumMod val="40000"/>
                    <a:lumOff val="60000"/>
                  </a:schemeClr>
                </a:solidFill>
                <a:latin typeface="Bradley Hand" pitchFamily="2" charset="77"/>
              </a:rPr>
              <a:t>How many permutations require no swaps?</a:t>
            </a:r>
          </a:p>
        </p:txBody>
      </p:sp>
    </p:spTree>
    <p:extLst>
      <p:ext uri="{BB962C8B-B14F-4D97-AF65-F5344CB8AC3E}">
        <p14:creationId xmlns:p14="http://schemas.microsoft.com/office/powerpoint/2010/main" val="125789944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75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1" grpId="0" animBg="1"/>
      <p:bldP spid="12" grpId="0" animBg="1"/>
      <p:bldP spid="14" grpId="0" animBg="1"/>
    </p:bld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845E2A-E3F3-D674-52D6-66CC216959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8" name="Rounded Rectangle 7">
                <a:extLst>
                  <a:ext uri="{FF2B5EF4-FFF2-40B4-BE49-F238E27FC236}">
                    <a16:creationId xmlns:a16="http://schemas.microsoft.com/office/drawing/2014/main" id="{ED33E02A-D575-603E-0F18-654000345485}"/>
                  </a:ext>
                </a:extLst>
              </p:cNvPr>
              <p:cNvSpPr/>
              <p:nvPr/>
            </p:nvSpPr>
            <p:spPr>
              <a:xfrm>
                <a:off x="11081851" y="11970648"/>
                <a:ext cx="2537781" cy="995096"/>
              </a:xfrm>
              <a:prstGeom prst="roundRect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 w="63500" cap="flat">
                <a:solidFill>
                  <a:schemeClr val="tx1"/>
                </a:solidFill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50800" tIns="50800" rIns="50800" bIns="50800" numCol="1" spcCol="38100" rtlCol="0" anchor="ctr">
                <a:spAutoFit/>
              </a:bodyPr>
              <a:lstStyle/>
              <a:p>
                <a:pPr algn="ctr" defTabSz="825500">
                  <a:lnSpc>
                    <a:spcPct val="100000"/>
                  </a:lnSpc>
                  <a:spcBef>
                    <a:spcPts val="0"/>
                  </a:spcBef>
                </a:pPr>
                <a14:m>
                  <m:oMath xmlns:m="http://schemas.openxmlformats.org/officeDocument/2006/math">
                    <m:d>
                      <m:dPr>
                        <m:ctrlPr>
                          <a:rPr lang="en-US" sz="440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noBar"/>
                            <m:ctrlPr>
                              <a:rPr lang="en-US" sz="44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44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num>
                          <m:den>
                            <m:r>
                              <a:rPr lang="en-US" sz="44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</m:oMath>
                </a14:m>
                <a:r>
                  <a:rPr lang="en-US" sz="4400" dirty="0">
                    <a:solidFill>
                      <a:schemeClr val="bg1"/>
                    </a:solidFill>
                    <a:latin typeface="Bradley Hand" pitchFamily="2" charset="77"/>
                  </a:rPr>
                  <a:t> </a:t>
                </a:r>
              </a:p>
            </p:txBody>
          </p:sp>
        </mc:Choice>
        <mc:Fallback xmlns="">
          <p:sp>
            <p:nvSpPr>
              <p:cNvPr id="8" name="Rounded Rectangle 7">
                <a:extLst>
                  <a:ext uri="{FF2B5EF4-FFF2-40B4-BE49-F238E27FC236}">
                    <a16:creationId xmlns:a16="http://schemas.microsoft.com/office/drawing/2014/main" id="{ED33E02A-D575-603E-0F18-65400034548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081851" y="11970648"/>
                <a:ext cx="2537781" cy="995096"/>
              </a:xfrm>
              <a:prstGeom prst="roundRect">
                <a:avLst/>
              </a:prstGeom>
              <a:blipFill>
                <a:blip r:embed="rId2"/>
                <a:stretch>
                  <a:fillRect/>
                </a:stretch>
              </a:blipFill>
              <a:ln w="63500" cap="flat">
                <a:solidFill>
                  <a:schemeClr val="tx1"/>
                </a:solidFill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Rounded Rectangle 8">
                <a:extLst>
                  <a:ext uri="{FF2B5EF4-FFF2-40B4-BE49-F238E27FC236}">
                    <a16:creationId xmlns:a16="http://schemas.microsoft.com/office/drawing/2014/main" id="{223AB328-11DB-B41B-7328-E5715F2EEC75}"/>
                  </a:ext>
                </a:extLst>
              </p:cNvPr>
              <p:cNvSpPr/>
              <p:nvPr/>
            </p:nvSpPr>
            <p:spPr>
              <a:xfrm>
                <a:off x="14495428" y="12002482"/>
                <a:ext cx="2537781" cy="862648"/>
              </a:xfrm>
              <a:prstGeom prst="roundRect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 w="63500" cap="flat">
                <a:solidFill>
                  <a:schemeClr val="tx1"/>
                </a:solidFill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50800" tIns="50800" rIns="50800" bIns="50800" numCol="1" spcCol="38100" rtlCol="0" anchor="ctr">
                <a:spAutoFit/>
              </a:bodyPr>
              <a:lstStyle/>
              <a:p>
                <a:pPr algn="ctr" defTabSz="825500">
                  <a:lnSpc>
                    <a:spcPct val="100000"/>
                  </a:lnSpc>
                  <a:spcBef>
                    <a:spcPts val="0"/>
                  </a:spcBef>
                </a:pPr>
                <a14:m>
                  <m:oMath xmlns:m="http://schemas.openxmlformats.org/officeDocument/2006/math">
                    <m:d>
                      <m:dPr>
                        <m:ctrlPr>
                          <a:rPr lang="en-US" sz="4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4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sz="4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−2</m:t>
                        </m:r>
                      </m:e>
                    </m:d>
                    <m:r>
                      <a:rPr lang="en-US" sz="4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!</m:t>
                    </m:r>
                  </m:oMath>
                </a14:m>
                <a:r>
                  <a:rPr lang="en-US" sz="4400" dirty="0">
                    <a:solidFill>
                      <a:schemeClr val="bg1"/>
                    </a:solidFill>
                    <a:latin typeface="Bradley Hand" pitchFamily="2" charset="77"/>
                  </a:rPr>
                  <a:t> </a:t>
                </a:r>
              </a:p>
            </p:txBody>
          </p:sp>
        </mc:Choice>
        <mc:Fallback xmlns="">
          <p:sp>
            <p:nvSpPr>
              <p:cNvPr id="9" name="Rounded Rectangle 8">
                <a:extLst>
                  <a:ext uri="{FF2B5EF4-FFF2-40B4-BE49-F238E27FC236}">
                    <a16:creationId xmlns:a16="http://schemas.microsoft.com/office/drawing/2014/main" id="{223AB328-11DB-B41B-7328-E5715F2EEC7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495428" y="12002482"/>
                <a:ext cx="2537781" cy="862648"/>
              </a:xfrm>
              <a:prstGeom prst="roundRect">
                <a:avLst/>
              </a:prstGeom>
              <a:blipFill>
                <a:blip r:embed="rId3"/>
                <a:stretch>
                  <a:fillRect/>
                </a:stretch>
              </a:blipFill>
              <a:ln w="63500" cap="flat">
                <a:solidFill>
                  <a:schemeClr val="tx1"/>
                </a:solidFill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Multiply 9">
            <a:extLst>
              <a:ext uri="{FF2B5EF4-FFF2-40B4-BE49-F238E27FC236}">
                <a16:creationId xmlns:a16="http://schemas.microsoft.com/office/drawing/2014/main" id="{BD68F442-21EC-CE35-1E3B-313CC8E1A669}"/>
              </a:ext>
            </a:extLst>
          </p:cNvPr>
          <p:cNvSpPr/>
          <p:nvPr/>
        </p:nvSpPr>
        <p:spPr>
          <a:xfrm>
            <a:off x="13626748" y="12035781"/>
            <a:ext cx="868680" cy="829349"/>
          </a:xfrm>
          <a:prstGeom prst="mathMultiply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4400" i="1">
              <a:solidFill>
                <a:schemeClr val="bg1"/>
              </a:solidFill>
              <a:latin typeface="Cambria Math" panose="02040503050406030204" pitchFamily="18" charset="0"/>
              <a:sym typeface="Helvetica Neue Medium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Rounded Rectangle 11">
                <a:extLst>
                  <a:ext uri="{FF2B5EF4-FFF2-40B4-BE49-F238E27FC236}">
                    <a16:creationId xmlns:a16="http://schemas.microsoft.com/office/drawing/2014/main" id="{4CDED33E-7E50-8D68-0F27-41F2EE91ABEE}"/>
                  </a:ext>
                </a:extLst>
              </p:cNvPr>
              <p:cNvSpPr/>
              <p:nvPr/>
            </p:nvSpPr>
            <p:spPr>
              <a:xfrm>
                <a:off x="8042958" y="10363240"/>
                <a:ext cx="2537781" cy="995096"/>
              </a:xfrm>
              <a:prstGeom prst="roundRect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 w="63500" cap="flat">
                <a:solidFill>
                  <a:schemeClr val="tx1"/>
                </a:solidFill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50800" tIns="50800" rIns="50800" bIns="50800" numCol="1" spcCol="38100" rtlCol="0" anchor="ctr">
                <a:spAutoFit/>
              </a:bodyPr>
              <a:lstStyle/>
              <a:p>
                <a:pPr algn="ctr" defTabSz="825500">
                  <a:lnSpc>
                    <a:spcPct val="100000"/>
                  </a:lnSpc>
                  <a:spcBef>
                    <a:spcPts val="0"/>
                  </a:spcBef>
                </a:pPr>
                <a14:m>
                  <m:oMath xmlns:m="http://schemas.openxmlformats.org/officeDocument/2006/math">
                    <m:d>
                      <m:dPr>
                        <m:ctrlPr>
                          <a:rPr lang="en-US" sz="440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noBar"/>
                            <m:ctrlPr>
                              <a:rPr lang="en-US" sz="44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44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num>
                          <m:den>
                            <m:r>
                              <a:rPr lang="en-US" sz="44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</m:oMath>
                </a14:m>
                <a:r>
                  <a:rPr lang="en-US" sz="4400" dirty="0">
                    <a:solidFill>
                      <a:schemeClr val="bg1"/>
                    </a:solidFill>
                    <a:latin typeface="Bradley Hand" pitchFamily="2" charset="77"/>
                  </a:rPr>
                  <a:t> </a:t>
                </a:r>
              </a:p>
            </p:txBody>
          </p:sp>
        </mc:Choice>
        <mc:Fallback xmlns="">
          <p:sp>
            <p:nvSpPr>
              <p:cNvPr id="12" name="Rounded Rectangle 11">
                <a:extLst>
                  <a:ext uri="{FF2B5EF4-FFF2-40B4-BE49-F238E27FC236}">
                    <a16:creationId xmlns:a16="http://schemas.microsoft.com/office/drawing/2014/main" id="{4CDED33E-7E50-8D68-0F27-41F2EE91ABE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42958" y="10363240"/>
                <a:ext cx="2537781" cy="995096"/>
              </a:xfrm>
              <a:prstGeom prst="roundRect">
                <a:avLst/>
              </a:prstGeom>
              <a:blipFill>
                <a:blip r:embed="rId4"/>
                <a:stretch>
                  <a:fillRect/>
                </a:stretch>
              </a:blipFill>
              <a:ln w="63500" cap="flat">
                <a:solidFill>
                  <a:schemeClr val="tx1"/>
                </a:solidFill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Rounded Rectangle 12">
                <a:extLst>
                  <a:ext uri="{FF2B5EF4-FFF2-40B4-BE49-F238E27FC236}">
                    <a16:creationId xmlns:a16="http://schemas.microsoft.com/office/drawing/2014/main" id="{4F0B9D30-622F-5451-6154-6E32A706C1A1}"/>
                  </a:ext>
                </a:extLst>
              </p:cNvPr>
              <p:cNvSpPr/>
              <p:nvPr/>
            </p:nvSpPr>
            <p:spPr>
              <a:xfrm>
                <a:off x="11456535" y="10395074"/>
                <a:ext cx="2537781" cy="862648"/>
              </a:xfrm>
              <a:prstGeom prst="roundRect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 w="63500" cap="flat">
                <a:solidFill>
                  <a:schemeClr val="tx1"/>
                </a:solidFill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50800" tIns="50800" rIns="50800" bIns="50800" numCol="1" spcCol="38100" rtlCol="0" anchor="ctr">
                <a:spAutoFit/>
              </a:bodyPr>
              <a:lstStyle/>
              <a:p>
                <a:pPr algn="ctr" defTabSz="825500">
                  <a:lnSpc>
                    <a:spcPct val="100000"/>
                  </a:lnSpc>
                  <a:spcBef>
                    <a:spcPts val="0"/>
                  </a:spcBef>
                </a:pPr>
                <a14:m>
                  <m:oMath xmlns:m="http://schemas.openxmlformats.org/officeDocument/2006/math">
                    <m:d>
                      <m:dPr>
                        <m:ctrlPr>
                          <a:rPr lang="en-US" sz="4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4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sz="4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−2</m:t>
                        </m:r>
                      </m:e>
                    </m:d>
                    <m:r>
                      <a:rPr lang="en-US" sz="4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!</m:t>
                    </m:r>
                  </m:oMath>
                </a14:m>
                <a:r>
                  <a:rPr lang="en-US" sz="4400" dirty="0">
                    <a:solidFill>
                      <a:schemeClr val="bg1"/>
                    </a:solidFill>
                    <a:latin typeface="Bradley Hand" pitchFamily="2" charset="77"/>
                  </a:rPr>
                  <a:t> </a:t>
                </a:r>
              </a:p>
            </p:txBody>
          </p:sp>
        </mc:Choice>
        <mc:Fallback xmlns="">
          <p:sp>
            <p:nvSpPr>
              <p:cNvPr id="13" name="Rounded Rectangle 12">
                <a:extLst>
                  <a:ext uri="{FF2B5EF4-FFF2-40B4-BE49-F238E27FC236}">
                    <a16:creationId xmlns:a16="http://schemas.microsoft.com/office/drawing/2014/main" id="{4F0B9D30-622F-5451-6154-6E32A706C1A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456535" y="10395074"/>
                <a:ext cx="2537781" cy="862648"/>
              </a:xfrm>
              <a:prstGeom prst="roundRect">
                <a:avLst/>
              </a:prstGeom>
              <a:blipFill>
                <a:blip r:embed="rId5"/>
                <a:stretch>
                  <a:fillRect/>
                </a:stretch>
              </a:blipFill>
              <a:ln w="63500" cap="flat">
                <a:solidFill>
                  <a:schemeClr val="tx1"/>
                </a:solidFill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Multiply 13">
            <a:extLst>
              <a:ext uri="{FF2B5EF4-FFF2-40B4-BE49-F238E27FC236}">
                <a16:creationId xmlns:a16="http://schemas.microsoft.com/office/drawing/2014/main" id="{652018CE-A56F-FBF1-C926-6653BD084551}"/>
              </a:ext>
            </a:extLst>
          </p:cNvPr>
          <p:cNvSpPr/>
          <p:nvPr/>
        </p:nvSpPr>
        <p:spPr>
          <a:xfrm>
            <a:off x="10587855" y="10428373"/>
            <a:ext cx="868680" cy="829349"/>
          </a:xfrm>
          <a:prstGeom prst="mathMultiply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4400" i="1">
              <a:solidFill>
                <a:schemeClr val="bg1"/>
              </a:solidFill>
              <a:latin typeface="Cambria Math" panose="02040503050406030204" pitchFamily="18" charset="0"/>
              <a:sym typeface="Helvetica Neue Medium"/>
            </a:endParaRPr>
          </a:p>
        </p:txBody>
      </p: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617CFD7A-EBF1-89A1-BFAE-B04E19303F8F}"/>
              </a:ext>
            </a:extLst>
          </p:cNvPr>
          <p:cNvSpPr/>
          <p:nvPr/>
        </p:nvSpPr>
        <p:spPr>
          <a:xfrm>
            <a:off x="779543" y="9657761"/>
            <a:ext cx="6215618" cy="2565241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US" dirty="0">
                <a:solidFill>
                  <a:schemeClr val="bg1"/>
                </a:solidFill>
                <a:latin typeface="Bradley Hand" pitchFamily="2" charset="77"/>
              </a:rPr>
              <a:t>Total number of swaps in second iteration</a:t>
            </a:r>
          </a:p>
        </p:txBody>
      </p:sp>
      <p:sp>
        <p:nvSpPr>
          <p:cNvPr id="16" name="Equals 15">
            <a:extLst>
              <a:ext uri="{FF2B5EF4-FFF2-40B4-BE49-F238E27FC236}">
                <a16:creationId xmlns:a16="http://schemas.microsoft.com/office/drawing/2014/main" id="{DCBA5100-A2E9-DCDA-6127-549FD032A8E5}"/>
              </a:ext>
            </a:extLst>
          </p:cNvPr>
          <p:cNvSpPr/>
          <p:nvPr/>
        </p:nvSpPr>
        <p:spPr>
          <a:xfrm>
            <a:off x="6995161" y="10623040"/>
            <a:ext cx="911891" cy="634682"/>
          </a:xfrm>
          <a:prstGeom prst="mathEqual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4400" i="1">
              <a:solidFill>
                <a:schemeClr val="bg1"/>
              </a:solidFill>
              <a:latin typeface="Cambria Math" panose="02040503050406030204" pitchFamily="18" charset="0"/>
              <a:sym typeface="Helvetica Neue Medium"/>
            </a:endParaRPr>
          </a:p>
        </p:txBody>
      </p:sp>
      <p:sp>
        <p:nvSpPr>
          <p:cNvPr id="20" name="Rounded Rectangle 19">
            <a:extLst>
              <a:ext uri="{FF2B5EF4-FFF2-40B4-BE49-F238E27FC236}">
                <a16:creationId xmlns:a16="http://schemas.microsoft.com/office/drawing/2014/main" id="{9D50F2F7-62B8-FE69-2BAC-A79D5E5C0D2C}"/>
              </a:ext>
            </a:extLst>
          </p:cNvPr>
          <p:cNvSpPr/>
          <p:nvPr/>
        </p:nvSpPr>
        <p:spPr>
          <a:xfrm>
            <a:off x="14122671" y="10363240"/>
            <a:ext cx="1079230" cy="894482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accent1">
                <a:lumMod val="40000"/>
                <a:lumOff val="6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4400" dirty="0">
                <a:solidFill>
                  <a:schemeClr val="accent1">
                    <a:lumMod val="40000"/>
                    <a:lumOff val="60000"/>
                  </a:schemeClr>
                </a:solidFill>
                <a:latin typeface="Bradley Hand" pitchFamily="2" charset="77"/>
              </a:rPr>
              <a:t>0</a:t>
            </a:r>
          </a:p>
        </p:txBody>
      </p:sp>
      <p:sp>
        <p:nvSpPr>
          <p:cNvPr id="21" name="Rounded Rectangle 20">
            <a:extLst>
              <a:ext uri="{FF2B5EF4-FFF2-40B4-BE49-F238E27FC236}">
                <a16:creationId xmlns:a16="http://schemas.microsoft.com/office/drawing/2014/main" id="{3DD44002-DF7D-F883-A5DF-DA7250B91B35}"/>
              </a:ext>
            </a:extLst>
          </p:cNvPr>
          <p:cNvSpPr/>
          <p:nvPr/>
        </p:nvSpPr>
        <p:spPr>
          <a:xfrm>
            <a:off x="17388841" y="11938115"/>
            <a:ext cx="1079230" cy="894482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accent1">
                <a:lumMod val="40000"/>
                <a:lumOff val="6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4400" dirty="0">
                <a:solidFill>
                  <a:schemeClr val="accent1">
                    <a:lumMod val="40000"/>
                    <a:lumOff val="60000"/>
                  </a:schemeClr>
                </a:solidFill>
                <a:latin typeface="Bradley Hand" pitchFamily="2" charset="77"/>
              </a:rPr>
              <a:t>1</a:t>
            </a:r>
          </a:p>
        </p:txBody>
      </p:sp>
      <p:sp>
        <p:nvSpPr>
          <p:cNvPr id="22" name="Plus 21">
            <a:extLst>
              <a:ext uri="{FF2B5EF4-FFF2-40B4-BE49-F238E27FC236}">
                <a16:creationId xmlns:a16="http://schemas.microsoft.com/office/drawing/2014/main" id="{8BB453BD-346C-7585-51C7-F25CBAE148B8}"/>
              </a:ext>
            </a:extLst>
          </p:cNvPr>
          <p:cNvSpPr/>
          <p:nvPr/>
        </p:nvSpPr>
        <p:spPr>
          <a:xfrm>
            <a:off x="15590520" y="10363240"/>
            <a:ext cx="734029" cy="894001"/>
          </a:xfrm>
          <a:prstGeom prst="mathPlus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4400" i="1">
              <a:solidFill>
                <a:schemeClr val="bg1"/>
              </a:solidFill>
              <a:latin typeface="Cambria Math" panose="02040503050406030204" pitchFamily="18" charset="0"/>
              <a:sym typeface="Helvetica Neue Medium"/>
            </a:endParaRPr>
          </a:p>
        </p:txBody>
      </p:sp>
      <p:sp>
        <p:nvSpPr>
          <p:cNvPr id="23" name="Rounded Rectangle 22">
            <a:extLst>
              <a:ext uri="{FF2B5EF4-FFF2-40B4-BE49-F238E27FC236}">
                <a16:creationId xmlns:a16="http://schemas.microsoft.com/office/drawing/2014/main" id="{9B19C12B-E381-5596-A8F0-88C1C915C1BB}"/>
              </a:ext>
            </a:extLst>
          </p:cNvPr>
          <p:cNvSpPr/>
          <p:nvPr/>
        </p:nvSpPr>
        <p:spPr>
          <a:xfrm>
            <a:off x="779542" y="389663"/>
            <a:ext cx="22824916" cy="2565241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685800" indent="-685800" defTabSz="82550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  <a:latin typeface="Bradley Hand" pitchFamily="2" charset="77"/>
              </a:rPr>
              <a:t>Look at all permutations of size n</a:t>
            </a:r>
          </a:p>
          <a:p>
            <a:pPr marL="685800" indent="-685800" defTabSz="82550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  <a:latin typeface="Bradley Hand" pitchFamily="2" charset="77"/>
              </a:rPr>
              <a:t>Look at the second iteration of insertion sort</a:t>
            </a:r>
          </a:p>
          <a:p>
            <a:pPr marL="685800" indent="-685800" defTabSz="82550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accent6">
                    <a:lumMod val="40000"/>
                    <a:lumOff val="60000"/>
                  </a:schemeClr>
                </a:solidFill>
                <a:latin typeface="Bradley Hand" pitchFamily="2" charset="77"/>
              </a:rPr>
              <a:t>How many permutations require one swap?</a:t>
            </a:r>
          </a:p>
        </p:txBody>
      </p:sp>
      <p:sp>
        <p:nvSpPr>
          <p:cNvPr id="24" name="Rounded Rectangle 23">
            <a:extLst>
              <a:ext uri="{FF2B5EF4-FFF2-40B4-BE49-F238E27FC236}">
                <a16:creationId xmlns:a16="http://schemas.microsoft.com/office/drawing/2014/main" id="{3A2EA11E-964B-D029-C9F7-C325EBA6997F}"/>
              </a:ext>
            </a:extLst>
          </p:cNvPr>
          <p:cNvSpPr/>
          <p:nvPr/>
        </p:nvSpPr>
        <p:spPr>
          <a:xfrm>
            <a:off x="619522" y="5575379"/>
            <a:ext cx="22824916" cy="2565241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685800" indent="-685800" defTabSz="82550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  <a:latin typeface="Bradley Hand" pitchFamily="2" charset="77"/>
              </a:rPr>
              <a:t>Look at all permutations of size n</a:t>
            </a:r>
          </a:p>
          <a:p>
            <a:pPr marL="685800" indent="-685800" defTabSz="82550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  <a:latin typeface="Bradley Hand" pitchFamily="2" charset="77"/>
              </a:rPr>
              <a:t>Look at the second iteration of insertion sort</a:t>
            </a:r>
          </a:p>
          <a:p>
            <a:pPr marL="685800" indent="-685800" defTabSz="82550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accent6">
                    <a:lumMod val="40000"/>
                    <a:lumOff val="60000"/>
                  </a:schemeClr>
                </a:solidFill>
                <a:latin typeface="Bradley Hand" pitchFamily="2" charset="77"/>
              </a:rPr>
              <a:t>How many permutations require no swaps?</a:t>
            </a:r>
          </a:p>
        </p:txBody>
      </p:sp>
    </p:spTree>
    <p:extLst>
      <p:ext uri="{BB962C8B-B14F-4D97-AF65-F5344CB8AC3E}">
        <p14:creationId xmlns:p14="http://schemas.microsoft.com/office/powerpoint/2010/main" val="351705881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750">
        <p159:morph option="byObject"/>
      </p:transition>
    </mc:Choice>
    <mc:Fallback xmlns="">
      <p:transition spd="slow">
        <p:fade/>
      </p:transition>
    </mc:Fallback>
  </mc:AlternateContent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B2ACEB-EEEB-0DC2-9309-428AEBEC04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8" name="Rounded Rectangle 7">
                <a:extLst>
                  <a:ext uri="{FF2B5EF4-FFF2-40B4-BE49-F238E27FC236}">
                    <a16:creationId xmlns:a16="http://schemas.microsoft.com/office/drawing/2014/main" id="{5562BD09-5629-C094-5C6F-35E261D01014}"/>
                  </a:ext>
                </a:extLst>
              </p:cNvPr>
              <p:cNvSpPr/>
              <p:nvPr/>
            </p:nvSpPr>
            <p:spPr>
              <a:xfrm>
                <a:off x="8362997" y="10442833"/>
                <a:ext cx="4392883" cy="995096"/>
              </a:xfrm>
              <a:prstGeom prst="roundRect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 w="63500" cap="flat">
                <a:solidFill>
                  <a:schemeClr val="tx1"/>
                </a:solidFill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50800" tIns="50800" rIns="50800" bIns="50800" numCol="1" spcCol="38100" rtlCol="0" anchor="ctr">
                <a:spAutoFit/>
              </a:bodyPr>
              <a:lstStyle/>
              <a:p>
                <a:pPr algn="ctr" defTabSz="825500">
                  <a:lnSpc>
                    <a:spcPct val="100000"/>
                  </a:lnSpc>
                  <a:spcBef>
                    <a:spcPts val="0"/>
                  </a:spcBef>
                </a:pPr>
                <a14:m>
                  <m:oMath xmlns:m="http://schemas.openxmlformats.org/officeDocument/2006/math">
                    <m:d>
                      <m:dPr>
                        <m:ctrlPr>
                          <a:rPr lang="en-US" sz="440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noBar"/>
                            <m:ctrlPr>
                              <a:rPr lang="en-US" sz="44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44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num>
                          <m:den>
                            <m:r>
                              <a:rPr lang="en-US" sz="44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  <m:d>
                      <m:dPr>
                        <m:ctrlPr>
                          <a:rPr lang="en-US" sz="4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4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sz="4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−2</m:t>
                        </m:r>
                      </m:e>
                    </m:d>
                    <m:r>
                      <a:rPr lang="en-US" sz="4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!</m:t>
                    </m:r>
                  </m:oMath>
                </a14:m>
                <a:r>
                  <a:rPr lang="en-US" sz="4400" dirty="0">
                    <a:solidFill>
                      <a:schemeClr val="bg1"/>
                    </a:solidFill>
                    <a:latin typeface="Bradley Hand" pitchFamily="2" charset="77"/>
                  </a:rPr>
                  <a:t> </a:t>
                </a:r>
              </a:p>
            </p:txBody>
          </p:sp>
        </mc:Choice>
        <mc:Fallback xmlns="">
          <p:sp>
            <p:nvSpPr>
              <p:cNvPr id="8" name="Rounded Rectangle 7">
                <a:extLst>
                  <a:ext uri="{FF2B5EF4-FFF2-40B4-BE49-F238E27FC236}">
                    <a16:creationId xmlns:a16="http://schemas.microsoft.com/office/drawing/2014/main" id="{5562BD09-5629-C094-5C6F-35E261D0101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62997" y="10442833"/>
                <a:ext cx="4392883" cy="995096"/>
              </a:xfrm>
              <a:prstGeom prst="roundRect">
                <a:avLst/>
              </a:prstGeom>
              <a:blipFill>
                <a:blip r:embed="rId2"/>
                <a:stretch>
                  <a:fillRect/>
                </a:stretch>
              </a:blipFill>
              <a:ln w="63500" cap="flat">
                <a:solidFill>
                  <a:schemeClr val="tx1"/>
                </a:solidFill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F7BFC752-EB86-3760-75EC-1DAB54514DCA}"/>
              </a:ext>
            </a:extLst>
          </p:cNvPr>
          <p:cNvSpPr/>
          <p:nvPr/>
        </p:nvSpPr>
        <p:spPr>
          <a:xfrm>
            <a:off x="779543" y="9657761"/>
            <a:ext cx="6215618" cy="2565241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US" dirty="0">
                <a:solidFill>
                  <a:schemeClr val="bg1"/>
                </a:solidFill>
                <a:latin typeface="Bradley Hand" pitchFamily="2" charset="77"/>
              </a:rPr>
              <a:t>Total number of swaps in second iteration</a:t>
            </a:r>
          </a:p>
        </p:txBody>
      </p:sp>
      <p:sp>
        <p:nvSpPr>
          <p:cNvPr id="16" name="Equals 15">
            <a:extLst>
              <a:ext uri="{FF2B5EF4-FFF2-40B4-BE49-F238E27FC236}">
                <a16:creationId xmlns:a16="http://schemas.microsoft.com/office/drawing/2014/main" id="{B178E68F-DC16-FF43-7DFD-08C306C9D04C}"/>
              </a:ext>
            </a:extLst>
          </p:cNvPr>
          <p:cNvSpPr/>
          <p:nvPr/>
        </p:nvSpPr>
        <p:spPr>
          <a:xfrm>
            <a:off x="6995161" y="10623040"/>
            <a:ext cx="911891" cy="634682"/>
          </a:xfrm>
          <a:prstGeom prst="mathEqual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4400" i="1">
              <a:solidFill>
                <a:schemeClr val="bg1"/>
              </a:solidFill>
              <a:latin typeface="Cambria Math" panose="02040503050406030204" pitchFamily="18" charset="0"/>
              <a:sym typeface="Helvetica Neue Medium"/>
            </a:endParaRPr>
          </a:p>
        </p:txBody>
      </p:sp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FC0AB3C0-2708-867F-09E0-2F7683D7329C}"/>
              </a:ext>
            </a:extLst>
          </p:cNvPr>
          <p:cNvSpPr/>
          <p:nvPr/>
        </p:nvSpPr>
        <p:spPr>
          <a:xfrm>
            <a:off x="779542" y="389663"/>
            <a:ext cx="22824916" cy="2565241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685800" indent="-685800" defTabSz="82550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  <a:latin typeface="Bradley Hand" pitchFamily="2" charset="77"/>
              </a:rPr>
              <a:t>Look at all permutations of size n</a:t>
            </a:r>
          </a:p>
          <a:p>
            <a:pPr marL="685800" indent="-685800" defTabSz="82550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  <a:latin typeface="Bradley Hand" pitchFamily="2" charset="77"/>
              </a:rPr>
              <a:t>Look at the second iteration of insertion sort</a:t>
            </a:r>
          </a:p>
          <a:p>
            <a:pPr marL="685800" indent="-685800" defTabSz="82550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accent6">
                    <a:lumMod val="40000"/>
                    <a:lumOff val="60000"/>
                  </a:schemeClr>
                </a:solidFill>
                <a:latin typeface="Bradley Hand" pitchFamily="2" charset="77"/>
              </a:rPr>
              <a:t>How many permutations require one swap?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75AB2751-137E-7477-BEDA-23B877164353}"/>
              </a:ext>
            </a:extLst>
          </p:cNvPr>
          <p:cNvSpPr/>
          <p:nvPr/>
        </p:nvSpPr>
        <p:spPr>
          <a:xfrm>
            <a:off x="619522" y="5575379"/>
            <a:ext cx="22824916" cy="2565241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685800" indent="-685800" defTabSz="82550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  <a:latin typeface="Bradley Hand" pitchFamily="2" charset="77"/>
              </a:rPr>
              <a:t>Look at all permutations of size n</a:t>
            </a:r>
          </a:p>
          <a:p>
            <a:pPr marL="685800" indent="-685800" defTabSz="82550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  <a:latin typeface="Bradley Hand" pitchFamily="2" charset="77"/>
              </a:rPr>
              <a:t>Look at the second iteration of insertion sort</a:t>
            </a:r>
          </a:p>
          <a:p>
            <a:pPr marL="685800" indent="-685800" defTabSz="82550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accent6">
                    <a:lumMod val="40000"/>
                    <a:lumOff val="60000"/>
                  </a:schemeClr>
                </a:solidFill>
                <a:latin typeface="Bradley Hand" pitchFamily="2" charset="77"/>
              </a:rPr>
              <a:t>How many permutations require no swaps?</a:t>
            </a:r>
          </a:p>
        </p:txBody>
      </p:sp>
    </p:spTree>
    <p:extLst>
      <p:ext uri="{BB962C8B-B14F-4D97-AF65-F5344CB8AC3E}">
        <p14:creationId xmlns:p14="http://schemas.microsoft.com/office/powerpoint/2010/main" val="273461444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Word"/>
      </p:transition>
    </mc:Choice>
    <mc:Fallback xmlns="">
      <p:transition spd="slow">
        <p:fade/>
      </p:transition>
    </mc:Fallback>
  </mc:AlternateContent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1A7DD3-3D41-C09E-F719-FCF49E8DB0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8" name="Rounded Rectangle 7">
                <a:extLst>
                  <a:ext uri="{FF2B5EF4-FFF2-40B4-BE49-F238E27FC236}">
                    <a16:creationId xmlns:a16="http://schemas.microsoft.com/office/drawing/2014/main" id="{DB11343E-3369-4F44-7916-9D5511269991}"/>
                  </a:ext>
                </a:extLst>
              </p:cNvPr>
              <p:cNvSpPr/>
              <p:nvPr/>
            </p:nvSpPr>
            <p:spPr>
              <a:xfrm>
                <a:off x="9062108" y="9657761"/>
                <a:ext cx="4392883" cy="995096"/>
              </a:xfrm>
              <a:prstGeom prst="roundRect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 w="63500" cap="flat">
                <a:solidFill>
                  <a:schemeClr val="tx1"/>
                </a:solidFill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50800" tIns="50800" rIns="50800" bIns="50800" numCol="1" spcCol="38100" rtlCol="0" anchor="ctr">
                <a:spAutoFit/>
              </a:bodyPr>
              <a:lstStyle/>
              <a:p>
                <a:pPr algn="ctr" defTabSz="825500">
                  <a:lnSpc>
                    <a:spcPct val="100000"/>
                  </a:lnSpc>
                  <a:spcBef>
                    <a:spcPts val="0"/>
                  </a:spcBef>
                </a:pPr>
                <a14:m>
                  <m:oMath xmlns:m="http://schemas.openxmlformats.org/officeDocument/2006/math">
                    <m:d>
                      <m:dPr>
                        <m:ctrlPr>
                          <a:rPr lang="en-US" sz="440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noBar"/>
                            <m:ctrlPr>
                              <a:rPr lang="en-US" sz="44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44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num>
                          <m:den>
                            <m:r>
                              <a:rPr lang="en-US" sz="44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  <m:d>
                      <m:dPr>
                        <m:ctrlPr>
                          <a:rPr lang="en-US" sz="4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4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sz="4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−2</m:t>
                        </m:r>
                      </m:e>
                    </m:d>
                    <m:r>
                      <a:rPr lang="en-US" sz="4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!</m:t>
                    </m:r>
                  </m:oMath>
                </a14:m>
                <a:r>
                  <a:rPr lang="en-US" sz="4400" dirty="0">
                    <a:solidFill>
                      <a:schemeClr val="bg1"/>
                    </a:solidFill>
                    <a:latin typeface="Bradley Hand" pitchFamily="2" charset="77"/>
                  </a:rPr>
                  <a:t> </a:t>
                </a:r>
              </a:p>
            </p:txBody>
          </p:sp>
        </mc:Choice>
        <mc:Fallback xmlns="">
          <p:sp>
            <p:nvSpPr>
              <p:cNvPr id="8" name="Rounded Rectangle 7">
                <a:extLst>
                  <a:ext uri="{FF2B5EF4-FFF2-40B4-BE49-F238E27FC236}">
                    <a16:creationId xmlns:a16="http://schemas.microsoft.com/office/drawing/2014/main" id="{DB11343E-3369-4F44-7916-9D551126999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62108" y="9657761"/>
                <a:ext cx="4392883" cy="995096"/>
              </a:xfrm>
              <a:prstGeom prst="roundRect">
                <a:avLst/>
              </a:prstGeom>
              <a:blipFill>
                <a:blip r:embed="rId2"/>
                <a:stretch>
                  <a:fillRect/>
                </a:stretch>
              </a:blipFill>
              <a:ln w="63500" cap="flat">
                <a:solidFill>
                  <a:schemeClr val="tx1"/>
                </a:solidFill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C9C3DD19-4C67-28EF-8940-C08CAD2C7D7B}"/>
              </a:ext>
            </a:extLst>
          </p:cNvPr>
          <p:cNvSpPr/>
          <p:nvPr/>
        </p:nvSpPr>
        <p:spPr>
          <a:xfrm>
            <a:off x="779543" y="9657761"/>
            <a:ext cx="6215618" cy="2565241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US" dirty="0">
                <a:solidFill>
                  <a:schemeClr val="bg1"/>
                </a:solidFill>
                <a:latin typeface="Bradley Hand" pitchFamily="2" charset="77"/>
              </a:rPr>
              <a:t>Average number of swaps in second iteration</a:t>
            </a:r>
          </a:p>
        </p:txBody>
      </p:sp>
      <p:sp>
        <p:nvSpPr>
          <p:cNvPr id="16" name="Equals 15">
            <a:extLst>
              <a:ext uri="{FF2B5EF4-FFF2-40B4-BE49-F238E27FC236}">
                <a16:creationId xmlns:a16="http://schemas.microsoft.com/office/drawing/2014/main" id="{C80044B8-DF78-8622-DCA6-B493541D4091}"/>
              </a:ext>
            </a:extLst>
          </p:cNvPr>
          <p:cNvSpPr/>
          <p:nvPr/>
        </p:nvSpPr>
        <p:spPr>
          <a:xfrm>
            <a:off x="6995161" y="10623040"/>
            <a:ext cx="911891" cy="634682"/>
          </a:xfrm>
          <a:prstGeom prst="mathEqual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4400" i="1">
              <a:solidFill>
                <a:schemeClr val="bg1"/>
              </a:solidFill>
              <a:latin typeface="Cambria Math" panose="02040503050406030204" pitchFamily="18" charset="0"/>
              <a:sym typeface="Helvetica Neue Medium"/>
            </a:endParaRP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A308633-A184-2F1C-2BFC-2B000E68CBE3}"/>
              </a:ext>
            </a:extLst>
          </p:cNvPr>
          <p:cNvCxnSpPr>
            <a:cxnSpLocks/>
          </p:cNvCxnSpPr>
          <p:nvPr/>
        </p:nvCxnSpPr>
        <p:spPr>
          <a:xfrm>
            <a:off x="8158512" y="11026908"/>
            <a:ext cx="6494748" cy="0"/>
          </a:xfrm>
          <a:prstGeom prst="line">
            <a:avLst/>
          </a:prstGeom>
          <a:noFill/>
          <a:ln w="127000" cap="flat">
            <a:solidFill>
              <a:srgbClr val="000000"/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Rounded Rectangle 5">
                <a:extLst>
                  <a:ext uri="{FF2B5EF4-FFF2-40B4-BE49-F238E27FC236}">
                    <a16:creationId xmlns:a16="http://schemas.microsoft.com/office/drawing/2014/main" id="{9CDF6678-9B3A-64AA-7533-D415B36A15C1}"/>
                  </a:ext>
                </a:extLst>
              </p:cNvPr>
              <p:cNvSpPr/>
              <p:nvPr/>
            </p:nvSpPr>
            <p:spPr>
              <a:xfrm>
                <a:off x="9062107" y="11406800"/>
                <a:ext cx="4392883" cy="862648"/>
              </a:xfrm>
              <a:prstGeom prst="roundRect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 w="63500" cap="flat">
                <a:solidFill>
                  <a:schemeClr val="tx1"/>
                </a:solidFill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50800" tIns="50800" rIns="50800" bIns="50800" numCol="1" spcCol="38100" rtlCol="0" anchor="ctr">
                <a:spAutoFit/>
              </a:bodyPr>
              <a:lstStyle/>
              <a:p>
                <a:pPr algn="ctr" defTabSz="825500">
                  <a:lnSpc>
                    <a:spcPct val="100000"/>
                  </a:lnSpc>
                  <a:spcBef>
                    <a:spcPts val="0"/>
                  </a:spcBef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4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en-US" sz="4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!</m:t>
                      </m:r>
                    </m:oMath>
                  </m:oMathPara>
                </a14:m>
                <a:endParaRPr lang="en-US" sz="4400" dirty="0">
                  <a:solidFill>
                    <a:schemeClr val="bg1"/>
                  </a:solidFill>
                  <a:latin typeface="Bradley Hand" pitchFamily="2" charset="77"/>
                </a:endParaRPr>
              </a:p>
            </p:txBody>
          </p:sp>
        </mc:Choice>
        <mc:Fallback xmlns="">
          <p:sp>
            <p:nvSpPr>
              <p:cNvPr id="6" name="Rounded Rectangle 5">
                <a:extLst>
                  <a:ext uri="{FF2B5EF4-FFF2-40B4-BE49-F238E27FC236}">
                    <a16:creationId xmlns:a16="http://schemas.microsoft.com/office/drawing/2014/main" id="{9CDF6678-9B3A-64AA-7533-D415B36A15C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62107" y="11406800"/>
                <a:ext cx="4392883" cy="862648"/>
              </a:xfrm>
              <a:prstGeom prst="roundRect">
                <a:avLst/>
              </a:prstGeom>
              <a:blipFill>
                <a:blip r:embed="rId3"/>
                <a:stretch>
                  <a:fillRect/>
                </a:stretch>
              </a:blipFill>
              <a:ln w="63500" cap="flat">
                <a:solidFill>
                  <a:schemeClr val="tx1"/>
                </a:solidFill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Equals 8">
            <a:extLst>
              <a:ext uri="{FF2B5EF4-FFF2-40B4-BE49-F238E27FC236}">
                <a16:creationId xmlns:a16="http://schemas.microsoft.com/office/drawing/2014/main" id="{5AA0E3ED-F550-4DFF-3968-31106B3F8A6F}"/>
              </a:ext>
            </a:extLst>
          </p:cNvPr>
          <p:cNvSpPr/>
          <p:nvPr/>
        </p:nvSpPr>
        <p:spPr>
          <a:xfrm>
            <a:off x="14904720" y="10698022"/>
            <a:ext cx="911891" cy="634682"/>
          </a:xfrm>
          <a:prstGeom prst="mathEqual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4400" i="1">
              <a:solidFill>
                <a:schemeClr val="bg1"/>
              </a:solidFill>
              <a:latin typeface="Cambria Math" panose="02040503050406030204" pitchFamily="18" charset="0"/>
              <a:sym typeface="Helvetica Neue Medium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Rounded Rectangle 10">
                <a:extLst>
                  <a:ext uri="{FF2B5EF4-FFF2-40B4-BE49-F238E27FC236}">
                    <a16:creationId xmlns:a16="http://schemas.microsoft.com/office/drawing/2014/main" id="{5F04FD22-B9CF-5DE7-CA2D-6F32C8415E89}"/>
                  </a:ext>
                </a:extLst>
              </p:cNvPr>
              <p:cNvSpPr/>
              <p:nvPr/>
            </p:nvSpPr>
            <p:spPr>
              <a:xfrm>
                <a:off x="16498555" y="9657761"/>
                <a:ext cx="4392883" cy="1188482"/>
              </a:xfrm>
              <a:prstGeom prst="roundRect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 w="63500" cap="flat">
                <a:solidFill>
                  <a:schemeClr val="tx1"/>
                </a:solidFill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50800" tIns="50800" rIns="50800" bIns="50800" numCol="1" spcCol="38100" rtlCol="0" anchor="ctr">
                <a:spAutoFit/>
              </a:bodyPr>
              <a:lstStyle/>
              <a:p>
                <a:pPr algn="ctr" defTabSz="825500">
                  <a:lnSpc>
                    <a:spcPct val="100000"/>
                  </a:lnSpc>
                  <a:spcBef>
                    <a:spcPts val="0"/>
                  </a:spcBef>
                </a:pPr>
                <a14:m>
                  <m:oMath xmlns:m="http://schemas.openxmlformats.org/officeDocument/2006/math">
                    <m:f>
                      <m:fPr>
                        <m:ctrlPr>
                          <a:rPr lang="en-US" sz="4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4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sz="4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!</m:t>
                        </m:r>
                      </m:num>
                      <m:den>
                        <m:r>
                          <a:rPr lang="en-US" sz="4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lang="en-US" sz="4400" dirty="0">
                    <a:solidFill>
                      <a:schemeClr val="bg1"/>
                    </a:solidFill>
                    <a:latin typeface="Bradley Hand" pitchFamily="2" charset="77"/>
                  </a:rPr>
                  <a:t> </a:t>
                </a:r>
              </a:p>
            </p:txBody>
          </p:sp>
        </mc:Choice>
        <mc:Fallback xmlns="">
          <p:sp>
            <p:nvSpPr>
              <p:cNvPr id="11" name="Rounded Rectangle 10">
                <a:extLst>
                  <a:ext uri="{FF2B5EF4-FFF2-40B4-BE49-F238E27FC236}">
                    <a16:creationId xmlns:a16="http://schemas.microsoft.com/office/drawing/2014/main" id="{5F04FD22-B9CF-5DE7-CA2D-6F32C8415E8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498555" y="9657761"/>
                <a:ext cx="4392883" cy="1188482"/>
              </a:xfrm>
              <a:prstGeom prst="roundRect">
                <a:avLst/>
              </a:prstGeom>
              <a:blipFill>
                <a:blip r:embed="rId4"/>
                <a:stretch>
                  <a:fillRect/>
                </a:stretch>
              </a:blipFill>
              <a:ln w="63500" cap="flat">
                <a:solidFill>
                  <a:schemeClr val="tx1"/>
                </a:solidFill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668784BF-1963-B297-750B-E5D93930E2DC}"/>
              </a:ext>
            </a:extLst>
          </p:cNvPr>
          <p:cNvCxnSpPr>
            <a:cxnSpLocks/>
          </p:cNvCxnSpPr>
          <p:nvPr/>
        </p:nvCxnSpPr>
        <p:spPr>
          <a:xfrm>
            <a:off x="15854712" y="11026908"/>
            <a:ext cx="6494748" cy="0"/>
          </a:xfrm>
          <a:prstGeom prst="line">
            <a:avLst/>
          </a:prstGeom>
          <a:noFill/>
          <a:ln w="127000" cap="flat">
            <a:solidFill>
              <a:srgbClr val="000000"/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Rounded Rectangle 16">
                <a:extLst>
                  <a:ext uri="{FF2B5EF4-FFF2-40B4-BE49-F238E27FC236}">
                    <a16:creationId xmlns:a16="http://schemas.microsoft.com/office/drawing/2014/main" id="{442E958E-7432-722E-F2F4-6B5B22CD8882}"/>
                  </a:ext>
                </a:extLst>
              </p:cNvPr>
              <p:cNvSpPr/>
              <p:nvPr/>
            </p:nvSpPr>
            <p:spPr>
              <a:xfrm>
                <a:off x="16498555" y="11406800"/>
                <a:ext cx="4392883" cy="862648"/>
              </a:xfrm>
              <a:prstGeom prst="roundRect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 w="63500" cap="flat">
                <a:solidFill>
                  <a:schemeClr val="tx1"/>
                </a:solidFill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50800" tIns="50800" rIns="50800" bIns="50800" numCol="1" spcCol="38100" rtlCol="0" anchor="ctr">
                <a:spAutoFit/>
              </a:bodyPr>
              <a:lstStyle/>
              <a:p>
                <a:pPr algn="ctr" defTabSz="825500">
                  <a:lnSpc>
                    <a:spcPct val="100000"/>
                  </a:lnSpc>
                  <a:spcBef>
                    <a:spcPts val="0"/>
                  </a:spcBef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4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en-US" sz="4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!</m:t>
                      </m:r>
                    </m:oMath>
                  </m:oMathPara>
                </a14:m>
                <a:endParaRPr lang="en-US" sz="4400" dirty="0">
                  <a:solidFill>
                    <a:schemeClr val="bg1"/>
                  </a:solidFill>
                  <a:latin typeface="Bradley Hand" pitchFamily="2" charset="77"/>
                </a:endParaRPr>
              </a:p>
            </p:txBody>
          </p:sp>
        </mc:Choice>
        <mc:Fallback xmlns="">
          <p:sp>
            <p:nvSpPr>
              <p:cNvPr id="17" name="Rounded Rectangle 16">
                <a:extLst>
                  <a:ext uri="{FF2B5EF4-FFF2-40B4-BE49-F238E27FC236}">
                    <a16:creationId xmlns:a16="http://schemas.microsoft.com/office/drawing/2014/main" id="{442E958E-7432-722E-F2F4-6B5B22CD888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498555" y="11406800"/>
                <a:ext cx="4392883" cy="862648"/>
              </a:xfrm>
              <a:prstGeom prst="roundRect">
                <a:avLst/>
              </a:prstGeom>
              <a:blipFill>
                <a:blip r:embed="rId5"/>
                <a:stretch>
                  <a:fillRect/>
                </a:stretch>
              </a:blipFill>
              <a:ln w="63500" cap="flat">
                <a:solidFill>
                  <a:schemeClr val="tx1"/>
                </a:solidFill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119E2891-3841-B626-BEC5-3ABA988A5C90}"/>
              </a:ext>
            </a:extLst>
          </p:cNvPr>
          <p:cNvSpPr/>
          <p:nvPr/>
        </p:nvSpPr>
        <p:spPr>
          <a:xfrm>
            <a:off x="779542" y="389663"/>
            <a:ext cx="22824916" cy="2565241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685800" indent="-685800" defTabSz="82550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  <a:latin typeface="Bradley Hand" pitchFamily="2" charset="77"/>
              </a:rPr>
              <a:t>Look at all permutations of size n</a:t>
            </a:r>
          </a:p>
          <a:p>
            <a:pPr marL="685800" indent="-685800" defTabSz="82550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  <a:latin typeface="Bradley Hand" pitchFamily="2" charset="77"/>
              </a:rPr>
              <a:t>Look at the second iteration of insertion sort</a:t>
            </a:r>
          </a:p>
          <a:p>
            <a:pPr marL="685800" indent="-685800" defTabSz="82550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accent6">
                    <a:lumMod val="40000"/>
                    <a:lumOff val="60000"/>
                  </a:schemeClr>
                </a:solidFill>
                <a:latin typeface="Bradley Hand" pitchFamily="2" charset="77"/>
              </a:rPr>
              <a:t>How many permutations require one swap?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568440F1-F62D-7842-998C-035054D0DC0A}"/>
              </a:ext>
            </a:extLst>
          </p:cNvPr>
          <p:cNvSpPr/>
          <p:nvPr/>
        </p:nvSpPr>
        <p:spPr>
          <a:xfrm>
            <a:off x="619522" y="5575379"/>
            <a:ext cx="22824916" cy="2565241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685800" indent="-685800" defTabSz="82550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  <a:latin typeface="Bradley Hand" pitchFamily="2" charset="77"/>
              </a:rPr>
              <a:t>Look at all permutations of size n</a:t>
            </a:r>
          </a:p>
          <a:p>
            <a:pPr marL="685800" indent="-685800" defTabSz="82550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  <a:latin typeface="Bradley Hand" pitchFamily="2" charset="77"/>
              </a:rPr>
              <a:t>Look at the second iteration of insertion sort</a:t>
            </a:r>
          </a:p>
          <a:p>
            <a:pPr marL="685800" indent="-685800" defTabSz="82550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accent6">
                    <a:lumMod val="40000"/>
                    <a:lumOff val="60000"/>
                  </a:schemeClr>
                </a:solidFill>
                <a:latin typeface="Bradley Hand" pitchFamily="2" charset="77"/>
              </a:rPr>
              <a:t>How many permutations require no swaps?</a:t>
            </a:r>
          </a:p>
        </p:txBody>
      </p:sp>
    </p:spTree>
    <p:extLst>
      <p:ext uri="{BB962C8B-B14F-4D97-AF65-F5344CB8AC3E}">
        <p14:creationId xmlns:p14="http://schemas.microsoft.com/office/powerpoint/2010/main" val="248736746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Word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1" grpId="0" animBg="1"/>
      <p:bldP spid="17" grpId="0" animBg="1"/>
    </p:bld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1F5868-EAFD-E5B6-221B-E089A74A30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555BA5C8-B881-5DFA-6E38-6078CD7E1021}"/>
              </a:ext>
            </a:extLst>
          </p:cNvPr>
          <p:cNvSpPr/>
          <p:nvPr/>
        </p:nvSpPr>
        <p:spPr>
          <a:xfrm>
            <a:off x="1099583" y="742361"/>
            <a:ext cx="6215618" cy="2565241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US" dirty="0">
                <a:solidFill>
                  <a:schemeClr val="bg1"/>
                </a:solidFill>
                <a:latin typeface="Bradley Hand" pitchFamily="2" charset="77"/>
              </a:rPr>
              <a:t>Average number of swaps in second iteration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Rounded Rectangle 6">
                <a:extLst>
                  <a:ext uri="{FF2B5EF4-FFF2-40B4-BE49-F238E27FC236}">
                    <a16:creationId xmlns:a16="http://schemas.microsoft.com/office/drawing/2014/main" id="{8DC9F919-3FB8-97B8-919B-6538BB40D9DB}"/>
                  </a:ext>
                </a:extLst>
              </p:cNvPr>
              <p:cNvSpPr/>
              <p:nvPr/>
            </p:nvSpPr>
            <p:spPr>
              <a:xfrm>
                <a:off x="8362998" y="5709786"/>
                <a:ext cx="4690062" cy="1188482"/>
              </a:xfrm>
              <a:prstGeom prst="roundRect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 w="63500" cap="flat">
                <a:solidFill>
                  <a:schemeClr val="tx1"/>
                </a:solidFill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50800" tIns="50800" rIns="50800" bIns="50800" numCol="1" spcCol="38100" rtlCol="0" anchor="ctr">
                <a:spAutoFit/>
              </a:bodyPr>
              <a:lstStyle/>
              <a:p>
                <a:pPr algn="ctr" defTabSz="825500">
                  <a:lnSpc>
                    <a:spcPct val="100000"/>
                  </a:lnSpc>
                  <a:spcBef>
                    <a:spcPts val="0"/>
                  </a:spcBef>
                </a:pPr>
                <a14:m>
                  <m:oMath xmlns:m="http://schemas.openxmlformats.org/officeDocument/2006/math">
                    <m:f>
                      <m:fPr>
                        <m:ctrlPr>
                          <a:rPr lang="en-US" sz="440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4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sz="4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!</m:t>
                        </m:r>
                      </m:num>
                      <m:den>
                        <m:r>
                          <a:rPr lang="en-US" sz="4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lang="en-US" sz="4400" dirty="0">
                    <a:solidFill>
                      <a:schemeClr val="bg1"/>
                    </a:solidFill>
                    <a:latin typeface="Bradley Hand" pitchFamily="2" charset="77"/>
                  </a:rPr>
                  <a:t> </a:t>
                </a:r>
              </a:p>
            </p:txBody>
          </p:sp>
        </mc:Choice>
        <mc:Fallback xmlns="">
          <p:sp>
            <p:nvSpPr>
              <p:cNvPr id="7" name="Rounded Rectangle 6">
                <a:extLst>
                  <a:ext uri="{FF2B5EF4-FFF2-40B4-BE49-F238E27FC236}">
                    <a16:creationId xmlns:a16="http://schemas.microsoft.com/office/drawing/2014/main" id="{8DC9F919-3FB8-97B8-919B-6538BB40D9D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62998" y="5709786"/>
                <a:ext cx="4690062" cy="1188482"/>
              </a:xfrm>
              <a:prstGeom prst="roundRect">
                <a:avLst/>
              </a:prstGeom>
              <a:blipFill>
                <a:blip r:embed="rId2"/>
                <a:stretch>
                  <a:fillRect/>
                </a:stretch>
              </a:blipFill>
              <a:ln w="63500" cap="flat">
                <a:solidFill>
                  <a:schemeClr val="tx1"/>
                </a:solidFill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46C2A4A3-47A2-37D0-F23D-60B2352FE912}"/>
              </a:ext>
            </a:extLst>
          </p:cNvPr>
          <p:cNvSpPr/>
          <p:nvPr/>
        </p:nvSpPr>
        <p:spPr>
          <a:xfrm>
            <a:off x="1099583" y="5101001"/>
            <a:ext cx="6215618" cy="2565241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US" dirty="0">
                <a:solidFill>
                  <a:schemeClr val="bg1"/>
                </a:solidFill>
                <a:latin typeface="Bradley Hand" pitchFamily="2" charset="77"/>
              </a:rPr>
              <a:t>Average number of swaps in third iteration</a:t>
            </a:r>
          </a:p>
        </p:txBody>
      </p:sp>
      <p:sp>
        <p:nvSpPr>
          <p:cNvPr id="10" name="Equals 9">
            <a:extLst>
              <a:ext uri="{FF2B5EF4-FFF2-40B4-BE49-F238E27FC236}">
                <a16:creationId xmlns:a16="http://schemas.microsoft.com/office/drawing/2014/main" id="{FB859728-47D4-CC29-C037-20A1F609AF1F}"/>
              </a:ext>
            </a:extLst>
          </p:cNvPr>
          <p:cNvSpPr/>
          <p:nvPr/>
        </p:nvSpPr>
        <p:spPr>
          <a:xfrm>
            <a:off x="7315201" y="6066280"/>
            <a:ext cx="911891" cy="634682"/>
          </a:xfrm>
          <a:prstGeom prst="mathEqual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4400" i="1">
              <a:solidFill>
                <a:schemeClr val="bg1"/>
              </a:solidFill>
              <a:latin typeface="Cambria Math" panose="02040503050406030204" pitchFamily="18" charset="0"/>
              <a:sym typeface="Helvetica Neue Medium"/>
            </a:endParaRPr>
          </a:p>
        </p:txBody>
      </p:sp>
      <p:sp>
        <p:nvSpPr>
          <p:cNvPr id="11" name="Plus 10">
            <a:extLst>
              <a:ext uri="{FF2B5EF4-FFF2-40B4-BE49-F238E27FC236}">
                <a16:creationId xmlns:a16="http://schemas.microsoft.com/office/drawing/2014/main" id="{B437DCAF-9F4D-DD75-4444-81DBDAB48CA6}"/>
              </a:ext>
            </a:extLst>
          </p:cNvPr>
          <p:cNvSpPr/>
          <p:nvPr/>
        </p:nvSpPr>
        <p:spPr>
          <a:xfrm>
            <a:off x="13163804" y="5857026"/>
            <a:ext cx="734029" cy="894001"/>
          </a:xfrm>
          <a:prstGeom prst="mathPlus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4400" i="1">
              <a:solidFill>
                <a:schemeClr val="bg1"/>
              </a:solidFill>
              <a:latin typeface="Cambria Math" panose="02040503050406030204" pitchFamily="18" charset="0"/>
              <a:sym typeface="Helvetica Neue Medium"/>
            </a:endParaRP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6B7F71A3-4277-D31D-1286-84091BC7DD42}"/>
              </a:ext>
            </a:extLst>
          </p:cNvPr>
          <p:cNvCxnSpPr>
            <a:cxnSpLocks/>
          </p:cNvCxnSpPr>
          <p:nvPr/>
        </p:nvCxnSpPr>
        <p:spPr>
          <a:xfrm>
            <a:off x="8227092" y="7376160"/>
            <a:ext cx="10266648" cy="0"/>
          </a:xfrm>
          <a:prstGeom prst="line">
            <a:avLst/>
          </a:prstGeom>
          <a:noFill/>
          <a:ln w="127000" cap="flat">
            <a:solidFill>
              <a:srgbClr val="000000"/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Rounded Rectangle 13">
                <a:extLst>
                  <a:ext uri="{FF2B5EF4-FFF2-40B4-BE49-F238E27FC236}">
                    <a16:creationId xmlns:a16="http://schemas.microsoft.com/office/drawing/2014/main" id="{C2C6A168-3949-50B8-3E5E-8D15227B0B06}"/>
                  </a:ext>
                </a:extLst>
              </p:cNvPr>
              <p:cNvSpPr/>
              <p:nvPr/>
            </p:nvSpPr>
            <p:spPr>
              <a:xfrm>
                <a:off x="10708029" y="7817046"/>
                <a:ext cx="4392883" cy="862648"/>
              </a:xfrm>
              <a:prstGeom prst="roundRect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 w="63500" cap="flat">
                <a:solidFill>
                  <a:schemeClr val="tx1"/>
                </a:solidFill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50800" tIns="50800" rIns="50800" bIns="50800" numCol="1" spcCol="38100" rtlCol="0" anchor="ctr">
                <a:spAutoFit/>
              </a:bodyPr>
              <a:lstStyle/>
              <a:p>
                <a:pPr algn="ctr" defTabSz="825500">
                  <a:lnSpc>
                    <a:spcPct val="100000"/>
                  </a:lnSpc>
                  <a:spcBef>
                    <a:spcPts val="0"/>
                  </a:spcBef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4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en-US" sz="4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!</m:t>
                      </m:r>
                    </m:oMath>
                  </m:oMathPara>
                </a14:m>
                <a:endParaRPr lang="en-US" sz="4400" dirty="0">
                  <a:solidFill>
                    <a:schemeClr val="bg1"/>
                  </a:solidFill>
                  <a:latin typeface="Bradley Hand" pitchFamily="2" charset="77"/>
                </a:endParaRPr>
              </a:p>
            </p:txBody>
          </p:sp>
        </mc:Choice>
        <mc:Fallback xmlns="">
          <p:sp>
            <p:nvSpPr>
              <p:cNvPr id="14" name="Rounded Rectangle 13">
                <a:extLst>
                  <a:ext uri="{FF2B5EF4-FFF2-40B4-BE49-F238E27FC236}">
                    <a16:creationId xmlns:a16="http://schemas.microsoft.com/office/drawing/2014/main" id="{C2C6A168-3949-50B8-3E5E-8D15227B0B0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708029" y="7817046"/>
                <a:ext cx="4392883" cy="862648"/>
              </a:xfrm>
              <a:prstGeom prst="roundRect">
                <a:avLst/>
              </a:prstGeom>
              <a:blipFill>
                <a:blip r:embed="rId3"/>
                <a:stretch>
                  <a:fillRect/>
                </a:stretch>
              </a:blipFill>
              <a:ln w="63500" cap="flat">
                <a:solidFill>
                  <a:schemeClr val="tx1"/>
                </a:solidFill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4" name="Rounded Rectangle 23">
            <a:extLst>
              <a:ext uri="{FF2B5EF4-FFF2-40B4-BE49-F238E27FC236}">
                <a16:creationId xmlns:a16="http://schemas.microsoft.com/office/drawing/2014/main" id="{15614A87-8D9D-2F6F-40C2-C7FB89C336D5}"/>
              </a:ext>
            </a:extLst>
          </p:cNvPr>
          <p:cNvSpPr/>
          <p:nvPr/>
        </p:nvSpPr>
        <p:spPr>
          <a:xfrm>
            <a:off x="1099583" y="9242912"/>
            <a:ext cx="6215618" cy="2565241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US" dirty="0">
                <a:solidFill>
                  <a:schemeClr val="bg1"/>
                </a:solidFill>
                <a:latin typeface="Bradley Hand" pitchFamily="2" charset="77"/>
              </a:rPr>
              <a:t>Average number of swaps in fourth iteration</a:t>
            </a:r>
          </a:p>
        </p:txBody>
      </p:sp>
      <p:sp>
        <p:nvSpPr>
          <p:cNvPr id="25" name="Equals 24">
            <a:extLst>
              <a:ext uri="{FF2B5EF4-FFF2-40B4-BE49-F238E27FC236}">
                <a16:creationId xmlns:a16="http://schemas.microsoft.com/office/drawing/2014/main" id="{4BCD4290-BA09-FD8D-7162-5DB2F993A9CC}"/>
              </a:ext>
            </a:extLst>
          </p:cNvPr>
          <p:cNvSpPr/>
          <p:nvPr/>
        </p:nvSpPr>
        <p:spPr>
          <a:xfrm>
            <a:off x="7315201" y="10208191"/>
            <a:ext cx="911891" cy="634682"/>
          </a:xfrm>
          <a:prstGeom prst="mathEqual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4400" i="1">
              <a:solidFill>
                <a:schemeClr val="bg1"/>
              </a:solidFill>
              <a:latin typeface="Cambria Math" panose="02040503050406030204" pitchFamily="18" charset="0"/>
              <a:sym typeface="Helvetica Neue Medium"/>
            </a:endParaRPr>
          </a:p>
        </p:txBody>
      </p: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131121C5-04C0-14A6-0802-F379E8FE060D}"/>
              </a:ext>
            </a:extLst>
          </p:cNvPr>
          <p:cNvCxnSpPr>
            <a:cxnSpLocks/>
          </p:cNvCxnSpPr>
          <p:nvPr/>
        </p:nvCxnSpPr>
        <p:spPr>
          <a:xfrm>
            <a:off x="8227092" y="11518071"/>
            <a:ext cx="15799608" cy="0"/>
          </a:xfrm>
          <a:prstGeom prst="line">
            <a:avLst/>
          </a:prstGeom>
          <a:noFill/>
          <a:ln w="127000" cap="flat">
            <a:solidFill>
              <a:srgbClr val="000000"/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8" name="Rounded Rectangle 27">
                <a:extLst>
                  <a:ext uri="{FF2B5EF4-FFF2-40B4-BE49-F238E27FC236}">
                    <a16:creationId xmlns:a16="http://schemas.microsoft.com/office/drawing/2014/main" id="{A48F179C-B061-8A0C-78F5-942C8E48971B}"/>
                  </a:ext>
                </a:extLst>
              </p:cNvPr>
              <p:cNvSpPr/>
              <p:nvPr/>
            </p:nvSpPr>
            <p:spPr>
              <a:xfrm>
                <a:off x="13530818" y="12074738"/>
                <a:ext cx="4392883" cy="862648"/>
              </a:xfrm>
              <a:prstGeom prst="roundRect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 w="63500" cap="flat">
                <a:solidFill>
                  <a:schemeClr val="tx1"/>
                </a:solidFill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50800" tIns="50800" rIns="50800" bIns="50800" numCol="1" spcCol="38100" rtlCol="0" anchor="ctr">
                <a:spAutoFit/>
              </a:bodyPr>
              <a:lstStyle/>
              <a:p>
                <a:pPr algn="ctr" defTabSz="825500">
                  <a:lnSpc>
                    <a:spcPct val="100000"/>
                  </a:lnSpc>
                  <a:spcBef>
                    <a:spcPts val="0"/>
                  </a:spcBef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4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en-US" sz="4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!</m:t>
                      </m:r>
                    </m:oMath>
                  </m:oMathPara>
                </a14:m>
                <a:endParaRPr lang="en-US" sz="4400" dirty="0">
                  <a:solidFill>
                    <a:schemeClr val="bg1"/>
                  </a:solidFill>
                  <a:latin typeface="Bradley Hand" pitchFamily="2" charset="77"/>
                </a:endParaRPr>
              </a:p>
            </p:txBody>
          </p:sp>
        </mc:Choice>
        <mc:Fallback xmlns="">
          <p:sp>
            <p:nvSpPr>
              <p:cNvPr id="28" name="Rounded Rectangle 27">
                <a:extLst>
                  <a:ext uri="{FF2B5EF4-FFF2-40B4-BE49-F238E27FC236}">
                    <a16:creationId xmlns:a16="http://schemas.microsoft.com/office/drawing/2014/main" id="{A48F179C-B061-8A0C-78F5-942C8E48971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530818" y="12074738"/>
                <a:ext cx="4392883" cy="862648"/>
              </a:xfrm>
              <a:prstGeom prst="roundRect">
                <a:avLst/>
              </a:prstGeom>
              <a:blipFill>
                <a:blip r:embed="rId4"/>
                <a:stretch>
                  <a:fillRect/>
                </a:stretch>
              </a:blipFill>
              <a:ln w="63500" cap="flat">
                <a:solidFill>
                  <a:schemeClr val="tx1"/>
                </a:solidFill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0" name="Plus 29">
            <a:extLst>
              <a:ext uri="{FF2B5EF4-FFF2-40B4-BE49-F238E27FC236}">
                <a16:creationId xmlns:a16="http://schemas.microsoft.com/office/drawing/2014/main" id="{D94C432D-023F-DDD1-B46D-5E34D2ADE583}"/>
              </a:ext>
            </a:extLst>
          </p:cNvPr>
          <p:cNvSpPr/>
          <p:nvPr/>
        </p:nvSpPr>
        <p:spPr>
          <a:xfrm>
            <a:off x="18696764" y="9998937"/>
            <a:ext cx="734029" cy="894001"/>
          </a:xfrm>
          <a:prstGeom prst="mathPlus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4400" i="1">
              <a:solidFill>
                <a:schemeClr val="bg1"/>
              </a:solidFill>
              <a:latin typeface="Cambria Math" panose="02040503050406030204" pitchFamily="18" charset="0"/>
              <a:sym typeface="Helvetica Neue Medium"/>
            </a:endParaRPr>
          </a:p>
        </p:txBody>
      </p:sp>
      <p:sp>
        <p:nvSpPr>
          <p:cNvPr id="32" name="Equals 31">
            <a:extLst>
              <a:ext uri="{FF2B5EF4-FFF2-40B4-BE49-F238E27FC236}">
                <a16:creationId xmlns:a16="http://schemas.microsoft.com/office/drawing/2014/main" id="{4CBA6C18-CC8A-CBA3-8945-AB999DA6950B}"/>
              </a:ext>
            </a:extLst>
          </p:cNvPr>
          <p:cNvSpPr/>
          <p:nvPr/>
        </p:nvSpPr>
        <p:spPr>
          <a:xfrm>
            <a:off x="7544100" y="1656477"/>
            <a:ext cx="911891" cy="634682"/>
          </a:xfrm>
          <a:prstGeom prst="mathEqual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4400" i="1">
              <a:solidFill>
                <a:schemeClr val="bg1"/>
              </a:solidFill>
              <a:latin typeface="Cambria Math" panose="02040503050406030204" pitchFamily="18" charset="0"/>
              <a:sym typeface="Helvetica Neue Medium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3" name="Rounded Rectangle 32">
                <a:extLst>
                  <a:ext uri="{FF2B5EF4-FFF2-40B4-BE49-F238E27FC236}">
                    <a16:creationId xmlns:a16="http://schemas.microsoft.com/office/drawing/2014/main" id="{91071881-06F5-3FB6-AEEC-ACE3EAD6E6B1}"/>
                  </a:ext>
                </a:extLst>
              </p:cNvPr>
              <p:cNvSpPr/>
              <p:nvPr/>
            </p:nvSpPr>
            <p:spPr>
              <a:xfrm>
                <a:off x="9137935" y="616216"/>
                <a:ext cx="4392883" cy="1188482"/>
              </a:xfrm>
              <a:prstGeom prst="roundRect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 w="63500" cap="flat">
                <a:solidFill>
                  <a:schemeClr val="tx1"/>
                </a:solidFill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50800" tIns="50800" rIns="50800" bIns="50800" numCol="1" spcCol="38100" rtlCol="0" anchor="ctr">
                <a:spAutoFit/>
              </a:bodyPr>
              <a:lstStyle/>
              <a:p>
                <a:pPr algn="ctr" defTabSz="825500">
                  <a:lnSpc>
                    <a:spcPct val="100000"/>
                  </a:lnSpc>
                  <a:spcBef>
                    <a:spcPts val="0"/>
                  </a:spcBef>
                </a:pPr>
                <a14:m>
                  <m:oMath xmlns:m="http://schemas.openxmlformats.org/officeDocument/2006/math">
                    <m:f>
                      <m:fPr>
                        <m:ctrlPr>
                          <a:rPr lang="en-US" sz="4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4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sz="4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!</m:t>
                        </m:r>
                      </m:num>
                      <m:den>
                        <m:r>
                          <a:rPr lang="en-US" sz="4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lang="en-US" sz="4400" dirty="0">
                    <a:solidFill>
                      <a:schemeClr val="bg1"/>
                    </a:solidFill>
                    <a:latin typeface="Bradley Hand" pitchFamily="2" charset="77"/>
                  </a:rPr>
                  <a:t> </a:t>
                </a:r>
              </a:p>
            </p:txBody>
          </p:sp>
        </mc:Choice>
        <mc:Fallback xmlns="">
          <p:sp>
            <p:nvSpPr>
              <p:cNvPr id="33" name="Rounded Rectangle 32">
                <a:extLst>
                  <a:ext uri="{FF2B5EF4-FFF2-40B4-BE49-F238E27FC236}">
                    <a16:creationId xmlns:a16="http://schemas.microsoft.com/office/drawing/2014/main" id="{91071881-06F5-3FB6-AEEC-ACE3EAD6E6B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37935" y="616216"/>
                <a:ext cx="4392883" cy="1188482"/>
              </a:xfrm>
              <a:prstGeom prst="roundRect">
                <a:avLst/>
              </a:prstGeom>
              <a:blipFill>
                <a:blip r:embed="rId5"/>
                <a:stretch>
                  <a:fillRect/>
                </a:stretch>
              </a:blipFill>
              <a:ln w="63500" cap="flat">
                <a:solidFill>
                  <a:schemeClr val="tx1"/>
                </a:solidFill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D746E0EC-14D5-81FC-C1E5-EE8A977E3F27}"/>
              </a:ext>
            </a:extLst>
          </p:cNvPr>
          <p:cNvCxnSpPr>
            <a:cxnSpLocks/>
          </p:cNvCxnSpPr>
          <p:nvPr/>
        </p:nvCxnSpPr>
        <p:spPr>
          <a:xfrm>
            <a:off x="8494092" y="1985363"/>
            <a:ext cx="6494748" cy="0"/>
          </a:xfrm>
          <a:prstGeom prst="line">
            <a:avLst/>
          </a:prstGeom>
          <a:noFill/>
          <a:ln w="127000" cap="flat">
            <a:solidFill>
              <a:srgbClr val="000000"/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5" name="Rounded Rectangle 34">
                <a:extLst>
                  <a:ext uri="{FF2B5EF4-FFF2-40B4-BE49-F238E27FC236}">
                    <a16:creationId xmlns:a16="http://schemas.microsoft.com/office/drawing/2014/main" id="{8C1398E6-AA9C-A975-9FC0-EDC387EE845E}"/>
                  </a:ext>
                </a:extLst>
              </p:cNvPr>
              <p:cNvSpPr/>
              <p:nvPr/>
            </p:nvSpPr>
            <p:spPr>
              <a:xfrm>
                <a:off x="9137935" y="2365255"/>
                <a:ext cx="4392883" cy="862648"/>
              </a:xfrm>
              <a:prstGeom prst="roundRect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 w="63500" cap="flat">
                <a:solidFill>
                  <a:schemeClr val="tx1"/>
                </a:solidFill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50800" tIns="50800" rIns="50800" bIns="50800" numCol="1" spcCol="38100" rtlCol="0" anchor="ctr">
                <a:spAutoFit/>
              </a:bodyPr>
              <a:lstStyle/>
              <a:p>
                <a:pPr algn="ctr" defTabSz="825500">
                  <a:lnSpc>
                    <a:spcPct val="100000"/>
                  </a:lnSpc>
                  <a:spcBef>
                    <a:spcPts val="0"/>
                  </a:spcBef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4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en-US" sz="4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!</m:t>
                      </m:r>
                    </m:oMath>
                  </m:oMathPara>
                </a14:m>
                <a:endParaRPr lang="en-US" sz="4400" dirty="0">
                  <a:solidFill>
                    <a:schemeClr val="bg1"/>
                  </a:solidFill>
                  <a:latin typeface="Bradley Hand" pitchFamily="2" charset="77"/>
                </a:endParaRPr>
              </a:p>
            </p:txBody>
          </p:sp>
        </mc:Choice>
        <mc:Fallback xmlns="">
          <p:sp>
            <p:nvSpPr>
              <p:cNvPr id="35" name="Rounded Rectangle 34">
                <a:extLst>
                  <a:ext uri="{FF2B5EF4-FFF2-40B4-BE49-F238E27FC236}">
                    <a16:creationId xmlns:a16="http://schemas.microsoft.com/office/drawing/2014/main" id="{8C1398E6-AA9C-A975-9FC0-EDC387EE845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37935" y="2365255"/>
                <a:ext cx="4392883" cy="862648"/>
              </a:xfrm>
              <a:prstGeom prst="roundRect">
                <a:avLst/>
              </a:prstGeom>
              <a:blipFill>
                <a:blip r:embed="rId6"/>
                <a:stretch>
                  <a:fillRect/>
                </a:stretch>
              </a:blipFill>
              <a:ln w="63500" cap="flat">
                <a:solidFill>
                  <a:schemeClr val="tx1"/>
                </a:solidFill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6" name="Rounded Rectangle 35">
                <a:extLst>
                  <a:ext uri="{FF2B5EF4-FFF2-40B4-BE49-F238E27FC236}">
                    <a16:creationId xmlns:a16="http://schemas.microsoft.com/office/drawing/2014/main" id="{D1EA858D-A5BF-F60A-E823-A73BDBD4C208}"/>
                  </a:ext>
                </a:extLst>
              </p:cNvPr>
              <p:cNvSpPr/>
              <p:nvPr/>
            </p:nvSpPr>
            <p:spPr>
              <a:xfrm>
                <a:off x="14303881" y="5726577"/>
                <a:ext cx="4392883" cy="1188482"/>
              </a:xfrm>
              <a:prstGeom prst="roundRect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 w="63500" cap="flat">
                <a:solidFill>
                  <a:schemeClr val="tx1"/>
                </a:solidFill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50800" tIns="50800" rIns="50800" bIns="50800" numCol="1" spcCol="38100" rtlCol="0" anchor="ctr">
                <a:spAutoFit/>
              </a:bodyPr>
              <a:lstStyle/>
              <a:p>
                <a:pPr algn="ctr" defTabSz="825500">
                  <a:lnSpc>
                    <a:spcPct val="100000"/>
                  </a:lnSpc>
                  <a:spcBef>
                    <a:spcPts val="0"/>
                  </a:spcBef>
                </a:pPr>
                <a14:m>
                  <m:oMath xmlns:m="http://schemas.openxmlformats.org/officeDocument/2006/math">
                    <m:r>
                      <a:rPr lang="en-US" sz="4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2</m:t>
                    </m:r>
                    <m:f>
                      <m:fPr>
                        <m:ctrlPr>
                          <a:rPr lang="en-US" sz="4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4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sz="4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!</m:t>
                        </m:r>
                      </m:num>
                      <m:den>
                        <m:r>
                          <a:rPr lang="en-US" sz="4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lang="en-US" sz="4400" dirty="0">
                    <a:solidFill>
                      <a:schemeClr val="bg1"/>
                    </a:solidFill>
                    <a:latin typeface="Bradley Hand" pitchFamily="2" charset="77"/>
                  </a:rPr>
                  <a:t> </a:t>
                </a:r>
              </a:p>
            </p:txBody>
          </p:sp>
        </mc:Choice>
        <mc:Fallback xmlns="">
          <p:sp>
            <p:nvSpPr>
              <p:cNvPr id="36" name="Rounded Rectangle 35">
                <a:extLst>
                  <a:ext uri="{FF2B5EF4-FFF2-40B4-BE49-F238E27FC236}">
                    <a16:creationId xmlns:a16="http://schemas.microsoft.com/office/drawing/2014/main" id="{D1EA858D-A5BF-F60A-E823-A73BDBD4C20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303881" y="5726577"/>
                <a:ext cx="4392883" cy="1188482"/>
              </a:xfrm>
              <a:prstGeom prst="roundRect">
                <a:avLst/>
              </a:prstGeom>
              <a:blipFill>
                <a:blip r:embed="rId7"/>
                <a:stretch>
                  <a:fillRect/>
                </a:stretch>
              </a:blipFill>
              <a:ln w="63500" cap="flat">
                <a:solidFill>
                  <a:schemeClr val="tx1"/>
                </a:solidFill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7" name="Rounded Rectangle 36">
                <a:extLst>
                  <a:ext uri="{FF2B5EF4-FFF2-40B4-BE49-F238E27FC236}">
                    <a16:creationId xmlns:a16="http://schemas.microsoft.com/office/drawing/2014/main" id="{3E888D71-3995-27CC-2558-69BC93B37D2A}"/>
                  </a:ext>
                </a:extLst>
              </p:cNvPr>
              <p:cNvSpPr/>
              <p:nvPr/>
            </p:nvSpPr>
            <p:spPr>
              <a:xfrm>
                <a:off x="8274274" y="9852490"/>
                <a:ext cx="4690062" cy="1188482"/>
              </a:xfrm>
              <a:prstGeom prst="roundRect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 w="63500" cap="flat">
                <a:solidFill>
                  <a:schemeClr val="tx1"/>
                </a:solidFill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50800" tIns="50800" rIns="50800" bIns="50800" numCol="1" spcCol="38100" rtlCol="0" anchor="ctr">
                <a:spAutoFit/>
              </a:bodyPr>
              <a:lstStyle/>
              <a:p>
                <a:pPr algn="ctr" defTabSz="825500">
                  <a:lnSpc>
                    <a:spcPct val="100000"/>
                  </a:lnSpc>
                  <a:spcBef>
                    <a:spcPts val="0"/>
                  </a:spcBef>
                </a:pPr>
                <a14:m>
                  <m:oMath xmlns:m="http://schemas.openxmlformats.org/officeDocument/2006/math">
                    <m:f>
                      <m:fPr>
                        <m:ctrlPr>
                          <a:rPr lang="en-US" sz="440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4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sz="4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!</m:t>
                        </m:r>
                      </m:num>
                      <m:den>
                        <m:r>
                          <a:rPr lang="en-US" sz="4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lang="en-US" sz="4400" dirty="0">
                    <a:solidFill>
                      <a:schemeClr val="bg1"/>
                    </a:solidFill>
                    <a:latin typeface="Bradley Hand" pitchFamily="2" charset="77"/>
                  </a:rPr>
                  <a:t> </a:t>
                </a:r>
              </a:p>
            </p:txBody>
          </p:sp>
        </mc:Choice>
        <mc:Fallback xmlns="">
          <p:sp>
            <p:nvSpPr>
              <p:cNvPr id="37" name="Rounded Rectangle 36">
                <a:extLst>
                  <a:ext uri="{FF2B5EF4-FFF2-40B4-BE49-F238E27FC236}">
                    <a16:creationId xmlns:a16="http://schemas.microsoft.com/office/drawing/2014/main" id="{3E888D71-3995-27CC-2558-69BC93B37D2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74274" y="9852490"/>
                <a:ext cx="4690062" cy="1188482"/>
              </a:xfrm>
              <a:prstGeom prst="roundRect">
                <a:avLst/>
              </a:prstGeom>
              <a:blipFill>
                <a:blip r:embed="rId8"/>
                <a:stretch>
                  <a:fillRect/>
                </a:stretch>
              </a:blipFill>
              <a:ln w="63500" cap="flat">
                <a:solidFill>
                  <a:schemeClr val="tx1"/>
                </a:solidFill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8" name="Plus 37">
            <a:extLst>
              <a:ext uri="{FF2B5EF4-FFF2-40B4-BE49-F238E27FC236}">
                <a16:creationId xmlns:a16="http://schemas.microsoft.com/office/drawing/2014/main" id="{255EFA24-A1FD-E74A-919F-A3112FF9AFAE}"/>
              </a:ext>
            </a:extLst>
          </p:cNvPr>
          <p:cNvSpPr/>
          <p:nvPr/>
        </p:nvSpPr>
        <p:spPr>
          <a:xfrm>
            <a:off x="13075080" y="9999730"/>
            <a:ext cx="734029" cy="894001"/>
          </a:xfrm>
          <a:prstGeom prst="mathPlus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4400" i="1">
              <a:solidFill>
                <a:schemeClr val="bg1"/>
              </a:solidFill>
              <a:latin typeface="Cambria Math" panose="02040503050406030204" pitchFamily="18" charset="0"/>
              <a:sym typeface="Helvetica Neue Medium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9" name="Rounded Rectangle 38">
                <a:extLst>
                  <a:ext uri="{FF2B5EF4-FFF2-40B4-BE49-F238E27FC236}">
                    <a16:creationId xmlns:a16="http://schemas.microsoft.com/office/drawing/2014/main" id="{5BC61D81-1D46-AE48-8490-B0D9E9F270D5}"/>
                  </a:ext>
                </a:extLst>
              </p:cNvPr>
              <p:cNvSpPr/>
              <p:nvPr/>
            </p:nvSpPr>
            <p:spPr>
              <a:xfrm>
                <a:off x="14215157" y="9869281"/>
                <a:ext cx="4392883" cy="1188482"/>
              </a:xfrm>
              <a:prstGeom prst="roundRect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 w="63500" cap="flat">
                <a:solidFill>
                  <a:schemeClr val="tx1"/>
                </a:solidFill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50800" tIns="50800" rIns="50800" bIns="50800" numCol="1" spcCol="38100" rtlCol="0" anchor="ctr">
                <a:spAutoFit/>
              </a:bodyPr>
              <a:lstStyle/>
              <a:p>
                <a:pPr algn="ctr" defTabSz="825500">
                  <a:lnSpc>
                    <a:spcPct val="100000"/>
                  </a:lnSpc>
                  <a:spcBef>
                    <a:spcPts val="0"/>
                  </a:spcBef>
                </a:pPr>
                <a14:m>
                  <m:oMath xmlns:m="http://schemas.openxmlformats.org/officeDocument/2006/math">
                    <m:r>
                      <a:rPr lang="en-US" sz="4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2</m:t>
                    </m:r>
                    <m:f>
                      <m:fPr>
                        <m:ctrlPr>
                          <a:rPr lang="en-US" sz="4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4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sz="4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!</m:t>
                        </m:r>
                      </m:num>
                      <m:den>
                        <m:r>
                          <a:rPr lang="en-US" sz="4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lang="en-US" sz="4400" dirty="0">
                    <a:solidFill>
                      <a:schemeClr val="bg1"/>
                    </a:solidFill>
                    <a:latin typeface="Bradley Hand" pitchFamily="2" charset="77"/>
                  </a:rPr>
                  <a:t> </a:t>
                </a:r>
              </a:p>
            </p:txBody>
          </p:sp>
        </mc:Choice>
        <mc:Fallback xmlns="">
          <p:sp>
            <p:nvSpPr>
              <p:cNvPr id="39" name="Rounded Rectangle 38">
                <a:extLst>
                  <a:ext uri="{FF2B5EF4-FFF2-40B4-BE49-F238E27FC236}">
                    <a16:creationId xmlns:a16="http://schemas.microsoft.com/office/drawing/2014/main" id="{5BC61D81-1D46-AE48-8490-B0D9E9F270D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215157" y="9869281"/>
                <a:ext cx="4392883" cy="1188482"/>
              </a:xfrm>
              <a:prstGeom prst="roundRect">
                <a:avLst/>
              </a:prstGeom>
              <a:blipFill>
                <a:blip r:embed="rId9"/>
                <a:stretch>
                  <a:fillRect/>
                </a:stretch>
              </a:blipFill>
              <a:ln w="63500" cap="flat">
                <a:solidFill>
                  <a:schemeClr val="tx1"/>
                </a:solidFill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3" name="Rounded Rectangle 42">
                <a:extLst>
                  <a:ext uri="{FF2B5EF4-FFF2-40B4-BE49-F238E27FC236}">
                    <a16:creationId xmlns:a16="http://schemas.microsoft.com/office/drawing/2014/main" id="{9E9B3641-506B-8A0F-FAF7-20823FD1E0BE}"/>
                  </a:ext>
                </a:extLst>
              </p:cNvPr>
              <p:cNvSpPr/>
              <p:nvPr/>
            </p:nvSpPr>
            <p:spPr>
              <a:xfrm>
                <a:off x="19746022" y="9869281"/>
                <a:ext cx="4392883" cy="1188482"/>
              </a:xfrm>
              <a:prstGeom prst="roundRect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 w="63500" cap="flat">
                <a:solidFill>
                  <a:schemeClr val="tx1"/>
                </a:solidFill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50800" tIns="50800" rIns="50800" bIns="50800" numCol="1" spcCol="38100" rtlCol="0" anchor="ctr">
                <a:spAutoFit/>
              </a:bodyPr>
              <a:lstStyle/>
              <a:p>
                <a:pPr algn="ctr" defTabSz="825500">
                  <a:lnSpc>
                    <a:spcPct val="100000"/>
                  </a:lnSpc>
                  <a:spcBef>
                    <a:spcPts val="0"/>
                  </a:spcBef>
                </a:pPr>
                <a14:m>
                  <m:oMath xmlns:m="http://schemas.openxmlformats.org/officeDocument/2006/math">
                    <m:r>
                      <a:rPr lang="en-US" sz="4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3</m:t>
                    </m:r>
                    <m:f>
                      <m:fPr>
                        <m:ctrlPr>
                          <a:rPr lang="en-US" sz="4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4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sz="4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!</m:t>
                        </m:r>
                      </m:num>
                      <m:den>
                        <m:r>
                          <a:rPr lang="en-US" sz="4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lang="en-US" sz="4400" dirty="0">
                    <a:solidFill>
                      <a:schemeClr val="bg1"/>
                    </a:solidFill>
                    <a:latin typeface="Bradley Hand" pitchFamily="2" charset="77"/>
                  </a:rPr>
                  <a:t> </a:t>
                </a:r>
              </a:p>
            </p:txBody>
          </p:sp>
        </mc:Choice>
        <mc:Fallback xmlns="">
          <p:sp>
            <p:nvSpPr>
              <p:cNvPr id="43" name="Rounded Rectangle 42">
                <a:extLst>
                  <a:ext uri="{FF2B5EF4-FFF2-40B4-BE49-F238E27FC236}">
                    <a16:creationId xmlns:a16="http://schemas.microsoft.com/office/drawing/2014/main" id="{9E9B3641-506B-8A0F-FAF7-20823FD1E0B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746022" y="9869281"/>
                <a:ext cx="4392883" cy="1188482"/>
              </a:xfrm>
              <a:prstGeom prst="roundRect">
                <a:avLst/>
              </a:prstGeom>
              <a:blipFill>
                <a:blip r:embed="rId10"/>
                <a:stretch>
                  <a:fillRect/>
                </a:stretch>
              </a:blipFill>
              <a:ln w="63500" cap="flat">
                <a:solidFill>
                  <a:schemeClr val="tx1"/>
                </a:solidFill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84434700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9" grpId="0" animBg="1"/>
      <p:bldP spid="10" grpId="0" animBg="1"/>
      <p:bldP spid="11" grpId="0" animBg="1"/>
      <p:bldP spid="14" grpId="0" animBg="1"/>
      <p:bldP spid="24" grpId="0" animBg="1"/>
      <p:bldP spid="25" grpId="0" animBg="1"/>
      <p:bldP spid="28" grpId="0" animBg="1"/>
      <p:bldP spid="30" grpId="0" animBg="1"/>
      <p:bldP spid="36" grpId="0" animBg="1"/>
      <p:bldP spid="37" grpId="0" animBg="1"/>
      <p:bldP spid="38" grpId="0" animBg="1"/>
      <p:bldP spid="39" grpId="0" animBg="1"/>
      <p:bldP spid="43" grpId="0" animBg="1"/>
    </p:bld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47695D-043F-7C83-0AC6-A5179B46AD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4" name="Rounded Rectangle 23">
                <a:extLst>
                  <a:ext uri="{FF2B5EF4-FFF2-40B4-BE49-F238E27FC236}">
                    <a16:creationId xmlns:a16="http://schemas.microsoft.com/office/drawing/2014/main" id="{FCEED9A3-D821-9ECC-2A5A-9816A6F16329}"/>
                  </a:ext>
                </a:extLst>
              </p:cNvPr>
              <p:cNvSpPr/>
              <p:nvPr/>
            </p:nvSpPr>
            <p:spPr>
              <a:xfrm>
                <a:off x="482363" y="1239054"/>
                <a:ext cx="6215618" cy="1747996"/>
              </a:xfrm>
              <a:prstGeom prst="roundRect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 w="63500" cap="flat">
                <a:solidFill>
                  <a:schemeClr val="tx1"/>
                </a:solidFill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50800" tIns="50800" rIns="50800" bIns="50800" numCol="1" spcCol="38100" rtlCol="0" anchor="ctr">
                <a:spAutoFit/>
              </a:bodyPr>
              <a:lstStyle/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US" dirty="0">
                    <a:solidFill>
                      <a:schemeClr val="bg1"/>
                    </a:solidFill>
                    <a:latin typeface="Bradley Hand" pitchFamily="2" charset="77"/>
                  </a:rPr>
                  <a:t>Average number of swaps in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US" dirty="0">
                    <a:solidFill>
                      <a:schemeClr val="bg1"/>
                    </a:solidFill>
                    <a:latin typeface="Bradley Hand" pitchFamily="2" charset="77"/>
                  </a:rPr>
                  <a:t>-</a:t>
                </a:r>
                <a:r>
                  <a:rPr lang="en-US" dirty="0" err="1">
                    <a:solidFill>
                      <a:schemeClr val="bg1"/>
                    </a:solidFill>
                    <a:latin typeface="Bradley Hand" pitchFamily="2" charset="77"/>
                  </a:rPr>
                  <a:t>th</a:t>
                </a:r>
                <a:r>
                  <a:rPr lang="en-US" dirty="0">
                    <a:solidFill>
                      <a:schemeClr val="bg1"/>
                    </a:solidFill>
                    <a:latin typeface="Bradley Hand" pitchFamily="2" charset="77"/>
                  </a:rPr>
                  <a:t> iteration</a:t>
                </a:r>
              </a:p>
            </p:txBody>
          </p:sp>
        </mc:Choice>
        <mc:Fallback xmlns="">
          <p:sp>
            <p:nvSpPr>
              <p:cNvPr id="24" name="Rounded Rectangle 23">
                <a:extLst>
                  <a:ext uri="{FF2B5EF4-FFF2-40B4-BE49-F238E27FC236}">
                    <a16:creationId xmlns:a16="http://schemas.microsoft.com/office/drawing/2014/main" id="{FCEED9A3-D821-9ECC-2A5A-9816A6F1632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2363" y="1239054"/>
                <a:ext cx="6215618" cy="1747996"/>
              </a:xfrm>
              <a:prstGeom prst="roundRect">
                <a:avLst/>
              </a:prstGeom>
              <a:blipFill>
                <a:blip r:embed="rId2"/>
                <a:stretch>
                  <a:fillRect l="-3232" t="-699" r="-2424" b="-11888"/>
                </a:stretch>
              </a:blipFill>
              <a:ln w="63500" cap="flat">
                <a:solidFill>
                  <a:schemeClr val="tx1"/>
                </a:solidFill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5" name="Equals 24">
            <a:extLst>
              <a:ext uri="{FF2B5EF4-FFF2-40B4-BE49-F238E27FC236}">
                <a16:creationId xmlns:a16="http://schemas.microsoft.com/office/drawing/2014/main" id="{57CC97B8-402A-8D4E-83DD-37F057A7DA08}"/>
              </a:ext>
            </a:extLst>
          </p:cNvPr>
          <p:cNvSpPr/>
          <p:nvPr/>
        </p:nvSpPr>
        <p:spPr>
          <a:xfrm>
            <a:off x="6697981" y="1795711"/>
            <a:ext cx="911891" cy="634682"/>
          </a:xfrm>
          <a:prstGeom prst="mathEqual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4400" i="1">
              <a:solidFill>
                <a:schemeClr val="bg1"/>
              </a:solidFill>
              <a:latin typeface="Cambria Math" panose="02040503050406030204" pitchFamily="18" charset="0"/>
              <a:sym typeface="Helvetica Neue Medium"/>
            </a:endParaRPr>
          </a:p>
        </p:txBody>
      </p:sp>
      <p:sp>
        <p:nvSpPr>
          <p:cNvPr id="26" name="Plus 25">
            <a:extLst>
              <a:ext uri="{FF2B5EF4-FFF2-40B4-BE49-F238E27FC236}">
                <a16:creationId xmlns:a16="http://schemas.microsoft.com/office/drawing/2014/main" id="{5F19B02D-E9AF-E399-5B68-E6DDC0248B8D}"/>
              </a:ext>
            </a:extLst>
          </p:cNvPr>
          <p:cNvSpPr/>
          <p:nvPr/>
        </p:nvSpPr>
        <p:spPr>
          <a:xfrm>
            <a:off x="11121438" y="1654923"/>
            <a:ext cx="734029" cy="894001"/>
          </a:xfrm>
          <a:prstGeom prst="mathPlus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4400" i="1">
              <a:solidFill>
                <a:schemeClr val="bg1"/>
              </a:solidFill>
              <a:latin typeface="Cambria Math" panose="02040503050406030204" pitchFamily="18" charset="0"/>
              <a:sym typeface="Helvetica Neue Medium"/>
            </a:endParaRPr>
          </a:p>
        </p:txBody>
      </p: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C5BA5691-2202-BEC1-7F66-BA931A89FD20}"/>
              </a:ext>
            </a:extLst>
          </p:cNvPr>
          <p:cNvCxnSpPr>
            <a:cxnSpLocks/>
          </p:cNvCxnSpPr>
          <p:nvPr/>
        </p:nvCxnSpPr>
        <p:spPr>
          <a:xfrm>
            <a:off x="7609872" y="3105591"/>
            <a:ext cx="15799608" cy="0"/>
          </a:xfrm>
          <a:prstGeom prst="line">
            <a:avLst/>
          </a:prstGeom>
          <a:noFill/>
          <a:ln w="127000" cap="flat">
            <a:solidFill>
              <a:srgbClr val="000000"/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8" name="Rounded Rectangle 27">
                <a:extLst>
                  <a:ext uri="{FF2B5EF4-FFF2-40B4-BE49-F238E27FC236}">
                    <a16:creationId xmlns:a16="http://schemas.microsoft.com/office/drawing/2014/main" id="{1C637723-C6CB-348F-C4AB-508EECC8E03E}"/>
                  </a:ext>
                </a:extLst>
              </p:cNvPr>
              <p:cNvSpPr/>
              <p:nvPr/>
            </p:nvSpPr>
            <p:spPr>
              <a:xfrm>
                <a:off x="12913598" y="3662258"/>
                <a:ext cx="4392883" cy="862648"/>
              </a:xfrm>
              <a:prstGeom prst="roundRect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 w="63500" cap="flat">
                <a:solidFill>
                  <a:schemeClr val="tx1"/>
                </a:solidFill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50800" tIns="50800" rIns="50800" bIns="50800" numCol="1" spcCol="38100" rtlCol="0" anchor="ctr">
                <a:spAutoFit/>
              </a:bodyPr>
              <a:lstStyle/>
              <a:p>
                <a:pPr algn="ctr" defTabSz="825500">
                  <a:lnSpc>
                    <a:spcPct val="100000"/>
                  </a:lnSpc>
                  <a:spcBef>
                    <a:spcPts val="0"/>
                  </a:spcBef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4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en-US" sz="4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!</m:t>
                      </m:r>
                    </m:oMath>
                  </m:oMathPara>
                </a14:m>
                <a:endParaRPr lang="en-US" sz="4400" dirty="0">
                  <a:solidFill>
                    <a:schemeClr val="bg1"/>
                  </a:solidFill>
                  <a:latin typeface="Bradley Hand" pitchFamily="2" charset="77"/>
                </a:endParaRPr>
              </a:p>
            </p:txBody>
          </p:sp>
        </mc:Choice>
        <mc:Fallback xmlns="">
          <p:sp>
            <p:nvSpPr>
              <p:cNvPr id="28" name="Rounded Rectangle 27">
                <a:extLst>
                  <a:ext uri="{FF2B5EF4-FFF2-40B4-BE49-F238E27FC236}">
                    <a16:creationId xmlns:a16="http://schemas.microsoft.com/office/drawing/2014/main" id="{1C637723-C6CB-348F-C4AB-508EECC8E03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913598" y="3662258"/>
                <a:ext cx="4392883" cy="862648"/>
              </a:xfrm>
              <a:prstGeom prst="roundRect">
                <a:avLst/>
              </a:prstGeom>
              <a:blipFill>
                <a:blip r:embed="rId3"/>
                <a:stretch>
                  <a:fillRect/>
                </a:stretch>
              </a:blipFill>
              <a:ln w="63500" cap="flat">
                <a:solidFill>
                  <a:schemeClr val="tx1"/>
                </a:solidFill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0" name="Plus 29">
            <a:extLst>
              <a:ext uri="{FF2B5EF4-FFF2-40B4-BE49-F238E27FC236}">
                <a16:creationId xmlns:a16="http://schemas.microsoft.com/office/drawing/2014/main" id="{0572DE9F-DEED-43F1-7608-1F749826EB76}"/>
              </a:ext>
            </a:extLst>
          </p:cNvPr>
          <p:cNvSpPr/>
          <p:nvPr/>
        </p:nvSpPr>
        <p:spPr>
          <a:xfrm>
            <a:off x="18926204" y="1654923"/>
            <a:ext cx="734029" cy="894001"/>
          </a:xfrm>
          <a:prstGeom prst="mathPlus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4400" i="1">
              <a:solidFill>
                <a:schemeClr val="bg1"/>
              </a:solidFill>
              <a:latin typeface="Cambria Math" panose="02040503050406030204" pitchFamily="18" charset="0"/>
              <a:sym typeface="Helvetica Neue Medium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B84EE0B9-8301-C1C6-906A-D64F5C69050A}"/>
                  </a:ext>
                </a:extLst>
              </p:cNvPr>
              <p:cNvSpPr txBox="1"/>
              <p:nvPr/>
            </p:nvSpPr>
            <p:spPr>
              <a:xfrm>
                <a:off x="16216772" y="1227538"/>
                <a:ext cx="2353233" cy="1321386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50800" tIns="50800" rIns="50800" bIns="50800" numCol="1" spcCol="38100" rtlCol="0" anchor="ctr">
                <a:spAutoFit/>
              </a:bodyPr>
              <a:lstStyle/>
              <a:p>
                <a:pPr marL="0" marR="0" indent="0" algn="l" defTabSz="2438338" rtl="0" fontAlgn="auto" latinLnBrk="0" hangingPunct="0">
                  <a:lnSpc>
                    <a:spcPct val="90000"/>
                  </a:lnSpc>
                  <a:spcBef>
                    <a:spcPts val="45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en-US" sz="8800" b="0" i="1" u="none" strike="noStrike" cap="none" spc="0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  <a:sym typeface="Helvetica Neue"/>
                        </a:rPr>
                        <m:t>…</m:t>
                      </m:r>
                    </m:oMath>
                  </m:oMathPara>
                </a14:m>
                <a:endParaRPr kumimoji="0" lang="en-US" sz="8800" b="0" i="0" u="none" strike="noStrike" cap="none" spc="0" normalizeH="0" baseline="0" dirty="0">
                  <a:ln>
                    <a:noFill/>
                  </a:ln>
                  <a:solidFill>
                    <a:schemeClr val="bg1"/>
                  </a:solidFill>
                  <a:effectLst/>
                  <a:uFillTx/>
                  <a:ea typeface="+mn-ea"/>
                  <a:cs typeface="+mn-cs"/>
                  <a:sym typeface="Helvetica Neue"/>
                </a:endParaRP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B84EE0B9-8301-C1C6-906A-D64F5C69050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216772" y="1227538"/>
                <a:ext cx="2353233" cy="1321386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 w="12700" cap="flat">
                <a:noFill/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Plus 3">
            <a:extLst>
              <a:ext uri="{FF2B5EF4-FFF2-40B4-BE49-F238E27FC236}">
                <a16:creationId xmlns:a16="http://schemas.microsoft.com/office/drawing/2014/main" id="{F4497AF9-DB92-EC5C-3743-667D998863FD}"/>
              </a:ext>
            </a:extLst>
          </p:cNvPr>
          <p:cNvSpPr/>
          <p:nvPr/>
        </p:nvSpPr>
        <p:spPr>
          <a:xfrm>
            <a:off x="15482743" y="1654923"/>
            <a:ext cx="734029" cy="894001"/>
          </a:xfrm>
          <a:prstGeom prst="mathPlus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4400" i="1">
              <a:solidFill>
                <a:schemeClr val="bg1"/>
              </a:solidFill>
              <a:latin typeface="Cambria Math" panose="02040503050406030204" pitchFamily="18" charset="0"/>
              <a:sym typeface="Helvetica Neue Medium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Rounded Rectangle 11">
                <a:extLst>
                  <a:ext uri="{FF2B5EF4-FFF2-40B4-BE49-F238E27FC236}">
                    <a16:creationId xmlns:a16="http://schemas.microsoft.com/office/drawing/2014/main" id="{77F481E2-2BF4-E024-43BA-11D93AAE4E22}"/>
                  </a:ext>
                </a:extLst>
              </p:cNvPr>
              <p:cNvSpPr/>
              <p:nvPr/>
            </p:nvSpPr>
            <p:spPr>
              <a:xfrm>
                <a:off x="7812896" y="1447902"/>
                <a:ext cx="3154586" cy="1188482"/>
              </a:xfrm>
              <a:prstGeom prst="roundRect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 w="63500" cap="flat">
                <a:solidFill>
                  <a:schemeClr val="tx1"/>
                </a:solidFill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50800" tIns="50800" rIns="50800" bIns="50800" numCol="1" spcCol="38100" rtlCol="0" anchor="ctr">
                <a:spAutoFit/>
              </a:bodyPr>
              <a:lstStyle/>
              <a:p>
                <a:pPr algn="ctr" defTabSz="825500">
                  <a:lnSpc>
                    <a:spcPct val="100000"/>
                  </a:lnSpc>
                  <a:spcBef>
                    <a:spcPts val="0"/>
                  </a:spcBef>
                </a:pPr>
                <a14:m>
                  <m:oMath xmlns:m="http://schemas.openxmlformats.org/officeDocument/2006/math">
                    <m:f>
                      <m:fPr>
                        <m:ctrlPr>
                          <a:rPr lang="en-US" sz="440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4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sz="4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!</m:t>
                        </m:r>
                      </m:num>
                      <m:den>
                        <m:r>
                          <a:rPr lang="en-US" sz="4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den>
                    </m:f>
                  </m:oMath>
                </a14:m>
                <a:r>
                  <a:rPr lang="en-US" sz="4400" dirty="0">
                    <a:solidFill>
                      <a:schemeClr val="bg1"/>
                    </a:solidFill>
                    <a:latin typeface="Bradley Hand" pitchFamily="2" charset="77"/>
                  </a:rPr>
                  <a:t> </a:t>
                </a:r>
              </a:p>
            </p:txBody>
          </p:sp>
        </mc:Choice>
        <mc:Fallback xmlns="">
          <p:sp>
            <p:nvSpPr>
              <p:cNvPr id="12" name="Rounded Rectangle 11">
                <a:extLst>
                  <a:ext uri="{FF2B5EF4-FFF2-40B4-BE49-F238E27FC236}">
                    <a16:creationId xmlns:a16="http://schemas.microsoft.com/office/drawing/2014/main" id="{77F481E2-2BF4-E024-43BA-11D93AAE4E2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12896" y="1447902"/>
                <a:ext cx="3154586" cy="1188482"/>
              </a:xfrm>
              <a:prstGeom prst="roundRect">
                <a:avLst/>
              </a:prstGeom>
              <a:blipFill>
                <a:blip r:embed="rId5"/>
                <a:stretch>
                  <a:fillRect b="-1010"/>
                </a:stretch>
              </a:blipFill>
              <a:ln w="63500" cap="flat">
                <a:solidFill>
                  <a:schemeClr val="tx1"/>
                </a:solidFill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Rounded Rectangle 16">
                <a:extLst>
                  <a:ext uri="{FF2B5EF4-FFF2-40B4-BE49-F238E27FC236}">
                    <a16:creationId xmlns:a16="http://schemas.microsoft.com/office/drawing/2014/main" id="{BAC3F5AA-0973-7CD2-EE01-D07DE79C6ECD}"/>
                  </a:ext>
                </a:extLst>
              </p:cNvPr>
              <p:cNvSpPr/>
              <p:nvPr/>
            </p:nvSpPr>
            <p:spPr>
              <a:xfrm>
                <a:off x="12082397" y="1507682"/>
                <a:ext cx="3154586" cy="1188482"/>
              </a:xfrm>
              <a:prstGeom prst="roundRect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 w="63500" cap="flat">
                <a:solidFill>
                  <a:schemeClr val="tx1"/>
                </a:solidFill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50800" tIns="50800" rIns="50800" bIns="50800" numCol="1" spcCol="38100" rtlCol="0" anchor="ctr">
                <a:spAutoFit/>
              </a:bodyPr>
              <a:lstStyle/>
              <a:p>
                <a:pPr algn="ctr" defTabSz="825500">
                  <a:lnSpc>
                    <a:spcPct val="100000"/>
                  </a:lnSpc>
                  <a:spcBef>
                    <a:spcPts val="0"/>
                  </a:spcBef>
                </a:pPr>
                <a14:m>
                  <m:oMath xmlns:m="http://schemas.openxmlformats.org/officeDocument/2006/math">
                    <m:r>
                      <a:rPr lang="en-US" sz="4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2</m:t>
                    </m:r>
                    <m:f>
                      <m:fPr>
                        <m:ctrlPr>
                          <a:rPr lang="en-US" sz="440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4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sz="4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!</m:t>
                        </m:r>
                      </m:num>
                      <m:den>
                        <m:r>
                          <a:rPr lang="en-US" sz="4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den>
                    </m:f>
                  </m:oMath>
                </a14:m>
                <a:r>
                  <a:rPr lang="en-US" sz="4400" dirty="0">
                    <a:solidFill>
                      <a:schemeClr val="bg1"/>
                    </a:solidFill>
                    <a:latin typeface="Bradley Hand" pitchFamily="2" charset="77"/>
                  </a:rPr>
                  <a:t> </a:t>
                </a:r>
              </a:p>
            </p:txBody>
          </p:sp>
        </mc:Choice>
        <mc:Fallback xmlns="">
          <p:sp>
            <p:nvSpPr>
              <p:cNvPr id="17" name="Rounded Rectangle 16">
                <a:extLst>
                  <a:ext uri="{FF2B5EF4-FFF2-40B4-BE49-F238E27FC236}">
                    <a16:creationId xmlns:a16="http://schemas.microsoft.com/office/drawing/2014/main" id="{BAC3F5AA-0973-7CD2-EE01-D07DE79C6EC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082397" y="1507682"/>
                <a:ext cx="3154586" cy="1188482"/>
              </a:xfrm>
              <a:prstGeom prst="roundRect">
                <a:avLst/>
              </a:prstGeom>
              <a:blipFill>
                <a:blip r:embed="rId6"/>
                <a:stretch>
                  <a:fillRect b="-1010"/>
                </a:stretch>
              </a:blipFill>
              <a:ln w="63500" cap="flat">
                <a:solidFill>
                  <a:schemeClr val="tx1"/>
                </a:solidFill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Rounded Rectangle 17">
                <a:extLst>
                  <a:ext uri="{FF2B5EF4-FFF2-40B4-BE49-F238E27FC236}">
                    <a16:creationId xmlns:a16="http://schemas.microsoft.com/office/drawing/2014/main" id="{55362B91-002D-4C33-B79B-7DC4F223D10F}"/>
                  </a:ext>
                </a:extLst>
              </p:cNvPr>
              <p:cNvSpPr/>
              <p:nvPr/>
            </p:nvSpPr>
            <p:spPr>
              <a:xfrm>
                <a:off x="20021918" y="1579510"/>
                <a:ext cx="3154586" cy="1188482"/>
              </a:xfrm>
              <a:prstGeom prst="roundRect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 w="63500" cap="flat">
                <a:solidFill>
                  <a:schemeClr val="tx1"/>
                </a:solidFill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50800" tIns="50800" rIns="50800" bIns="50800" numCol="1" spcCol="38100" rtlCol="0" anchor="ctr">
                <a:spAutoFit/>
              </a:bodyPr>
              <a:lstStyle/>
              <a:p>
                <a:pPr algn="ctr" defTabSz="825500">
                  <a:lnSpc>
                    <a:spcPct val="100000"/>
                  </a:lnSpc>
                  <a:spcBef>
                    <a:spcPts val="0"/>
                  </a:spcBef>
                </a:pPr>
                <a14:m>
                  <m:oMath xmlns:m="http://schemas.openxmlformats.org/officeDocument/2006/math">
                    <m:r>
                      <a:rPr lang="en-US" sz="4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4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sz="4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−1)</m:t>
                    </m:r>
                    <m:f>
                      <m:fPr>
                        <m:ctrlPr>
                          <a:rPr lang="en-US" sz="440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4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sz="4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!</m:t>
                        </m:r>
                      </m:num>
                      <m:den>
                        <m:r>
                          <a:rPr lang="en-US" sz="4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den>
                    </m:f>
                  </m:oMath>
                </a14:m>
                <a:r>
                  <a:rPr lang="en-US" sz="4400" dirty="0">
                    <a:solidFill>
                      <a:schemeClr val="bg1"/>
                    </a:solidFill>
                    <a:latin typeface="Bradley Hand" pitchFamily="2" charset="77"/>
                  </a:rPr>
                  <a:t> </a:t>
                </a:r>
              </a:p>
            </p:txBody>
          </p:sp>
        </mc:Choice>
        <mc:Fallback xmlns="">
          <p:sp>
            <p:nvSpPr>
              <p:cNvPr id="18" name="Rounded Rectangle 17">
                <a:extLst>
                  <a:ext uri="{FF2B5EF4-FFF2-40B4-BE49-F238E27FC236}">
                    <a16:creationId xmlns:a16="http://schemas.microsoft.com/office/drawing/2014/main" id="{55362B91-002D-4C33-B79B-7DC4F223D10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021918" y="1579510"/>
                <a:ext cx="3154586" cy="1188482"/>
              </a:xfrm>
              <a:prstGeom prst="roundRect">
                <a:avLst/>
              </a:prstGeom>
              <a:blipFill>
                <a:blip r:embed="rId7"/>
                <a:stretch>
                  <a:fillRect/>
                </a:stretch>
              </a:blipFill>
              <a:ln w="63500" cap="flat">
                <a:solidFill>
                  <a:schemeClr val="tx1"/>
                </a:solidFill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9" name="Equals 18">
            <a:extLst>
              <a:ext uri="{FF2B5EF4-FFF2-40B4-BE49-F238E27FC236}">
                <a16:creationId xmlns:a16="http://schemas.microsoft.com/office/drawing/2014/main" id="{898C92A1-C472-5CCE-962D-D9D32F890BED}"/>
              </a:ext>
            </a:extLst>
          </p:cNvPr>
          <p:cNvSpPr/>
          <p:nvPr/>
        </p:nvSpPr>
        <p:spPr>
          <a:xfrm>
            <a:off x="6703103" y="5559991"/>
            <a:ext cx="911891" cy="634682"/>
          </a:xfrm>
          <a:prstGeom prst="mathEqual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4400" i="1">
              <a:solidFill>
                <a:schemeClr val="bg1"/>
              </a:solidFill>
              <a:latin typeface="Cambria Math" panose="02040503050406030204" pitchFamily="18" charset="0"/>
              <a:sym typeface="Helvetica Neue Medium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Rounded Rectangle 19">
                <a:extLst>
                  <a:ext uri="{FF2B5EF4-FFF2-40B4-BE49-F238E27FC236}">
                    <a16:creationId xmlns:a16="http://schemas.microsoft.com/office/drawing/2014/main" id="{AD21B252-AD34-9897-B758-2AF9903FE393}"/>
                  </a:ext>
                </a:extLst>
              </p:cNvPr>
              <p:cNvSpPr/>
              <p:nvPr/>
            </p:nvSpPr>
            <p:spPr>
              <a:xfrm>
                <a:off x="7966852" y="5275643"/>
                <a:ext cx="15442628" cy="1203380"/>
              </a:xfrm>
              <a:prstGeom prst="roundRect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 w="63500" cap="flat">
                <a:solidFill>
                  <a:schemeClr val="tx1"/>
                </a:solidFill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50800" tIns="50800" rIns="50800" bIns="50800" numCol="1" spcCol="38100" rtlCol="0" anchor="ctr">
                <a:spAutoFit/>
              </a:bodyPr>
              <a:lstStyle/>
              <a:p>
                <a:pPr algn="ctr" defTabSz="825500">
                  <a:lnSpc>
                    <a:spcPct val="100000"/>
                  </a:lnSpc>
                  <a:spcBef>
                    <a:spcPts val="0"/>
                  </a:spcBef>
                </a:pPr>
                <a14:m>
                  <m:oMath xmlns:m="http://schemas.openxmlformats.org/officeDocument/2006/math">
                    <m:f>
                      <m:fPr>
                        <m:ctrlPr>
                          <a:rPr lang="en-US" sz="4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4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sz="4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den>
                    </m:f>
                    <m:r>
                      <a:rPr lang="en-US" sz="4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ctrlPr>
                          <a:rPr lang="en-US" sz="4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4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US" sz="4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den>
                    </m:f>
                    <m:r>
                      <a:rPr lang="en-US" sz="4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+…+</m:t>
                    </m:r>
                    <m:f>
                      <m:fPr>
                        <m:ctrlPr>
                          <a:rPr lang="en-US" sz="4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4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sz="4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−1</m:t>
                        </m:r>
                      </m:num>
                      <m:den>
                        <m:r>
                          <a:rPr lang="en-US" sz="4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den>
                    </m:f>
                  </m:oMath>
                </a14:m>
                <a:r>
                  <a:rPr lang="en-US" sz="4400" dirty="0">
                    <a:solidFill>
                      <a:schemeClr val="bg1"/>
                    </a:solidFill>
                    <a:latin typeface="Bradley Hand" pitchFamily="2" charset="77"/>
                  </a:rPr>
                  <a:t> </a:t>
                </a:r>
              </a:p>
            </p:txBody>
          </p:sp>
        </mc:Choice>
        <mc:Fallback xmlns="">
          <p:sp>
            <p:nvSpPr>
              <p:cNvPr id="20" name="Rounded Rectangle 19">
                <a:extLst>
                  <a:ext uri="{FF2B5EF4-FFF2-40B4-BE49-F238E27FC236}">
                    <a16:creationId xmlns:a16="http://schemas.microsoft.com/office/drawing/2014/main" id="{AD21B252-AD34-9897-B758-2AF9903FE39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66852" y="5275643"/>
                <a:ext cx="15442628" cy="1203380"/>
              </a:xfrm>
              <a:prstGeom prst="roundRect">
                <a:avLst/>
              </a:prstGeom>
              <a:blipFill>
                <a:blip r:embed="rId8"/>
                <a:stretch>
                  <a:fillRect/>
                </a:stretch>
              </a:blipFill>
              <a:ln w="63500" cap="flat">
                <a:solidFill>
                  <a:schemeClr val="tx1"/>
                </a:solidFill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2" name="Equals 21">
            <a:extLst>
              <a:ext uri="{FF2B5EF4-FFF2-40B4-BE49-F238E27FC236}">
                <a16:creationId xmlns:a16="http://schemas.microsoft.com/office/drawing/2014/main" id="{DBF9080C-410D-10A2-389F-C8DBB583ACB9}"/>
              </a:ext>
            </a:extLst>
          </p:cNvPr>
          <p:cNvSpPr/>
          <p:nvPr/>
        </p:nvSpPr>
        <p:spPr>
          <a:xfrm>
            <a:off x="6697981" y="7551607"/>
            <a:ext cx="911891" cy="634682"/>
          </a:xfrm>
          <a:prstGeom prst="mathEqual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4400" i="1">
              <a:solidFill>
                <a:schemeClr val="bg1"/>
              </a:solidFill>
              <a:latin typeface="Cambria Math" panose="02040503050406030204" pitchFamily="18" charset="0"/>
              <a:sym typeface="Helvetica Neue Medium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1" name="Rounded Rectangle 30">
                <a:extLst>
                  <a:ext uri="{FF2B5EF4-FFF2-40B4-BE49-F238E27FC236}">
                    <a16:creationId xmlns:a16="http://schemas.microsoft.com/office/drawing/2014/main" id="{AFB863BF-6985-CE6E-E11E-AC91DB902F52}"/>
                  </a:ext>
                </a:extLst>
              </p:cNvPr>
              <p:cNvSpPr/>
              <p:nvPr/>
            </p:nvSpPr>
            <p:spPr>
              <a:xfrm>
                <a:off x="7961730" y="7087707"/>
                <a:ext cx="15442628" cy="1562485"/>
              </a:xfrm>
              <a:prstGeom prst="roundRect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 w="63500" cap="flat">
                <a:solidFill>
                  <a:schemeClr val="tx1"/>
                </a:solidFill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50800" tIns="50800" rIns="50800" bIns="50800" numCol="1" spcCol="38100" rtlCol="0" anchor="ctr">
                <a:spAutoFit/>
              </a:bodyPr>
              <a:lstStyle/>
              <a:p>
                <a:pPr algn="ctr" defTabSz="825500">
                  <a:lnSpc>
                    <a:spcPct val="100000"/>
                  </a:lnSpc>
                  <a:spcBef>
                    <a:spcPts val="0"/>
                  </a:spcBef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4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d>
                            <m:dPr>
                              <m:ctrlPr>
                                <a:rPr lang="en-US" sz="4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4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sz="4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e>
                          </m:d>
                          <m:r>
                            <a:rPr lang="en-US" sz="4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num>
                        <m:den>
                          <m:r>
                            <a:rPr lang="en-US" sz="4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sz="4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den>
                      </m:f>
                    </m:oMath>
                  </m:oMathPara>
                </a14:m>
                <a:endParaRPr lang="en-US" sz="4400" dirty="0">
                  <a:solidFill>
                    <a:schemeClr val="bg1"/>
                  </a:solidFill>
                  <a:latin typeface="Bradley Hand" pitchFamily="2" charset="77"/>
                </a:endParaRPr>
              </a:p>
            </p:txBody>
          </p:sp>
        </mc:Choice>
        <mc:Fallback xmlns="">
          <p:sp>
            <p:nvSpPr>
              <p:cNvPr id="31" name="Rounded Rectangle 30">
                <a:extLst>
                  <a:ext uri="{FF2B5EF4-FFF2-40B4-BE49-F238E27FC236}">
                    <a16:creationId xmlns:a16="http://schemas.microsoft.com/office/drawing/2014/main" id="{AFB863BF-6985-CE6E-E11E-AC91DB902F5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61730" y="7087707"/>
                <a:ext cx="15442628" cy="1562485"/>
              </a:xfrm>
              <a:prstGeom prst="roundRect">
                <a:avLst/>
              </a:prstGeom>
              <a:blipFill>
                <a:blip r:embed="rId9"/>
                <a:stretch>
                  <a:fillRect b="-1550"/>
                </a:stretch>
              </a:blipFill>
              <a:ln w="63500" cap="flat">
                <a:solidFill>
                  <a:schemeClr val="tx1"/>
                </a:solidFill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3" name="Equals 32">
            <a:extLst>
              <a:ext uri="{FF2B5EF4-FFF2-40B4-BE49-F238E27FC236}">
                <a16:creationId xmlns:a16="http://schemas.microsoft.com/office/drawing/2014/main" id="{3080F26B-5732-03F7-B68E-4BFE13C7C963}"/>
              </a:ext>
            </a:extLst>
          </p:cNvPr>
          <p:cNvSpPr/>
          <p:nvPr/>
        </p:nvSpPr>
        <p:spPr>
          <a:xfrm>
            <a:off x="6697981" y="10072521"/>
            <a:ext cx="911891" cy="634682"/>
          </a:xfrm>
          <a:prstGeom prst="mathEqual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4400" i="1">
              <a:solidFill>
                <a:schemeClr val="bg1"/>
              </a:solidFill>
              <a:latin typeface="Cambria Math" panose="02040503050406030204" pitchFamily="18" charset="0"/>
              <a:sym typeface="Helvetica Neue Medium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4" name="Rounded Rectangle 33">
                <a:extLst>
                  <a:ext uri="{FF2B5EF4-FFF2-40B4-BE49-F238E27FC236}">
                    <a16:creationId xmlns:a16="http://schemas.microsoft.com/office/drawing/2014/main" id="{AF971E44-17AB-1AF7-1267-34DCEBB78412}"/>
                  </a:ext>
                </a:extLst>
              </p:cNvPr>
              <p:cNvSpPr/>
              <p:nvPr/>
            </p:nvSpPr>
            <p:spPr>
              <a:xfrm>
                <a:off x="7961730" y="9608621"/>
                <a:ext cx="15442628" cy="1562485"/>
              </a:xfrm>
              <a:prstGeom prst="roundRect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 w="63500" cap="flat">
                <a:solidFill>
                  <a:schemeClr val="tx1"/>
                </a:solidFill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50800" tIns="50800" rIns="50800" bIns="50800" numCol="1" spcCol="38100" rtlCol="0" anchor="ctr">
                <a:spAutoFit/>
              </a:bodyPr>
              <a:lstStyle/>
              <a:p>
                <a:pPr algn="ctr" defTabSz="825500">
                  <a:lnSpc>
                    <a:spcPct val="100000"/>
                  </a:lnSpc>
                  <a:spcBef>
                    <a:spcPts val="0"/>
                  </a:spcBef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4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d>
                            <m:dPr>
                              <m:ctrlPr>
                                <a:rPr lang="en-US" sz="4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4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sz="4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e>
                          </m:d>
                        </m:num>
                        <m:den>
                          <m:r>
                            <a:rPr lang="en-US" sz="4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</m:oMath>
                  </m:oMathPara>
                </a14:m>
                <a:endParaRPr lang="en-US" sz="4400" dirty="0">
                  <a:solidFill>
                    <a:schemeClr val="bg1"/>
                  </a:solidFill>
                  <a:latin typeface="Bradley Hand" pitchFamily="2" charset="77"/>
                </a:endParaRPr>
              </a:p>
            </p:txBody>
          </p:sp>
        </mc:Choice>
        <mc:Fallback xmlns="">
          <p:sp>
            <p:nvSpPr>
              <p:cNvPr id="34" name="Rounded Rectangle 33">
                <a:extLst>
                  <a:ext uri="{FF2B5EF4-FFF2-40B4-BE49-F238E27FC236}">
                    <a16:creationId xmlns:a16="http://schemas.microsoft.com/office/drawing/2014/main" id="{AF971E44-17AB-1AF7-1267-34DCEBB7841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61730" y="9608621"/>
                <a:ext cx="15442628" cy="1562485"/>
              </a:xfrm>
              <a:prstGeom prst="roundRect">
                <a:avLst/>
              </a:prstGeom>
              <a:blipFill>
                <a:blip r:embed="rId10"/>
                <a:stretch>
                  <a:fillRect b="-1550"/>
                </a:stretch>
              </a:blipFill>
              <a:ln w="63500" cap="flat">
                <a:solidFill>
                  <a:schemeClr val="tx1"/>
                </a:solidFill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99655113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2" grpId="0" animBg="1"/>
      <p:bldP spid="31" grpId="0" animBg="1"/>
      <p:bldP spid="33" grpId="0" animBg="1"/>
      <p:bldP spid="34" grpId="0" animBg="1"/>
    </p:bld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4F8FCD48-9CBF-38F0-92BE-DE10EAE8D7CC}"/>
              </a:ext>
            </a:extLst>
          </p:cNvPr>
          <p:cNvSpPr/>
          <p:nvPr/>
        </p:nvSpPr>
        <p:spPr>
          <a:xfrm>
            <a:off x="482363" y="830432"/>
            <a:ext cx="6215618" cy="2565241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US" dirty="0">
                <a:solidFill>
                  <a:schemeClr val="bg1"/>
                </a:solidFill>
                <a:latin typeface="Bradley Hand" pitchFamily="2" charset="77"/>
              </a:rPr>
              <a:t>Average number of swaps across all iteration</a:t>
            </a:r>
          </a:p>
        </p:txBody>
      </p:sp>
      <p:sp>
        <p:nvSpPr>
          <p:cNvPr id="3" name="Equals 2">
            <a:extLst>
              <a:ext uri="{FF2B5EF4-FFF2-40B4-BE49-F238E27FC236}">
                <a16:creationId xmlns:a16="http://schemas.microsoft.com/office/drawing/2014/main" id="{EA4E34EA-FB49-4195-8FC2-32486B9050C4}"/>
              </a:ext>
            </a:extLst>
          </p:cNvPr>
          <p:cNvSpPr/>
          <p:nvPr/>
        </p:nvSpPr>
        <p:spPr>
          <a:xfrm>
            <a:off x="7063741" y="1795711"/>
            <a:ext cx="911891" cy="634682"/>
          </a:xfrm>
          <a:prstGeom prst="mathEqual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4400" i="1">
              <a:solidFill>
                <a:schemeClr val="bg1"/>
              </a:solidFill>
              <a:latin typeface="Cambria Math" panose="02040503050406030204" pitchFamily="18" charset="0"/>
              <a:sym typeface="Helvetica Neue Medium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4651EE57-0D8C-38DC-4241-FD32F08F76E1}"/>
                  </a:ext>
                </a:extLst>
              </p:cNvPr>
              <p:cNvSpPr txBox="1"/>
              <p:nvPr/>
            </p:nvSpPr>
            <p:spPr>
              <a:xfrm>
                <a:off x="8341392" y="1239054"/>
                <a:ext cx="1758622" cy="1917320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none" lIns="50800" tIns="50800" rIns="50800" bIns="50800" numCol="1" spcCol="38100" rtlCol="0" anchor="ctr">
                <a:spAutoFit/>
              </a:bodyPr>
              <a:lstStyle/>
              <a:p>
                <a:pPr marL="0" marR="0" indent="0" algn="l" defTabSz="2438338" rtl="0" fontAlgn="auto" latinLnBrk="0" hangingPunct="0">
                  <a:lnSpc>
                    <a:spcPct val="90000"/>
                  </a:lnSpc>
                  <a:spcBef>
                    <a:spcPts val="45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ctrlPr>
                            <a:rPr kumimoji="0" lang="en-US" sz="48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chemeClr val="bg1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Helvetica Neue"/>
                            </a:rPr>
                          </m:ctrlPr>
                        </m:naryPr>
                        <m:sub>
                          <m:r>
                            <a:rPr kumimoji="0" lang="en-US" sz="48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chemeClr val="bg1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Helvetica Neue"/>
                            </a:rPr>
                            <m:t>𝑖</m:t>
                          </m:r>
                          <m:r>
                            <a:rPr kumimoji="0" lang="en-US" sz="48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chemeClr val="bg1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Helvetica Neue"/>
                            </a:rPr>
                            <m:t>=2</m:t>
                          </m:r>
                        </m:sub>
                        <m:sup>
                          <m:r>
                            <a:rPr kumimoji="0" lang="en-US" sz="48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chemeClr val="bg1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Helvetica Neue"/>
                            </a:rPr>
                            <m:t>𝑛</m:t>
                          </m:r>
                        </m:sup>
                        <m:e/>
                      </m:nary>
                    </m:oMath>
                  </m:oMathPara>
                </a14:m>
                <a:endParaRPr kumimoji="0" lang="en-US" sz="4800" b="0" i="0" u="none" strike="noStrike" cap="none" spc="0" normalizeH="0" baseline="0" dirty="0">
                  <a:ln>
                    <a:noFill/>
                  </a:ln>
                  <a:solidFill>
                    <a:schemeClr val="bg1"/>
                  </a:solidFill>
                  <a:effectLst/>
                  <a:uFillTx/>
                  <a:latin typeface="+mn-lt"/>
                  <a:ea typeface="+mn-ea"/>
                  <a:cs typeface="+mn-cs"/>
                  <a:sym typeface="Helvetica Neue"/>
                </a:endParaRP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4651EE57-0D8C-38DC-4241-FD32F08F76E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41392" y="1239054"/>
                <a:ext cx="1758622" cy="1917320"/>
              </a:xfrm>
              <a:prstGeom prst="rect">
                <a:avLst/>
              </a:prstGeom>
              <a:blipFill>
                <a:blip r:embed="rId2"/>
                <a:stretch>
                  <a:fillRect l="-123571" t="-132895" r="-41429" b="-192105"/>
                </a:stretch>
              </a:blipFill>
              <a:ln w="12700" cap="flat">
                <a:noFill/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ounded Rectangle 5">
                <a:extLst>
                  <a:ext uri="{FF2B5EF4-FFF2-40B4-BE49-F238E27FC236}">
                    <a16:creationId xmlns:a16="http://schemas.microsoft.com/office/drawing/2014/main" id="{517D244F-53D6-79EB-C0DC-314004866B12}"/>
                  </a:ext>
                </a:extLst>
              </p:cNvPr>
              <p:cNvSpPr/>
              <p:nvPr/>
            </p:nvSpPr>
            <p:spPr>
              <a:xfrm>
                <a:off x="9466643" y="1391454"/>
                <a:ext cx="6215618" cy="1747996"/>
              </a:xfrm>
              <a:prstGeom prst="roundRect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 w="63500" cap="flat">
                <a:solidFill>
                  <a:schemeClr val="tx1"/>
                </a:solidFill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50800" tIns="50800" rIns="50800" bIns="50800" numCol="1" spcCol="38100" rtlCol="0" anchor="ctr">
                <a:spAutoFit/>
              </a:bodyPr>
              <a:lstStyle/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US" dirty="0">
                    <a:solidFill>
                      <a:schemeClr val="bg1"/>
                    </a:solidFill>
                    <a:latin typeface="Bradley Hand" pitchFamily="2" charset="77"/>
                  </a:rPr>
                  <a:t>Average number of swaps in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US" dirty="0">
                    <a:solidFill>
                      <a:schemeClr val="bg1"/>
                    </a:solidFill>
                    <a:latin typeface="Bradley Hand" pitchFamily="2" charset="77"/>
                  </a:rPr>
                  <a:t>-</a:t>
                </a:r>
                <a:r>
                  <a:rPr lang="en-US" dirty="0" err="1">
                    <a:solidFill>
                      <a:schemeClr val="bg1"/>
                    </a:solidFill>
                    <a:latin typeface="Bradley Hand" pitchFamily="2" charset="77"/>
                  </a:rPr>
                  <a:t>th</a:t>
                </a:r>
                <a:r>
                  <a:rPr lang="en-US" dirty="0">
                    <a:solidFill>
                      <a:schemeClr val="bg1"/>
                    </a:solidFill>
                    <a:latin typeface="Bradley Hand" pitchFamily="2" charset="77"/>
                  </a:rPr>
                  <a:t> iteration</a:t>
                </a:r>
              </a:p>
            </p:txBody>
          </p:sp>
        </mc:Choice>
        <mc:Fallback xmlns="">
          <p:sp>
            <p:nvSpPr>
              <p:cNvPr id="6" name="Rounded Rectangle 5">
                <a:extLst>
                  <a:ext uri="{FF2B5EF4-FFF2-40B4-BE49-F238E27FC236}">
                    <a16:creationId xmlns:a16="http://schemas.microsoft.com/office/drawing/2014/main" id="{517D244F-53D6-79EB-C0DC-314004866B1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466643" y="1391454"/>
                <a:ext cx="6215618" cy="1747996"/>
              </a:xfrm>
              <a:prstGeom prst="roundRect">
                <a:avLst/>
              </a:prstGeom>
              <a:blipFill>
                <a:blip r:embed="rId3"/>
                <a:stretch>
                  <a:fillRect l="-3434" t="-699" r="-2222" b="-11888"/>
                </a:stretch>
              </a:blipFill>
              <a:ln w="63500" cap="flat">
                <a:solidFill>
                  <a:schemeClr val="tx1"/>
                </a:solidFill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Equals 6">
            <a:extLst>
              <a:ext uri="{FF2B5EF4-FFF2-40B4-BE49-F238E27FC236}">
                <a16:creationId xmlns:a16="http://schemas.microsoft.com/office/drawing/2014/main" id="{486D7EA3-DD92-C9DC-D5D9-6F3E6BE3DE51}"/>
              </a:ext>
            </a:extLst>
          </p:cNvPr>
          <p:cNvSpPr/>
          <p:nvPr/>
        </p:nvSpPr>
        <p:spPr>
          <a:xfrm>
            <a:off x="7063741" y="4234111"/>
            <a:ext cx="911891" cy="634682"/>
          </a:xfrm>
          <a:prstGeom prst="mathEqual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4400" i="1">
              <a:solidFill>
                <a:schemeClr val="bg1"/>
              </a:solidFill>
              <a:latin typeface="Cambria Math" panose="02040503050406030204" pitchFamily="18" charset="0"/>
              <a:sym typeface="Helvetica Neue Medium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DF549410-A0F6-2E19-6413-383331A703DF}"/>
                  </a:ext>
                </a:extLst>
              </p:cNvPr>
              <p:cNvSpPr txBox="1"/>
              <p:nvPr/>
            </p:nvSpPr>
            <p:spPr>
              <a:xfrm>
                <a:off x="8341392" y="3677454"/>
                <a:ext cx="2482924" cy="1917320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none" lIns="50800" tIns="50800" rIns="50800" bIns="50800" numCol="1" spcCol="38100" rtlCol="0" anchor="ctr">
                <a:spAutoFit/>
              </a:bodyPr>
              <a:lstStyle/>
              <a:p>
                <a:pPr marL="0" marR="0" indent="0" algn="l" defTabSz="2438338" rtl="0" fontAlgn="auto" latinLnBrk="0" hangingPunct="0">
                  <a:lnSpc>
                    <a:spcPct val="90000"/>
                  </a:lnSpc>
                  <a:spcBef>
                    <a:spcPts val="45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ctrlPr>
                            <a:rPr kumimoji="0" lang="en-US" sz="48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chemeClr val="bg1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Helvetica Neue"/>
                            </a:rPr>
                          </m:ctrlPr>
                        </m:naryPr>
                        <m:sub>
                          <m:r>
                            <a:rPr kumimoji="0" lang="en-US" sz="48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chemeClr val="bg1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Helvetica Neue"/>
                            </a:rPr>
                            <m:t>𝑖</m:t>
                          </m:r>
                          <m:r>
                            <a:rPr kumimoji="0" lang="en-US" sz="48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chemeClr val="bg1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Helvetica Neue"/>
                            </a:rPr>
                            <m:t>=2</m:t>
                          </m:r>
                        </m:sub>
                        <m:sup>
                          <m:r>
                            <a:rPr kumimoji="0" lang="en-US" sz="48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chemeClr val="bg1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Helvetica Neue"/>
                            </a:rPr>
                            <m:t>𝑛</m:t>
                          </m:r>
                        </m:sup>
                        <m:e>
                          <m:f>
                            <m:fPr>
                              <m:ctrlPr>
                                <a:rPr kumimoji="0" lang="en-US" sz="4800" b="0" i="1" u="none" strike="noStrike" cap="none" spc="0" normalizeH="0" baseline="0" smtClean="0">
                                  <a:ln>
                                    <a:noFill/>
                                  </a:ln>
                                  <a:solidFill>
                                    <a:schemeClr val="bg1"/>
                                  </a:solidFill>
                                  <a:effectLst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  <a:sym typeface="Helvetica Neue"/>
                                </a:rPr>
                              </m:ctrlPr>
                            </m:fPr>
                            <m:num>
                              <m:r>
                                <a:rPr kumimoji="0" lang="en-US" sz="4800" b="0" i="1" u="none" strike="noStrike" cap="none" spc="0" normalizeH="0" baseline="0" smtClean="0">
                                  <a:ln>
                                    <a:noFill/>
                                  </a:ln>
                                  <a:solidFill>
                                    <a:schemeClr val="bg1"/>
                                  </a:solidFill>
                                  <a:effectLst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  <a:sym typeface="Helvetica Neue"/>
                                </a:rPr>
                                <m:t>𝑖</m:t>
                              </m:r>
                              <m:r>
                                <a:rPr kumimoji="0" lang="en-US" sz="4800" b="0" i="1" u="none" strike="noStrike" cap="none" spc="0" normalizeH="0" baseline="0" smtClean="0">
                                  <a:ln>
                                    <a:noFill/>
                                  </a:ln>
                                  <a:solidFill>
                                    <a:schemeClr val="bg1"/>
                                  </a:solidFill>
                                  <a:effectLst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  <a:sym typeface="Helvetica Neue"/>
                                </a:rPr>
                                <m:t>−1</m:t>
                              </m:r>
                            </m:num>
                            <m:den>
                              <m:r>
                                <a:rPr kumimoji="0" lang="en-US" sz="4800" b="0" i="1" u="none" strike="noStrike" cap="none" spc="0" normalizeH="0" baseline="0" smtClean="0">
                                  <a:ln>
                                    <a:noFill/>
                                  </a:ln>
                                  <a:solidFill>
                                    <a:schemeClr val="bg1"/>
                                  </a:solidFill>
                                  <a:effectLst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  <a:sym typeface="Helvetica Neue"/>
                                </a:rPr>
                                <m:t>2</m:t>
                              </m:r>
                            </m:den>
                          </m:f>
                        </m:e>
                      </m:nary>
                    </m:oMath>
                  </m:oMathPara>
                </a14:m>
                <a:endParaRPr kumimoji="0" lang="en-US" sz="4800" b="0" i="0" u="none" strike="noStrike" cap="none" spc="0" normalizeH="0" baseline="0" dirty="0">
                  <a:ln>
                    <a:noFill/>
                  </a:ln>
                  <a:solidFill>
                    <a:schemeClr val="bg1"/>
                  </a:solidFill>
                  <a:effectLst/>
                  <a:uFillTx/>
                  <a:latin typeface="+mn-lt"/>
                  <a:ea typeface="+mn-ea"/>
                  <a:cs typeface="+mn-cs"/>
                  <a:sym typeface="Helvetica Neue"/>
                </a:endParaRP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DF549410-A0F6-2E19-6413-383331A703D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41392" y="3677454"/>
                <a:ext cx="2482924" cy="1917320"/>
              </a:xfrm>
              <a:prstGeom prst="rect">
                <a:avLst/>
              </a:prstGeom>
              <a:blipFill>
                <a:blip r:embed="rId4"/>
                <a:stretch>
                  <a:fillRect l="-87310" t="-132895" r="-2030" b="-192105"/>
                </a:stretch>
              </a:blipFill>
              <a:ln w="12700" cap="flat">
                <a:noFill/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Equals 9">
            <a:extLst>
              <a:ext uri="{FF2B5EF4-FFF2-40B4-BE49-F238E27FC236}">
                <a16:creationId xmlns:a16="http://schemas.microsoft.com/office/drawing/2014/main" id="{1B51AB94-2FB3-45A4-ADF0-75DD1E71165D}"/>
              </a:ext>
            </a:extLst>
          </p:cNvPr>
          <p:cNvSpPr/>
          <p:nvPr/>
        </p:nvSpPr>
        <p:spPr>
          <a:xfrm>
            <a:off x="7063741" y="6672511"/>
            <a:ext cx="911891" cy="634682"/>
          </a:xfrm>
          <a:prstGeom prst="mathEqual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4400" i="1">
              <a:solidFill>
                <a:schemeClr val="bg1"/>
              </a:solidFill>
              <a:latin typeface="Cambria Math" panose="02040503050406030204" pitchFamily="18" charset="0"/>
              <a:sym typeface="Helvetica Neue Medium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CAC6AC75-ED46-6E8F-295F-31A58641A2C3}"/>
                  </a:ext>
                </a:extLst>
              </p:cNvPr>
              <p:cNvSpPr txBox="1"/>
              <p:nvPr/>
            </p:nvSpPr>
            <p:spPr>
              <a:xfrm>
                <a:off x="8341392" y="6380285"/>
                <a:ext cx="2586413" cy="1388457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none" lIns="50800" tIns="50800" rIns="50800" bIns="50800" numCol="1" spcCol="38100" rtlCol="0" anchor="ctr">
                <a:spAutoFit/>
              </a:bodyPr>
              <a:lstStyle/>
              <a:p>
                <a:pPr marL="0" marR="0" indent="0" algn="l" defTabSz="2438338" rtl="0" fontAlgn="auto" latinLnBrk="0" hangingPunct="0">
                  <a:lnSpc>
                    <a:spcPct val="90000"/>
                  </a:lnSpc>
                  <a:spcBef>
                    <a:spcPts val="45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kumimoji="0" lang="en-US" sz="48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chemeClr val="bg1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Helvetica Neue"/>
                            </a:rPr>
                          </m:ctrlPr>
                        </m:fPr>
                        <m:num>
                          <m:r>
                            <a:rPr kumimoji="0" lang="en-US" sz="48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chemeClr val="bg1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Helvetica Neue"/>
                            </a:rPr>
                            <m:t>𝑛</m:t>
                          </m:r>
                          <m:d>
                            <m:dPr>
                              <m:ctrlPr>
                                <a:rPr kumimoji="0" lang="en-US" sz="4800" b="0" i="1" u="none" strike="noStrike" cap="none" spc="0" normalizeH="0" baseline="0" smtClean="0">
                                  <a:ln>
                                    <a:noFill/>
                                  </a:ln>
                                  <a:solidFill>
                                    <a:schemeClr val="bg1"/>
                                  </a:solidFill>
                                  <a:effectLst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  <a:sym typeface="Helvetica Neue"/>
                                </a:rPr>
                              </m:ctrlPr>
                            </m:dPr>
                            <m:e>
                              <m:r>
                                <a:rPr kumimoji="0" lang="en-US" sz="4800" b="0" i="1" u="none" strike="noStrike" cap="none" spc="0" normalizeH="0" baseline="0" smtClean="0">
                                  <a:ln>
                                    <a:noFill/>
                                  </a:ln>
                                  <a:solidFill>
                                    <a:schemeClr val="bg1"/>
                                  </a:solidFill>
                                  <a:effectLst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  <a:sym typeface="Helvetica Neue"/>
                                </a:rPr>
                                <m:t>𝑛</m:t>
                              </m:r>
                              <m:r>
                                <a:rPr kumimoji="0" lang="en-US" sz="4800" b="0" i="1" u="none" strike="noStrike" cap="none" spc="0" normalizeH="0" baseline="0" smtClean="0">
                                  <a:ln>
                                    <a:noFill/>
                                  </a:ln>
                                  <a:solidFill>
                                    <a:schemeClr val="bg1"/>
                                  </a:solidFill>
                                  <a:effectLst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  <a:sym typeface="Helvetica Neue"/>
                                </a:rPr>
                                <m:t>−1</m:t>
                              </m:r>
                            </m:e>
                          </m:d>
                        </m:num>
                        <m:den>
                          <m:r>
                            <a:rPr kumimoji="0" lang="en-US" sz="48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chemeClr val="bg1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Helvetica Neue"/>
                            </a:rPr>
                            <m:t>4</m:t>
                          </m:r>
                        </m:den>
                      </m:f>
                    </m:oMath>
                  </m:oMathPara>
                </a14:m>
                <a:endParaRPr kumimoji="0" lang="en-US" sz="4800" b="0" i="0" u="none" strike="noStrike" cap="none" spc="0" normalizeH="0" baseline="0" dirty="0">
                  <a:ln>
                    <a:noFill/>
                  </a:ln>
                  <a:solidFill>
                    <a:schemeClr val="bg1"/>
                  </a:solidFill>
                  <a:effectLst/>
                  <a:uFillTx/>
                  <a:latin typeface="+mn-lt"/>
                  <a:ea typeface="+mn-ea"/>
                  <a:cs typeface="+mn-cs"/>
                  <a:sym typeface="Helvetica Neue"/>
                </a:endParaRPr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CAC6AC75-ED46-6E8F-295F-31A58641A2C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41392" y="6380285"/>
                <a:ext cx="2586413" cy="1388457"/>
              </a:xfrm>
              <a:prstGeom prst="rect">
                <a:avLst/>
              </a:prstGeom>
              <a:blipFill>
                <a:blip r:embed="rId5"/>
                <a:stretch>
                  <a:fillRect t="-909" b="-13636"/>
                </a:stretch>
              </a:blipFill>
              <a:ln w="12700" cap="flat">
                <a:noFill/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Equals 11">
            <a:extLst>
              <a:ext uri="{FF2B5EF4-FFF2-40B4-BE49-F238E27FC236}">
                <a16:creationId xmlns:a16="http://schemas.microsoft.com/office/drawing/2014/main" id="{B254218C-11E5-356A-9279-80A66B6F6DEB}"/>
              </a:ext>
            </a:extLst>
          </p:cNvPr>
          <p:cNvSpPr/>
          <p:nvPr/>
        </p:nvSpPr>
        <p:spPr>
          <a:xfrm>
            <a:off x="7063741" y="9127835"/>
            <a:ext cx="911891" cy="634682"/>
          </a:xfrm>
          <a:prstGeom prst="mathEqual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4400" i="1">
              <a:solidFill>
                <a:schemeClr val="bg1"/>
              </a:solidFill>
              <a:latin typeface="Cambria Math" panose="02040503050406030204" pitchFamily="18" charset="0"/>
              <a:sym typeface="Helvetica Neue Medium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F9778B1F-FDE6-F7A5-0CF8-10B3FE16F008}"/>
                  </a:ext>
                </a:extLst>
              </p:cNvPr>
              <p:cNvSpPr txBox="1"/>
              <p:nvPr/>
            </p:nvSpPr>
            <p:spPr>
              <a:xfrm>
                <a:off x="8341392" y="9146142"/>
                <a:ext cx="1864036" cy="767390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none" lIns="50800" tIns="50800" rIns="50800" bIns="50800" numCol="1" spcCol="38100" rtlCol="0" anchor="ctr">
                <a:spAutoFit/>
              </a:bodyPr>
              <a:lstStyle/>
              <a:p>
                <a:pPr marL="0" marR="0" indent="0" algn="l" defTabSz="2438338" rtl="0" fontAlgn="auto" latinLnBrk="0" hangingPunct="0">
                  <a:lnSpc>
                    <a:spcPct val="90000"/>
                  </a:lnSpc>
                  <a:spcBef>
                    <a:spcPts val="45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en-US" sz="4800" b="0" i="1" u="none" strike="noStrike" cap="none" spc="0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  <a:sym typeface="Helvetica Neue"/>
                        </a:rPr>
                        <m:t>𝑂</m:t>
                      </m:r>
                      <m:d>
                        <m:dPr>
                          <m:ctrlPr>
                            <a:rPr kumimoji="0" lang="en-US" sz="48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chemeClr val="bg1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Helvetica Neue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kumimoji="0" lang="en-US" sz="4800" b="0" i="1" u="none" strike="noStrike" cap="none" spc="0" normalizeH="0" baseline="0" smtClean="0">
                                  <a:ln>
                                    <a:noFill/>
                                  </a:ln>
                                  <a:solidFill>
                                    <a:schemeClr val="bg1"/>
                                  </a:solidFill>
                                  <a:effectLst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  <a:sym typeface="Helvetica Neue"/>
                                </a:rPr>
                              </m:ctrlPr>
                            </m:sSupPr>
                            <m:e>
                              <m:r>
                                <a:rPr kumimoji="0" lang="en-US" sz="4800" b="0" i="1" u="none" strike="noStrike" cap="none" spc="0" normalizeH="0" baseline="0" smtClean="0">
                                  <a:ln>
                                    <a:noFill/>
                                  </a:ln>
                                  <a:solidFill>
                                    <a:schemeClr val="bg1"/>
                                  </a:solidFill>
                                  <a:effectLst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  <a:sym typeface="Helvetica Neue"/>
                                </a:rPr>
                                <m:t>𝑛</m:t>
                              </m:r>
                            </m:e>
                            <m:sup>
                              <m:r>
                                <a:rPr kumimoji="0" lang="en-US" sz="4800" b="0" i="1" u="none" strike="noStrike" cap="none" spc="0" normalizeH="0" baseline="0" smtClean="0">
                                  <a:ln>
                                    <a:noFill/>
                                  </a:ln>
                                  <a:solidFill>
                                    <a:schemeClr val="bg1"/>
                                  </a:solidFill>
                                  <a:effectLst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  <a:sym typeface="Helvetica Neue"/>
                                </a:rPr>
                                <m:t>2</m:t>
                              </m:r>
                            </m:sup>
                          </m:sSup>
                        </m:e>
                      </m:d>
                    </m:oMath>
                  </m:oMathPara>
                </a14:m>
                <a:endParaRPr kumimoji="0" lang="en-US" sz="4800" b="0" i="0" u="none" strike="noStrike" cap="none" spc="0" normalizeH="0" baseline="0" dirty="0">
                  <a:ln>
                    <a:noFill/>
                  </a:ln>
                  <a:solidFill>
                    <a:schemeClr val="bg1"/>
                  </a:solidFill>
                  <a:effectLst/>
                  <a:uFillTx/>
                  <a:latin typeface="+mn-lt"/>
                  <a:ea typeface="+mn-ea"/>
                  <a:cs typeface="+mn-cs"/>
                  <a:sym typeface="Helvetica Neue"/>
                </a:endParaRPr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F9778B1F-FDE6-F7A5-0CF8-10B3FE16F00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41392" y="9146142"/>
                <a:ext cx="1864036" cy="767390"/>
              </a:xfrm>
              <a:prstGeom prst="rect">
                <a:avLst/>
              </a:prstGeom>
              <a:blipFill>
                <a:blip r:embed="rId6"/>
                <a:stretch>
                  <a:fillRect l="-3378" t="-1639" b="-1639"/>
                </a:stretch>
              </a:blipFill>
              <a:ln w="12700" cap="flat">
                <a:noFill/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53851503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75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6" grpId="0" animBg="1"/>
      <p:bldP spid="7" grpId="0" animBg="1"/>
      <p:bldP spid="8" grpId="0"/>
      <p:bldP spid="10" grpId="0" animBg="1"/>
      <p:bldP spid="11" grpId="0"/>
      <p:bldP spid="12" grpId="0" animBg="1"/>
      <p:bldP spid="13" grpId="0"/>
    </p:bldLst>
  </p:timing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545A11-44C5-992F-18A4-112C6E2748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771CAFD4-0629-588D-914A-C12B96F38D94}"/>
              </a:ext>
            </a:extLst>
          </p:cNvPr>
          <p:cNvSpPr/>
          <p:nvPr/>
        </p:nvSpPr>
        <p:spPr>
          <a:xfrm>
            <a:off x="2450374" y="2897666"/>
            <a:ext cx="19483251" cy="1032907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bg1"/>
                </a:solidFill>
                <a:latin typeface="Bradley Hand" pitchFamily="2" charset="77"/>
              </a:rPr>
              <a:t>Visualize the code of Insertion Sort </a:t>
            </a:r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075AB06C-9792-1C25-5BC6-67708A87F297}"/>
              </a:ext>
            </a:extLst>
          </p:cNvPr>
          <p:cNvSpPr/>
          <p:nvPr/>
        </p:nvSpPr>
        <p:spPr>
          <a:xfrm>
            <a:off x="2450374" y="5240816"/>
            <a:ext cx="19483251" cy="1032907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bg1"/>
                </a:solidFill>
                <a:latin typeface="Bradley Hand" pitchFamily="2" charset="77"/>
              </a:rPr>
              <a:t>Let us now try to write a recursive algorithm for insertion sort</a:t>
            </a:r>
          </a:p>
        </p:txBody>
      </p:sp>
    </p:spTree>
    <p:extLst>
      <p:ext uri="{BB962C8B-B14F-4D97-AF65-F5344CB8AC3E}">
        <p14:creationId xmlns:p14="http://schemas.microsoft.com/office/powerpoint/2010/main" val="72999318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Rounded Rectangle 1">
                <a:extLst>
                  <a:ext uri="{FF2B5EF4-FFF2-40B4-BE49-F238E27FC236}">
                    <a16:creationId xmlns:a16="http://schemas.microsoft.com/office/drawing/2014/main" id="{9415BB40-E48D-F1E5-5C41-7A7095BA2B87}"/>
                  </a:ext>
                </a:extLst>
              </p:cNvPr>
              <p:cNvSpPr/>
              <p:nvPr/>
            </p:nvSpPr>
            <p:spPr>
              <a:xfrm>
                <a:off x="891836" y="3043769"/>
                <a:ext cx="9543957" cy="6310948"/>
              </a:xfrm>
              <a:prstGeom prst="roundRect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 w="63500" cap="flat">
                <a:solidFill>
                  <a:schemeClr val="tx1"/>
                </a:solidFill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50800" tIns="50800" rIns="50800" bIns="50800" numCol="1" spcCol="38100" rtlCol="0" anchor="ctr">
                <a:spAutoFit/>
              </a:bodyPr>
              <a:lstStyle/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#include </a:t>
                </a:r>
                <a:r>
                  <a:rPr lang="en-IN" sz="28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&lt;</a:t>
                </a:r>
                <a:r>
                  <a:rPr lang="en-IN" sz="2800" dirty="0" err="1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stdio.h</a:t>
                </a:r>
                <a:r>
                  <a:rPr lang="en-IN" sz="28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&gt;</a:t>
                </a:r>
                <a:b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</a:br>
                <a:b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</a:br>
                <a:r>
                  <a:rPr lang="en-IN" sz="28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int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IN" sz="28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main</a:t>
                </a:r>
                <a:r>
                  <a:rPr lang="en-IN" sz="2800" dirty="0">
                    <a:solidFill>
                      <a:schemeClr val="accent4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()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{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US" sz="28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 int</a:t>
                </a:r>
                <a:r>
                  <a:rPr lang="en-US" sz="28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800" i="1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,</a:t>
                </a:r>
                <a14:m>
                  <m:oMath xmlns:m="http://schemas.openxmlformats.org/officeDocument/2006/math">
                    <m:r>
                      <a:rPr lang="en-US" sz="2800" i="1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,</a:t>
                </a:r>
                <a14:m>
                  <m:oMath xmlns:m="http://schemas.openxmlformats.org/officeDocument/2006/math">
                    <m:r>
                      <a:rPr lang="en-IN" sz="28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</a:t>
                </a:r>
                <a:r>
                  <a:rPr lang="en-IN" sz="2800" dirty="0" err="1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scanf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(“%d”, &amp;</a:t>
                </a:r>
                <a14:m>
                  <m:oMath xmlns:m="http://schemas.openxmlformats.org/officeDocument/2006/math">
                    <m:r>
                      <a:rPr lang="en-IN" sz="28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);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int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IN" sz="2800" dirty="0" err="1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num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</a:t>
                </a:r>
                <a14:m>
                  <m:oMath xmlns:m="http://schemas.openxmlformats.org/officeDocument/2006/math">
                    <m:r>
                      <a:rPr lang="en-IN" sz="28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];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</a:t>
                </a:r>
                <a:r>
                  <a:rPr lang="en-IN" sz="28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for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</a:t>
                </a:r>
                <a14:m>
                  <m:oMath xmlns:m="http://schemas.openxmlformats.org/officeDocument/2006/math">
                    <m:r>
                      <a:rPr lang="en-US" sz="2800" i="1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=0 ; </a:t>
                </a:r>
                <a14:m>
                  <m:oMath xmlns:m="http://schemas.openxmlformats.org/officeDocument/2006/math">
                    <m:r>
                      <a:rPr lang="en-US" sz="2800" i="1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&lt; </a:t>
                </a:r>
                <a14:m>
                  <m:oMath xmlns:m="http://schemas.openxmlformats.org/officeDocument/2006/math">
                    <m:r>
                      <a:rPr lang="en-IN" sz="28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; </a:t>
                </a:r>
                <a14:m>
                  <m:oMath xmlns:m="http://schemas.openxmlformats.org/officeDocument/2006/math">
                    <m:r>
                      <a:rPr lang="en-US" sz="2800" i="1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++)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{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</a:t>
                </a:r>
                <a:r>
                  <a:rPr lang="en-IN" sz="2800" dirty="0" err="1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scanf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(“%d”, &amp;</a:t>
                </a:r>
                <a:r>
                  <a:rPr lang="en-IN" sz="2800" dirty="0" err="1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num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</a:t>
                </a:r>
                <a14:m>
                  <m:oMath xmlns:m="http://schemas.openxmlformats.org/officeDocument/2006/math">
                    <m:r>
                      <a:rPr lang="en-US" sz="2800" i="1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]);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}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</a:t>
                </a:r>
                <a:r>
                  <a:rPr lang="en-IN" sz="2800" dirty="0" err="1">
                    <a:solidFill>
                      <a:srgbClr val="D0CEF2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recursiveInsertion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</a:t>
                </a:r>
                <a:r>
                  <a:rPr lang="en-IN" sz="28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num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,0,</a:t>
                </a:r>
                <a14:m>
                  <m:oMath xmlns:m="http://schemas.openxmlformats.org/officeDocument/2006/math">
                    <m:r>
                      <a:rPr lang="en-IN" sz="2800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);</a:t>
                </a:r>
                <a:b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</a:b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</a:t>
                </a:r>
                <a:r>
                  <a:rPr lang="en-IN" sz="28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return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0;</a:t>
                </a:r>
                <a:b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</a:b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}</a:t>
                </a:r>
                <a:endParaRPr lang="en-US" sz="2800" dirty="0">
                  <a:solidFill>
                    <a:schemeClr val="bg1"/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>
          <p:sp>
            <p:nvSpPr>
              <p:cNvPr id="2" name="Rounded Rectangle 1">
                <a:extLst>
                  <a:ext uri="{FF2B5EF4-FFF2-40B4-BE49-F238E27FC236}">
                    <a16:creationId xmlns:a16="http://schemas.microsoft.com/office/drawing/2014/main" id="{9415BB40-E48D-F1E5-5C41-7A7095BA2B8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1836" y="3043769"/>
                <a:ext cx="9543957" cy="6310948"/>
              </a:xfrm>
              <a:prstGeom prst="roundRect">
                <a:avLst/>
              </a:prstGeom>
              <a:blipFill>
                <a:blip r:embed="rId2"/>
                <a:stretch>
                  <a:fillRect/>
                </a:stretch>
              </a:blipFill>
              <a:ln w="63500" cap="flat">
                <a:solidFill>
                  <a:schemeClr val="tx1"/>
                </a:solidFill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" name="Rounded Rectangle 2">
                <a:extLst>
                  <a:ext uri="{FF2B5EF4-FFF2-40B4-BE49-F238E27FC236}">
                    <a16:creationId xmlns:a16="http://schemas.microsoft.com/office/drawing/2014/main" id="{E77A4F27-F8BC-0440-39B6-7B7D5C445274}"/>
                  </a:ext>
                </a:extLst>
              </p:cNvPr>
              <p:cNvSpPr/>
              <p:nvPr/>
            </p:nvSpPr>
            <p:spPr>
              <a:xfrm>
                <a:off x="11921786" y="4473948"/>
                <a:ext cx="9543957" cy="3450590"/>
              </a:xfrm>
              <a:prstGeom prst="roundRect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 w="63500" cap="flat">
                <a:solidFill>
                  <a:schemeClr val="tx1"/>
                </a:solidFill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50800" tIns="50800" rIns="50800" bIns="50800" numCol="1" spcCol="38100" rtlCol="0" anchor="ctr">
                <a:spAutoFit/>
              </a:bodyPr>
              <a:lstStyle/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void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IN" sz="2800" dirty="0" err="1">
                    <a:solidFill>
                      <a:srgbClr val="D0CEF2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recursiveInsertion</a:t>
                </a:r>
                <a:r>
                  <a:rPr lang="en-IN" sz="2800" dirty="0">
                    <a:solidFill>
                      <a:schemeClr val="accent4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 </a:t>
                </a:r>
                <a:r>
                  <a:rPr lang="en-IN" sz="28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int</a:t>
                </a:r>
                <a:r>
                  <a:rPr lang="en-IN" sz="2800" dirty="0">
                    <a:solidFill>
                      <a:schemeClr val="accent4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IN" sz="2800" dirty="0" err="1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num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[]</a:t>
                </a:r>
                <a:r>
                  <a:rPr lang="en-IN" sz="2800" dirty="0">
                    <a:solidFill>
                      <a:schemeClr val="accent4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, </a:t>
                </a:r>
                <a:r>
                  <a:rPr lang="en-IN" sz="28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int</a:t>
                </a:r>
                <a:r>
                  <a:rPr lang="en-IN" sz="2800" dirty="0">
                    <a:solidFill>
                      <a:schemeClr val="accent4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IN" sz="2800" i="1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IN" sz="2800" dirty="0">
                    <a:solidFill>
                      <a:schemeClr val="accent4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, </a:t>
                </a:r>
                <a:r>
                  <a:rPr lang="en-IN" sz="28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int</a:t>
                </a:r>
                <a:r>
                  <a:rPr lang="en-IN" sz="2800" dirty="0">
                    <a:solidFill>
                      <a:schemeClr val="accent4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IN" sz="2800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IN" sz="2800" dirty="0">
                    <a:solidFill>
                      <a:schemeClr val="accent4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)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{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US" sz="28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</a:t>
                </a:r>
                <a:r>
                  <a:rPr lang="en-US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// Write the base case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endParaRPr lang="en-US" sz="2800" dirty="0">
                  <a:solidFill>
                    <a:schemeClr val="bg1"/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US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//Put the </a:t>
                </a:r>
                <a14:m>
                  <m:oMath xmlns:m="http://schemas.openxmlformats.org/officeDocument/2006/math">
                    <m:r>
                      <a:rPr lang="en-US" sz="28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-index of </a:t>
                </a:r>
                <a:r>
                  <a:rPr lang="en-IN" sz="2800" dirty="0" err="1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num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at its correct place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endParaRPr lang="en-IN" sz="2800" dirty="0">
                  <a:solidFill>
                    <a:schemeClr val="bg1"/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//call </a:t>
                </a:r>
                <a:r>
                  <a:rPr lang="en-IN" sz="2800" dirty="0" err="1">
                    <a:solidFill>
                      <a:srgbClr val="D0CEF2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recursiveInsertion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for the index </a:t>
                </a:r>
                <a14:m>
                  <m:oMath xmlns:m="http://schemas.openxmlformats.org/officeDocument/2006/math">
                    <m:r>
                      <a:rPr lang="en-IN" sz="28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+1</a:t>
                </a:r>
                <a:b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</a:b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}</a:t>
                </a:r>
                <a:endParaRPr lang="en-US" sz="2800" dirty="0">
                  <a:solidFill>
                    <a:schemeClr val="bg1"/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>
          <p:sp>
            <p:nvSpPr>
              <p:cNvPr id="3" name="Rounded Rectangle 2">
                <a:extLst>
                  <a:ext uri="{FF2B5EF4-FFF2-40B4-BE49-F238E27FC236}">
                    <a16:creationId xmlns:a16="http://schemas.microsoft.com/office/drawing/2014/main" id="{E77A4F27-F8BC-0440-39B6-7B7D5C44527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921786" y="4473948"/>
                <a:ext cx="9543957" cy="3450590"/>
              </a:xfrm>
              <a:prstGeom prst="roundRect">
                <a:avLst/>
              </a:prstGeom>
              <a:blipFill>
                <a:blip r:embed="rId3"/>
                <a:stretch>
                  <a:fillRect/>
                </a:stretch>
              </a:blipFill>
              <a:ln w="63500" cap="flat">
                <a:solidFill>
                  <a:schemeClr val="tx1"/>
                </a:solidFill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02290865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750">
        <p159:morph option="byObject"/>
      </p:transition>
    </mc:Choice>
    <mc:Fallback xmlns="">
      <p:transition spd="slow">
        <p:fade/>
      </p:transition>
    </mc:Fallback>
  </mc:AlternateContent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BFDC5E-A0E8-4A8B-9E17-2ADFE34E8C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Rounded Rectangle 1">
                <a:extLst>
                  <a:ext uri="{FF2B5EF4-FFF2-40B4-BE49-F238E27FC236}">
                    <a16:creationId xmlns:a16="http://schemas.microsoft.com/office/drawing/2014/main" id="{E7601E51-3561-6AB3-6E95-B0FF63DA02A6}"/>
                  </a:ext>
                </a:extLst>
              </p:cNvPr>
              <p:cNvSpPr/>
              <p:nvPr/>
            </p:nvSpPr>
            <p:spPr>
              <a:xfrm>
                <a:off x="891836" y="3043769"/>
                <a:ext cx="9543957" cy="6310948"/>
              </a:xfrm>
              <a:prstGeom prst="roundRect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 w="63500" cap="flat">
                <a:solidFill>
                  <a:schemeClr val="tx1"/>
                </a:solidFill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50800" tIns="50800" rIns="50800" bIns="50800" numCol="1" spcCol="38100" rtlCol="0" anchor="ctr">
                <a:spAutoFit/>
              </a:bodyPr>
              <a:lstStyle/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#include </a:t>
                </a:r>
                <a:r>
                  <a:rPr lang="en-IN" sz="28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&lt;</a:t>
                </a:r>
                <a:r>
                  <a:rPr lang="en-IN" sz="2800" dirty="0" err="1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stdio.h</a:t>
                </a:r>
                <a:r>
                  <a:rPr lang="en-IN" sz="28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&gt;</a:t>
                </a:r>
                <a:b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</a:br>
                <a:b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</a:br>
                <a:r>
                  <a:rPr lang="en-IN" sz="28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int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IN" sz="28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main</a:t>
                </a:r>
                <a:r>
                  <a:rPr lang="en-IN" sz="2800" dirty="0">
                    <a:solidFill>
                      <a:schemeClr val="accent4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()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{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US" sz="28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 int</a:t>
                </a:r>
                <a:r>
                  <a:rPr lang="en-US" sz="28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800" i="1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,</a:t>
                </a:r>
                <a14:m>
                  <m:oMath xmlns:m="http://schemas.openxmlformats.org/officeDocument/2006/math">
                    <m:r>
                      <a:rPr lang="en-US" sz="2800" i="1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,</a:t>
                </a:r>
                <a14:m>
                  <m:oMath xmlns:m="http://schemas.openxmlformats.org/officeDocument/2006/math">
                    <m:r>
                      <a:rPr lang="en-IN" sz="28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</a:t>
                </a:r>
                <a:r>
                  <a:rPr lang="en-IN" sz="2800" dirty="0" err="1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scanf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(“%d”, &amp;</a:t>
                </a:r>
                <a14:m>
                  <m:oMath xmlns:m="http://schemas.openxmlformats.org/officeDocument/2006/math">
                    <m:r>
                      <a:rPr lang="en-IN" sz="28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);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int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IN" sz="2800" dirty="0" err="1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num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</a:t>
                </a:r>
                <a14:m>
                  <m:oMath xmlns:m="http://schemas.openxmlformats.org/officeDocument/2006/math">
                    <m:r>
                      <a:rPr lang="en-IN" sz="28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];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</a:t>
                </a:r>
                <a:r>
                  <a:rPr lang="en-IN" sz="28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for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</a:t>
                </a:r>
                <a14:m>
                  <m:oMath xmlns:m="http://schemas.openxmlformats.org/officeDocument/2006/math">
                    <m:r>
                      <a:rPr lang="en-US" sz="2800" i="1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=0 ; </a:t>
                </a:r>
                <a14:m>
                  <m:oMath xmlns:m="http://schemas.openxmlformats.org/officeDocument/2006/math">
                    <m:r>
                      <a:rPr lang="en-US" sz="2800" i="1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&lt; </a:t>
                </a:r>
                <a14:m>
                  <m:oMath xmlns:m="http://schemas.openxmlformats.org/officeDocument/2006/math">
                    <m:r>
                      <a:rPr lang="en-IN" sz="28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; </a:t>
                </a:r>
                <a14:m>
                  <m:oMath xmlns:m="http://schemas.openxmlformats.org/officeDocument/2006/math">
                    <m:r>
                      <a:rPr lang="en-US" sz="2800" i="1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++)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{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</a:t>
                </a:r>
                <a:r>
                  <a:rPr lang="en-IN" sz="2800" dirty="0" err="1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scanf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(“%d”, &amp;</a:t>
                </a:r>
                <a:r>
                  <a:rPr lang="en-IN" sz="2800" dirty="0" err="1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num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</a:t>
                </a:r>
                <a14:m>
                  <m:oMath xmlns:m="http://schemas.openxmlformats.org/officeDocument/2006/math">
                    <m:r>
                      <a:rPr lang="en-US" sz="2800" i="1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]);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}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</a:t>
                </a:r>
                <a:r>
                  <a:rPr lang="en-IN" sz="2800" dirty="0" err="1">
                    <a:solidFill>
                      <a:srgbClr val="D0CEF2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recursiveInsertion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</a:t>
                </a:r>
                <a:r>
                  <a:rPr lang="en-IN" sz="28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num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,0,</a:t>
                </a:r>
                <a14:m>
                  <m:oMath xmlns:m="http://schemas.openxmlformats.org/officeDocument/2006/math">
                    <m:r>
                      <a:rPr lang="en-IN" sz="2800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);</a:t>
                </a:r>
                <a:b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</a:b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</a:t>
                </a:r>
                <a:r>
                  <a:rPr lang="en-IN" sz="28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return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0;</a:t>
                </a:r>
                <a:b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</a:b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}</a:t>
                </a:r>
                <a:endParaRPr lang="en-US" sz="2800" dirty="0">
                  <a:solidFill>
                    <a:schemeClr val="bg1"/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>
          <p:sp>
            <p:nvSpPr>
              <p:cNvPr id="2" name="Rounded Rectangle 1">
                <a:extLst>
                  <a:ext uri="{FF2B5EF4-FFF2-40B4-BE49-F238E27FC236}">
                    <a16:creationId xmlns:a16="http://schemas.microsoft.com/office/drawing/2014/main" id="{E7601E51-3561-6AB3-6E95-B0FF63DA02A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1836" y="3043769"/>
                <a:ext cx="9543957" cy="6310948"/>
              </a:xfrm>
              <a:prstGeom prst="roundRect">
                <a:avLst/>
              </a:prstGeom>
              <a:blipFill>
                <a:blip r:embed="rId2"/>
                <a:stretch>
                  <a:fillRect/>
                </a:stretch>
              </a:blipFill>
              <a:ln w="63500" cap="flat">
                <a:solidFill>
                  <a:schemeClr val="tx1"/>
                </a:solidFill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" name="Rounded Rectangle 2">
                <a:extLst>
                  <a:ext uri="{FF2B5EF4-FFF2-40B4-BE49-F238E27FC236}">
                    <a16:creationId xmlns:a16="http://schemas.microsoft.com/office/drawing/2014/main" id="{663243C9-2B1B-78E8-9324-BF44A3F3B200}"/>
                  </a:ext>
                </a:extLst>
              </p:cNvPr>
              <p:cNvSpPr/>
              <p:nvPr/>
            </p:nvSpPr>
            <p:spPr>
              <a:xfrm>
                <a:off x="11921786" y="1613591"/>
                <a:ext cx="9543957" cy="9171305"/>
              </a:xfrm>
              <a:prstGeom prst="roundRect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 w="63500" cap="flat">
                <a:solidFill>
                  <a:schemeClr val="tx1"/>
                </a:solidFill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50800" tIns="50800" rIns="50800" bIns="50800" numCol="1" spcCol="38100" rtlCol="0" anchor="ctr">
                <a:spAutoFit/>
              </a:bodyPr>
              <a:lstStyle/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void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IN" sz="2800" dirty="0" err="1">
                    <a:solidFill>
                      <a:srgbClr val="D0CEF2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recursiveInsertion</a:t>
                </a:r>
                <a:r>
                  <a:rPr lang="en-IN" sz="2800" dirty="0">
                    <a:solidFill>
                      <a:schemeClr val="accent4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 </a:t>
                </a:r>
                <a:r>
                  <a:rPr lang="en-IN" sz="28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int</a:t>
                </a:r>
                <a:r>
                  <a:rPr lang="en-IN" sz="2800" dirty="0">
                    <a:solidFill>
                      <a:schemeClr val="accent4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IN" sz="2800" dirty="0" err="1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num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[]</a:t>
                </a:r>
                <a:r>
                  <a:rPr lang="en-IN" sz="2800" dirty="0">
                    <a:solidFill>
                      <a:schemeClr val="accent4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, </a:t>
                </a:r>
                <a:r>
                  <a:rPr lang="en-IN" sz="28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int</a:t>
                </a:r>
                <a:r>
                  <a:rPr lang="en-IN" sz="2800" dirty="0">
                    <a:solidFill>
                      <a:schemeClr val="accent4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IN" sz="2800" i="1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IN" sz="2800" dirty="0">
                    <a:solidFill>
                      <a:schemeClr val="accent4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, </a:t>
                </a:r>
                <a:r>
                  <a:rPr lang="en-IN" sz="28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int</a:t>
                </a:r>
                <a:r>
                  <a:rPr lang="en-IN" sz="2800" dirty="0">
                    <a:solidFill>
                      <a:schemeClr val="accent4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IN" sz="2800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IN" sz="2800" dirty="0">
                    <a:solidFill>
                      <a:schemeClr val="accent4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)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{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US" sz="28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</a:t>
                </a:r>
                <a:r>
                  <a:rPr lang="en-US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// Write the base case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endParaRPr lang="en-US" sz="2800" dirty="0">
                  <a:solidFill>
                    <a:schemeClr val="bg1"/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US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//Put the </a:t>
                </a:r>
                <a14:m>
                  <m:oMath xmlns:m="http://schemas.openxmlformats.org/officeDocument/2006/math">
                    <m:r>
                      <a:rPr lang="en-US" sz="28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-index of </a:t>
                </a:r>
                <a:r>
                  <a:rPr lang="en-IN" sz="2800" dirty="0" err="1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num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at its correct place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</a:t>
                </a:r>
                <a:r>
                  <a:rPr lang="en-IN" sz="28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int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IN" sz="2800" i="1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;</a:t>
                </a:r>
                <a:endParaRPr lang="en-US" sz="2800" dirty="0">
                  <a:solidFill>
                    <a:schemeClr val="bg1"/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for( </a:t>
                </a:r>
                <a14:m>
                  <m:oMath xmlns:m="http://schemas.openxmlformats.org/officeDocument/2006/math">
                    <m:r>
                      <a:rPr lang="en-IN" sz="28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= </a:t>
                </a:r>
                <a14:m>
                  <m:oMath xmlns:m="http://schemas.openxmlformats.org/officeDocument/2006/math">
                    <m:r>
                      <a:rPr lang="en-US" sz="2800" i="1">
                        <a:ln w="0"/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effectLst>
                          <a:outerShdw blurRad="38100" dist="19050" dir="2700000" algn="tl" rotWithShape="0">
                            <a:schemeClr val="dk1">
                              <a:alpha val="40000"/>
                            </a:schemeClr>
                          </a:outerShdw>
                        </a:effectLst>
                        <a:latin typeface="Cambria Math" panose="02040503050406030204" pitchFamily="18" charset="0"/>
                        <a:ea typeface="Cambria Math" panose="02040503050406030204" pitchFamily="18" charset="0"/>
                        <a:cs typeface="Helvetica Neue Medium"/>
                        <a:sym typeface="Helvetica Neue Medium"/>
                      </a:rPr>
                      <m:t>𝑖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; </a:t>
                </a:r>
                <a14:m>
                  <m:oMath xmlns:m="http://schemas.openxmlformats.org/officeDocument/2006/math">
                    <m:r>
                      <a:rPr lang="en-IN" sz="28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&gt; 0; </a:t>
                </a:r>
                <a14:m>
                  <m:oMath xmlns:m="http://schemas.openxmlformats.org/officeDocument/2006/math">
                    <m:r>
                      <a:rPr lang="en-IN" sz="28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𝑗</m:t>
                    </m:r>
                    <m:r>
                      <a:rPr lang="en-IN" sz="28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--)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{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</a:t>
                </a:r>
                <a:r>
                  <a:rPr lang="en-IN" sz="28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if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( </a:t>
                </a:r>
                <a:r>
                  <a:rPr lang="en-IN" sz="2800" dirty="0" err="1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num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</a:t>
                </a:r>
                <a14:m>
                  <m:oMath xmlns:m="http://schemas.openxmlformats.org/officeDocument/2006/math">
                    <m:r>
                      <a:rPr lang="en-IN" sz="28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] &lt; </a:t>
                </a:r>
                <a:r>
                  <a:rPr lang="en-IN" sz="2800" dirty="0" err="1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num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</a:t>
                </a:r>
                <a14:m>
                  <m:oMath xmlns:m="http://schemas.openxmlformats.org/officeDocument/2006/math">
                    <m:r>
                      <a:rPr lang="en-IN" sz="28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𝑗</m:t>
                    </m:r>
                    <m:r>
                      <a:rPr lang="en-IN" sz="28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-1] )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{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	</a:t>
                </a:r>
                <a:r>
                  <a:rPr lang="en-IN" sz="28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int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IN" sz="28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temp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= </a:t>
                </a:r>
                <a:r>
                  <a:rPr lang="en-IN" sz="2800" dirty="0" err="1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num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</a:t>
                </a:r>
                <a14:m>
                  <m:oMath xmlns:m="http://schemas.openxmlformats.org/officeDocument/2006/math">
                    <m:r>
                      <a:rPr lang="en-IN" sz="28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];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	</a:t>
                </a:r>
                <a:r>
                  <a:rPr lang="en-IN" sz="2800" dirty="0" err="1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num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</a:t>
                </a:r>
                <a14:m>
                  <m:oMath xmlns:m="http://schemas.openxmlformats.org/officeDocument/2006/math">
                    <m:r>
                      <a:rPr lang="en-IN" sz="28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] = </a:t>
                </a:r>
                <a:r>
                  <a:rPr lang="en-IN" sz="2800" dirty="0" err="1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num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</a:t>
                </a:r>
                <a14:m>
                  <m:oMath xmlns:m="http://schemas.openxmlformats.org/officeDocument/2006/math">
                    <m:r>
                      <a:rPr lang="en-IN" sz="28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𝑗</m:t>
                    </m:r>
                    <m:r>
                      <a:rPr lang="en-IN" sz="28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-1];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	</a:t>
                </a:r>
                <a:r>
                  <a:rPr lang="en-IN" sz="2800" dirty="0" err="1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num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</a:t>
                </a:r>
                <a14:m>
                  <m:oMath xmlns:m="http://schemas.openxmlformats.org/officeDocument/2006/math">
                    <m:r>
                      <a:rPr lang="en-IN" sz="28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𝑗</m:t>
                    </m:r>
                    <m:r>
                      <a:rPr lang="en-IN" sz="28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-1] = </a:t>
                </a:r>
                <a:r>
                  <a:rPr lang="en-IN" sz="28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temp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;</a:t>
                </a:r>
                <a:endParaRPr lang="en-IN" sz="2800" dirty="0">
                  <a:solidFill>
                    <a:schemeClr val="accent1">
                      <a:lumMod val="40000"/>
                      <a:lumOff val="60000"/>
                    </a:schemeClr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}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</a:t>
                </a:r>
                <a:r>
                  <a:rPr lang="en-IN" sz="28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else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	</a:t>
                </a:r>
                <a:r>
                  <a:rPr lang="en-IN" sz="28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break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} 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endParaRPr lang="en-IN" sz="2800" dirty="0">
                  <a:solidFill>
                    <a:schemeClr val="bg1"/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//call </a:t>
                </a:r>
                <a:r>
                  <a:rPr lang="en-IN" sz="2800" dirty="0" err="1">
                    <a:solidFill>
                      <a:srgbClr val="D0CEF2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recursiveInsertion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for the index </a:t>
                </a:r>
                <a14:m>
                  <m:oMath xmlns:m="http://schemas.openxmlformats.org/officeDocument/2006/math">
                    <m:r>
                      <a:rPr lang="en-IN" sz="28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+1</a:t>
                </a:r>
                <a:b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</a:b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}</a:t>
                </a:r>
                <a:endParaRPr lang="en-US" sz="2800" dirty="0">
                  <a:solidFill>
                    <a:schemeClr val="bg1"/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>
          <p:sp>
            <p:nvSpPr>
              <p:cNvPr id="3" name="Rounded Rectangle 2">
                <a:extLst>
                  <a:ext uri="{FF2B5EF4-FFF2-40B4-BE49-F238E27FC236}">
                    <a16:creationId xmlns:a16="http://schemas.microsoft.com/office/drawing/2014/main" id="{663243C9-2B1B-78E8-9324-BF44A3F3B20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921786" y="1613591"/>
                <a:ext cx="9543957" cy="9171305"/>
              </a:xfrm>
              <a:prstGeom prst="roundRect">
                <a:avLst/>
              </a:prstGeom>
              <a:blipFill>
                <a:blip r:embed="rId3"/>
                <a:stretch>
                  <a:fillRect/>
                </a:stretch>
              </a:blipFill>
              <a:ln w="63500" cap="flat">
                <a:solidFill>
                  <a:schemeClr val="tx1"/>
                </a:solidFill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223591051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E61114-05F2-E9CC-41A7-0E191DC25D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Rounded Rectangle 1">
                <a:extLst>
                  <a:ext uri="{FF2B5EF4-FFF2-40B4-BE49-F238E27FC236}">
                    <a16:creationId xmlns:a16="http://schemas.microsoft.com/office/drawing/2014/main" id="{965A4105-4F48-8409-73BA-D8954F3CEF26}"/>
                  </a:ext>
                </a:extLst>
              </p:cNvPr>
              <p:cNvSpPr/>
              <p:nvPr/>
            </p:nvSpPr>
            <p:spPr>
              <a:xfrm>
                <a:off x="891836" y="3043769"/>
                <a:ext cx="9543957" cy="6310948"/>
              </a:xfrm>
              <a:prstGeom prst="roundRect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 w="63500" cap="flat">
                <a:solidFill>
                  <a:schemeClr val="tx1"/>
                </a:solidFill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50800" tIns="50800" rIns="50800" bIns="50800" numCol="1" spcCol="38100" rtlCol="0" anchor="ctr">
                <a:spAutoFit/>
              </a:bodyPr>
              <a:lstStyle/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#include </a:t>
                </a:r>
                <a:r>
                  <a:rPr lang="en-IN" sz="28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&lt;</a:t>
                </a:r>
                <a:r>
                  <a:rPr lang="en-IN" sz="2800" dirty="0" err="1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stdio.h</a:t>
                </a:r>
                <a:r>
                  <a:rPr lang="en-IN" sz="28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&gt;</a:t>
                </a:r>
                <a:b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</a:br>
                <a:b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</a:br>
                <a:r>
                  <a:rPr lang="en-IN" sz="28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int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IN" sz="28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main</a:t>
                </a:r>
                <a:r>
                  <a:rPr lang="en-IN" sz="2800" dirty="0">
                    <a:solidFill>
                      <a:schemeClr val="accent4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()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{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US" sz="28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 int</a:t>
                </a:r>
                <a:r>
                  <a:rPr lang="en-US" sz="28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800" i="1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,</a:t>
                </a:r>
                <a14:m>
                  <m:oMath xmlns:m="http://schemas.openxmlformats.org/officeDocument/2006/math">
                    <m:r>
                      <a:rPr lang="en-US" sz="2800" i="1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,</a:t>
                </a:r>
                <a14:m>
                  <m:oMath xmlns:m="http://schemas.openxmlformats.org/officeDocument/2006/math">
                    <m:r>
                      <a:rPr lang="en-IN" sz="28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</a:t>
                </a:r>
                <a:r>
                  <a:rPr lang="en-IN" sz="2800" dirty="0" err="1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scanf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(“%d”, &amp;</a:t>
                </a:r>
                <a14:m>
                  <m:oMath xmlns:m="http://schemas.openxmlformats.org/officeDocument/2006/math">
                    <m:r>
                      <a:rPr lang="en-IN" sz="28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);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int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IN" sz="2800" dirty="0" err="1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num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</a:t>
                </a:r>
                <a14:m>
                  <m:oMath xmlns:m="http://schemas.openxmlformats.org/officeDocument/2006/math">
                    <m:r>
                      <a:rPr lang="en-IN" sz="28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];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</a:t>
                </a:r>
                <a:r>
                  <a:rPr lang="en-IN" sz="28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for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</a:t>
                </a:r>
                <a14:m>
                  <m:oMath xmlns:m="http://schemas.openxmlformats.org/officeDocument/2006/math">
                    <m:r>
                      <a:rPr lang="en-US" sz="2800" i="1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=0 ; </a:t>
                </a:r>
                <a14:m>
                  <m:oMath xmlns:m="http://schemas.openxmlformats.org/officeDocument/2006/math">
                    <m:r>
                      <a:rPr lang="en-US" sz="2800" i="1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&lt; </a:t>
                </a:r>
                <a14:m>
                  <m:oMath xmlns:m="http://schemas.openxmlformats.org/officeDocument/2006/math">
                    <m:r>
                      <a:rPr lang="en-IN" sz="28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; </a:t>
                </a:r>
                <a14:m>
                  <m:oMath xmlns:m="http://schemas.openxmlformats.org/officeDocument/2006/math">
                    <m:r>
                      <a:rPr lang="en-US" sz="2800" i="1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++)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{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</a:t>
                </a:r>
                <a:r>
                  <a:rPr lang="en-IN" sz="2800" dirty="0" err="1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scanf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(“%d”, &amp;</a:t>
                </a:r>
                <a:r>
                  <a:rPr lang="en-IN" sz="2800" dirty="0" err="1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num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</a:t>
                </a:r>
                <a14:m>
                  <m:oMath xmlns:m="http://schemas.openxmlformats.org/officeDocument/2006/math">
                    <m:r>
                      <a:rPr lang="en-US" sz="2800" i="1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]);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}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</a:t>
                </a:r>
                <a:r>
                  <a:rPr lang="en-IN" sz="2800" dirty="0" err="1">
                    <a:solidFill>
                      <a:srgbClr val="D0CEF2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recursiveInsertion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</a:t>
                </a:r>
                <a:r>
                  <a:rPr lang="en-IN" sz="28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num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,0,</a:t>
                </a:r>
                <a14:m>
                  <m:oMath xmlns:m="http://schemas.openxmlformats.org/officeDocument/2006/math">
                    <m:r>
                      <a:rPr lang="en-IN" sz="2800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);</a:t>
                </a:r>
                <a:b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</a:b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</a:t>
                </a:r>
                <a:r>
                  <a:rPr lang="en-IN" sz="28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return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0;</a:t>
                </a:r>
                <a:b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</a:b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}</a:t>
                </a:r>
                <a:endParaRPr lang="en-US" sz="2800" dirty="0">
                  <a:solidFill>
                    <a:schemeClr val="bg1"/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>
          <p:sp>
            <p:nvSpPr>
              <p:cNvPr id="2" name="Rounded Rectangle 1">
                <a:extLst>
                  <a:ext uri="{FF2B5EF4-FFF2-40B4-BE49-F238E27FC236}">
                    <a16:creationId xmlns:a16="http://schemas.microsoft.com/office/drawing/2014/main" id="{965A4105-4F48-8409-73BA-D8954F3CEF2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1836" y="3043769"/>
                <a:ext cx="9543957" cy="6310948"/>
              </a:xfrm>
              <a:prstGeom prst="roundRect">
                <a:avLst/>
              </a:prstGeom>
              <a:blipFill>
                <a:blip r:embed="rId2"/>
                <a:stretch>
                  <a:fillRect/>
                </a:stretch>
              </a:blipFill>
              <a:ln w="63500" cap="flat">
                <a:solidFill>
                  <a:schemeClr val="tx1"/>
                </a:solidFill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" name="Rounded Rectangle 2">
                <a:extLst>
                  <a:ext uri="{FF2B5EF4-FFF2-40B4-BE49-F238E27FC236}">
                    <a16:creationId xmlns:a16="http://schemas.microsoft.com/office/drawing/2014/main" id="{CC31B5E7-2E73-FD7B-DF70-4CE7C6942956}"/>
                  </a:ext>
                </a:extLst>
              </p:cNvPr>
              <p:cNvSpPr/>
              <p:nvPr/>
            </p:nvSpPr>
            <p:spPr>
              <a:xfrm>
                <a:off x="11921786" y="1375228"/>
                <a:ext cx="9543957" cy="9648031"/>
              </a:xfrm>
              <a:prstGeom prst="roundRect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 w="63500" cap="flat">
                <a:solidFill>
                  <a:schemeClr val="tx1"/>
                </a:solidFill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50800" tIns="50800" rIns="50800" bIns="50800" numCol="1" spcCol="38100" rtlCol="0" anchor="ctr">
                <a:spAutoFit/>
              </a:bodyPr>
              <a:lstStyle/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void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IN" sz="2800" dirty="0" err="1">
                    <a:solidFill>
                      <a:srgbClr val="D0CEF2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recursiveInsertion</a:t>
                </a:r>
                <a:r>
                  <a:rPr lang="en-IN" sz="2800" dirty="0">
                    <a:solidFill>
                      <a:schemeClr val="accent4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 </a:t>
                </a:r>
                <a:r>
                  <a:rPr lang="en-IN" sz="28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int</a:t>
                </a:r>
                <a:r>
                  <a:rPr lang="en-IN" sz="2800" dirty="0">
                    <a:solidFill>
                      <a:schemeClr val="accent4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IN" sz="2800" dirty="0" err="1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num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[]</a:t>
                </a:r>
                <a:r>
                  <a:rPr lang="en-IN" sz="2800" dirty="0">
                    <a:solidFill>
                      <a:schemeClr val="accent4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, </a:t>
                </a:r>
                <a:r>
                  <a:rPr lang="en-IN" sz="28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int</a:t>
                </a:r>
                <a:r>
                  <a:rPr lang="en-IN" sz="2800" dirty="0">
                    <a:solidFill>
                      <a:schemeClr val="accent4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IN" sz="2800" i="1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IN" sz="2800" dirty="0">
                    <a:solidFill>
                      <a:schemeClr val="accent4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, </a:t>
                </a:r>
                <a:r>
                  <a:rPr lang="en-IN" sz="28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int</a:t>
                </a:r>
                <a:r>
                  <a:rPr lang="en-IN" sz="2800" dirty="0">
                    <a:solidFill>
                      <a:schemeClr val="accent4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IN" sz="2800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IN" sz="2800" dirty="0">
                    <a:solidFill>
                      <a:schemeClr val="accent4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)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{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US" sz="28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</a:t>
                </a:r>
                <a:r>
                  <a:rPr lang="en-US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// Write the base case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endParaRPr lang="en-US" sz="2800" dirty="0">
                  <a:solidFill>
                    <a:schemeClr val="bg1"/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US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//Put the </a:t>
                </a:r>
                <a14:m>
                  <m:oMath xmlns:m="http://schemas.openxmlformats.org/officeDocument/2006/math">
                    <m:r>
                      <a:rPr lang="en-US" sz="28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-index of </a:t>
                </a:r>
                <a:r>
                  <a:rPr lang="en-IN" sz="2800" dirty="0" err="1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num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at its correct place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</a:t>
                </a:r>
                <a:r>
                  <a:rPr lang="en-IN" sz="28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int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IN" sz="2800" i="1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;</a:t>
                </a:r>
                <a:endParaRPr lang="en-US" sz="2800" dirty="0">
                  <a:solidFill>
                    <a:schemeClr val="bg1"/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for( </a:t>
                </a:r>
                <a14:m>
                  <m:oMath xmlns:m="http://schemas.openxmlformats.org/officeDocument/2006/math">
                    <m:r>
                      <a:rPr lang="en-IN" sz="28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= </a:t>
                </a:r>
                <a14:m>
                  <m:oMath xmlns:m="http://schemas.openxmlformats.org/officeDocument/2006/math">
                    <m:r>
                      <a:rPr lang="en-US" sz="2800" i="1">
                        <a:ln w="0"/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effectLst>
                          <a:outerShdw blurRad="38100" dist="19050" dir="2700000" algn="tl" rotWithShape="0">
                            <a:schemeClr val="dk1">
                              <a:alpha val="40000"/>
                            </a:schemeClr>
                          </a:outerShdw>
                        </a:effectLst>
                        <a:latin typeface="Cambria Math" panose="02040503050406030204" pitchFamily="18" charset="0"/>
                        <a:ea typeface="Cambria Math" panose="02040503050406030204" pitchFamily="18" charset="0"/>
                        <a:cs typeface="Helvetica Neue Medium"/>
                        <a:sym typeface="Helvetica Neue Medium"/>
                      </a:rPr>
                      <m:t>𝑖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; </a:t>
                </a:r>
                <a14:m>
                  <m:oMath xmlns:m="http://schemas.openxmlformats.org/officeDocument/2006/math">
                    <m:r>
                      <a:rPr lang="en-IN" sz="28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&gt; 0; </a:t>
                </a:r>
                <a14:m>
                  <m:oMath xmlns:m="http://schemas.openxmlformats.org/officeDocument/2006/math">
                    <m:r>
                      <a:rPr lang="en-IN" sz="28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𝑗</m:t>
                    </m:r>
                    <m:r>
                      <a:rPr lang="en-IN" sz="28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--)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{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</a:t>
                </a:r>
                <a:r>
                  <a:rPr lang="en-IN" sz="28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if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( </a:t>
                </a:r>
                <a:r>
                  <a:rPr lang="en-IN" sz="2800" dirty="0" err="1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num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</a:t>
                </a:r>
                <a14:m>
                  <m:oMath xmlns:m="http://schemas.openxmlformats.org/officeDocument/2006/math">
                    <m:r>
                      <a:rPr lang="en-IN" sz="28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] &lt; </a:t>
                </a:r>
                <a:r>
                  <a:rPr lang="en-IN" sz="2800" dirty="0" err="1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num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</a:t>
                </a:r>
                <a14:m>
                  <m:oMath xmlns:m="http://schemas.openxmlformats.org/officeDocument/2006/math">
                    <m:r>
                      <a:rPr lang="en-IN" sz="28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𝑗</m:t>
                    </m:r>
                    <m:r>
                      <a:rPr lang="en-IN" sz="28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-1] )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{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	</a:t>
                </a:r>
                <a:r>
                  <a:rPr lang="en-IN" sz="28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int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IN" sz="28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temp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= </a:t>
                </a:r>
                <a:r>
                  <a:rPr lang="en-IN" sz="2800" dirty="0" err="1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num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</a:t>
                </a:r>
                <a14:m>
                  <m:oMath xmlns:m="http://schemas.openxmlformats.org/officeDocument/2006/math">
                    <m:r>
                      <a:rPr lang="en-IN" sz="28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];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	</a:t>
                </a:r>
                <a:r>
                  <a:rPr lang="en-IN" sz="2800" dirty="0" err="1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num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</a:t>
                </a:r>
                <a14:m>
                  <m:oMath xmlns:m="http://schemas.openxmlformats.org/officeDocument/2006/math">
                    <m:r>
                      <a:rPr lang="en-IN" sz="28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] = </a:t>
                </a:r>
                <a:r>
                  <a:rPr lang="en-IN" sz="2800" dirty="0" err="1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num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</a:t>
                </a:r>
                <a14:m>
                  <m:oMath xmlns:m="http://schemas.openxmlformats.org/officeDocument/2006/math">
                    <m:r>
                      <a:rPr lang="en-IN" sz="28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𝑗</m:t>
                    </m:r>
                    <m:r>
                      <a:rPr lang="en-IN" sz="28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-1];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	</a:t>
                </a:r>
                <a:r>
                  <a:rPr lang="en-IN" sz="2800" dirty="0" err="1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num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</a:t>
                </a:r>
                <a14:m>
                  <m:oMath xmlns:m="http://schemas.openxmlformats.org/officeDocument/2006/math">
                    <m:r>
                      <a:rPr lang="en-IN" sz="28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𝑗</m:t>
                    </m:r>
                    <m:r>
                      <a:rPr lang="en-IN" sz="28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-1] = </a:t>
                </a:r>
                <a:r>
                  <a:rPr lang="en-IN" sz="28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temp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;</a:t>
                </a:r>
                <a:endParaRPr lang="en-IN" sz="2800" dirty="0">
                  <a:solidFill>
                    <a:schemeClr val="accent1">
                      <a:lumMod val="40000"/>
                      <a:lumOff val="60000"/>
                    </a:schemeClr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}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</a:t>
                </a:r>
                <a:r>
                  <a:rPr lang="en-IN" sz="28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else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	</a:t>
                </a:r>
                <a:r>
                  <a:rPr lang="en-IN" sz="28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break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} 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endParaRPr lang="en-IN" sz="2800" dirty="0">
                  <a:solidFill>
                    <a:schemeClr val="bg1"/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//call </a:t>
                </a:r>
                <a:r>
                  <a:rPr lang="en-IN" sz="2800" dirty="0" err="1">
                    <a:solidFill>
                      <a:srgbClr val="D0CEF2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recursiveInsertion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for the index </a:t>
                </a:r>
                <a14:m>
                  <m:oMath xmlns:m="http://schemas.openxmlformats.org/officeDocument/2006/math">
                    <m:r>
                      <a:rPr lang="en-IN" sz="28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+1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</a:t>
                </a:r>
                <a:r>
                  <a:rPr lang="en-IN" sz="2800" dirty="0">
                    <a:solidFill>
                      <a:srgbClr val="D0CEF2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IN" sz="2800" dirty="0" err="1">
                    <a:solidFill>
                      <a:srgbClr val="D0CEF2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recursiveInsertion</a:t>
                </a:r>
                <a:r>
                  <a:rPr lang="en-IN" sz="2800" dirty="0">
                    <a:solidFill>
                      <a:schemeClr val="accent4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</a:t>
                </a:r>
                <a:r>
                  <a:rPr lang="en-IN" sz="2800" dirty="0" err="1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num</a:t>
                </a:r>
                <a:r>
                  <a:rPr lang="en-IN" sz="2800" dirty="0">
                    <a:solidFill>
                      <a:schemeClr val="accent4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800" i="1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+1,</a:t>
                </a:r>
                <a:r>
                  <a:rPr lang="en-IN" sz="28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IN" sz="2800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IN" sz="2800" dirty="0">
                    <a:solidFill>
                      <a:schemeClr val="accent4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)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;</a:t>
                </a:r>
                <a:b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</a:b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}</a:t>
                </a:r>
                <a:endParaRPr lang="en-US" sz="2800" dirty="0">
                  <a:solidFill>
                    <a:schemeClr val="bg1"/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>
          <p:sp>
            <p:nvSpPr>
              <p:cNvPr id="3" name="Rounded Rectangle 2">
                <a:extLst>
                  <a:ext uri="{FF2B5EF4-FFF2-40B4-BE49-F238E27FC236}">
                    <a16:creationId xmlns:a16="http://schemas.microsoft.com/office/drawing/2014/main" id="{CC31B5E7-2E73-FD7B-DF70-4CE7C694295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921786" y="1375228"/>
                <a:ext cx="9543957" cy="9648031"/>
              </a:xfrm>
              <a:prstGeom prst="roundRect">
                <a:avLst/>
              </a:prstGeom>
              <a:blipFill>
                <a:blip r:embed="rId3"/>
                <a:stretch>
                  <a:fillRect/>
                </a:stretch>
              </a:blipFill>
              <a:ln w="63500" cap="flat">
                <a:solidFill>
                  <a:schemeClr val="tx1"/>
                </a:solidFill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242895377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Word"/>
      </p:transition>
    </mc:Choice>
    <mc:Fallback>
      <p:transition spd="slow">
        <p:fade/>
      </p:transition>
    </mc:Fallback>
  </mc:AlternateContent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A9749D-C1EE-0BED-DA6D-DFA20C4035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Rounded Rectangle 1">
                <a:extLst>
                  <a:ext uri="{FF2B5EF4-FFF2-40B4-BE49-F238E27FC236}">
                    <a16:creationId xmlns:a16="http://schemas.microsoft.com/office/drawing/2014/main" id="{0B714299-5363-B643-3A4A-2BB33F904A19}"/>
                  </a:ext>
                </a:extLst>
              </p:cNvPr>
              <p:cNvSpPr/>
              <p:nvPr/>
            </p:nvSpPr>
            <p:spPr>
              <a:xfrm>
                <a:off x="891836" y="3043769"/>
                <a:ext cx="9543957" cy="6310948"/>
              </a:xfrm>
              <a:prstGeom prst="roundRect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 w="63500" cap="flat">
                <a:solidFill>
                  <a:schemeClr val="tx1"/>
                </a:solidFill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50800" tIns="50800" rIns="50800" bIns="50800" numCol="1" spcCol="38100" rtlCol="0" anchor="ctr">
                <a:spAutoFit/>
              </a:bodyPr>
              <a:lstStyle/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#include </a:t>
                </a:r>
                <a:r>
                  <a:rPr lang="en-IN" sz="28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&lt;</a:t>
                </a:r>
                <a:r>
                  <a:rPr lang="en-IN" sz="2800" dirty="0" err="1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stdio.h</a:t>
                </a:r>
                <a:r>
                  <a:rPr lang="en-IN" sz="28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&gt;</a:t>
                </a:r>
                <a:b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</a:br>
                <a:b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</a:br>
                <a:r>
                  <a:rPr lang="en-IN" sz="28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int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IN" sz="28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main</a:t>
                </a:r>
                <a:r>
                  <a:rPr lang="en-IN" sz="2800" dirty="0">
                    <a:solidFill>
                      <a:schemeClr val="accent4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()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{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US" sz="28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 int</a:t>
                </a:r>
                <a:r>
                  <a:rPr lang="en-US" sz="28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800" i="1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,</a:t>
                </a:r>
                <a14:m>
                  <m:oMath xmlns:m="http://schemas.openxmlformats.org/officeDocument/2006/math">
                    <m:r>
                      <a:rPr lang="en-US" sz="2800" i="1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,</a:t>
                </a:r>
                <a14:m>
                  <m:oMath xmlns:m="http://schemas.openxmlformats.org/officeDocument/2006/math">
                    <m:r>
                      <a:rPr lang="en-IN" sz="28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</a:t>
                </a:r>
                <a:r>
                  <a:rPr lang="en-IN" sz="2800" dirty="0" err="1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scanf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(“%d”, &amp;</a:t>
                </a:r>
                <a14:m>
                  <m:oMath xmlns:m="http://schemas.openxmlformats.org/officeDocument/2006/math">
                    <m:r>
                      <a:rPr lang="en-IN" sz="28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);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int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IN" sz="2800" dirty="0" err="1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num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</a:t>
                </a:r>
                <a14:m>
                  <m:oMath xmlns:m="http://schemas.openxmlformats.org/officeDocument/2006/math">
                    <m:r>
                      <a:rPr lang="en-IN" sz="28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];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</a:t>
                </a:r>
                <a:r>
                  <a:rPr lang="en-IN" sz="28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for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</a:t>
                </a:r>
                <a14:m>
                  <m:oMath xmlns:m="http://schemas.openxmlformats.org/officeDocument/2006/math">
                    <m:r>
                      <a:rPr lang="en-US" sz="2800" i="1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=0 ; </a:t>
                </a:r>
                <a14:m>
                  <m:oMath xmlns:m="http://schemas.openxmlformats.org/officeDocument/2006/math">
                    <m:r>
                      <a:rPr lang="en-US" sz="2800" i="1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&lt; </a:t>
                </a:r>
                <a14:m>
                  <m:oMath xmlns:m="http://schemas.openxmlformats.org/officeDocument/2006/math">
                    <m:r>
                      <a:rPr lang="en-IN" sz="28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; </a:t>
                </a:r>
                <a14:m>
                  <m:oMath xmlns:m="http://schemas.openxmlformats.org/officeDocument/2006/math">
                    <m:r>
                      <a:rPr lang="en-US" sz="2800" i="1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++)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{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</a:t>
                </a:r>
                <a:r>
                  <a:rPr lang="en-IN" sz="2800" dirty="0" err="1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scanf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(“%d”, &amp;</a:t>
                </a:r>
                <a:r>
                  <a:rPr lang="en-IN" sz="2800" dirty="0" err="1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num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</a:t>
                </a:r>
                <a14:m>
                  <m:oMath xmlns:m="http://schemas.openxmlformats.org/officeDocument/2006/math">
                    <m:r>
                      <a:rPr lang="en-US" sz="2800" i="1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]);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}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</a:t>
                </a:r>
                <a:r>
                  <a:rPr lang="en-IN" sz="2800" dirty="0" err="1">
                    <a:solidFill>
                      <a:srgbClr val="D0CEF2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recursiveInsertion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</a:t>
                </a:r>
                <a:r>
                  <a:rPr lang="en-IN" sz="28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num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,0,</a:t>
                </a:r>
                <a14:m>
                  <m:oMath xmlns:m="http://schemas.openxmlformats.org/officeDocument/2006/math">
                    <m:r>
                      <a:rPr lang="en-IN" sz="2800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);</a:t>
                </a:r>
                <a:b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</a:b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</a:t>
                </a:r>
                <a:r>
                  <a:rPr lang="en-IN" sz="28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return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0;</a:t>
                </a:r>
                <a:b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</a:b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}</a:t>
                </a:r>
                <a:endParaRPr lang="en-US" sz="2800" dirty="0">
                  <a:solidFill>
                    <a:schemeClr val="bg1"/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>
          <p:sp>
            <p:nvSpPr>
              <p:cNvPr id="2" name="Rounded Rectangle 1">
                <a:extLst>
                  <a:ext uri="{FF2B5EF4-FFF2-40B4-BE49-F238E27FC236}">
                    <a16:creationId xmlns:a16="http://schemas.microsoft.com/office/drawing/2014/main" id="{0B714299-5363-B643-3A4A-2BB33F904A1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1836" y="3043769"/>
                <a:ext cx="9543957" cy="6310948"/>
              </a:xfrm>
              <a:prstGeom prst="roundRect">
                <a:avLst/>
              </a:prstGeom>
              <a:blipFill>
                <a:blip r:embed="rId2"/>
                <a:stretch>
                  <a:fillRect/>
                </a:stretch>
              </a:blipFill>
              <a:ln w="63500" cap="flat">
                <a:solidFill>
                  <a:schemeClr val="tx1"/>
                </a:solidFill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" name="Rounded Rectangle 2">
                <a:extLst>
                  <a:ext uri="{FF2B5EF4-FFF2-40B4-BE49-F238E27FC236}">
                    <a16:creationId xmlns:a16="http://schemas.microsoft.com/office/drawing/2014/main" id="{ED6D983C-9813-30CB-52C9-E91E01941EED}"/>
                  </a:ext>
                </a:extLst>
              </p:cNvPr>
              <p:cNvSpPr/>
              <p:nvPr/>
            </p:nvSpPr>
            <p:spPr>
              <a:xfrm>
                <a:off x="11921786" y="756977"/>
                <a:ext cx="9543957" cy="10884535"/>
              </a:xfrm>
              <a:prstGeom prst="roundRect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 w="63500" cap="flat">
                <a:solidFill>
                  <a:schemeClr val="tx1"/>
                </a:solidFill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50800" tIns="50800" rIns="50800" bIns="50800" numCol="1" spcCol="38100" rtlCol="0" anchor="ctr">
                <a:spAutoFit/>
              </a:bodyPr>
              <a:lstStyle/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void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IN" sz="2800" dirty="0" err="1">
                    <a:solidFill>
                      <a:srgbClr val="D0CEF2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recursiveInsertion</a:t>
                </a:r>
                <a:r>
                  <a:rPr lang="en-IN" sz="2800" dirty="0">
                    <a:solidFill>
                      <a:schemeClr val="accent4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 </a:t>
                </a:r>
                <a:r>
                  <a:rPr lang="en-IN" sz="28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int</a:t>
                </a:r>
                <a:r>
                  <a:rPr lang="en-IN" sz="2800" dirty="0">
                    <a:solidFill>
                      <a:schemeClr val="accent4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IN" sz="2800" dirty="0" err="1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num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[]</a:t>
                </a:r>
                <a:r>
                  <a:rPr lang="en-IN" sz="2800" dirty="0">
                    <a:solidFill>
                      <a:schemeClr val="accent4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, </a:t>
                </a:r>
                <a:r>
                  <a:rPr lang="en-IN" sz="28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int</a:t>
                </a:r>
                <a:r>
                  <a:rPr lang="en-IN" sz="2800" dirty="0">
                    <a:solidFill>
                      <a:schemeClr val="accent4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IN" sz="2800" i="1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IN" sz="2800" dirty="0">
                    <a:solidFill>
                      <a:schemeClr val="accent4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, </a:t>
                </a:r>
                <a:r>
                  <a:rPr lang="en-IN" sz="28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int</a:t>
                </a:r>
                <a:r>
                  <a:rPr lang="en-IN" sz="2800" dirty="0">
                    <a:solidFill>
                      <a:schemeClr val="accent4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IN" sz="2800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IN" sz="2800" dirty="0">
                    <a:solidFill>
                      <a:schemeClr val="accent4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)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{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US" sz="28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</a:t>
                </a:r>
                <a:r>
                  <a:rPr lang="en-US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// Write the base case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US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</a:t>
                </a:r>
                <a:r>
                  <a:rPr lang="en-IN" sz="28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if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( </a:t>
                </a:r>
                <a14:m>
                  <m:oMath xmlns:m="http://schemas.openxmlformats.org/officeDocument/2006/math">
                    <m:r>
                      <a:rPr lang="en-IN" sz="2800" i="1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IN" sz="28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==</a:t>
                </a:r>
                <a:r>
                  <a:rPr lang="en-IN" sz="28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IN" sz="2800" i="1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)</a:t>
                </a:r>
                <a:endParaRPr lang="en-US" sz="2800" dirty="0">
                  <a:solidFill>
                    <a:schemeClr val="bg1"/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US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return;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endParaRPr lang="en-US" sz="2800" dirty="0">
                  <a:solidFill>
                    <a:schemeClr val="bg1"/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US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//Put the </a:t>
                </a:r>
                <a14:m>
                  <m:oMath xmlns:m="http://schemas.openxmlformats.org/officeDocument/2006/math">
                    <m:r>
                      <a:rPr lang="en-US" sz="28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-index of </a:t>
                </a:r>
                <a:r>
                  <a:rPr lang="en-IN" sz="2800" dirty="0" err="1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num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at its correct place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</a:t>
                </a:r>
                <a:r>
                  <a:rPr lang="en-IN" sz="28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int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IN" sz="2800" i="1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;</a:t>
                </a:r>
                <a:endParaRPr lang="en-US" sz="2800" dirty="0">
                  <a:solidFill>
                    <a:schemeClr val="bg1"/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for( </a:t>
                </a:r>
                <a14:m>
                  <m:oMath xmlns:m="http://schemas.openxmlformats.org/officeDocument/2006/math">
                    <m:r>
                      <a:rPr lang="en-IN" sz="28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= </a:t>
                </a:r>
                <a14:m>
                  <m:oMath xmlns:m="http://schemas.openxmlformats.org/officeDocument/2006/math">
                    <m:r>
                      <a:rPr lang="en-US" sz="2800" i="1">
                        <a:ln w="0"/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effectLst>
                          <a:outerShdw blurRad="38100" dist="19050" dir="2700000" algn="tl" rotWithShape="0">
                            <a:schemeClr val="dk1">
                              <a:alpha val="40000"/>
                            </a:schemeClr>
                          </a:outerShdw>
                        </a:effectLst>
                        <a:latin typeface="Cambria Math" panose="02040503050406030204" pitchFamily="18" charset="0"/>
                        <a:ea typeface="Cambria Math" panose="02040503050406030204" pitchFamily="18" charset="0"/>
                        <a:cs typeface="Helvetica Neue Medium"/>
                        <a:sym typeface="Helvetica Neue Medium"/>
                      </a:rPr>
                      <m:t>𝑖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; </a:t>
                </a:r>
                <a14:m>
                  <m:oMath xmlns:m="http://schemas.openxmlformats.org/officeDocument/2006/math">
                    <m:r>
                      <a:rPr lang="en-IN" sz="28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&gt; 0; </a:t>
                </a:r>
                <a14:m>
                  <m:oMath xmlns:m="http://schemas.openxmlformats.org/officeDocument/2006/math">
                    <m:r>
                      <a:rPr lang="en-IN" sz="28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𝑗</m:t>
                    </m:r>
                    <m:r>
                      <a:rPr lang="en-IN" sz="28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--)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{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</a:t>
                </a:r>
                <a:r>
                  <a:rPr lang="en-IN" sz="28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if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( </a:t>
                </a:r>
                <a:r>
                  <a:rPr lang="en-IN" sz="2800" dirty="0" err="1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num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</a:t>
                </a:r>
                <a14:m>
                  <m:oMath xmlns:m="http://schemas.openxmlformats.org/officeDocument/2006/math">
                    <m:r>
                      <a:rPr lang="en-IN" sz="28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] &lt; </a:t>
                </a:r>
                <a:r>
                  <a:rPr lang="en-IN" sz="2800" dirty="0" err="1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num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</a:t>
                </a:r>
                <a14:m>
                  <m:oMath xmlns:m="http://schemas.openxmlformats.org/officeDocument/2006/math">
                    <m:r>
                      <a:rPr lang="en-IN" sz="28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𝑗</m:t>
                    </m:r>
                    <m:r>
                      <a:rPr lang="en-IN" sz="28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-1] )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{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	</a:t>
                </a:r>
                <a:r>
                  <a:rPr lang="en-IN" sz="28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int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IN" sz="28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temp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= </a:t>
                </a:r>
                <a:r>
                  <a:rPr lang="en-IN" sz="2800" dirty="0" err="1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num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</a:t>
                </a:r>
                <a14:m>
                  <m:oMath xmlns:m="http://schemas.openxmlformats.org/officeDocument/2006/math">
                    <m:r>
                      <a:rPr lang="en-IN" sz="28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];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	</a:t>
                </a:r>
                <a:r>
                  <a:rPr lang="en-IN" sz="2800" dirty="0" err="1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num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</a:t>
                </a:r>
                <a14:m>
                  <m:oMath xmlns:m="http://schemas.openxmlformats.org/officeDocument/2006/math">
                    <m:r>
                      <a:rPr lang="en-IN" sz="28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] = </a:t>
                </a:r>
                <a:r>
                  <a:rPr lang="en-IN" sz="2800" dirty="0" err="1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num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</a:t>
                </a:r>
                <a14:m>
                  <m:oMath xmlns:m="http://schemas.openxmlformats.org/officeDocument/2006/math">
                    <m:r>
                      <a:rPr lang="en-IN" sz="28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𝑗</m:t>
                    </m:r>
                    <m:r>
                      <a:rPr lang="en-IN" sz="28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-1];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	</a:t>
                </a:r>
                <a:r>
                  <a:rPr lang="en-IN" sz="2800" dirty="0" err="1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num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</a:t>
                </a:r>
                <a14:m>
                  <m:oMath xmlns:m="http://schemas.openxmlformats.org/officeDocument/2006/math">
                    <m:r>
                      <a:rPr lang="en-IN" sz="28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𝑗</m:t>
                    </m:r>
                    <m:r>
                      <a:rPr lang="en-IN" sz="28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-1] = </a:t>
                </a:r>
                <a:r>
                  <a:rPr lang="en-IN" sz="28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temp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;</a:t>
                </a:r>
                <a:endParaRPr lang="en-IN" sz="2800" dirty="0">
                  <a:solidFill>
                    <a:schemeClr val="accent1">
                      <a:lumMod val="40000"/>
                      <a:lumOff val="60000"/>
                    </a:schemeClr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}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</a:t>
                </a:r>
                <a:r>
                  <a:rPr lang="en-IN" sz="28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else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	</a:t>
                </a:r>
                <a:r>
                  <a:rPr lang="en-IN" sz="28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break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} 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endParaRPr lang="en-IN" sz="2800" dirty="0">
                  <a:solidFill>
                    <a:schemeClr val="bg1"/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//call </a:t>
                </a:r>
                <a:r>
                  <a:rPr lang="en-IN" sz="2800" dirty="0" err="1">
                    <a:solidFill>
                      <a:srgbClr val="D0CEF2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recursiveInsertion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for the index </a:t>
                </a:r>
                <a14:m>
                  <m:oMath xmlns:m="http://schemas.openxmlformats.org/officeDocument/2006/math">
                    <m:r>
                      <a:rPr lang="en-IN" sz="28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+1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</a:t>
                </a:r>
                <a:r>
                  <a:rPr lang="en-IN" sz="2800" dirty="0">
                    <a:solidFill>
                      <a:srgbClr val="D0CEF2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IN" sz="2800" dirty="0" err="1">
                    <a:solidFill>
                      <a:srgbClr val="D0CEF2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recursiveInsertion</a:t>
                </a:r>
                <a:r>
                  <a:rPr lang="en-IN" sz="2800" dirty="0">
                    <a:solidFill>
                      <a:schemeClr val="accent4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</a:t>
                </a:r>
                <a:r>
                  <a:rPr lang="en-IN" sz="2800" dirty="0" err="1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num</a:t>
                </a:r>
                <a:r>
                  <a:rPr lang="en-IN" sz="2800" dirty="0">
                    <a:solidFill>
                      <a:schemeClr val="accent4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800" i="1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+1,</a:t>
                </a:r>
                <a:r>
                  <a:rPr lang="en-IN" sz="28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IN" sz="2800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IN" sz="2800" dirty="0">
                    <a:solidFill>
                      <a:schemeClr val="accent4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)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;</a:t>
                </a:r>
                <a:b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</a:b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}</a:t>
                </a:r>
                <a:endParaRPr lang="en-US" sz="2800" dirty="0">
                  <a:solidFill>
                    <a:schemeClr val="bg1"/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>
          <p:sp>
            <p:nvSpPr>
              <p:cNvPr id="3" name="Rounded Rectangle 2">
                <a:extLst>
                  <a:ext uri="{FF2B5EF4-FFF2-40B4-BE49-F238E27FC236}">
                    <a16:creationId xmlns:a16="http://schemas.microsoft.com/office/drawing/2014/main" id="{ED6D983C-9813-30CB-52C9-E91E01941EE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921786" y="756977"/>
                <a:ext cx="9543957" cy="10884535"/>
              </a:xfrm>
              <a:prstGeom prst="roundRect">
                <a:avLst/>
              </a:prstGeom>
              <a:blipFill>
                <a:blip r:embed="rId3"/>
                <a:stretch>
                  <a:fillRect/>
                </a:stretch>
              </a:blipFill>
              <a:ln w="63500" cap="flat">
                <a:solidFill>
                  <a:schemeClr val="tx1"/>
                </a:solidFill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575386414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Word"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21_BasicWhite">
  <a:themeElements>
    <a:clrScheme name="21_BasicWhite">
      <a:dk1>
        <a:srgbClr val="000000"/>
      </a:dk1>
      <a:lt1>
        <a:srgbClr val="FFFFFF"/>
      </a:lt1>
      <a:dk2>
        <a:srgbClr val="5E5E5E"/>
      </a:dk2>
      <a:lt2>
        <a:srgbClr val="D5D5D5"/>
      </a:lt2>
      <a:accent1>
        <a:srgbClr val="00A2FF"/>
      </a:accent1>
      <a:accent2>
        <a:srgbClr val="16E7CF"/>
      </a:accent2>
      <a:accent3>
        <a:srgbClr val="61D836"/>
      </a:accent3>
      <a:accent4>
        <a:srgbClr val="FFD932"/>
      </a:accent4>
      <a:accent5>
        <a:srgbClr val="FF644E"/>
      </a:accent5>
      <a:accent6>
        <a:srgbClr val="FF42A1"/>
      </a:accent6>
      <a:hlink>
        <a:srgbClr val="0000FF"/>
      </a:hlink>
      <a:folHlink>
        <a:srgbClr val="FF00FF"/>
      </a:folHlink>
    </a:clrScheme>
    <a:fontScheme name="21_BasicWhite">
      <a:majorFont>
        <a:latin typeface="Helvetica Neue"/>
        <a:ea typeface="Helvetica Neue"/>
        <a:cs typeface="Helvetica Neue"/>
      </a:majorFont>
      <a:minorFont>
        <a:latin typeface="Helvetica Neue"/>
        <a:ea typeface="Helvetica Neue"/>
        <a:cs typeface="Helvetica Neue"/>
      </a:minorFont>
    </a:fontScheme>
    <a:fmtScheme name="21_Basic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000000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3200" b="0" i="0" u="none" strike="noStrike" cap="none" spc="0" normalizeH="0" baseline="0">
            <a:ln>
              <a:noFill/>
            </a:ln>
            <a:solidFill>
              <a:srgbClr val="FFFFFF"/>
            </a:solidFill>
            <a:effectLst/>
            <a:uFillTx/>
            <a:latin typeface="Helvetica Neue Medium"/>
            <a:ea typeface="Helvetica Neue Medium"/>
            <a:cs typeface="Helvetica Neue Medium"/>
            <a:sym typeface="Helvetica Neue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l" defTabSz="2438338" rtl="0" fontAlgn="auto" latinLnBrk="0" hangingPunct="0">
          <a:lnSpc>
            <a:spcPct val="90000"/>
          </a:lnSpc>
          <a:spcBef>
            <a:spcPts val="4500"/>
          </a:spcBef>
          <a:spcAft>
            <a:spcPts val="0"/>
          </a:spcAft>
          <a:buClrTx/>
          <a:buSzTx/>
          <a:buFontTx/>
          <a:buNone/>
          <a:tabLst/>
          <a:defRPr kumimoji="0" sz="4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ppt/theme/theme2.xml><?xml version="1.0" encoding="utf-8"?>
<a:theme xmlns:a="http://schemas.openxmlformats.org/drawingml/2006/main" name="21_BasicWhite">
  <a:themeElements>
    <a:clrScheme name="21_BasicWhite">
      <a:dk1>
        <a:srgbClr val="000000"/>
      </a:dk1>
      <a:lt1>
        <a:srgbClr val="FFFFFF"/>
      </a:lt1>
      <a:dk2>
        <a:srgbClr val="5E5E5E"/>
      </a:dk2>
      <a:lt2>
        <a:srgbClr val="D5D5D5"/>
      </a:lt2>
      <a:accent1>
        <a:srgbClr val="00A2FF"/>
      </a:accent1>
      <a:accent2>
        <a:srgbClr val="16E7CF"/>
      </a:accent2>
      <a:accent3>
        <a:srgbClr val="61D836"/>
      </a:accent3>
      <a:accent4>
        <a:srgbClr val="FFD932"/>
      </a:accent4>
      <a:accent5>
        <a:srgbClr val="FF644E"/>
      </a:accent5>
      <a:accent6>
        <a:srgbClr val="FF42A1"/>
      </a:accent6>
      <a:hlink>
        <a:srgbClr val="0000FF"/>
      </a:hlink>
      <a:folHlink>
        <a:srgbClr val="FF00FF"/>
      </a:folHlink>
    </a:clrScheme>
    <a:fontScheme name="21_BasicWhite">
      <a:majorFont>
        <a:latin typeface="Helvetica Neue"/>
        <a:ea typeface="Helvetica Neue"/>
        <a:cs typeface="Helvetica Neue"/>
      </a:majorFont>
      <a:minorFont>
        <a:latin typeface="Helvetica Neue"/>
        <a:ea typeface="Helvetica Neue"/>
        <a:cs typeface="Helvetica Neue"/>
      </a:minorFont>
    </a:fontScheme>
    <a:fmtScheme name="21_Basic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000000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3200" b="0" i="0" u="none" strike="noStrike" cap="none" spc="0" normalizeH="0" baseline="0">
            <a:ln>
              <a:noFill/>
            </a:ln>
            <a:solidFill>
              <a:srgbClr val="FFFFFF"/>
            </a:solidFill>
            <a:effectLst/>
            <a:uFillTx/>
            <a:latin typeface="Helvetica Neue Medium"/>
            <a:ea typeface="Helvetica Neue Medium"/>
            <a:cs typeface="Helvetica Neue Medium"/>
            <a:sym typeface="Helvetica Neue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l" defTabSz="2438338" rtl="0" fontAlgn="auto" latinLnBrk="0" hangingPunct="0">
          <a:lnSpc>
            <a:spcPct val="90000"/>
          </a:lnSpc>
          <a:spcBef>
            <a:spcPts val="4500"/>
          </a:spcBef>
          <a:spcAft>
            <a:spcPts val="0"/>
          </a:spcAft>
          <a:buClrTx/>
          <a:buSzTx/>
          <a:buFontTx/>
          <a:buNone/>
          <a:tabLst/>
          <a:defRPr kumimoji="0" sz="4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8679</TotalTime>
  <Words>8351</Words>
  <Application>Microsoft Macintosh PowerPoint</Application>
  <PresentationFormat>Custom</PresentationFormat>
  <Paragraphs>1303</Paragraphs>
  <Slides>76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76</vt:i4>
      </vt:variant>
    </vt:vector>
  </HeadingPairs>
  <TitlesOfParts>
    <vt:vector size="83" baseType="lpstr">
      <vt:lpstr>Arial</vt:lpstr>
      <vt:lpstr>Bradley Hand</vt:lpstr>
      <vt:lpstr>Cambria Math</vt:lpstr>
      <vt:lpstr>Chalkduster</vt:lpstr>
      <vt:lpstr>Helvetica Neue</vt:lpstr>
      <vt:lpstr>Helvetica Neue Medium</vt:lpstr>
      <vt:lpstr>21_BasicWhite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cp:lastModifiedBy>Manoj Gupta</cp:lastModifiedBy>
  <cp:revision>1145</cp:revision>
  <dcterms:modified xsi:type="dcterms:W3CDTF">2026-08-10T13:11:42Z</dcterms:modified>
</cp:coreProperties>
</file>