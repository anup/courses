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334" r:id="rId3"/>
    <p:sldId id="335" r:id="rId4"/>
    <p:sldId id="336" r:id="rId5"/>
    <p:sldId id="337" r:id="rId6"/>
    <p:sldId id="338" r:id="rId7"/>
    <p:sldId id="339"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5" r:id="rId31"/>
    <p:sldId id="366" r:id="rId32"/>
    <p:sldId id="376" r:id="rId33"/>
    <p:sldId id="377" r:id="rId34"/>
    <p:sldId id="371" r:id="rId35"/>
    <p:sldId id="372" r:id="rId36"/>
    <p:sldId id="364" r:id="rId37"/>
    <p:sldId id="367" r:id="rId38"/>
    <p:sldId id="368" r:id="rId39"/>
    <p:sldId id="369" r:id="rId40"/>
    <p:sldId id="370" r:id="rId41"/>
    <p:sldId id="373" r:id="rId42"/>
    <p:sldId id="374" r:id="rId43"/>
    <p:sldId id="375" r:id="rId44"/>
    <p:sldId id="381" r:id="rId45"/>
    <p:sldId id="382" r:id="rId46"/>
    <p:sldId id="378" r:id="rId47"/>
    <p:sldId id="379" r:id="rId4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1651"/>
    <a:srgbClr val="42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60"/>
    <p:restoredTop sz="94794"/>
  </p:normalViewPr>
  <p:slideViewPr>
    <p:cSldViewPr snapToGrid="0">
      <p:cViewPr varScale="1">
        <p:scale>
          <a:sx n="81" d="100"/>
          <a:sy n="81" d="100"/>
        </p:scale>
        <p:origin x="12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oumo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7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3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45" name="Bowl with salmon cakes, salad and houmo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4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61595"/>
            <a:lum/>
          </a:blip>
          <a:srcRect/>
          <a:stretch>
            <a:fillRect/>
          </a:stretch>
        </a:blip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Candy: A problem on leetcode"/>
          <p:cNvSpPr/>
          <p:nvPr/>
        </p:nvSpPr>
        <p:spPr>
          <a:xfrm>
            <a:off x="645013" y="1189806"/>
            <a:ext cx="22731560" cy="11470843"/>
          </a:xfrm>
          <a:prstGeom prst="roundRect">
            <a:avLst>
              <a:gd name="adj" fmla="val 1661"/>
            </a:avLst>
          </a:prstGeom>
          <a:noFill/>
          <a:ln w="12700">
            <a:noFill/>
            <a:miter lim="400000"/>
          </a:ln>
          <a:effectLst>
            <a:outerShdw blurRad="355600" dist="114300" rotWithShape="0">
              <a:srgbClr val="000000">
                <a:alpha val="96558"/>
              </a:srgbClr>
            </a:outerShdw>
            <a:reflection stA="50000" endPos="0" dir="5400000" sy="-100000" algn="bl" rotWithShape="0"/>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20000">
                <a:solidFill>
                  <a:srgbClr val="FFFFFF"/>
                </a:solidFill>
                <a:latin typeface="Chalkduster"/>
                <a:ea typeface="Chalkduster"/>
                <a:cs typeface="Chalkduster"/>
                <a:sym typeface="Chalkduster"/>
              </a:defRPr>
            </a:lvl1pPr>
          </a:lstStyle>
          <a:p>
            <a:r>
              <a:rPr lang="en-US" sz="17300" dirty="0">
                <a:latin typeface="Chalkduster" panose="03050602040202020205" pitchFamily="66" charset="77"/>
                <a:cs typeface="Fave Script Bold Pro" panose="020F0502020204030204" pitchFamily="34" charset="0"/>
              </a:rPr>
              <a:t>Arrays and Pointers</a:t>
            </a:r>
            <a:endParaRPr sz="17300" dirty="0">
              <a:latin typeface="Chalkduster" panose="03050602040202020205" pitchFamily="66" charset="77"/>
              <a:cs typeface="Fave Script Bold Pro" panose="020F050202020403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A6DC-0AFE-EFFE-EB3B-03BF352FC95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B1B8E76D-3416-6353-5C2E-1C997423A8BF}"/>
                  </a:ext>
                </a:extLst>
              </p:cNvPr>
              <p:cNvSpPr/>
              <p:nvPr/>
            </p:nvSpPr>
            <p:spPr>
              <a:xfrm>
                <a:off x="730072" y="1882546"/>
                <a:ext cx="10710559" cy="74687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err="1">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 ;</a:t>
                </a:r>
                <a:endParaRPr lang="en-IN" sz="3600" dirty="0">
                  <a:solidFill>
                    <a:schemeClr val="accent4">
                      <a:lumMod val="40000"/>
                      <a:lumOff val="60000"/>
                    </a:schemeClr>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b="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scanf</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“%d %d”, &amp;</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,&amp;</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b</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𝑎</m:t>
                    </m:r>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m:t>
                    </m:r>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𝑏</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B1B8E76D-3416-6353-5C2E-1C997423A8BF}"/>
                  </a:ext>
                </a:extLst>
              </p:cNvPr>
              <p:cNvSpPr>
                <a:spLocks noRot="1" noChangeAspect="1" noMove="1" noResize="1" noEditPoints="1" noAdjustHandles="1" noChangeArrowheads="1" noChangeShapeType="1" noTextEdit="1"/>
              </p:cNvSpPr>
              <p:nvPr/>
            </p:nvSpPr>
            <p:spPr>
              <a:xfrm>
                <a:off x="730072" y="1882546"/>
                <a:ext cx="10710559" cy="746871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0A17E614-19C0-55A2-F52D-0212F7A27727}"/>
                  </a:ext>
                </a:extLst>
              </p:cNvPr>
              <p:cNvSpPr/>
              <p:nvPr/>
            </p:nvSpPr>
            <p:spPr>
              <a:xfrm>
                <a:off x="12943369" y="2772140"/>
                <a:ext cx="10710559"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The variables </a:t>
                </a:r>
                <a14:m>
                  <m:oMath xmlns:m="http://schemas.openxmlformats.org/officeDocument/2006/math">
                    <m:r>
                      <a:rPr lang="en-US" sz="5400" i="1" dirty="0" smtClean="0">
                        <a:solidFill>
                          <a:schemeClr val="bg1"/>
                        </a:solidFill>
                        <a:latin typeface="Cambria Math" panose="02040503050406030204" pitchFamily="18" charset="0"/>
                      </a:rPr>
                      <m:t>𝑎</m:t>
                    </m:r>
                  </m:oMath>
                </a14:m>
                <a:r>
                  <a:rPr lang="en-US" sz="5400" dirty="0">
                    <a:solidFill>
                      <a:schemeClr val="bg1"/>
                    </a:solidFill>
                    <a:latin typeface="Bradley Hand" pitchFamily="2" charset="77"/>
                  </a:rPr>
                  <a:t> and </a:t>
                </a:r>
                <a14:m>
                  <m:oMath xmlns:m="http://schemas.openxmlformats.org/officeDocument/2006/math">
                    <m:r>
                      <a:rPr lang="en-US" sz="5400" i="1" dirty="0" smtClean="0">
                        <a:solidFill>
                          <a:schemeClr val="bg1"/>
                        </a:solidFill>
                        <a:latin typeface="Cambria Math" panose="02040503050406030204" pitchFamily="18" charset="0"/>
                      </a:rPr>
                      <m:t>𝑏</m:t>
                    </m:r>
                  </m:oMath>
                </a14:m>
                <a:r>
                  <a:rPr lang="en-US" sz="5400" dirty="0">
                    <a:solidFill>
                      <a:schemeClr val="bg1"/>
                    </a:solidFill>
                    <a:latin typeface="Bradley Hand" pitchFamily="2" charset="77"/>
                  </a:rPr>
                  <a:t> in </a:t>
                </a:r>
                <a:r>
                  <a:rPr lang="en-US" sz="5400" dirty="0">
                    <a:solidFill>
                      <a:schemeClr val="accent2">
                        <a:lumMod val="40000"/>
                        <a:lumOff val="60000"/>
                      </a:schemeClr>
                    </a:solidFill>
                    <a:latin typeface="Bradley Hand" pitchFamily="2" charset="77"/>
                  </a:rPr>
                  <a:t>sum </a:t>
                </a:r>
                <a:r>
                  <a:rPr lang="en-US" sz="5400" dirty="0">
                    <a:solidFill>
                      <a:schemeClr val="bg1"/>
                    </a:solidFill>
                    <a:latin typeface="Bradley Hand" pitchFamily="2" charset="77"/>
                  </a:rPr>
                  <a:t>is not the same as in main</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The arguments are copied from main to </a:t>
                </a:r>
                <a:r>
                  <a:rPr lang="en-US" sz="5400" dirty="0">
                    <a:solidFill>
                      <a:schemeClr val="accent2">
                        <a:lumMod val="40000"/>
                        <a:lumOff val="60000"/>
                      </a:schemeClr>
                    </a:solidFill>
                    <a:latin typeface="Bradley Hand" pitchFamily="2" charset="77"/>
                  </a:rPr>
                  <a:t>sum</a:t>
                </a:r>
              </a:p>
            </p:txBody>
          </p:sp>
        </mc:Choice>
        <mc:Fallback xmlns="">
          <p:sp>
            <p:nvSpPr>
              <p:cNvPr id="3" name="Rounded Rectangle 2">
                <a:extLst>
                  <a:ext uri="{FF2B5EF4-FFF2-40B4-BE49-F238E27FC236}">
                    <a16:creationId xmlns:a16="http://schemas.microsoft.com/office/drawing/2014/main" id="{0A17E614-19C0-55A2-F52D-0212F7A27727}"/>
                  </a:ext>
                </a:extLst>
              </p:cNvPr>
              <p:cNvSpPr>
                <a:spLocks noRot="1" noChangeAspect="1" noMove="1" noResize="1" noEditPoints="1" noAdjustHandles="1" noChangeArrowheads="1" noChangeShapeType="1" noTextEdit="1"/>
              </p:cNvSpPr>
              <p:nvPr/>
            </p:nvSpPr>
            <p:spPr>
              <a:xfrm>
                <a:off x="12943369" y="2772140"/>
                <a:ext cx="10710559" cy="3791109"/>
              </a:xfrm>
              <a:prstGeom prst="roundRect">
                <a:avLst/>
              </a:prstGeom>
              <a:blipFill>
                <a:blip r:embed="rId3"/>
                <a:stretch>
                  <a:fillRect l="-1060" r="-2473" b="-3618"/>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498015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3C317CDB-7567-BCB3-B1C2-3732DCD5E9D0}"/>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3C317CDB-7567-BCB3-B1C2-3732DCD5E9D0}"/>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8D8011FB-BDA8-AAD8-677E-59BBAC916BAB}"/>
              </a:ext>
            </a:extLst>
          </p:cNvPr>
          <p:cNvSpPr/>
          <p:nvPr/>
        </p:nvSpPr>
        <p:spPr>
          <a:xfrm>
            <a:off x="10823943" y="1637347"/>
            <a:ext cx="12915044"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How is this array passed?</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Is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a copy of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Or is it same as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a:t>
            </a:r>
          </a:p>
        </p:txBody>
      </p:sp>
      <p:sp>
        <p:nvSpPr>
          <p:cNvPr id="4" name="Rounded Rectangle 3">
            <a:extLst>
              <a:ext uri="{FF2B5EF4-FFF2-40B4-BE49-F238E27FC236}">
                <a16:creationId xmlns:a16="http://schemas.microsoft.com/office/drawing/2014/main" id="{96168AE7-4BB1-2021-976E-BA66F8A1A865}"/>
              </a:ext>
            </a:extLst>
          </p:cNvPr>
          <p:cNvSpPr/>
          <p:nvPr/>
        </p:nvSpPr>
        <p:spPr>
          <a:xfrm>
            <a:off x="10823943" y="5263506"/>
            <a:ext cx="12915044"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As a designer of the language, you have these two choices.</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What will be your choice?</a:t>
            </a:r>
          </a:p>
        </p:txBody>
      </p:sp>
      <p:sp>
        <p:nvSpPr>
          <p:cNvPr id="5" name="Rounded Rectangle 4">
            <a:extLst>
              <a:ext uri="{FF2B5EF4-FFF2-40B4-BE49-F238E27FC236}">
                <a16:creationId xmlns:a16="http://schemas.microsoft.com/office/drawing/2014/main" id="{0B7B4905-B9CE-6676-6679-FE82C8F9445A}"/>
              </a:ext>
            </a:extLst>
          </p:cNvPr>
          <p:cNvSpPr/>
          <p:nvPr/>
        </p:nvSpPr>
        <p:spPr>
          <a:xfrm>
            <a:off x="10823943" y="8889665"/>
            <a:ext cx="12915044"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Copying will take huge time just to pass the argument</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 makes sense to make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same as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4175587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B5C1-2CC4-B831-17D8-AACA1F4EABF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AD934B4D-9BD6-D25D-33DB-43F712D781E7}"/>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AD934B4D-9BD6-D25D-33DB-43F712D781E7}"/>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848DA1FA-F9DF-D071-978B-FFDC39E70BB1}"/>
              </a:ext>
            </a:extLst>
          </p:cNvPr>
          <p:cNvSpPr/>
          <p:nvPr/>
        </p:nvSpPr>
        <p:spPr>
          <a:xfrm>
            <a:off x="10823943" y="3175398"/>
            <a:ext cx="12915044"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Pointers</a:t>
            </a:r>
            <a:endParaRPr lang="en-US" sz="5400" dirty="0">
              <a:solidFill>
                <a:schemeClr val="bg1"/>
              </a:solidFill>
              <a:latin typeface="Bradley Hand" pitchFamily="2" charset="77"/>
            </a:endParaRP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 is actually a pointer to an integer</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It means that A contains address of an integer</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Let us explore pointers in details</a:t>
            </a:r>
          </a:p>
        </p:txBody>
      </p:sp>
    </p:spTree>
    <p:extLst>
      <p:ext uri="{BB962C8B-B14F-4D97-AF65-F5344CB8AC3E}">
        <p14:creationId xmlns:p14="http://schemas.microsoft.com/office/powerpoint/2010/main" val="4164816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DA8C1-2B06-CFD2-4C5C-99D5E6A050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EBC93A3E-DC42-A2D2-28FF-FBB34B894A65}"/>
                  </a:ext>
                </a:extLst>
              </p:cNvPr>
              <p:cNvSpPr/>
              <p:nvPr/>
            </p:nvSpPr>
            <p:spPr>
              <a:xfrm>
                <a:off x="645013" y="4043045"/>
                <a:ext cx="9543957" cy="562991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US"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US" sz="3600" dirty="0">
                    <a:solidFill>
                      <a:schemeClr val="accent1">
                        <a:lumMod val="40000"/>
                        <a:lumOff val="60000"/>
                      </a:schemeClr>
                    </a:solidFill>
                    <a:ea typeface="Cambria Math" panose="02040503050406030204" pitchFamily="18" charset="0"/>
                  </a:rPr>
                  <a:t> </a:t>
                </a:r>
                <a14:m>
                  <m:oMath xmlns:m="http://schemas.openxmlformats.org/officeDocument/2006/math">
                    <m:r>
                      <a:rPr lang="en-US" sz="3600" b="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 3;</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𝑝𝑎</m:t>
                    </m:r>
                  </m:oMath>
                </a14:m>
                <a:r>
                  <a:rPr lang="en-IN" sz="3600" dirty="0">
                    <a:solidFill>
                      <a:schemeClr val="bg1"/>
                    </a:solidFill>
                    <a:latin typeface="Cambria Math" panose="02040503050406030204" pitchFamily="18" charset="0"/>
                    <a:ea typeface="Cambria Math" panose="02040503050406030204" pitchFamily="18" charset="0"/>
                  </a:rPr>
                  <a:t> = &amp;</a:t>
                </a:r>
                <a14:m>
                  <m:oMath xmlns:m="http://schemas.openxmlformats.org/officeDocument/2006/math">
                    <m:r>
                      <a:rPr lang="en-US" sz="360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(“%p %p”, &amp;</a:t>
                </a:r>
                <a14:m>
                  <m:oMath xmlns:m="http://schemas.openxmlformats.org/officeDocument/2006/math">
                    <m:r>
                      <a:rPr lang="en-US" sz="360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𝑝𝑎</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 %d”, </a:t>
                </a:r>
                <a14:m>
                  <m:oMath xmlns:m="http://schemas.openxmlformats.org/officeDocument/2006/math">
                    <m:r>
                      <a:rPr lang="en-US" sz="3600" i="1" smtClean="0">
                        <a:solidFill>
                          <a:schemeClr val="accent1">
                            <a:lumMod val="40000"/>
                            <a:lumOff val="60000"/>
                          </a:schemeClr>
                        </a:solidFill>
                        <a:latin typeface="Cambria Math" panose="02040503050406030204" pitchFamily="18" charset="0"/>
                        <a:ea typeface="Cambria Math" panose="02040503050406030204" pitchFamily="18" charset="0"/>
                      </a:rPr>
                      <m:t>𝑎</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𝑝𝑎</m:t>
                    </m:r>
                  </m:oMath>
                </a14:m>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EBC93A3E-DC42-A2D2-28FF-FBB34B894A65}"/>
                  </a:ext>
                </a:extLst>
              </p:cNvPr>
              <p:cNvSpPr>
                <a:spLocks noRot="1" noChangeAspect="1" noMove="1" noResize="1" noEditPoints="1" noAdjustHandles="1" noChangeArrowheads="1" noChangeShapeType="1" noTextEdit="1"/>
              </p:cNvSpPr>
              <p:nvPr/>
            </p:nvSpPr>
            <p:spPr>
              <a:xfrm>
                <a:off x="645013" y="4043045"/>
                <a:ext cx="9543957" cy="5629910"/>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AE4996FE-CFE9-0B66-D8E5-1C2A3BFD44DE}"/>
              </a:ext>
            </a:extLst>
          </p:cNvPr>
          <p:cNvSpPr/>
          <p:nvPr/>
        </p:nvSpPr>
        <p:spPr>
          <a:xfrm>
            <a:off x="10823943" y="5519896"/>
            <a:ext cx="12915044"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The real power of pointer manifests when we are dealing with arrays</a:t>
            </a:r>
          </a:p>
        </p:txBody>
      </p:sp>
    </p:spTree>
    <p:extLst>
      <p:ext uri="{BB962C8B-B14F-4D97-AF65-F5344CB8AC3E}">
        <p14:creationId xmlns:p14="http://schemas.microsoft.com/office/powerpoint/2010/main" val="2488838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F7432-3CA7-34FE-B006-5E46B08A50C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8BD6259E-F7C9-3A24-A575-475C7C94C5FF}"/>
                  </a:ext>
                </a:extLst>
              </p:cNvPr>
              <p:cNvSpPr/>
              <p:nvPr/>
            </p:nvSpPr>
            <p:spPr>
              <a:xfrm>
                <a:off x="645013" y="3123645"/>
                <a:ext cx="9543957" cy="74687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US" sz="3600" b="0" dirty="0">
                    <a:solidFill>
                      <a:schemeClr val="accent1">
                        <a:lumMod val="40000"/>
                        <a:lumOff val="60000"/>
                      </a:schemeClr>
                    </a:solidFill>
                    <a:ea typeface="Cambria Math" panose="02040503050406030204" pitchFamily="18" charset="0"/>
                  </a:rPr>
                  <a:t> </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8BD6259E-F7C9-3A24-A575-475C7C94C5FF}"/>
                  </a:ext>
                </a:extLst>
              </p:cNvPr>
              <p:cNvSpPr>
                <a:spLocks noRot="1" noChangeAspect="1" noMove="1" noResize="1" noEditPoints="1" noAdjustHandles="1" noChangeArrowheads="1" noChangeShapeType="1" noTextEdit="1"/>
              </p:cNvSpPr>
              <p:nvPr/>
            </p:nvSpPr>
            <p:spPr>
              <a:xfrm>
                <a:off x="645013" y="3123645"/>
                <a:ext cx="9543957" cy="746871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136445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BC0E-9846-BF53-4632-240C3948FFE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6DCAA87C-5536-4735-2557-80007F5A3034}"/>
                  </a:ext>
                </a:extLst>
              </p:cNvPr>
              <p:cNvSpPr/>
              <p:nvPr/>
            </p:nvSpPr>
            <p:spPr>
              <a:xfrm>
                <a:off x="664063" y="951945"/>
                <a:ext cx="7565537" cy="74687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US" sz="3600" b="0" dirty="0">
                    <a:solidFill>
                      <a:schemeClr val="accent1">
                        <a:lumMod val="40000"/>
                        <a:lumOff val="60000"/>
                      </a:schemeClr>
                    </a:solidFill>
                    <a:ea typeface="Cambria Math" panose="02040503050406030204" pitchFamily="18" charset="0"/>
                  </a:rPr>
                  <a:t> </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6DCAA87C-5536-4735-2557-80007F5A3034}"/>
                  </a:ext>
                </a:extLst>
              </p:cNvPr>
              <p:cNvSpPr>
                <a:spLocks noRot="1" noChangeAspect="1" noMove="1" noResize="1" noEditPoints="1" noAdjustHandles="1" noChangeArrowheads="1" noChangeShapeType="1" noTextEdit="1"/>
              </p:cNvSpPr>
              <p:nvPr/>
            </p:nvSpPr>
            <p:spPr>
              <a:xfrm>
                <a:off x="664063" y="951945"/>
                <a:ext cx="7565537" cy="746871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A6E0580C-7F1F-3519-E06E-D50485C54101}"/>
                  </a:ext>
                </a:extLst>
              </p:cNvPr>
              <p:cNvSpPr/>
              <p:nvPr/>
            </p:nvSpPr>
            <p:spPr>
              <a:xfrm>
                <a:off x="8428281" y="1258411"/>
                <a:ext cx="7565537" cy="685577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A6E0580C-7F1F-3519-E06E-D50485C54101}"/>
                  </a:ext>
                </a:extLst>
              </p:cNvPr>
              <p:cNvSpPr>
                <a:spLocks noRot="1" noChangeAspect="1" noMove="1" noResize="1" noEditPoints="1" noAdjustHandles="1" noChangeArrowheads="1" noChangeShapeType="1" noTextEdit="1"/>
              </p:cNvSpPr>
              <p:nvPr/>
            </p:nvSpPr>
            <p:spPr>
              <a:xfrm>
                <a:off x="8428281" y="1258411"/>
                <a:ext cx="7565537" cy="6855778"/>
              </a:xfrm>
              <a:prstGeom prst="roundRect">
                <a:avLst/>
              </a:prstGeom>
              <a:blipFill>
                <a:blip r:embed="rId3"/>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AC7C02A7-C627-1AF2-391B-ECFEED3E01DF}"/>
                  </a:ext>
                </a:extLst>
              </p:cNvPr>
              <p:cNvSpPr/>
              <p:nvPr/>
            </p:nvSpPr>
            <p:spPr>
              <a:xfrm>
                <a:off x="16380313" y="1258411"/>
                <a:ext cx="7565537" cy="685577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dirty="0">
                        <a:solidFill>
                          <a:schemeClr val="accent1">
                            <a:lumMod val="40000"/>
                            <a:lumOff val="60000"/>
                          </a:schemeClr>
                        </a:solidFill>
                        <a:latin typeface="Cambria Math" panose="02040503050406030204" pitchFamily="18" charset="0"/>
                        <a:ea typeface="Cambria Math" panose="02040503050406030204" pitchFamily="18" charset="0"/>
                      </a:rPr>
                      <m:t>∗</m:t>
                    </m:r>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36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0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600" dirty="0">
                    <a:solidFill>
                      <a:schemeClr val="bg1"/>
                    </a:solidFill>
                    <a:latin typeface="Cambria Math" panose="02040503050406030204" pitchFamily="18" charset="0"/>
                    <a:ea typeface="Cambria Math" panose="02040503050406030204" pitchFamily="18" charset="0"/>
                  </a:rPr>
                  <a:t>&lt; 5 ;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(“%d”,</a:t>
                </a:r>
                <a14:m>
                  <m:oMath xmlns:m="http://schemas.openxmlformats.org/officeDocument/2006/math">
                    <m:r>
                      <a:rPr lang="en-US" sz="3600" b="0" i="1" dirty="0" smtClean="0">
                        <a:solidFill>
                          <a:schemeClr val="accent1">
                            <a:lumMod val="40000"/>
                            <a:lumOff val="60000"/>
                          </a:schemeClr>
                        </a:solidFill>
                        <a:latin typeface="Cambria Math" panose="02040503050406030204" pitchFamily="18" charset="0"/>
                        <a:ea typeface="Cambria Math" panose="02040503050406030204" pitchFamily="18" charset="0"/>
                      </a:rPr>
                      <m:t>𝑝</m:t>
                    </m:r>
                  </m:oMath>
                </a14:m>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4" name="Rounded Rectangle 3">
                <a:extLst>
                  <a:ext uri="{FF2B5EF4-FFF2-40B4-BE49-F238E27FC236}">
                    <a16:creationId xmlns:a16="http://schemas.microsoft.com/office/drawing/2014/main" id="{AC7C02A7-C627-1AF2-391B-ECFEED3E01DF}"/>
                  </a:ext>
                </a:extLst>
              </p:cNvPr>
              <p:cNvSpPr>
                <a:spLocks noRot="1" noChangeAspect="1" noMove="1" noResize="1" noEditPoints="1" noAdjustHandles="1" noChangeArrowheads="1" noChangeShapeType="1" noTextEdit="1"/>
              </p:cNvSpPr>
              <p:nvPr/>
            </p:nvSpPr>
            <p:spPr>
              <a:xfrm>
                <a:off x="16380313" y="1258411"/>
                <a:ext cx="7565537" cy="6855778"/>
              </a:xfrm>
              <a:prstGeom prst="roundRect">
                <a:avLst/>
              </a:prstGeom>
              <a:blipFill>
                <a:blip r:embed="rId4"/>
                <a:stretch>
                  <a:fillRect/>
                </a:stretch>
              </a:blipFill>
              <a:ln w="63500" cap="flat">
                <a:solidFill>
                  <a:schemeClr val="tx1"/>
                </a:solidFill>
                <a:miter lim="400000"/>
              </a:ln>
              <a:effectLst/>
            </p:spPr>
            <p:txBody>
              <a:bodyPr/>
              <a:lstStyle/>
              <a:p>
                <a:r>
                  <a:rPr lang="en-US">
                    <a:noFill/>
                  </a:rPr>
                  <a:t> </a:t>
                </a:r>
              </a:p>
            </p:txBody>
          </p:sp>
        </mc:Fallback>
      </mc:AlternateContent>
      <p:sp>
        <p:nvSpPr>
          <p:cNvPr id="5" name="Rounded Rectangle 4">
            <a:extLst>
              <a:ext uri="{FF2B5EF4-FFF2-40B4-BE49-F238E27FC236}">
                <a16:creationId xmlns:a16="http://schemas.microsoft.com/office/drawing/2014/main" id="{94C1BD95-1F4B-FC47-C858-F11B20492D1F}"/>
              </a:ext>
            </a:extLst>
          </p:cNvPr>
          <p:cNvSpPr/>
          <p:nvPr/>
        </p:nvSpPr>
        <p:spPr>
          <a:xfrm>
            <a:off x="664062" y="9425146"/>
            <a:ext cx="23034137"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a:t>
            </a:r>
            <a:r>
              <a:rPr lang="en-US" sz="5400" dirty="0" err="1">
                <a:solidFill>
                  <a:schemeClr val="bg1"/>
                </a:solidFill>
                <a:latin typeface="Bradley Hand" pitchFamily="2" charset="77"/>
              </a:rPr>
              <a:t>p+i</a:t>
            </a:r>
            <a:r>
              <a:rPr lang="en-US" sz="5400" dirty="0">
                <a:solidFill>
                  <a:schemeClr val="bg1"/>
                </a:solidFill>
                <a:latin typeface="Bradley Hand" pitchFamily="2" charset="77"/>
              </a:rPr>
              <a:t>) – go to the address (</a:t>
            </a:r>
            <a:r>
              <a:rPr lang="en-US" sz="5400" dirty="0" err="1">
                <a:solidFill>
                  <a:schemeClr val="bg1"/>
                </a:solidFill>
                <a:latin typeface="Bradley Hand" pitchFamily="2" charset="77"/>
              </a:rPr>
              <a:t>p+i</a:t>
            </a:r>
            <a:r>
              <a:rPr lang="en-US" sz="5400" dirty="0">
                <a:solidFill>
                  <a:schemeClr val="bg1"/>
                </a:solidFill>
                <a:latin typeface="Bradley Hand" pitchFamily="2" charset="77"/>
              </a:rPr>
              <a:t>) and then fetch the value there</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p[</a:t>
            </a:r>
            <a:r>
              <a:rPr lang="en-US" sz="5400" dirty="0" err="1">
                <a:solidFill>
                  <a:schemeClr val="bg1"/>
                </a:solidFill>
                <a:latin typeface="Bradley Hand" pitchFamily="2" charset="77"/>
              </a:rPr>
              <a:t>i</a:t>
            </a:r>
            <a:r>
              <a:rPr lang="en-US" sz="5400" dirty="0">
                <a:solidFill>
                  <a:schemeClr val="bg1"/>
                </a:solidFill>
                <a:latin typeface="Bradley Hand" pitchFamily="2" charset="77"/>
              </a:rPr>
              <a:t>] is same as *(</a:t>
            </a:r>
            <a:r>
              <a:rPr lang="en-US" sz="5400" dirty="0" err="1">
                <a:solidFill>
                  <a:schemeClr val="bg1"/>
                </a:solidFill>
                <a:latin typeface="Bradley Hand" pitchFamily="2" charset="77"/>
              </a:rPr>
              <a:t>p+i</a:t>
            </a:r>
            <a:r>
              <a:rPr lang="en-US" sz="5400" dirty="0">
                <a:solidFill>
                  <a:schemeClr val="bg1"/>
                </a:solidFill>
                <a:latin typeface="Bradley Hand" pitchFamily="2" charset="77"/>
              </a:rPr>
              <a:t>)</a:t>
            </a:r>
          </a:p>
        </p:txBody>
      </p:sp>
    </p:spTree>
    <p:extLst>
      <p:ext uri="{BB962C8B-B14F-4D97-AF65-F5344CB8AC3E}">
        <p14:creationId xmlns:p14="http://schemas.microsoft.com/office/powerpoint/2010/main" val="2575943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01077-EAFE-4A7D-F635-93772E68795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358CC9C7-9059-8955-0DFA-EE55B66FB193}"/>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358CC9C7-9059-8955-0DFA-EE55B66FB193}"/>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AC974EE5-BDB6-82BB-5023-2D74E1362CD2}"/>
              </a:ext>
            </a:extLst>
          </p:cNvPr>
          <p:cNvSpPr/>
          <p:nvPr/>
        </p:nvSpPr>
        <p:spPr>
          <a:xfrm>
            <a:off x="10823943" y="2556747"/>
            <a:ext cx="12915044"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is a pointer to the first element of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3979626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EFE2A-4FB2-39CF-6399-53A9D2FC392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E2E97EA1-EF93-DC54-8676-8977DD8C0CCE}"/>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E2E97EA1-EF93-DC54-8676-8977DD8C0CCE}"/>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DEAF3237-ABE1-A26C-67C4-1D82032CEE18}"/>
              </a:ext>
            </a:extLst>
          </p:cNvPr>
          <p:cNvSpPr/>
          <p:nvPr/>
        </p:nvSpPr>
        <p:spPr>
          <a:xfrm>
            <a:off x="10823943" y="2556747"/>
            <a:ext cx="12915044"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is a pointer to the first element of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3435429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7909-F676-9299-D5A9-B07B65253BA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5CDBED4D-DDFE-D338-A8EA-BBE7CCC91166}"/>
                  </a:ext>
                </a:extLst>
              </p:cNvPr>
              <p:cNvSpPr/>
              <p:nvPr/>
            </p:nvSpPr>
            <p:spPr>
              <a:xfrm>
                <a:off x="645013" y="1941135"/>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0;</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6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6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6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total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6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sum</a:t>
                </a:r>
                <a:r>
                  <a:rPr lang="en-IN" sz="3600" dirty="0">
                    <a:solidFill>
                      <a:schemeClr val="bg1"/>
                    </a:solidFill>
                    <a:latin typeface="Cambria Math" panose="02040503050406030204" pitchFamily="18" charset="0"/>
                    <a:ea typeface="Cambria Math" panose="02040503050406030204" pitchFamily="18" charset="0"/>
                  </a:rPr>
                  <a:t>(</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5);</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5CDBED4D-DDFE-D338-A8EA-BBE7CCC91166}"/>
                  </a:ext>
                </a:extLst>
              </p:cNvPr>
              <p:cNvSpPr>
                <a:spLocks noRot="1" noChangeAspect="1" noMove="1" noResize="1" noEditPoints="1" noAdjustHandles="1" noChangeArrowheads="1" noChangeShapeType="1" noTextEdit="1"/>
              </p:cNvSpPr>
              <p:nvPr/>
            </p:nvSpPr>
            <p:spPr>
              <a:xfrm>
                <a:off x="645013" y="1941135"/>
                <a:ext cx="9543957" cy="9833729"/>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E9B730F4-620D-3BB8-5467-5D684B502FCF}"/>
              </a:ext>
            </a:extLst>
          </p:cNvPr>
          <p:cNvSpPr/>
          <p:nvPr/>
        </p:nvSpPr>
        <p:spPr>
          <a:xfrm>
            <a:off x="10823943" y="2556747"/>
            <a:ext cx="12915044"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is a pointer to the first element of </a:t>
            </a:r>
            <a:r>
              <a:rPr lang="en-US" sz="5400" dirty="0">
                <a:solidFill>
                  <a:schemeClr val="accent1">
                    <a:lumMod val="40000"/>
                    <a:lumOff val="60000"/>
                  </a:schemeClr>
                </a:solidFill>
                <a:latin typeface="Bradley Hand" pitchFamily="2" charset="77"/>
              </a:rPr>
              <a:t>num</a:t>
            </a:r>
          </a:p>
        </p:txBody>
      </p:sp>
    </p:spTree>
    <p:extLst>
      <p:ext uri="{BB962C8B-B14F-4D97-AF65-F5344CB8AC3E}">
        <p14:creationId xmlns:p14="http://schemas.microsoft.com/office/powerpoint/2010/main" val="56921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C509BD2-BEC3-B075-724E-2CD2AE006020}"/>
              </a:ext>
            </a:extLst>
          </p:cNvPr>
          <p:cNvSpPr/>
          <p:nvPr/>
        </p:nvSpPr>
        <p:spPr>
          <a:xfrm>
            <a:off x="684456" y="537447"/>
            <a:ext cx="23015087"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dirty="0">
                <a:solidFill>
                  <a:schemeClr val="bg1"/>
                </a:solidFill>
                <a:latin typeface="Bradley Hand" pitchFamily="2" charset="77"/>
              </a:rPr>
              <a:t>Write a function that reverses the array</a:t>
            </a:r>
          </a:p>
        </p:txBody>
      </p:sp>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D31A20E5-3914-3668-DC93-26F192ADF65B}"/>
                  </a:ext>
                </a:extLst>
              </p:cNvPr>
              <p:cNvSpPr/>
              <p:nvPr/>
            </p:nvSpPr>
            <p:spPr>
              <a:xfrm>
                <a:off x="684456" y="1963539"/>
                <a:ext cx="9543957"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D31A20E5-3914-3668-DC93-26F192ADF65B}"/>
                  </a:ext>
                </a:extLst>
              </p:cNvPr>
              <p:cNvSpPr>
                <a:spLocks noRot="1" noChangeAspect="1" noMove="1" noResize="1" noEditPoints="1" noAdjustHandles="1" noChangeArrowheads="1" noChangeShapeType="1" noTextEdit="1"/>
              </p:cNvSpPr>
              <p:nvPr/>
            </p:nvSpPr>
            <p:spPr>
              <a:xfrm>
                <a:off x="684456" y="1963539"/>
                <a:ext cx="9543957"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815505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0A35-BD3E-C160-E37F-0473D62FA0C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DC88E689-8911-C23A-3B53-C12DFCFCC876}"/>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DC88E689-8911-C23A-3B53-C12DFCFCC876}"/>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5BF76697-4B1A-EF24-2DCF-E1C97F431FCA}"/>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5DB19CC3-EC0E-3D6B-7C9E-19BF8171653D}"/>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0CE6EEC5-CB0E-0E16-4AB3-CF083B689B28}"/>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90ECE364-CFB6-E38B-B684-C70059287429}"/>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2624D045-105A-1B6D-079A-6886F1D5FF0A}"/>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C95E6B38-AFF5-942A-D9CE-EEE35640BF43}"/>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5E8CBB81-6B5D-C364-A35D-7DA220DFA981}"/>
              </a:ext>
            </a:extLst>
          </p:cNvPr>
          <p:cNvSpPr/>
          <p:nvPr/>
        </p:nvSpPr>
        <p:spPr>
          <a:xfrm>
            <a:off x="589207" y="2979667"/>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313AAA9A-FE50-D3C4-89E3-2162E7F7593C}"/>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F191F6BA-B37F-9907-3DD0-54A410545A40}"/>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38027D3A-FC57-3474-E2A8-58D60D258FF9}"/>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341108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25FC-84A5-12A2-638A-56C13BA498A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AA804EE5-0090-F341-4328-6872A9323B8F}"/>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0" name="Rounded Rectangle 9">
                <a:extLst>
                  <a:ext uri="{FF2B5EF4-FFF2-40B4-BE49-F238E27FC236}">
                    <a16:creationId xmlns:a16="http://schemas.microsoft.com/office/drawing/2014/main" id="{AA804EE5-0090-F341-4328-6872A9323B8F}"/>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5A4C761B-CEBF-1377-2537-29AEACD7B5D2}"/>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45442EEB-4976-9503-FD50-3B29287D653B}"/>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65685039-71B3-B089-44A3-51201656B594}"/>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B65E7E36-7516-A8BB-16E1-BB68111B07E4}"/>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AD38CC7F-8882-CC5D-AFDC-F478781D2881}"/>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C6B479E3-335F-DBA0-C1E8-0C0B781B9101}"/>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E9431F11-F563-A5C7-2D0E-71ED28DCD69D}"/>
              </a:ext>
            </a:extLst>
          </p:cNvPr>
          <p:cNvSpPr/>
          <p:nvPr/>
        </p:nvSpPr>
        <p:spPr>
          <a:xfrm>
            <a:off x="589207" y="3461943"/>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9FC3B92B-1106-3036-6DB5-124472BBCD47}"/>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46AEEF7A-4517-357B-FC90-4BE2F4348188}"/>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FE7FDFAD-DA5A-0F9D-A98A-1A57E4ECC0C3}"/>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DCD26841-5D3C-E24E-8088-7F28E82A4874}"/>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Tree>
    <p:extLst>
      <p:ext uri="{BB962C8B-B14F-4D97-AF65-F5344CB8AC3E}">
        <p14:creationId xmlns:p14="http://schemas.microsoft.com/office/powerpoint/2010/main" val="4105933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BA412-347E-A900-AF3B-BE31E706255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39D9C77A-C2A1-250E-4C06-FC68AE271DB6}"/>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39D9C77A-C2A1-250E-4C06-FC68AE271DB6}"/>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D93567E1-FB81-E33E-9AD7-6B5F6E2E9A1D}"/>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F48B11D5-A852-C3FF-BC5C-8862ADAB45CB}"/>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3A51EAF6-2325-58A2-25DF-677CDE4396A2}"/>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4C12DCA1-7B22-6D13-5F75-67CAE9A75BEC}"/>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AD8AC7E4-EAB9-FD24-3462-F1E419E21A5E}"/>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68B00506-D7E7-24C7-ADF7-0670022A0E1B}"/>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B53BC18B-B3B7-3489-7F8D-C34FF2ADA0AC}"/>
              </a:ext>
            </a:extLst>
          </p:cNvPr>
          <p:cNvSpPr/>
          <p:nvPr/>
        </p:nvSpPr>
        <p:spPr>
          <a:xfrm>
            <a:off x="589207" y="3964791"/>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9B12A7AA-8B74-8FA5-A214-BBBB20144003}"/>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8A60BAA7-1EE7-BC5C-6898-64A007B2B8CC}"/>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BF2FEFF5-2D3E-D8BA-251F-A1E9C21FF0E4}"/>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62173C96-B45B-CE0B-578C-1267D07A8A08}"/>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1D1026BA-A8FA-CB78-BB47-8079A6400197}"/>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48EA556C-B04E-BE5F-C6AE-80C7C203B9F1}"/>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2900126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5B134-1313-1A3F-D3DB-A6D6D0D4F0B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C838447C-6BDE-9671-6E09-DFE7DEA05371}"/>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C838447C-6BDE-9671-6E09-DFE7DEA05371}"/>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BF04CF90-95F6-EC85-982F-B4030605AD11}"/>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5" name="Rounded Rectangle 4">
            <a:extLst>
              <a:ext uri="{FF2B5EF4-FFF2-40B4-BE49-F238E27FC236}">
                <a16:creationId xmlns:a16="http://schemas.microsoft.com/office/drawing/2014/main" id="{4B53D2C0-A527-9BA0-285A-367A2D490CA9}"/>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78BC96F1-2CA4-6AEE-01F9-8171D7D125FE}"/>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92E78149-19CE-64A2-2255-C5466EDD1E9A}"/>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798098C2-0F43-5C56-EFB2-638034F20FEF}"/>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E4F82EBF-AF59-044F-7985-EF48A4EE6DE2}"/>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11" name="Rounded Rectangle 10">
            <a:extLst>
              <a:ext uri="{FF2B5EF4-FFF2-40B4-BE49-F238E27FC236}">
                <a16:creationId xmlns:a16="http://schemas.microsoft.com/office/drawing/2014/main" id="{961CBE24-F127-10CC-E507-67182DA3ECE3}"/>
              </a:ext>
            </a:extLst>
          </p:cNvPr>
          <p:cNvSpPr/>
          <p:nvPr/>
        </p:nvSpPr>
        <p:spPr>
          <a:xfrm>
            <a:off x="589207" y="4945199"/>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AF4FFA34-3E11-ADD1-F623-D0938338CD0C}"/>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BAC11688-CA2D-5E53-7CE1-9DAEA4C72275}"/>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F40002EB-680B-94C3-CB9A-87975EC41722}"/>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862D24B0-7E20-E04F-C067-077C6030F48F}"/>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E5DF7F20-3843-ED0E-28CB-AAD052CD9693}"/>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B57D7D0D-293E-8DD5-F858-901D1F428F5E}"/>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129323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1B0E8-0D87-46E6-7C8B-1E43596B757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BEA24871-14CF-6A9C-2E77-0AA7D79F4E62}"/>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BEA24871-14CF-6A9C-2E77-0AA7D79F4E62}"/>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7886FF6A-9A30-2DBB-80DF-17EDD08C9AA9}"/>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CF85A928-F112-A772-2D34-11E0F9E84BBA}"/>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AA3AE39B-B136-348C-B83F-A24821DE4C98}"/>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4B27789B-C4D9-20C1-93BC-2DA966C17B0A}"/>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ED7EBA4B-36FA-869A-2E62-FEBB7F31CE69}"/>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4FE59398-85D2-867C-F072-442B6EE58F12}"/>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03B305A3-2E24-721D-2C3A-738846EBD47F}"/>
              </a:ext>
            </a:extLst>
          </p:cNvPr>
          <p:cNvSpPr/>
          <p:nvPr/>
        </p:nvSpPr>
        <p:spPr>
          <a:xfrm>
            <a:off x="589207" y="6397178"/>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597EE09F-A606-9E01-5A2B-B63B5E3AE6E2}"/>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C734DF67-D650-EC97-7D6C-5C3FB76073DD}"/>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42276E50-0F34-1A8A-7F41-7AE570EE04DF}"/>
              </a:ext>
            </a:extLst>
          </p:cNvPr>
          <p:cNvSpPr/>
          <p:nvPr/>
        </p:nvSpPr>
        <p:spPr>
          <a:xfrm rot="16200000">
            <a:off x="10273571" y="3491499"/>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C799548B-628F-B438-F120-E9D7379561A7}"/>
              </a:ext>
            </a:extLst>
          </p:cNvPr>
          <p:cNvSpPr/>
          <p:nvPr/>
        </p:nvSpPr>
        <p:spPr>
          <a:xfrm>
            <a:off x="10144483" y="5216078"/>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A93EF7BB-23B7-A04E-4396-2E394C04A5A8}"/>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C98A98B1-C95A-2514-B5A2-6EA4CB511FA5}"/>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40217204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77DE2-3DB8-03B1-4231-FA30A82FE15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BDE51378-7B0E-286E-9706-DCD921C089C1}"/>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BDE51378-7B0E-286E-9706-DCD921C089C1}"/>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5FBCCBF8-F3D7-21EF-24C9-49D25B48B5DB}"/>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E55D2EE8-CBFF-09AB-37BA-A2BDDE28B62C}"/>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E03225A7-52CD-B923-4131-C1BAC691BBAA}"/>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F00CCD09-828E-FBBD-6957-CFA0BFE7B82A}"/>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B0935499-7402-A56B-20E7-FECC11BCA801}"/>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144A6871-6144-73E2-1E4E-A56185869492}"/>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A5E9E875-CADE-F29D-76AE-2A3586D65B6A}"/>
              </a:ext>
            </a:extLst>
          </p:cNvPr>
          <p:cNvSpPr/>
          <p:nvPr/>
        </p:nvSpPr>
        <p:spPr>
          <a:xfrm>
            <a:off x="589207" y="697230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3E0F6DF2-57CD-363A-598A-DD30733F220F}"/>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AE45A493-C552-9FED-8A27-A93AAE5195FE}"/>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277F9808-182D-1D54-3C5E-0A1CCF1F50D7}"/>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FA7D33B7-F339-AD25-0CF5-61D6C4077110}"/>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C49331FE-A275-EB3D-9FE4-D98D07C0D91A}"/>
              </a:ext>
            </a:extLst>
          </p:cNvPr>
          <p:cNvSpPr/>
          <p:nvPr/>
        </p:nvSpPr>
        <p:spPr>
          <a:xfrm rot="16200000">
            <a:off x="20404177"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63FF2AB3-F708-EDC6-13F4-3693BEBD06A3}"/>
              </a:ext>
            </a:extLst>
          </p:cNvPr>
          <p:cNvSpPr/>
          <p:nvPr/>
        </p:nvSpPr>
        <p:spPr>
          <a:xfrm>
            <a:off x="20308463"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140408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9CEBE-E883-DB73-1062-3724CDE688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AAA510F5-FEC5-7328-844D-AC70D60B32B5}"/>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AAA510F5-FEC5-7328-844D-AC70D60B32B5}"/>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46DB3361-6654-5EA5-7E42-304994663186}"/>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62620230-A236-F93C-F99D-6D62D9B60D99}"/>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20D47D37-92AF-E300-5ED7-3774A6733228}"/>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EBBE4A4D-C537-104C-5FED-7843D7B3CE9F}"/>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74F22A51-A4E2-70C3-0A08-02BDC050C03B}"/>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A8DBBA75-AC03-DE47-273C-55E3A85DAF60}"/>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FEC6DC51-4588-9A71-4B23-253D6DDDB884}"/>
              </a:ext>
            </a:extLst>
          </p:cNvPr>
          <p:cNvSpPr/>
          <p:nvPr/>
        </p:nvSpPr>
        <p:spPr>
          <a:xfrm>
            <a:off x="589207" y="3985023"/>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0086013C-119E-ABB9-C31D-201C9C9E74CF}"/>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ABEA894D-3F01-9095-8706-1B84E9D0B913}"/>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ABABD246-921C-8BD7-6F24-4038544199BA}"/>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46795D2E-78D6-A1B3-C4D8-6DA1B09E8269}"/>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2339246C-4D60-E191-3843-39A79A70DC2A}"/>
              </a:ext>
            </a:extLst>
          </p:cNvPr>
          <p:cNvSpPr/>
          <p:nvPr/>
        </p:nvSpPr>
        <p:spPr>
          <a:xfrm rot="16200000">
            <a:off x="18466564"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6B67EE3C-C4E3-6F6C-BFA5-1C2D2C36103A}"/>
              </a:ext>
            </a:extLst>
          </p:cNvPr>
          <p:cNvSpPr/>
          <p:nvPr/>
        </p:nvSpPr>
        <p:spPr>
          <a:xfrm>
            <a:off x="18370850"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233837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C250A-6CB8-14B6-FD5E-0781B5BA724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85594ED7-806C-66AE-113E-08272A21D6D2}"/>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85594ED7-806C-66AE-113E-08272A21D6D2}"/>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AC41EED2-3FC1-6579-AC8D-EB7378A61B30}"/>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01FCB371-3EEA-A546-33FF-A554B1D8C24B}"/>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6" name="Rounded Rectangle 5">
            <a:extLst>
              <a:ext uri="{FF2B5EF4-FFF2-40B4-BE49-F238E27FC236}">
                <a16:creationId xmlns:a16="http://schemas.microsoft.com/office/drawing/2014/main" id="{8184F0CB-C8F6-D480-3FD9-567F9A0134F6}"/>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10ADE14E-3B52-892E-C0DE-39B8FFFD0CDF}"/>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92E85367-37F6-0F2F-4CB8-505B935C24E4}"/>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9" name="Rounded Rectangle 8">
            <a:extLst>
              <a:ext uri="{FF2B5EF4-FFF2-40B4-BE49-F238E27FC236}">
                <a16:creationId xmlns:a16="http://schemas.microsoft.com/office/drawing/2014/main" id="{6FDEFE0C-95CD-A3FA-AE29-F0DFB787A8CE}"/>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F9033998-C3E4-79B2-12DE-21C81D05551E}"/>
              </a:ext>
            </a:extLst>
          </p:cNvPr>
          <p:cNvSpPr/>
          <p:nvPr/>
        </p:nvSpPr>
        <p:spPr>
          <a:xfrm>
            <a:off x="589207" y="4960524"/>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EF3DC5AB-960C-CE7A-CBEC-01D38E951544}"/>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216F207D-EC98-D828-F766-88706BB79CBE}"/>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3AE19D3D-1528-4576-4BA5-40E803CDA0A0}"/>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E313B9C4-F570-B04B-738A-EA1D94B50104}"/>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7CDADA0C-DE64-4204-CB79-56CEEDDEA9E2}"/>
              </a:ext>
            </a:extLst>
          </p:cNvPr>
          <p:cNvSpPr/>
          <p:nvPr/>
        </p:nvSpPr>
        <p:spPr>
          <a:xfrm rot="16200000">
            <a:off x="18466564"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AB9DAB7C-D251-DD2E-5761-0563C6386738}"/>
              </a:ext>
            </a:extLst>
          </p:cNvPr>
          <p:cNvSpPr/>
          <p:nvPr/>
        </p:nvSpPr>
        <p:spPr>
          <a:xfrm>
            <a:off x="18370850"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1680576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0D73-34D9-8258-9B83-3E2BE91EA61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CD4FFD03-E49D-43A5-1DCA-75D32F9E4CE0}"/>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CD4FFD03-E49D-43A5-1DCA-75D32F9E4CE0}"/>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DF0D4ACF-2035-6732-BE7C-E121FFB5A4F6}"/>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FBC733A1-DD34-FDCB-2530-405D69A8D1E4}"/>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E6A8C5BC-2092-A4D6-71FF-236BDC236852}"/>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BCD57D07-DC3D-0ABE-3145-E2175621ED93}"/>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72E59B59-310C-4495-0AC2-CE3E1B7BE710}"/>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2D833892-3728-721F-1BE4-2E968522CF26}"/>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D94029EC-DD0D-E8C3-FE06-00FDA8022B30}"/>
              </a:ext>
            </a:extLst>
          </p:cNvPr>
          <p:cNvSpPr/>
          <p:nvPr/>
        </p:nvSpPr>
        <p:spPr>
          <a:xfrm>
            <a:off x="589207" y="641985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706EFE98-9AF6-F2C1-3C6E-161EF9358219}"/>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A99A11E5-DEFC-E82C-E3D2-B9DBBB7601D2}"/>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F944233B-3F12-7756-BF89-B1B28266EF14}"/>
              </a:ext>
            </a:extLst>
          </p:cNvPr>
          <p:cNvSpPr/>
          <p:nvPr/>
        </p:nvSpPr>
        <p:spPr>
          <a:xfrm rot="16200000">
            <a:off x="1236505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C04DE7C8-006D-3134-A32E-6A54F0DB74CA}"/>
              </a:ext>
            </a:extLst>
          </p:cNvPr>
          <p:cNvSpPr/>
          <p:nvPr/>
        </p:nvSpPr>
        <p:spPr>
          <a:xfrm>
            <a:off x="12283598"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1BC68FC8-56BE-B147-FDBE-D876AF085737}"/>
              </a:ext>
            </a:extLst>
          </p:cNvPr>
          <p:cNvSpPr/>
          <p:nvPr/>
        </p:nvSpPr>
        <p:spPr>
          <a:xfrm rot="16200000">
            <a:off x="18466564"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C05F30C6-6A6F-31E0-91FF-EA0368131D46}"/>
              </a:ext>
            </a:extLst>
          </p:cNvPr>
          <p:cNvSpPr/>
          <p:nvPr/>
        </p:nvSpPr>
        <p:spPr>
          <a:xfrm>
            <a:off x="18370850"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2712121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318B-9063-9701-329E-2596C7398B2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E7E104AB-FD12-AC7B-BECE-219501141C64}"/>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E7E104AB-FD12-AC7B-BECE-219501141C64}"/>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A56F5B23-245C-D10C-5EB7-4C83B320D25F}"/>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865A3CDD-589F-FC7A-5BAA-669BF91858B5}"/>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5D66729D-2D51-EB0F-1CAD-3674F8BCC10A}"/>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B3C40809-0132-E506-F136-26578781A277}"/>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9F54D6C4-A66B-E596-B8BB-FC6BEE3214C3}"/>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6FFFFCAE-65E8-AFCC-26F0-9ECD88CC80FD}"/>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3240E27E-4C48-8375-F331-69BBDD80E6D9}"/>
              </a:ext>
            </a:extLst>
          </p:cNvPr>
          <p:cNvSpPr/>
          <p:nvPr/>
        </p:nvSpPr>
        <p:spPr>
          <a:xfrm>
            <a:off x="573787" y="3978396"/>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498B1B1E-D857-AA46-5AE8-A5FC128BDD70}"/>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F5BB881F-D5CB-1FEC-133C-71400FFD9ABA}"/>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8D703DC2-5E5C-DD11-1E21-5F30EA5CB01B}"/>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4A695C51-9C0B-9D7F-7797-03AD177F813F}"/>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9238D8C7-29B8-2F61-4CA2-3FD3FEC9BE0A}"/>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40FC3738-CE0C-97D2-6B6F-DFF50605DDF7}"/>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581222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EB0A-A741-4D3C-CE55-14A33113657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B9BA8FC2-E818-3D36-4A9D-35F0AB3B9DDC}"/>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B9BA8FC2-E818-3D36-4A9D-35F0AB3B9DDC}"/>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FE197C57-8563-3601-0BBC-5B64F74BC353}"/>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6BD649F0-E34B-4CA5-B986-C38108464CBE}"/>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48067910-F912-06AF-8840-0824A973C446}"/>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3</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7" name="Rounded Rectangle 6">
            <a:extLst>
              <a:ext uri="{FF2B5EF4-FFF2-40B4-BE49-F238E27FC236}">
                <a16:creationId xmlns:a16="http://schemas.microsoft.com/office/drawing/2014/main" id="{06E0A830-C26F-DEA0-8282-101B37B83C59}"/>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4</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8" name="Rounded Rectangle 7">
            <a:extLst>
              <a:ext uri="{FF2B5EF4-FFF2-40B4-BE49-F238E27FC236}">
                <a16:creationId xmlns:a16="http://schemas.microsoft.com/office/drawing/2014/main" id="{6DD2C554-6C57-46D0-4299-2C91B3A1E44B}"/>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B8C9C7E0-F08F-EB2B-5B3F-89F05DCBCFDA}"/>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B90EE719-BC54-2744-6FC9-1227B0106AE3}"/>
              </a:ext>
            </a:extLst>
          </p:cNvPr>
          <p:cNvSpPr/>
          <p:nvPr/>
        </p:nvSpPr>
        <p:spPr>
          <a:xfrm>
            <a:off x="573787" y="497456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C0FC645B-AFE0-9811-7448-32BAEC588964}"/>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71693934-7EEE-7E60-D028-97DC44F625E8}"/>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7248AA79-0E43-2AC4-C425-2E0339F3F964}"/>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D681381B-3EA1-163E-57B0-DFA2B0EAF587}"/>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3A4A15BC-A542-3ACA-4034-0254ECC6A5DD}"/>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D8BFADE2-08B3-BE6C-10A5-7094F423002C}"/>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374055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1E0C-F800-BDBD-C649-340ABB57B0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79A54636-FF12-40D5-8C2B-766D1E6A8ABA}"/>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79A54636-FF12-40D5-8C2B-766D1E6A8ABA}"/>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3FD0F6D2-8D61-5331-A8C2-F89AEF885993}"/>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2215DF19-22B4-E820-950F-48A8CC37A59A}"/>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80EF8BA9-D5D1-09B1-70C6-E45EACA03917}"/>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4</a:t>
            </a:r>
          </a:p>
        </p:txBody>
      </p:sp>
      <p:sp>
        <p:nvSpPr>
          <p:cNvPr id="7" name="Rounded Rectangle 6">
            <a:extLst>
              <a:ext uri="{FF2B5EF4-FFF2-40B4-BE49-F238E27FC236}">
                <a16:creationId xmlns:a16="http://schemas.microsoft.com/office/drawing/2014/main" id="{38B9E3A6-ADF9-37EC-6F46-C4F4CFE8F1FB}"/>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3</a:t>
            </a:r>
          </a:p>
        </p:txBody>
      </p:sp>
      <p:sp>
        <p:nvSpPr>
          <p:cNvPr id="8" name="Rounded Rectangle 7">
            <a:extLst>
              <a:ext uri="{FF2B5EF4-FFF2-40B4-BE49-F238E27FC236}">
                <a16:creationId xmlns:a16="http://schemas.microsoft.com/office/drawing/2014/main" id="{2ADC14AC-2DE4-0290-16CE-204BA8E02529}"/>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B797111E-CB9C-8F2A-A4A7-BFFB88CFBB55}"/>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FC12D2BE-A864-2709-BD48-4700F33D6508}"/>
              </a:ext>
            </a:extLst>
          </p:cNvPr>
          <p:cNvSpPr/>
          <p:nvPr/>
        </p:nvSpPr>
        <p:spPr>
          <a:xfrm>
            <a:off x="589207" y="6419850"/>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50337C0C-3F53-4C24-F425-CA8461C3EC05}"/>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63F3208D-9617-ADC4-2141-AC65E1A63088}"/>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C1E42AF3-0CE6-BEF7-A1C6-E3C2EAE6F7C1}"/>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E4DF8C58-F672-6CF0-CD45-DF19B06ECE4F}"/>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
        <p:nvSpPr>
          <p:cNvPr id="10" name="Right Arrow 9">
            <a:extLst>
              <a:ext uri="{FF2B5EF4-FFF2-40B4-BE49-F238E27FC236}">
                <a16:creationId xmlns:a16="http://schemas.microsoft.com/office/drawing/2014/main" id="{BEE3AA90-226F-4CFD-A8C8-4C445C7FC6E7}"/>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D01E1548-3D6A-9244-74A0-FA46389CC556}"/>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Tree>
    <p:extLst>
      <p:ext uri="{BB962C8B-B14F-4D97-AF65-F5344CB8AC3E}">
        <p14:creationId xmlns:p14="http://schemas.microsoft.com/office/powerpoint/2010/main" val="3751823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919ED-11F1-E43D-C803-D24B74D0F03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1B3EBFCF-D381-CB28-4E6E-EC1EE078D28E}"/>
                  </a:ext>
                </a:extLst>
              </p:cNvPr>
              <p:cNvSpPr/>
              <p:nvPr/>
            </p:nvSpPr>
            <p:spPr>
              <a:xfrm>
                <a:off x="589207" y="1011039"/>
                <a:ext cx="7068894" cy="10817622"/>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ea typeface="Cambria Math" panose="02040503050406030204" pitchFamily="18" charset="0"/>
                  </a:rPr>
                  <a: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&lt;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US" sz="3200" dirty="0">
                    <a:solidFill>
                      <a:schemeClr val="bg1"/>
                    </a:solidFill>
                    <a:latin typeface="Cambria Math" panose="02040503050406030204" pitchFamily="18" charset="0"/>
                    <a:ea typeface="Cambria Math" panose="02040503050406030204" pitchFamily="18" charset="0"/>
                  </a:rPr>
                  <a:t>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US" sz="3200" dirty="0">
                    <a:solidFill>
                      <a:schemeClr val="bg1"/>
                    </a:solidFill>
                    <a:latin typeface="Cambria Math" panose="02040503050406030204" pitchFamily="18" charset="0"/>
                    <a:ea typeface="Cambria Math" panose="02040503050406030204" pitchFamily="18" charset="0"/>
                  </a:rPr>
                  <a:t>*</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US"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US" sz="3200" dirty="0">
                    <a:solidFill>
                      <a:schemeClr val="bg1"/>
                    </a:solidFill>
                    <a:latin typeface="Cambria Math" panose="02040503050406030204" pitchFamily="18" charset="0"/>
                    <a:ea typeface="Cambria Math" panose="02040503050406030204" pitchFamily="18" charset="0"/>
                  </a:rPr>
                  <a:t>;</a:t>
                </a:r>
                <a:endParaRPr lang="en-IN" sz="32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temp</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left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right-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[6] = {1,2,3,4,5,6};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𝑐</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reverse</a:t>
                </a:r>
                <a:r>
                  <a:rPr lang="en-IN" sz="3200" dirty="0">
                    <a:solidFill>
                      <a:schemeClr val="bg1"/>
                    </a:solidFill>
                    <a:latin typeface="Cambria Math" panose="02040503050406030204" pitchFamily="18" charset="0"/>
                    <a:ea typeface="Cambria Math" panose="02040503050406030204" pitchFamily="18" charset="0"/>
                  </a:rPr>
                  <a:t>(</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 6);</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16" name="Rounded Rectangle 15">
                <a:extLst>
                  <a:ext uri="{FF2B5EF4-FFF2-40B4-BE49-F238E27FC236}">
                    <a16:creationId xmlns:a16="http://schemas.microsoft.com/office/drawing/2014/main" id="{1B3EBFCF-D381-CB28-4E6E-EC1EE078D28E}"/>
                  </a:ext>
                </a:extLst>
              </p:cNvPr>
              <p:cNvSpPr>
                <a:spLocks noRot="1" noChangeAspect="1" noMove="1" noResize="1" noEditPoints="1" noAdjustHandles="1" noChangeArrowheads="1" noChangeShapeType="1" noTextEdit="1"/>
              </p:cNvSpPr>
              <p:nvPr/>
            </p:nvSpPr>
            <p:spPr>
              <a:xfrm>
                <a:off x="589207" y="1011039"/>
                <a:ext cx="7068894" cy="10817622"/>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D5117C9D-2BC4-D63E-BCDC-A73A17FCBF38}"/>
              </a:ext>
            </a:extLst>
          </p:cNvPr>
          <p:cNvSpPr/>
          <p:nvPr/>
        </p:nvSpPr>
        <p:spPr>
          <a:xfrm>
            <a:off x="10331725" y="1946760"/>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6</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5" name="Rounded Rectangle 4">
            <a:extLst>
              <a:ext uri="{FF2B5EF4-FFF2-40B4-BE49-F238E27FC236}">
                <a16:creationId xmlns:a16="http://schemas.microsoft.com/office/drawing/2014/main" id="{0C910ED6-BC64-F9DD-EAF1-CFC17AB711EA}"/>
              </a:ext>
            </a:extLst>
          </p:cNvPr>
          <p:cNvSpPr/>
          <p:nvPr/>
        </p:nvSpPr>
        <p:spPr>
          <a:xfrm>
            <a:off x="12341506"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5</a:t>
            </a:r>
          </a:p>
        </p:txBody>
      </p:sp>
      <p:sp>
        <p:nvSpPr>
          <p:cNvPr id="6" name="Rounded Rectangle 5">
            <a:extLst>
              <a:ext uri="{FF2B5EF4-FFF2-40B4-BE49-F238E27FC236}">
                <a16:creationId xmlns:a16="http://schemas.microsoft.com/office/drawing/2014/main" id="{1361E2F5-2019-2E7A-CA8B-904A19F3BBE9}"/>
              </a:ext>
            </a:extLst>
          </p:cNvPr>
          <p:cNvSpPr/>
          <p:nvPr/>
        </p:nvSpPr>
        <p:spPr>
          <a:xfrm>
            <a:off x="14351287"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4</a:t>
            </a:r>
          </a:p>
        </p:txBody>
      </p:sp>
      <p:sp>
        <p:nvSpPr>
          <p:cNvPr id="7" name="Rounded Rectangle 6">
            <a:extLst>
              <a:ext uri="{FF2B5EF4-FFF2-40B4-BE49-F238E27FC236}">
                <a16:creationId xmlns:a16="http://schemas.microsoft.com/office/drawing/2014/main" id="{068CCB26-0152-D069-AF32-2BC20818E4F6}"/>
              </a:ext>
            </a:extLst>
          </p:cNvPr>
          <p:cNvSpPr/>
          <p:nvPr/>
        </p:nvSpPr>
        <p:spPr>
          <a:xfrm>
            <a:off x="16361068"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3</a:t>
            </a:r>
          </a:p>
        </p:txBody>
      </p:sp>
      <p:sp>
        <p:nvSpPr>
          <p:cNvPr id="8" name="Rounded Rectangle 7">
            <a:extLst>
              <a:ext uri="{FF2B5EF4-FFF2-40B4-BE49-F238E27FC236}">
                <a16:creationId xmlns:a16="http://schemas.microsoft.com/office/drawing/2014/main" id="{E012BEDE-B39B-08F0-C065-26EDD8483E46}"/>
              </a:ext>
            </a:extLst>
          </p:cNvPr>
          <p:cNvSpPr/>
          <p:nvPr/>
        </p:nvSpPr>
        <p:spPr>
          <a:xfrm>
            <a:off x="18370849"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5400" dirty="0">
                <a:solidFill>
                  <a:schemeClr val="tx1"/>
                </a:solidFill>
                <a:latin typeface="Helvetica Neue Medium"/>
                <a:ea typeface="Helvetica Neue Medium"/>
                <a:cs typeface="Helvetica Neue Medium"/>
                <a:sym typeface="Helvetica Neue Medium"/>
              </a:rPr>
              <a:t>2</a:t>
            </a:r>
            <a:endPar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endParaRPr>
          </a:p>
        </p:txBody>
      </p:sp>
      <p:sp>
        <p:nvSpPr>
          <p:cNvPr id="9" name="Rounded Rectangle 8">
            <a:extLst>
              <a:ext uri="{FF2B5EF4-FFF2-40B4-BE49-F238E27FC236}">
                <a16:creationId xmlns:a16="http://schemas.microsoft.com/office/drawing/2014/main" id="{B500C415-B222-7AB0-78E8-225A6C118B05}"/>
              </a:ext>
            </a:extLst>
          </p:cNvPr>
          <p:cNvSpPr/>
          <p:nvPr/>
        </p:nvSpPr>
        <p:spPr>
          <a:xfrm>
            <a:off x="20380630" y="1923214"/>
            <a:ext cx="1080000" cy="1032907"/>
          </a:xfrm>
          <a:prstGeom prst="roundRect">
            <a:avLst/>
          </a:prstGeom>
          <a:solidFill>
            <a:schemeClr val="accent1">
              <a:lumMod val="20000"/>
              <a:lumOff val="80000"/>
            </a:schemeClr>
          </a:solidFill>
          <a:ln w="63500"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tx1"/>
                </a:solidFill>
                <a:effectLst/>
                <a:uFillTx/>
                <a:latin typeface="Helvetica Neue Medium"/>
                <a:ea typeface="Helvetica Neue Medium"/>
                <a:cs typeface="Helvetica Neue Medium"/>
                <a:sym typeface="Helvetica Neue Medium"/>
              </a:rPr>
              <a:t>1</a:t>
            </a:r>
          </a:p>
        </p:txBody>
      </p:sp>
      <p:sp>
        <p:nvSpPr>
          <p:cNvPr id="11" name="Rounded Rectangle 10">
            <a:extLst>
              <a:ext uri="{FF2B5EF4-FFF2-40B4-BE49-F238E27FC236}">
                <a16:creationId xmlns:a16="http://schemas.microsoft.com/office/drawing/2014/main" id="{785AFF95-D401-798A-4041-53AE0D9E8B21}"/>
              </a:ext>
            </a:extLst>
          </p:cNvPr>
          <p:cNvSpPr/>
          <p:nvPr/>
        </p:nvSpPr>
        <p:spPr>
          <a:xfrm>
            <a:off x="619267" y="3985023"/>
            <a:ext cx="7068894" cy="541757"/>
          </a:xfrm>
          <a:prstGeom prst="roundRect">
            <a:avLst/>
          </a:prstGeom>
          <a:solidFill>
            <a:schemeClr val="accent4">
              <a:lumMod val="60000"/>
              <a:lumOff val="40000"/>
              <a:alpha val="41668"/>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ight Arrow 11">
            <a:extLst>
              <a:ext uri="{FF2B5EF4-FFF2-40B4-BE49-F238E27FC236}">
                <a16:creationId xmlns:a16="http://schemas.microsoft.com/office/drawing/2014/main" id="{EB811C88-6AC9-3E4F-5087-DD0AA07E3B8F}"/>
              </a:ext>
            </a:extLst>
          </p:cNvPr>
          <p:cNvSpPr/>
          <p:nvPr/>
        </p:nvSpPr>
        <p:spPr>
          <a:xfrm rot="16200000">
            <a:off x="10266733" y="3505105"/>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box">
            <a:extLst>
              <a:ext uri="{FF2B5EF4-FFF2-40B4-BE49-F238E27FC236}">
                <a16:creationId xmlns:a16="http://schemas.microsoft.com/office/drawing/2014/main" id="{4D67A073-5D13-78D1-1C41-38E264B89577}"/>
              </a:ext>
            </a:extLst>
          </p:cNvPr>
          <p:cNvSpPr/>
          <p:nvPr/>
        </p:nvSpPr>
        <p:spPr>
          <a:xfrm>
            <a:off x="10168324"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A</a:t>
            </a:r>
          </a:p>
        </p:txBody>
      </p:sp>
      <p:sp>
        <p:nvSpPr>
          <p:cNvPr id="14" name="Right Arrow 13">
            <a:extLst>
              <a:ext uri="{FF2B5EF4-FFF2-40B4-BE49-F238E27FC236}">
                <a16:creationId xmlns:a16="http://schemas.microsoft.com/office/drawing/2014/main" id="{D0FFF6B9-7467-7760-769F-D1BA0FF0F1C6}"/>
              </a:ext>
            </a:extLst>
          </p:cNvPr>
          <p:cNvSpPr/>
          <p:nvPr/>
        </p:nvSpPr>
        <p:spPr>
          <a:xfrm rot="16200000">
            <a:off x="14407420" y="3505104"/>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box">
            <a:extLst>
              <a:ext uri="{FF2B5EF4-FFF2-40B4-BE49-F238E27FC236}">
                <a16:creationId xmlns:a16="http://schemas.microsoft.com/office/drawing/2014/main" id="{F56E3711-7695-A0AB-F323-0C101A001C5E}"/>
              </a:ext>
            </a:extLst>
          </p:cNvPr>
          <p:cNvSpPr/>
          <p:nvPr/>
        </p:nvSpPr>
        <p:spPr>
          <a:xfrm>
            <a:off x="14325965" y="4452140"/>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right</a:t>
            </a:r>
          </a:p>
        </p:txBody>
      </p:sp>
      <p:sp>
        <p:nvSpPr>
          <p:cNvPr id="10" name="Right Arrow 9">
            <a:extLst>
              <a:ext uri="{FF2B5EF4-FFF2-40B4-BE49-F238E27FC236}">
                <a16:creationId xmlns:a16="http://schemas.microsoft.com/office/drawing/2014/main" id="{92CE45F9-22A4-D429-9F6C-51C570202642}"/>
              </a:ext>
            </a:extLst>
          </p:cNvPr>
          <p:cNvSpPr/>
          <p:nvPr/>
        </p:nvSpPr>
        <p:spPr>
          <a:xfrm rot="16200000">
            <a:off x="16456783" y="3511731"/>
            <a:ext cx="1032906" cy="455435"/>
          </a:xfrm>
          <a:prstGeom prst="rightArrow">
            <a:avLst/>
          </a:prstGeom>
          <a:solidFill>
            <a:schemeClr val="accent2">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5" name="!!box">
            <a:extLst>
              <a:ext uri="{FF2B5EF4-FFF2-40B4-BE49-F238E27FC236}">
                <a16:creationId xmlns:a16="http://schemas.microsoft.com/office/drawing/2014/main" id="{2096986A-C421-9255-C03F-CB25102264E6}"/>
              </a:ext>
            </a:extLst>
          </p:cNvPr>
          <p:cNvSpPr/>
          <p:nvPr/>
        </p:nvSpPr>
        <p:spPr>
          <a:xfrm>
            <a:off x="16361069" y="4458767"/>
            <a:ext cx="1243401" cy="65833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3200" dirty="0">
                <a:solidFill>
                  <a:schemeClr val="accent1">
                    <a:lumMod val="40000"/>
                    <a:lumOff val="60000"/>
                  </a:schemeClr>
                </a:solidFill>
                <a:latin typeface="Bradley Hand" pitchFamily="2" charset="77"/>
                <a:sym typeface="Helvetica Neue Medium"/>
              </a:rPr>
              <a:t>left</a:t>
            </a:r>
          </a:p>
        </p:txBody>
      </p:sp>
    </p:spTree>
    <p:extLst>
      <p:ext uri="{BB962C8B-B14F-4D97-AF65-F5344CB8AC3E}">
        <p14:creationId xmlns:p14="http://schemas.microsoft.com/office/powerpoint/2010/main" val="1935456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5A56E52C-C35C-CD98-7BF1-EA68CC935BBF}"/>
              </a:ext>
            </a:extLst>
          </p:cNvPr>
          <p:cNvSpPr/>
          <p:nvPr/>
        </p:nvSpPr>
        <p:spPr>
          <a:xfrm>
            <a:off x="721895" y="2097047"/>
            <a:ext cx="23017092"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Till now we have </a:t>
            </a:r>
            <a:r>
              <a:rPr lang="en-US" sz="5400" dirty="0" err="1">
                <a:solidFill>
                  <a:schemeClr val="bg1"/>
                </a:solidFill>
                <a:latin typeface="Bradley Hand" pitchFamily="2" charset="77"/>
              </a:rPr>
              <a:t>focussed</a:t>
            </a:r>
            <a:r>
              <a:rPr lang="en-US" sz="5400" dirty="0">
                <a:solidFill>
                  <a:schemeClr val="bg1"/>
                </a:solidFill>
                <a:latin typeface="Bradley Hand" pitchFamily="2" charset="77"/>
              </a:rPr>
              <a:t> only on passing the array</a:t>
            </a:r>
          </a:p>
          <a:p>
            <a:pPr marL="685800" indent="-685800" defTabSz="825500">
              <a:lnSpc>
                <a:spcPct val="100000"/>
              </a:lnSpc>
              <a:spcBef>
                <a:spcPts val="0"/>
              </a:spcBef>
              <a:buFont typeface="Arial" panose="020B0604020202020204" pitchFamily="34" charset="0"/>
              <a:buChar char="•"/>
            </a:pPr>
            <a:r>
              <a:rPr lang="en-US" sz="5400" dirty="0">
                <a:solidFill>
                  <a:schemeClr val="accent6">
                    <a:lumMod val="40000"/>
                    <a:lumOff val="60000"/>
                  </a:schemeClr>
                </a:solidFill>
                <a:latin typeface="Bradley Hand" pitchFamily="2" charset="77"/>
              </a:rPr>
              <a:t>How do we return an array from a function?  </a:t>
            </a:r>
          </a:p>
        </p:txBody>
      </p:sp>
    </p:spTree>
    <p:extLst>
      <p:ext uri="{BB962C8B-B14F-4D97-AF65-F5344CB8AC3E}">
        <p14:creationId xmlns:p14="http://schemas.microsoft.com/office/powerpoint/2010/main" val="143879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3FCFA1B1-9BDC-9F5C-1BA4-B876A0C86944}"/>
              </a:ext>
            </a:extLst>
          </p:cNvPr>
          <p:cNvSpPr/>
          <p:nvPr/>
        </p:nvSpPr>
        <p:spPr>
          <a:xfrm>
            <a:off x="645013" y="3430111"/>
            <a:ext cx="9543957" cy="685577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[5] = {1,2,3,4,5};</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600" dirty="0">
                <a:solidFill>
                  <a:schemeClr val="bg1"/>
                </a:solidFill>
                <a:latin typeface="Cambria Math" panose="02040503050406030204" pitchFamily="18" charset="0"/>
                <a:ea typeface="Cambria Math" panose="02040503050406030204" pitchFamily="18" charset="0"/>
              </a:rPr>
              <a:t>= create();</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3" name="Rounded Rectangle 2">
            <a:extLst>
              <a:ext uri="{FF2B5EF4-FFF2-40B4-BE49-F238E27FC236}">
                <a16:creationId xmlns:a16="http://schemas.microsoft.com/office/drawing/2014/main" id="{4ACB2618-30A8-14A9-A8EC-12CB21A2D10B}"/>
              </a:ext>
            </a:extLst>
          </p:cNvPr>
          <p:cNvSpPr/>
          <p:nvPr/>
        </p:nvSpPr>
        <p:spPr>
          <a:xfrm>
            <a:off x="11454062" y="3583344"/>
            <a:ext cx="12108461" cy="65493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This does not work as the array num is a local variable of the </a:t>
            </a:r>
            <a:r>
              <a:rPr lang="en-US" sz="5400" dirty="0">
                <a:solidFill>
                  <a:schemeClr val="accent2">
                    <a:lumMod val="40000"/>
                    <a:lumOff val="60000"/>
                  </a:schemeClr>
                </a:solidFill>
                <a:latin typeface="Bradley Hand" pitchFamily="2" charset="77"/>
              </a:rPr>
              <a:t>create</a:t>
            </a:r>
            <a:r>
              <a:rPr lang="en-US" sz="5400" dirty="0">
                <a:solidFill>
                  <a:schemeClr val="bg1"/>
                </a:solidFill>
                <a:latin typeface="Bradley Hand" pitchFamily="2" charset="77"/>
              </a:rPr>
              <a:t> is destroyed by the time we come back to </a:t>
            </a:r>
            <a:r>
              <a:rPr lang="en-US" sz="5400" dirty="0">
                <a:solidFill>
                  <a:schemeClr val="accent6">
                    <a:lumMod val="40000"/>
                    <a:lumOff val="60000"/>
                  </a:schemeClr>
                </a:solidFill>
                <a:latin typeface="Bradley Hand" pitchFamily="2" charset="77"/>
              </a:rPr>
              <a:t>main</a:t>
            </a:r>
            <a:r>
              <a:rPr lang="en-US" sz="5400" dirty="0">
                <a:solidFill>
                  <a:schemeClr val="bg1"/>
                </a:solidFill>
                <a:latin typeface="Bradley Hand" pitchFamily="2" charset="77"/>
              </a:rPr>
              <a:t> again</a:t>
            </a:r>
          </a:p>
          <a:p>
            <a:pPr marL="685800" indent="-685800" defTabSz="825500">
              <a:lnSpc>
                <a:spcPct val="100000"/>
              </a:lnSpc>
              <a:spcBef>
                <a:spcPts val="0"/>
              </a:spcBef>
              <a:buFont typeface="Arial" panose="020B0604020202020204" pitchFamily="34" charset="0"/>
              <a:buChar char="•"/>
            </a:pPr>
            <a:r>
              <a:rPr lang="en-US" sz="5400" dirty="0">
                <a:solidFill>
                  <a:schemeClr val="accent6">
                    <a:lumMod val="40000"/>
                    <a:lumOff val="60000"/>
                  </a:schemeClr>
                </a:solidFill>
                <a:latin typeface="Bradley Hand" pitchFamily="2" charset="77"/>
              </a:rPr>
              <a:t>How do we create an array inside a function that is not a local variable?</a:t>
            </a:r>
          </a:p>
        </p:txBody>
      </p:sp>
    </p:spTree>
    <p:extLst>
      <p:ext uri="{BB962C8B-B14F-4D97-AF65-F5344CB8AC3E}">
        <p14:creationId xmlns:p14="http://schemas.microsoft.com/office/powerpoint/2010/main" val="2412718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0373F-25F0-0DBA-D26E-24E3B29560D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E4305CEC-A16D-F4D4-5FA8-5BFE10D66E39}"/>
              </a:ext>
            </a:extLst>
          </p:cNvPr>
          <p:cNvSpPr/>
          <p:nvPr/>
        </p:nvSpPr>
        <p:spPr>
          <a:xfrm>
            <a:off x="645013" y="1941136"/>
            <a:ext cx="9543957" cy="983372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if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4" name="Rounded Rectangle 3">
            <a:extLst>
              <a:ext uri="{FF2B5EF4-FFF2-40B4-BE49-F238E27FC236}">
                <a16:creationId xmlns:a16="http://schemas.microsoft.com/office/drawing/2014/main" id="{91982EB4-F8F7-B832-88B3-0794FD02BDC6}"/>
              </a:ext>
            </a:extLst>
          </p:cNvPr>
          <p:cNvSpPr/>
          <p:nvPr/>
        </p:nvSpPr>
        <p:spPr>
          <a:xfrm>
            <a:off x="11454062" y="4962445"/>
            <a:ext cx="12108461"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Heap is a region of the memory used for persistent dynamic memory allocation</a:t>
            </a:r>
          </a:p>
          <a:p>
            <a:pPr defTabSz="825500">
              <a:lnSpc>
                <a:spcPct val="100000"/>
              </a:lnSpc>
              <a:spcBef>
                <a:spcPts val="0"/>
              </a:spcBef>
            </a:pP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4100744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6703-C53E-11F6-A64F-B863DD4A36BA}"/>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C85C4B2E-B176-47D2-0A57-7A5C54F35D39}"/>
              </a:ext>
            </a:extLst>
          </p:cNvPr>
          <p:cNvSpPr/>
          <p:nvPr/>
        </p:nvSpPr>
        <p:spPr>
          <a:xfrm>
            <a:off x="645013" y="1637348"/>
            <a:ext cx="9543957" cy="10441305"/>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if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 ==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bg1"/>
                </a:solidFill>
                <a:latin typeface="Cambria Math" panose="02040503050406030204" pitchFamily="18" charset="0"/>
                <a:ea typeface="Cambria Math" panose="02040503050406030204" pitchFamily="18" charset="0"/>
              </a:rPr>
              <a:t>printf</a:t>
            </a:r>
            <a:r>
              <a:rPr lang="en-IN" sz="36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create</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free(</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p</a:t>
            </a:r>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4" name="Rounded Rectangle 3">
            <a:extLst>
              <a:ext uri="{FF2B5EF4-FFF2-40B4-BE49-F238E27FC236}">
                <a16:creationId xmlns:a16="http://schemas.microsoft.com/office/drawing/2014/main" id="{A252AC99-2978-1EEF-2AA8-72D5885DB6C0}"/>
              </a:ext>
            </a:extLst>
          </p:cNvPr>
          <p:cNvSpPr/>
          <p:nvPr/>
        </p:nvSpPr>
        <p:spPr>
          <a:xfrm>
            <a:off x="11454062" y="4502745"/>
            <a:ext cx="12108461" cy="47105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Heap is a region of the memory used for persistent dynamic memory allocation</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malloc requests for memory and free releases the memory </a:t>
            </a:r>
          </a:p>
        </p:txBody>
      </p:sp>
    </p:spTree>
    <p:extLst>
      <p:ext uri="{BB962C8B-B14F-4D97-AF65-F5344CB8AC3E}">
        <p14:creationId xmlns:p14="http://schemas.microsoft.com/office/powerpoint/2010/main" val="1570553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735B47E-9D74-8625-15B3-4F6A4E5AF082}"/>
              </a:ext>
            </a:extLst>
          </p:cNvPr>
          <p:cNvSpPr/>
          <p:nvPr/>
        </p:nvSpPr>
        <p:spPr>
          <a:xfrm>
            <a:off x="6981645" y="932545"/>
            <a:ext cx="9543957" cy="501697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int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600" dirty="0">
                <a:solidFill>
                  <a:schemeClr val="bg1"/>
                </a:solidFill>
                <a:latin typeface="Cambria Math" panose="02040503050406030204" pitchFamily="18" charset="0"/>
                <a:ea typeface="Cambria Math" panose="02040503050406030204" pitchFamily="18" charset="0"/>
              </a:rPr>
              <a:t>[5];</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free(</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
        <p:nvSpPr>
          <p:cNvPr id="3" name="Rounded Rectangle 2">
            <a:extLst>
              <a:ext uri="{FF2B5EF4-FFF2-40B4-BE49-F238E27FC236}">
                <a16:creationId xmlns:a16="http://schemas.microsoft.com/office/drawing/2014/main" id="{806DD7AB-0422-B12D-52BF-057374B692E2}"/>
              </a:ext>
            </a:extLst>
          </p:cNvPr>
          <p:cNvSpPr/>
          <p:nvPr/>
        </p:nvSpPr>
        <p:spPr>
          <a:xfrm>
            <a:off x="770020" y="7317700"/>
            <a:ext cx="22892085" cy="28717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dirty="0" err="1">
                <a:solidFill>
                  <a:schemeClr val="accent1">
                    <a:lumMod val="40000"/>
                    <a:lumOff val="60000"/>
                  </a:schemeClr>
                </a:solidFill>
                <a:latin typeface="Bradley Hand" pitchFamily="2" charset="77"/>
              </a:rPr>
              <a:t>arr</a:t>
            </a:r>
            <a:r>
              <a:rPr lang="en-US" sz="5400" dirty="0">
                <a:solidFill>
                  <a:schemeClr val="bg1"/>
                </a:solidFill>
                <a:latin typeface="Bradley Hand" pitchFamily="2" charset="77"/>
              </a:rPr>
              <a:t> is allocated on the stack and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is allocated on the heap</a:t>
            </a:r>
          </a:p>
          <a:p>
            <a:pPr marL="685800" indent="-685800" defTabSz="825500">
              <a:lnSpc>
                <a:spcPct val="100000"/>
              </a:lnSpc>
              <a:spcBef>
                <a:spcPts val="0"/>
              </a:spcBef>
              <a:buFont typeface="Arial" panose="020B0604020202020204" pitchFamily="34" charset="0"/>
              <a:buChar char="•"/>
            </a:pPr>
            <a:r>
              <a:rPr lang="en-US" sz="5400" dirty="0">
                <a:solidFill>
                  <a:schemeClr val="bg1"/>
                </a:solidFill>
                <a:latin typeface="Bradley Hand" pitchFamily="2" charset="77"/>
              </a:rPr>
              <a:t>The memory allocated to </a:t>
            </a:r>
            <a:r>
              <a:rPr lang="en-US" sz="5400" dirty="0" err="1">
                <a:solidFill>
                  <a:schemeClr val="accent1">
                    <a:lumMod val="40000"/>
                    <a:lumOff val="60000"/>
                  </a:schemeClr>
                </a:solidFill>
                <a:latin typeface="Bradley Hand" pitchFamily="2" charset="77"/>
              </a:rPr>
              <a:t>arr</a:t>
            </a:r>
            <a:r>
              <a:rPr lang="en-US" sz="5400" dirty="0">
                <a:solidFill>
                  <a:schemeClr val="bg1"/>
                </a:solidFill>
                <a:latin typeface="Bradley Hand" pitchFamily="2" charset="77"/>
              </a:rPr>
              <a:t> is release automatically but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needs to be freed explicitly</a:t>
            </a:r>
          </a:p>
        </p:txBody>
      </p:sp>
    </p:spTree>
    <p:extLst>
      <p:ext uri="{BB962C8B-B14F-4D97-AF65-F5344CB8AC3E}">
        <p14:creationId xmlns:p14="http://schemas.microsoft.com/office/powerpoint/2010/main" val="3420707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121E2C57-23F5-F77A-49C7-4D6572B47318}"/>
              </a:ext>
            </a:extLst>
          </p:cNvPr>
          <p:cNvSpPr/>
          <p:nvPr/>
        </p:nvSpPr>
        <p:spPr>
          <a:xfrm>
            <a:off x="745957" y="1205150"/>
            <a:ext cx="22892085"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Write a function </a:t>
            </a:r>
            <a:r>
              <a:rPr lang="en-US" sz="5400" dirty="0">
                <a:solidFill>
                  <a:schemeClr val="accent6">
                    <a:lumMod val="40000"/>
                    <a:lumOff val="60000"/>
                  </a:schemeClr>
                </a:solidFill>
                <a:latin typeface="Bradley Hand" pitchFamily="2" charset="77"/>
              </a:rPr>
              <a:t>int *</a:t>
            </a:r>
            <a:r>
              <a:rPr lang="en-US" sz="5400" dirty="0">
                <a:solidFill>
                  <a:schemeClr val="accent2">
                    <a:lumMod val="40000"/>
                    <a:lumOff val="60000"/>
                  </a:schemeClr>
                </a:solidFill>
                <a:latin typeface="Bradley Hand" pitchFamily="2" charset="77"/>
              </a:rPr>
              <a:t>add</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n</a:t>
            </a:r>
            <a:r>
              <a:rPr lang="en-US" sz="5400" dirty="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that adds </a:t>
            </a:r>
            <a:r>
              <a:rPr lang="en-US" sz="5400" dirty="0">
                <a:solidFill>
                  <a:schemeClr val="accent1">
                    <a:lumMod val="40000"/>
                    <a:lumOff val="60000"/>
                  </a:schemeClr>
                </a:solidFill>
                <a:latin typeface="Bradley Hand" pitchFamily="2" charset="77"/>
              </a:rPr>
              <a:t>num</a:t>
            </a:r>
            <a:r>
              <a:rPr lang="en-US" sz="5400" dirty="0">
                <a:solidFill>
                  <a:schemeClr val="bg1"/>
                </a:solidFill>
                <a:latin typeface="Bradley Hand" pitchFamily="2" charset="77"/>
              </a:rPr>
              <a:t> to the end of the array </a:t>
            </a:r>
            <a:r>
              <a:rPr lang="en-US" sz="5400" dirty="0">
                <a:solidFill>
                  <a:schemeClr val="accent1">
                    <a:lumMod val="40000"/>
                    <a:lumOff val="60000"/>
                  </a:schemeClr>
                </a:solidFill>
                <a:latin typeface="Bradley Hand" pitchFamily="2" charset="77"/>
              </a:rPr>
              <a:t>A</a:t>
            </a:r>
            <a:r>
              <a:rPr lang="en-US" sz="5400" dirty="0">
                <a:solidFill>
                  <a:schemeClr val="bg1"/>
                </a:solidFill>
                <a:latin typeface="Bradley Hand" pitchFamily="2" charset="77"/>
              </a:rPr>
              <a:t> and then return the array</a:t>
            </a:r>
          </a:p>
        </p:txBody>
      </p:sp>
      <p:sp>
        <p:nvSpPr>
          <p:cNvPr id="3" name="Rounded Rectangle 2">
            <a:extLst>
              <a:ext uri="{FF2B5EF4-FFF2-40B4-BE49-F238E27FC236}">
                <a16:creationId xmlns:a16="http://schemas.microsoft.com/office/drawing/2014/main" id="{4FA93B19-A60B-505D-54CB-B4611575C741}"/>
              </a:ext>
            </a:extLst>
          </p:cNvPr>
          <p:cNvSpPr/>
          <p:nvPr/>
        </p:nvSpPr>
        <p:spPr>
          <a:xfrm>
            <a:off x="745957" y="4606186"/>
            <a:ext cx="9543957" cy="501697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dirty="0">
                <a:solidFill>
                  <a:schemeClr val="bg1"/>
                </a:solidFill>
                <a:latin typeface="Cambria Math" panose="02040503050406030204" pitchFamily="18" charset="0"/>
                <a:ea typeface="Cambria Math" panose="02040503050406030204" pitchFamily="18" charset="0"/>
              </a:rPr>
            </a:b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6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6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600" dirty="0">
                <a:solidFill>
                  <a:schemeClr val="bg1"/>
                </a:solidFill>
                <a:latin typeface="Cambria Math" panose="02040503050406030204" pitchFamily="18" charset="0"/>
                <a:ea typeface="Cambria Math" panose="02040503050406030204" pitchFamily="18" charset="0"/>
              </a:rPr>
              <a:t>	int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600" dirty="0">
                <a:solidFill>
                  <a:schemeClr val="bg1"/>
                </a:solidFill>
                <a:latin typeface="Cambria Math" panose="02040503050406030204" pitchFamily="18" charset="0"/>
                <a:ea typeface="Cambria Math" panose="02040503050406030204" pitchFamily="18" charset="0"/>
              </a:rPr>
              <a:t>[5];</a:t>
            </a:r>
          </a:p>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	int</a:t>
            </a:r>
            <a:r>
              <a:rPr lang="en-IN" sz="3600" dirty="0">
                <a:solidFill>
                  <a:schemeClr val="bg1"/>
                </a:solidFill>
                <a:latin typeface="Cambria Math" panose="02040503050406030204" pitchFamily="18" charset="0"/>
                <a:ea typeface="Cambria Math" panose="02040503050406030204" pitchFamily="18" charset="0"/>
              </a:rPr>
              <a:t> *</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600" dirty="0">
                <a:solidFill>
                  <a:schemeClr val="bg1"/>
                </a:solidFill>
                <a:latin typeface="Cambria Math" panose="02040503050406030204" pitchFamily="18" charset="0"/>
                <a:ea typeface="Cambria Math" panose="02040503050406030204" pitchFamily="18" charset="0"/>
              </a:rPr>
              <a:t>(5*</a:t>
            </a:r>
            <a:r>
              <a:rPr lang="en-IN" sz="36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600" dirty="0">
                <a:solidFill>
                  <a:schemeClr val="bg1"/>
                </a:solidFill>
                <a:latin typeface="Cambria Math" panose="02040503050406030204" pitchFamily="18" charset="0"/>
                <a:ea typeface="Cambria Math" panose="02040503050406030204" pitchFamily="18" charset="0"/>
              </a:rPr>
              <a:t>(</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600" dirty="0">
                <a:solidFill>
                  <a:schemeClr val="bg1"/>
                </a:solidFill>
                <a:latin typeface="Cambria Math" panose="02040503050406030204" pitchFamily="18" charset="0"/>
                <a:ea typeface="Cambria Math" panose="02040503050406030204" pitchFamily="18" charset="0"/>
              </a:rPr>
              <a:t>free(</a:t>
            </a:r>
            <a:r>
              <a:rPr lang="en-IN" sz="36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600" dirty="0">
                <a:solidFill>
                  <a:schemeClr val="bg1"/>
                </a:solidFill>
                <a:latin typeface="Cambria Math" panose="02040503050406030204" pitchFamily="18" charset="0"/>
                <a:ea typeface="Cambria Math" panose="02040503050406030204" pitchFamily="18" charset="0"/>
              </a:rPr>
              <a:t>);</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	</a:t>
            </a: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600" dirty="0">
                <a:solidFill>
                  <a:schemeClr val="bg1"/>
                </a:solidFill>
                <a:latin typeface="Cambria Math" panose="02040503050406030204" pitchFamily="18" charset="0"/>
                <a:ea typeface="Cambria Math" panose="02040503050406030204" pitchFamily="18" charset="0"/>
              </a:rPr>
              <a:t> 0;</a:t>
            </a:r>
            <a:br>
              <a:rPr lang="en-IN" sz="3600" dirty="0">
                <a:solidFill>
                  <a:schemeClr val="bg1"/>
                </a:solidFill>
                <a:latin typeface="Cambria Math" panose="02040503050406030204" pitchFamily="18" charset="0"/>
                <a:ea typeface="Cambria Math" panose="02040503050406030204" pitchFamily="18" charset="0"/>
              </a:rPr>
            </a:br>
            <a:r>
              <a:rPr lang="en-IN" sz="3600" dirty="0">
                <a:solidFill>
                  <a:schemeClr val="bg1"/>
                </a:solidFill>
                <a:latin typeface="Cambria Math" panose="02040503050406030204" pitchFamily="18" charset="0"/>
                <a:ea typeface="Cambria Math" panose="02040503050406030204" pitchFamily="18" charset="0"/>
              </a:rPr>
              <a:t>}</a:t>
            </a:r>
            <a:endParaRPr lang="en-US" sz="3600" dirty="0">
              <a:solidFill>
                <a:schemeClr val="bg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268164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3F26-A8F6-0806-A9F3-04C79C59013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1EF2F301-DF20-0978-8EF3-34E918C18F09}"/>
                  </a:ext>
                </a:extLst>
              </p:cNvPr>
              <p:cNvSpPr/>
              <p:nvPr/>
            </p:nvSpPr>
            <p:spPr>
              <a:xfrm>
                <a:off x="645013" y="702449"/>
                <a:ext cx="9543957" cy="123130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200" dirty="0" err="1">
                    <a:solidFill>
                      <a:schemeClr val="bg1"/>
                    </a:solidFill>
                    <a:latin typeface="Cambria Math" panose="02040503050406030204" pitchFamily="18" charset="0"/>
                    <a:ea typeface="Cambria Math" panose="02040503050406030204" pitchFamily="18" charset="0"/>
                  </a:rPr>
                  <a:t>stdio.h</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3200" dirty="0">
                    <a:solidFill>
                      <a:schemeClr val="bg1"/>
                    </a:solidFill>
                    <a:latin typeface="Cambria Math" panose="02040503050406030204" pitchFamily="18" charset="0"/>
                    <a:ea typeface="Cambria Math" panose="02040503050406030204" pitchFamily="18" charset="0"/>
                  </a:rPr>
                  <a:t>+1)*</a:t>
                </a:r>
                <a:r>
                  <a:rPr lang="en-IN" sz="32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if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 ==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bg1"/>
                    </a:solidFill>
                    <a:latin typeface="Cambria Math" panose="02040503050406030204" pitchFamily="18" charset="0"/>
                    <a:ea typeface="Cambria Math" panose="02040503050406030204" pitchFamily="18" charset="0"/>
                  </a:rPr>
                  <a:t>printf</a:t>
                </a:r>
                <a:r>
                  <a:rPr lang="en-IN" sz="32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32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200" i="1" smtClean="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3200" dirty="0">
                    <a:solidFill>
                      <a:schemeClr val="bg1"/>
                    </a:solidFill>
                    <a:latin typeface="Cambria Math" panose="02040503050406030204" pitchFamily="18" charset="0"/>
                    <a:ea typeface="Cambria Math" panose="02040503050406030204" pitchFamily="18" charset="0"/>
                  </a:rPr>
                  <a:t>] = </a:t>
                </a:r>
                <a:r>
                  <a:rPr lang="en-US" sz="32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US"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32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US" sz="3200" dirty="0">
                    <a:solidFill>
                      <a:schemeClr val="bg1"/>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32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3200" dirty="0">
                    <a:solidFill>
                      <a:schemeClr val="bg1"/>
                    </a:solidFill>
                    <a:latin typeface="Cambria Math" panose="02040503050406030204" pitchFamily="18" charset="0"/>
                    <a:ea typeface="Cambria Math" panose="02040503050406030204" pitchFamily="18" charset="0"/>
                  </a:rPr>
                  <a:t>] =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a:t>
                </a:r>
                <a:r>
                  <a:rPr lang="en-IN" sz="32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32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32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int A[5] = {1,2,3,4,5}</a:t>
                </a:r>
              </a:p>
              <a:p>
                <a:pPr defTabSz="825500">
                  <a:lnSpc>
                    <a:spcPct val="100000"/>
                  </a:lnSpc>
                  <a:spcBef>
                    <a:spcPts val="0"/>
                  </a:spcBef>
                </a:pP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3200" dirty="0">
                    <a:solidFill>
                      <a:schemeClr val="bg1"/>
                    </a:solidFill>
                    <a:latin typeface="Cambria Math" panose="02040503050406030204" pitchFamily="18" charset="0"/>
                    <a:ea typeface="Cambria Math" panose="02040503050406030204" pitchFamily="18" charset="0"/>
                  </a:rPr>
                  <a:t>(A, 5, 6);</a:t>
                </a:r>
              </a:p>
              <a:p>
                <a:pPr defTabSz="825500">
                  <a:lnSpc>
                    <a:spcPct val="100000"/>
                  </a:lnSpc>
                  <a:spcBef>
                    <a:spcPts val="0"/>
                  </a:spcBef>
                </a:pP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3200" dirty="0">
                    <a:solidFill>
                      <a:schemeClr val="bg1"/>
                    </a:solidFill>
                    <a:latin typeface="Cambria Math" panose="02040503050406030204" pitchFamily="18" charset="0"/>
                    <a:ea typeface="Cambria Math" panose="02040503050406030204" pitchFamily="18" charset="0"/>
                  </a:rPr>
                  <a:t>*</a:t>
                </a:r>
                <a:r>
                  <a:rPr lang="en-IN" sz="3200" dirty="0">
                    <a:solidFill>
                      <a:schemeClr val="accent1">
                        <a:lumMod val="40000"/>
                        <a:lumOff val="60000"/>
                      </a:schemeClr>
                    </a:solidFill>
                    <a:latin typeface="Cambria Math" panose="02040503050406030204" pitchFamily="18" charset="0"/>
                    <a:ea typeface="Cambria Math" panose="02040503050406030204" pitchFamily="18" charset="0"/>
                  </a:rPr>
                  <a:t>q </a:t>
                </a: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3200" dirty="0">
                    <a:solidFill>
                      <a:schemeClr val="bg1"/>
                    </a:solidFill>
                    <a:latin typeface="Cambria Math" panose="02040503050406030204" pitchFamily="18" charset="0"/>
                    <a:ea typeface="Cambria Math" panose="02040503050406030204" pitchFamily="18" charset="0"/>
                  </a:rPr>
                  <a:t>(p, 6, 7);</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	</a:t>
                </a:r>
                <a:r>
                  <a:rPr lang="en-IN" sz="32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3200" dirty="0">
                    <a:solidFill>
                      <a:schemeClr val="bg1"/>
                    </a:solidFill>
                    <a:latin typeface="Cambria Math" panose="02040503050406030204" pitchFamily="18" charset="0"/>
                    <a:ea typeface="Cambria Math" panose="02040503050406030204" pitchFamily="18" charset="0"/>
                  </a:rPr>
                  <a:t> 0;</a:t>
                </a:r>
                <a:br>
                  <a:rPr lang="en-IN" sz="3200" dirty="0">
                    <a:solidFill>
                      <a:schemeClr val="bg1"/>
                    </a:solidFill>
                    <a:latin typeface="Cambria Math" panose="02040503050406030204" pitchFamily="18" charset="0"/>
                    <a:ea typeface="Cambria Math" panose="02040503050406030204" pitchFamily="18" charset="0"/>
                  </a:rPr>
                </a:br>
                <a:r>
                  <a:rPr lang="en-IN" sz="3200" dirty="0">
                    <a:solidFill>
                      <a:schemeClr val="bg1"/>
                    </a:solidFill>
                    <a:latin typeface="Cambria Math" panose="02040503050406030204" pitchFamily="18" charset="0"/>
                    <a:ea typeface="Cambria Math" panose="02040503050406030204" pitchFamily="18" charset="0"/>
                  </a:rPr>
                  <a:t>}</a:t>
                </a:r>
                <a:endParaRPr lang="en-US" sz="32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1EF2F301-DF20-0978-8EF3-34E918C18F09}"/>
                  </a:ext>
                </a:extLst>
              </p:cNvPr>
              <p:cNvSpPr>
                <a:spLocks noRot="1" noChangeAspect="1" noMove="1" noResize="1" noEditPoints="1" noAdjustHandles="1" noChangeArrowheads="1" noChangeShapeType="1" noTextEdit="1"/>
              </p:cNvSpPr>
              <p:nvPr/>
            </p:nvSpPr>
            <p:spPr>
              <a:xfrm>
                <a:off x="645013" y="702449"/>
                <a:ext cx="9543957" cy="12313007"/>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775810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A56F18A6-F41E-8C87-1E1B-A0CC26BD729A}"/>
              </a:ext>
            </a:extLst>
          </p:cNvPr>
          <p:cNvSpPr/>
          <p:nvPr/>
        </p:nvSpPr>
        <p:spPr>
          <a:xfrm>
            <a:off x="745957" y="958667"/>
            <a:ext cx="22892085" cy="562991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a:solidFill>
                  <a:schemeClr val="bg1"/>
                </a:solidFill>
                <a:latin typeface="Bradley Hand" pitchFamily="2" charset="77"/>
              </a:rPr>
              <a:t>Write a program that reads an unknown number of positive integers and  sorts them.</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Each number is provided on a separate line. </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The value -1 marks the end of input and must not be stored in the array</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Since the number of integers are not known in advance, dynamically resize the array</a:t>
            </a: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259133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DF421F35-1FEB-440D-1136-193D157B3C12}"/>
                  </a:ext>
                </a:extLst>
              </p:cNvPr>
              <p:cNvSpPr/>
              <p:nvPr/>
            </p:nvSpPr>
            <p:spPr>
              <a:xfrm>
                <a:off x="645013" y="2034941"/>
                <a:ext cx="9543957" cy="964803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 </a:t>
                </a:r>
                <a:r>
                  <a:rPr lang="en-IN" sz="2800" dirty="0">
                    <a:solidFill>
                      <a:schemeClr val="bg1"/>
                    </a:solidFill>
                    <a:latin typeface="Cambria Math" panose="02040503050406030204" pitchFamily="18" charset="0"/>
                    <a:ea typeface="Cambria Math" panose="02040503050406030204" pitchFamily="18" charset="0"/>
                  </a:rPr>
                  <a:t>*</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 0,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while</a:t>
                </a:r>
                <a:r>
                  <a:rPr lang="en-IN" sz="2800" dirty="0">
                    <a:solidFill>
                      <a:schemeClr val="bg1"/>
                    </a:solidFill>
                    <a:latin typeface="Cambria Math" panose="02040503050406030204" pitchFamily="18" charset="0"/>
                    <a:ea typeface="Cambria Math" panose="02040503050406030204" pitchFamily="18" charset="0"/>
                  </a:rPr>
                  <a:t> (1)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scanf</a:t>
                </a:r>
                <a:r>
                  <a:rPr lang="en-IN" sz="2800" dirty="0">
                    <a:solidFill>
                      <a:schemeClr val="bg1"/>
                    </a:solidFill>
                    <a:latin typeface="Cambria Math" panose="02040503050406030204" pitchFamily="18" charset="0"/>
                    <a:ea typeface="Cambria Math" panose="02040503050406030204" pitchFamily="18" charset="0"/>
                  </a:rPr>
                  <a:t>( “%d”, &amp;</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 (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 == -1)</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break</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 “Program failed”);</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break;</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0;</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a:t>
                </a: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DF421F35-1FEB-440D-1136-193D157B3C12}"/>
                  </a:ext>
                </a:extLst>
              </p:cNvPr>
              <p:cNvSpPr>
                <a:spLocks noRot="1" noChangeAspect="1" noMove="1" noResize="1" noEditPoints="1" noAdjustHandles="1" noChangeArrowheads="1" noChangeShapeType="1" noTextEdit="1"/>
              </p:cNvSpPr>
              <p:nvPr/>
            </p:nvSpPr>
            <p:spPr>
              <a:xfrm>
                <a:off x="645013" y="2034941"/>
                <a:ext cx="9543957" cy="9648031"/>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ounded Rectangle 2">
                <a:extLst>
                  <a:ext uri="{FF2B5EF4-FFF2-40B4-BE49-F238E27FC236}">
                    <a16:creationId xmlns:a16="http://schemas.microsoft.com/office/drawing/2014/main" id="{61FBA449-185A-B9E3-4635-7069BA4CDA76}"/>
                  </a:ext>
                </a:extLst>
              </p:cNvPr>
              <p:cNvSpPr/>
              <p:nvPr/>
            </p:nvSpPr>
            <p:spPr>
              <a:xfrm>
                <a:off x="13029518" y="2307517"/>
                <a:ext cx="9543957" cy="869457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add</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2800" dirty="0">
                    <a:solidFill>
                      <a:schemeClr val="bg1"/>
                    </a:solidFill>
                    <a:latin typeface="Cambria Math" panose="02040503050406030204" pitchFamily="18" charset="0"/>
                    <a:ea typeface="Cambria Math" panose="02040503050406030204" pitchFamily="18" charset="0"/>
                  </a:rPr>
                  <a:t>+1)*</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if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 ==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bg1"/>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28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2800" i="1" smtClean="0">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 </a:t>
                </a:r>
                <a:r>
                  <a:rPr lang="en-US" sz="2800" dirty="0">
                    <a:solidFill>
                      <a:schemeClr val="accent1">
                        <a:lumMod val="40000"/>
                        <a:lumOff val="60000"/>
                      </a:schemeClr>
                    </a:solidFill>
                    <a:latin typeface="Cambria Math" panose="02040503050406030204" pitchFamily="18" charset="0"/>
                    <a:ea typeface="Cambria Math" panose="02040503050406030204" pitchFamily="18" charset="0"/>
                  </a:rPr>
                  <a:t>A</a:t>
                </a:r>
                <a:r>
                  <a:rPr lang="en-US"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US" sz="2800" dirty="0">
                    <a:solidFill>
                      <a:schemeClr val="bg1"/>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num</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Rounded Rectangle 2">
                <a:extLst>
                  <a:ext uri="{FF2B5EF4-FFF2-40B4-BE49-F238E27FC236}">
                    <a16:creationId xmlns:a16="http://schemas.microsoft.com/office/drawing/2014/main" id="{61FBA449-185A-B9E3-4635-7069BA4CDA76}"/>
                  </a:ext>
                </a:extLst>
              </p:cNvPr>
              <p:cNvSpPr>
                <a:spLocks noRot="1" noChangeAspect="1" noMove="1" noResize="1" noEditPoints="1" noAdjustHandles="1" noChangeArrowheads="1" noChangeShapeType="1" noTextEdit="1"/>
              </p:cNvSpPr>
              <p:nvPr/>
            </p:nvSpPr>
            <p:spPr>
              <a:xfrm>
                <a:off x="13029518" y="2307517"/>
                <a:ext cx="9543957" cy="8694579"/>
              </a:xfrm>
              <a:prstGeom prst="roundRect">
                <a:avLst/>
              </a:prstGeom>
              <a:blipFill>
                <a:blip r:embed="rId3"/>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197998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6D24074-35A4-06CF-58E6-FAC2DE39D3EA}"/>
              </a:ext>
            </a:extLst>
          </p:cNvPr>
          <p:cNvSpPr/>
          <p:nvPr/>
        </p:nvSpPr>
        <p:spPr>
          <a:xfrm>
            <a:off x="745957" y="1205150"/>
            <a:ext cx="22892085"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Write a function </a:t>
            </a:r>
            <a:r>
              <a:rPr lang="en-US" sz="5400">
                <a:solidFill>
                  <a:schemeClr val="accent6">
                    <a:lumMod val="40000"/>
                    <a:lumOff val="60000"/>
                  </a:schemeClr>
                </a:solidFill>
                <a:latin typeface="Bradley Hand" pitchFamily="2" charset="77"/>
              </a:rPr>
              <a:t>int *</a:t>
            </a:r>
            <a:r>
              <a:rPr lang="en-US" sz="5400">
                <a:solidFill>
                  <a:schemeClr val="accent2">
                    <a:lumMod val="40000"/>
                    <a:lumOff val="60000"/>
                  </a:schemeClr>
                </a:solidFill>
                <a:latin typeface="Bradley Hand" pitchFamily="2" charset="77"/>
              </a:rPr>
              <a:t>remove</a:t>
            </a:r>
            <a:r>
              <a:rPr lang="en-US" sz="5400">
                <a:solidFill>
                  <a:schemeClr val="bg1"/>
                </a:solidFill>
                <a:latin typeface="Bradley Hand" pitchFamily="2" charset="77"/>
              </a:rPr>
              <a:t>( </a:t>
            </a:r>
            <a:r>
              <a:rPr lang="en-US" sz="5400">
                <a:solidFill>
                  <a:schemeClr val="accent6">
                    <a:lumMod val="40000"/>
                    <a:lumOff val="60000"/>
                  </a:schemeClr>
                </a:solidFill>
                <a:latin typeface="Bradley Hand" pitchFamily="2" charset="77"/>
              </a:rPr>
              <a:t>int</a:t>
            </a:r>
            <a:r>
              <a:rPr lang="en-US" sz="5400">
                <a:solidFill>
                  <a:schemeClr val="bg1"/>
                </a:solidFill>
                <a:latin typeface="Bradley Hand" pitchFamily="2" charset="77"/>
              </a:rPr>
              <a:t> </a:t>
            </a:r>
            <a:r>
              <a:rPr lang="en-US" sz="5400">
                <a:solidFill>
                  <a:schemeClr val="accent6">
                    <a:lumMod val="40000"/>
                    <a:lumOff val="60000"/>
                  </a:schemeClr>
                </a:solidFill>
                <a:latin typeface="Bradley Hand" pitchFamily="2" charset="77"/>
              </a:rPr>
              <a:t>*</a:t>
            </a:r>
            <a:r>
              <a:rPr lang="en-US" sz="5400">
                <a:solidFill>
                  <a:schemeClr val="accent1">
                    <a:lumMod val="40000"/>
                    <a:lumOff val="60000"/>
                  </a:schemeClr>
                </a:solidFill>
                <a:latin typeface="Bradley Hand" pitchFamily="2" charset="77"/>
              </a:rPr>
              <a:t>arr</a:t>
            </a:r>
            <a:r>
              <a:rPr lang="en-US" sz="5400">
                <a:solidFill>
                  <a:schemeClr val="bg1"/>
                </a:solidFill>
                <a:latin typeface="Bradley Hand" pitchFamily="2" charset="77"/>
              </a:rPr>
              <a:t>, </a:t>
            </a:r>
            <a:r>
              <a:rPr lang="en-US" sz="5400" dirty="0">
                <a:solidFill>
                  <a:schemeClr val="accent6">
                    <a:lumMod val="40000"/>
                    <a:lumOff val="60000"/>
                  </a:schemeClr>
                </a:solidFill>
                <a:latin typeface="Bradley Hand" pitchFamily="2" charset="77"/>
              </a:rPr>
              <a:t>int</a:t>
            </a:r>
            <a:r>
              <a:rPr lang="en-US" sz="5400" dirty="0">
                <a:solidFill>
                  <a:schemeClr val="bg1"/>
                </a:solidFill>
                <a:latin typeface="Bradley Hand" pitchFamily="2" charset="77"/>
              </a:rPr>
              <a:t> </a:t>
            </a:r>
            <a:r>
              <a:rPr lang="en-US" sz="5400" dirty="0">
                <a:solidFill>
                  <a:schemeClr val="accent1">
                    <a:lumMod val="40000"/>
                    <a:lumOff val="60000"/>
                  </a:schemeClr>
                </a:solidFill>
                <a:latin typeface="Bradley Hand" pitchFamily="2" charset="77"/>
              </a:rPr>
              <a:t>n</a:t>
            </a:r>
            <a:r>
              <a:rPr lang="en-US" sz="5400" dirty="0">
                <a:solidFill>
                  <a:schemeClr val="bg1"/>
                </a:solidFill>
                <a:latin typeface="Bradley Hand" pitchFamily="2" charset="77"/>
              </a:rPr>
              <a:t>, </a:t>
            </a:r>
            <a:r>
              <a:rPr lang="en-US" sz="5400">
                <a:solidFill>
                  <a:schemeClr val="accent6">
                    <a:lumMod val="40000"/>
                    <a:lumOff val="60000"/>
                  </a:schemeClr>
                </a:solidFill>
                <a:latin typeface="Bradley Hand" pitchFamily="2" charset="77"/>
              </a:rPr>
              <a:t>int</a:t>
            </a:r>
            <a:r>
              <a:rPr lang="en-US" sz="5400">
                <a:solidFill>
                  <a:schemeClr val="bg1"/>
                </a:solidFill>
                <a:latin typeface="Bradley Hand" pitchFamily="2" charset="77"/>
              </a:rPr>
              <a:t> </a:t>
            </a:r>
            <a:r>
              <a:rPr lang="en-US" sz="5400">
                <a:solidFill>
                  <a:schemeClr val="accent1">
                    <a:lumMod val="40000"/>
                    <a:lumOff val="60000"/>
                  </a:schemeClr>
                </a:solidFill>
                <a:latin typeface="Bradley Hand" pitchFamily="2" charset="77"/>
              </a:rPr>
              <a:t>index</a:t>
            </a:r>
            <a:r>
              <a:rPr lang="en-US" sz="5400">
                <a:solidFill>
                  <a:schemeClr val="bg1"/>
                </a:solidFill>
                <a:latin typeface="Bradley Hand" pitchFamily="2" charset="77"/>
              </a:rPr>
              <a:t>) that removes the </a:t>
            </a:r>
            <a:r>
              <a:rPr lang="en-US" sz="5400">
                <a:solidFill>
                  <a:schemeClr val="accent1">
                    <a:lumMod val="40000"/>
                    <a:lumOff val="60000"/>
                  </a:schemeClr>
                </a:solidFill>
                <a:latin typeface="Bradley Hand" pitchFamily="2" charset="77"/>
              </a:rPr>
              <a:t>arr</a:t>
            </a:r>
            <a:r>
              <a:rPr lang="en-US" sz="5400">
                <a:solidFill>
                  <a:schemeClr val="bg1"/>
                </a:solidFill>
                <a:latin typeface="Bradley Hand" pitchFamily="2" charset="77"/>
              </a:rPr>
              <a:t>[</a:t>
            </a:r>
            <a:r>
              <a:rPr lang="en-US" sz="5400">
                <a:solidFill>
                  <a:schemeClr val="accent1">
                    <a:lumMod val="40000"/>
                    <a:lumOff val="60000"/>
                  </a:schemeClr>
                </a:solidFill>
                <a:latin typeface="Bradley Hand" pitchFamily="2" charset="77"/>
              </a:rPr>
              <a:t>index</a:t>
            </a:r>
            <a:r>
              <a:rPr lang="en-US" sz="5400">
                <a:solidFill>
                  <a:schemeClr val="bg1"/>
                </a:solidFill>
                <a:latin typeface="Bradley Hand" pitchFamily="2" charset="77"/>
              </a:rPr>
              <a:t>] element from the array and then </a:t>
            </a:r>
            <a:r>
              <a:rPr lang="en-US" sz="5400" dirty="0">
                <a:solidFill>
                  <a:schemeClr val="bg1"/>
                </a:solidFill>
                <a:latin typeface="Bradley Hand" pitchFamily="2" charset="77"/>
              </a:rPr>
              <a:t>return the array</a:t>
            </a:r>
          </a:p>
        </p:txBody>
      </p:sp>
    </p:spTree>
    <p:extLst>
      <p:ext uri="{BB962C8B-B14F-4D97-AF65-F5344CB8AC3E}">
        <p14:creationId xmlns:p14="http://schemas.microsoft.com/office/powerpoint/2010/main" val="665856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ounded Rectangle 1">
                <a:extLst>
                  <a:ext uri="{FF2B5EF4-FFF2-40B4-BE49-F238E27FC236}">
                    <a16:creationId xmlns:a16="http://schemas.microsoft.com/office/drawing/2014/main" id="{E097F9D9-B439-9315-E8DA-104B174FCB49}"/>
                  </a:ext>
                </a:extLst>
              </p:cNvPr>
              <p:cNvSpPr/>
              <p:nvPr/>
            </p:nvSpPr>
            <p:spPr>
              <a:xfrm>
                <a:off x="645013" y="133351"/>
                <a:ext cx="9543957" cy="13451205"/>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a:t>
                </a:r>
                <a:r>
                  <a:rPr lang="en-IN" sz="2800">
                    <a:solidFill>
                      <a:schemeClr val="accent2">
                        <a:lumMod val="40000"/>
                        <a:lumOff val="60000"/>
                      </a:schemeClr>
                    </a:solidFill>
                    <a:latin typeface="Cambria Math" panose="02040503050406030204" pitchFamily="18" charset="0"/>
                    <a:ea typeface="Cambria Math" panose="02040503050406030204" pitchFamily="18" charset="0"/>
                  </a:rPr>
                  <a:t>remove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index</a:t>
                </a:r>
                <a:r>
                  <a:rPr lang="en-IN" sz="2800">
                    <a:solidFill>
                      <a:schemeClr val="bg1"/>
                    </a:solidFill>
                    <a:latin typeface="Cambria Math" panose="02040503050406030204" pitchFamily="18" charset="0"/>
                    <a:ea typeface="Cambria Math" panose="02040503050406030204" pitchFamily="18" charset="0"/>
                  </a:rPr>
                  <a:t>)</a:t>
                </a: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newarr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2">
                        <a:lumMod val="40000"/>
                        <a:lumOff val="60000"/>
                      </a:schemeClr>
                    </a:solidFill>
                    <a:latin typeface="Cambria Math" panose="02040503050406030204" pitchFamily="18" charset="0"/>
                    <a:ea typeface="Cambria Math" panose="02040503050406030204" pitchFamily="18" charset="0"/>
                  </a:rPr>
                  <a:t>malloc</a:t>
                </a:r>
                <a:r>
                  <a:rPr lang="en-IN" sz="2800" dirty="0">
                    <a:solidFill>
                      <a:schemeClr val="bg1"/>
                    </a:solidFill>
                    <a:latin typeface="Cambria Math" panose="02040503050406030204" pitchFamily="18" charset="0"/>
                    <a:ea typeface="Cambria Math" panose="02040503050406030204" pitchFamily="18" charset="0"/>
                  </a:rPr>
                  <a:t>((</a:t>
                </a:r>
                <a14:m>
                  <m:oMath xmlns:m="http://schemas.openxmlformats.org/officeDocument/2006/math">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𝑛</m:t>
                    </m:r>
                    <m:r>
                      <a:rPr lang="en-IN" sz="2800" i="1" dirty="0" smtClean="0">
                        <a:solidFill>
                          <a:schemeClr val="accent1">
                            <a:lumMod val="40000"/>
                            <a:lumOff val="60000"/>
                          </a:schemeClr>
                        </a:solidFill>
                        <a:latin typeface="Cambria Math" panose="02040503050406030204" pitchFamily="18" charset="0"/>
                        <a:ea typeface="Cambria Math" panose="02040503050406030204" pitchFamily="18" charset="0"/>
                      </a:rPr>
                      <m:t> −1</m:t>
                    </m:r>
                  </m:oMath>
                </a14:m>
                <a:r>
                  <a:rPr lang="en-IN" sz="2800" dirty="0">
                    <a:solidFill>
                      <a:schemeClr val="bg1"/>
                    </a:solidFill>
                    <a:latin typeface="Cambria Math" panose="02040503050406030204" pitchFamily="18" charset="0"/>
                    <a:ea typeface="Cambria Math" panose="02040503050406030204" pitchFamily="18" charset="0"/>
                  </a:rPr>
                  <a:t>)*</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a:solidFill>
                      <a:schemeClr val="bg1"/>
                    </a:solidFill>
                    <a:latin typeface="Cambria Math" panose="02040503050406030204" pitchFamily="18" charset="0"/>
                    <a:ea typeface="Cambria Math" panose="02040503050406030204" pitchFamily="18" charset="0"/>
                  </a:rPr>
                  <a:t>if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newarr</a:t>
                </a:r>
                <a:r>
                  <a:rPr lang="en-IN" sz="2800">
                    <a:solidFill>
                      <a:schemeClr val="bg1"/>
                    </a:solidFill>
                    <a:latin typeface="Cambria Math" panose="02040503050406030204" pitchFamily="18" charset="0"/>
                    <a:ea typeface="Cambria Math" panose="02040503050406030204" pitchFamily="18" charset="0"/>
                  </a:rPr>
                  <a:t> </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bg1"/>
                    </a:solidFill>
                    <a:latin typeface="Cambria Math" panose="02040503050406030204" pitchFamily="18" charset="0"/>
                    <a:ea typeface="Cambria Math" panose="02040503050406030204" pitchFamily="18" charset="0"/>
                  </a:rPr>
                  <a:t>printf</a:t>
                </a:r>
                <a:r>
                  <a:rPr lang="en-IN" sz="2800" dirty="0">
                    <a:solidFill>
                      <a:schemeClr val="bg1"/>
                    </a:solidFill>
                    <a:latin typeface="Cambria Math" panose="02040503050406030204" pitchFamily="18" charset="0"/>
                    <a:ea typeface="Cambria Math" panose="02040503050406030204" pitchFamily="18" charset="0"/>
                  </a:rPr>
                  <a:t>(“Could not allocate”);</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NULL</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 =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newarr</a:t>
                </a:r>
                <a:r>
                  <a:rPr lang="en-IN" sz="2800">
                    <a:solidFill>
                      <a:schemeClr val="bg1"/>
                    </a:solidFill>
                    <a:latin typeface="Cambria Math" panose="02040503050406030204" pitchFamily="18" charset="0"/>
                    <a:ea typeface="Cambria Math" panose="02040503050406030204" pitchFamily="18" charset="0"/>
                  </a:rPr>
                  <a:t>;</a:t>
                </a: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for</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=0 ;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 &lt; </a:t>
                </a:r>
                <a14:m>
                  <m:oMath xmlns:m="http://schemas.openxmlformats.org/officeDocument/2006/math">
                    <m:r>
                      <a:rPr lang="en-IN" sz="2800" i="1" dirty="0">
                        <a:solidFill>
                          <a:schemeClr val="accent1">
                            <a:lumMod val="40000"/>
                            <a:lumOff val="60000"/>
                          </a:schemeClr>
                        </a:solidFill>
                        <a:latin typeface="Cambria Math" panose="02040503050406030204" pitchFamily="18" charset="0"/>
                        <a:ea typeface="Cambria Math" panose="02040503050406030204" pitchFamily="18" charset="0"/>
                      </a:rPr>
                      <m:t>𝑛</m:t>
                    </m:r>
                  </m:oMath>
                </a14:m>
                <a:r>
                  <a:rPr lang="en-IN" sz="2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oMath>
                </a14:m>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if(</a:t>
                </a:r>
                <a14:m>
                  <m:oMath xmlns:m="http://schemas.openxmlformats.org/officeDocument/2006/math">
                    <m:r>
                      <a:rPr lang="en-US" sz="2800" i="1">
                        <a:solidFill>
                          <a:schemeClr val="accent1">
                            <a:lumMod val="40000"/>
                            <a:lumOff val="60000"/>
                          </a:schemeClr>
                        </a:solidFill>
                        <a:latin typeface="Cambria Math" panose="02040503050406030204" pitchFamily="18" charset="0"/>
                        <a:ea typeface="Cambria Math" panose="02040503050406030204" pitchFamily="18" charset="0"/>
                      </a:rPr>
                      <m:t>𝑖</m:t>
                    </m:r>
                    <m:r>
                      <a:rPr lang="en-US" sz="2800" i="1">
                        <a:solidFill>
                          <a:schemeClr val="accent1">
                            <a:lumMod val="40000"/>
                            <a:lumOff val="60000"/>
                          </a:schemeClr>
                        </a:solidFill>
                        <a:latin typeface="Cambria Math" panose="02040503050406030204" pitchFamily="18" charset="0"/>
                        <a:ea typeface="Cambria Math" panose="02040503050406030204" pitchFamily="18" charset="0"/>
                      </a:rPr>
                      <m:t> </m:t>
                    </m:r>
                  </m:oMath>
                </a14:m>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index</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arr</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continue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 </a:t>
                </a:r>
                <a:r>
                  <a:rPr lang="en-IN" sz="2800">
                    <a:solidFill>
                      <a:schemeClr val="bg1"/>
                    </a:solidFill>
                    <a:latin typeface="Cambria Math" panose="02040503050406030204" pitchFamily="18" charset="0"/>
                    <a:ea typeface="Cambria Math" panose="02040503050406030204" pitchFamily="18" charset="0"/>
                  </a:rPr>
                  <a:t>= </a:t>
                </a:r>
                <a:r>
                  <a:rPr lang="en-US" sz="2800">
                    <a:solidFill>
                      <a:schemeClr val="accent1">
                        <a:lumMod val="40000"/>
                        <a:lumOff val="60000"/>
                      </a:schemeClr>
                    </a:solidFill>
                    <a:latin typeface="Cambria Math" panose="02040503050406030204" pitchFamily="18" charset="0"/>
                    <a:ea typeface="Cambria Math" panose="02040503050406030204" pitchFamily="18" charset="0"/>
                  </a:rPr>
                  <a:t>*arr;</a:t>
                </a:r>
              </a:p>
              <a:p>
                <a:pPr defTabSz="825500">
                  <a:lnSpc>
                    <a:spcPct val="100000"/>
                  </a:lnSpc>
                  <a:spcBef>
                    <a:spcPts val="0"/>
                  </a:spcBef>
                </a:pPr>
                <a:r>
                  <a:rPr lang="en-US" sz="2800">
                    <a:solidFill>
                      <a:schemeClr val="accent1">
                        <a:lumMod val="40000"/>
                        <a:lumOff val="60000"/>
                      </a:schemeClr>
                    </a:solidFill>
                    <a:latin typeface="Cambria Math" panose="02040503050406030204" pitchFamily="18" charset="0"/>
                    <a:ea typeface="Cambria Math" panose="02040503050406030204" pitchFamily="18" charset="0"/>
                  </a:rPr>
                  <a:t>		arr++;</a:t>
                </a:r>
              </a:p>
              <a:p>
                <a:pPr defTabSz="825500">
                  <a:lnSpc>
                    <a:spcPct val="100000"/>
                  </a:lnSpc>
                  <a:spcBef>
                    <a:spcPts val="0"/>
                  </a:spcBef>
                </a:pPr>
                <a:r>
                  <a:rPr lang="en-US" sz="2800">
                    <a:solidFill>
                      <a:schemeClr val="accent1">
                        <a:lumMod val="40000"/>
                        <a:lumOff val="60000"/>
                      </a:schemeClr>
                    </a:solidFill>
                    <a:latin typeface="Cambria Math" panose="02040503050406030204" pitchFamily="18" charset="0"/>
                    <a:ea typeface="Cambria Math" panose="02040503050406030204" pitchFamily="18" charset="0"/>
                  </a:rPr>
                  <a:t>		p++;</a:t>
                </a: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newarr</a:t>
                </a:r>
                <a:r>
                  <a:rPr lang="en-IN" sz="2800">
                    <a:solidFill>
                      <a:schemeClr val="bg1"/>
                    </a:solidFill>
                    <a:latin typeface="Cambria Math" panose="02040503050406030204" pitchFamily="18" charset="0"/>
                    <a:ea typeface="Cambria Math" panose="02040503050406030204" pitchFamily="18" charset="0"/>
                  </a:rPr>
                  <a:t>;</a:t>
                </a: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accent4">
                        <a:lumMod val="40000"/>
                        <a:lumOff val="60000"/>
                      </a:schemeClr>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 {</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int A[5] = {1,2,3,4,5}</a:t>
                </a: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	int </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 </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2">
                        <a:lumMod val="40000"/>
                        <a:lumOff val="60000"/>
                      </a:schemeClr>
                    </a:solidFill>
                    <a:latin typeface="Cambria Math" panose="02040503050406030204" pitchFamily="18" charset="0"/>
                    <a:ea typeface="Cambria Math" panose="02040503050406030204" pitchFamily="18" charset="0"/>
                  </a:rPr>
                  <a:t>remove</a:t>
                </a:r>
                <a:r>
                  <a:rPr lang="en-IN" sz="2800">
                    <a:solidFill>
                      <a:schemeClr val="bg1"/>
                    </a:solidFill>
                    <a:latin typeface="Cambria Math" panose="02040503050406030204" pitchFamily="18" charset="0"/>
                    <a:ea typeface="Cambria Math" panose="02040503050406030204" pitchFamily="18" charset="0"/>
                  </a:rPr>
                  <a:t>(</a:t>
                </a:r>
                <a:r>
                  <a:rPr lang="en-IN" sz="2800" dirty="0">
                    <a:solidFill>
                      <a:schemeClr val="bg1"/>
                    </a:solidFill>
                    <a:latin typeface="Cambria Math" panose="02040503050406030204" pitchFamily="18" charset="0"/>
                    <a:ea typeface="Cambria Math" panose="02040503050406030204" pitchFamily="18" charset="0"/>
                  </a:rPr>
                  <a:t>A, 5</a:t>
                </a:r>
                <a:r>
                  <a:rPr lang="en-IN" sz="2800">
                    <a:solidFill>
                      <a:schemeClr val="bg1"/>
                    </a:solidFill>
                    <a:latin typeface="Cambria Math" panose="02040503050406030204" pitchFamily="18" charset="0"/>
                    <a:ea typeface="Cambria Math" panose="02040503050406030204" pitchFamily="18" charset="0"/>
                  </a:rPr>
                  <a:t>, 2);</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return</a:t>
                </a:r>
                <a:r>
                  <a:rPr lang="en-IN" sz="2800" dirty="0">
                    <a:solidFill>
                      <a:schemeClr val="bg1"/>
                    </a:solidFill>
                    <a:latin typeface="Cambria Math" panose="02040503050406030204" pitchFamily="18" charset="0"/>
                    <a:ea typeface="Cambria Math" panose="02040503050406030204" pitchFamily="18" charset="0"/>
                  </a:rPr>
                  <a:t> 0;</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bg1"/>
                    </a:solidFill>
                    <a:latin typeface="Cambria Math" panose="02040503050406030204" pitchFamily="18" charset="0"/>
                    <a:ea typeface="Cambria Math" panose="02040503050406030204" pitchFamily="18" charset="0"/>
                  </a:rPr>
                  <a:t>}</a:t>
                </a:r>
                <a:endParaRPr lang="en-US" sz="28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Rounded Rectangle 1">
                <a:extLst>
                  <a:ext uri="{FF2B5EF4-FFF2-40B4-BE49-F238E27FC236}">
                    <a16:creationId xmlns:a16="http://schemas.microsoft.com/office/drawing/2014/main" id="{E097F9D9-B439-9315-E8DA-104B174FCB49}"/>
                  </a:ext>
                </a:extLst>
              </p:cNvPr>
              <p:cNvSpPr>
                <a:spLocks noRot="1" noChangeAspect="1" noMove="1" noResize="1" noEditPoints="1" noAdjustHandles="1" noChangeArrowheads="1" noChangeShapeType="1" noTextEdit="1"/>
              </p:cNvSpPr>
              <p:nvPr/>
            </p:nvSpPr>
            <p:spPr>
              <a:xfrm>
                <a:off x="645013" y="133351"/>
                <a:ext cx="9543957" cy="13451205"/>
              </a:xfrm>
              <a:prstGeom prst="roundRect">
                <a:avLst/>
              </a:prstGeom>
              <a:blipFill>
                <a:blip r:embed="rId2"/>
                <a:stretch>
                  <a:fillRect/>
                </a:stretch>
              </a:blipFill>
              <a:ln w="63500" cap="flat">
                <a:solidFill>
                  <a:schemeClr val="tx1"/>
                </a:solid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3740292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3E2E2-53C7-FC28-76DC-0526E3FCD6C1}"/>
            </a:ext>
          </a:extLst>
        </p:cNvPr>
        <p:cNvGrpSpPr/>
        <p:nvPr/>
      </p:nvGrpSpPr>
      <p:grpSpPr>
        <a:xfrm>
          <a:off x="0" y="0"/>
          <a:ext cx="0" cy="0"/>
          <a:chOff x="0" y="0"/>
          <a:chExt cx="0" cy="0"/>
        </a:xfrm>
      </p:grpSpPr>
      <p:sp>
        <p:nvSpPr>
          <p:cNvPr id="171" name="Candy: A problem on leetcode">
            <a:extLst>
              <a:ext uri="{FF2B5EF4-FFF2-40B4-BE49-F238E27FC236}">
                <a16:creationId xmlns:a16="http://schemas.microsoft.com/office/drawing/2014/main" id="{0A9AED6F-A1B9-EFDC-CABC-7A037EFAC91C}"/>
              </a:ext>
            </a:extLst>
          </p:cNvPr>
          <p:cNvSpPr/>
          <p:nvPr/>
        </p:nvSpPr>
        <p:spPr>
          <a:xfrm>
            <a:off x="645013" y="1189806"/>
            <a:ext cx="22731560" cy="11470843"/>
          </a:xfrm>
          <a:prstGeom prst="roundRect">
            <a:avLst>
              <a:gd name="adj" fmla="val 1661"/>
            </a:avLst>
          </a:prstGeom>
          <a:noFill/>
          <a:ln w="12700">
            <a:noFill/>
            <a:miter lim="400000"/>
          </a:ln>
          <a:effectLst>
            <a:outerShdw blurRad="355600" dist="114300" rotWithShape="0">
              <a:srgbClr val="000000">
                <a:alpha val="96558"/>
              </a:srgbClr>
            </a:outerShdw>
            <a:reflection stA="50000" endPos="0" dir="5400000" sy="-100000" algn="bl" rotWithShape="0"/>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20000">
                <a:solidFill>
                  <a:srgbClr val="FFFFFF"/>
                </a:solidFill>
                <a:latin typeface="Chalkduster"/>
                <a:ea typeface="Chalkduster"/>
                <a:cs typeface="Chalkduster"/>
                <a:sym typeface="Chalkduster"/>
              </a:defRPr>
            </a:lvl1pPr>
          </a:lstStyle>
          <a:p>
            <a:r>
              <a:rPr lang="en-US" sz="17300" dirty="0">
                <a:latin typeface="Chalkduster" panose="03050602040202020205" pitchFamily="66" charset="77"/>
                <a:cs typeface="Fave Script Bold Pro" panose="020F0502020204030204" pitchFamily="34" charset="0"/>
              </a:rPr>
              <a:t>Structures</a:t>
            </a:r>
            <a:endParaRPr sz="17300" dirty="0">
              <a:latin typeface="Chalkduster" panose="03050602040202020205" pitchFamily="66" charset="77"/>
              <a:cs typeface="Fave Script Bold Pro" panose="020F0502020204030204" pitchFamily="34" charset="0"/>
            </a:endParaRPr>
          </a:p>
        </p:txBody>
      </p:sp>
    </p:spTree>
    <p:extLst>
      <p:ext uri="{BB962C8B-B14F-4D97-AF65-F5344CB8AC3E}">
        <p14:creationId xmlns:p14="http://schemas.microsoft.com/office/powerpoint/2010/main" val="3897578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6BFA3C9-477B-3BE9-3847-12AAE7D7D94F}"/>
              </a:ext>
            </a:extLst>
          </p:cNvPr>
          <p:cNvSpPr/>
          <p:nvPr/>
        </p:nvSpPr>
        <p:spPr>
          <a:xfrm>
            <a:off x="745957" y="1664850"/>
            <a:ext cx="22892085"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a:solidFill>
                  <a:schemeClr val="bg1"/>
                </a:solidFill>
                <a:latin typeface="Bradley Hand" pitchFamily="2" charset="77"/>
              </a:rPr>
              <a:t>Structures are the primitive version of </a:t>
            </a:r>
            <a:r>
              <a:rPr lang="en-US" sz="5400">
                <a:solidFill>
                  <a:schemeClr val="accent3">
                    <a:lumMod val="40000"/>
                    <a:lumOff val="60000"/>
                  </a:schemeClr>
                </a:solidFill>
                <a:latin typeface="Bradley Hand" pitchFamily="2" charset="77"/>
              </a:rPr>
              <a:t>classes </a:t>
            </a:r>
            <a:r>
              <a:rPr lang="en-US" sz="5400">
                <a:solidFill>
                  <a:schemeClr val="bg1"/>
                </a:solidFill>
                <a:latin typeface="Bradley Hand" pitchFamily="2" charset="77"/>
              </a:rPr>
              <a:t>in programing</a:t>
            </a:r>
            <a:endParaRPr lang="en-US" sz="5400" dirty="0">
              <a:solidFill>
                <a:schemeClr val="bg1"/>
              </a:solidFill>
              <a:latin typeface="Bradley Hand" pitchFamily="2" charset="77"/>
            </a:endParaRPr>
          </a:p>
        </p:txBody>
      </p:sp>
      <p:sp>
        <p:nvSpPr>
          <p:cNvPr id="3" name="Rounded Rectangle 2">
            <a:extLst>
              <a:ext uri="{FF2B5EF4-FFF2-40B4-BE49-F238E27FC236}">
                <a16:creationId xmlns:a16="http://schemas.microsoft.com/office/drawing/2014/main" id="{96ADC94C-71E6-598A-E08B-133B62374F07}"/>
              </a:ext>
            </a:extLst>
          </p:cNvPr>
          <p:cNvSpPr/>
          <p:nvPr/>
        </p:nvSpPr>
        <p:spPr>
          <a:xfrm>
            <a:off x="745957" y="4058520"/>
            <a:ext cx="9543957" cy="5016976"/>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IN" sz="36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dirty="0" err="1">
                <a:solidFill>
                  <a:schemeClr val="bg1"/>
                </a:solidFill>
                <a:latin typeface="Cambria Math" panose="02040503050406030204" pitchFamily="18" charset="0"/>
                <a:ea typeface="Cambria Math" panose="02040503050406030204" pitchFamily="18" charset="0"/>
              </a:rPr>
              <a:t>stdio.h</a:t>
            </a:r>
            <a:r>
              <a:rPr lang="en-IN" sz="36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3600">
                <a:solidFill>
                  <a:schemeClr val="bg1"/>
                </a:solidFill>
                <a:latin typeface="Cambria Math" panose="02040503050406030204" pitchFamily="18" charset="0"/>
                <a:ea typeface="Cambria Math" panose="02040503050406030204" pitchFamily="18" charset="0"/>
              </a:rPr>
            </a:br>
            <a:r>
              <a:rPr lang="en-IN" sz="36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3600">
                <a:solidFill>
                  <a:schemeClr val="accent1">
                    <a:lumMod val="40000"/>
                    <a:lumOff val="60000"/>
                  </a:schemeClr>
                </a:solidFill>
                <a:latin typeface="Cambria Math" panose="02040503050406030204" pitchFamily="18" charset="0"/>
                <a:ea typeface="Cambria Math" panose="02040503050406030204" pitchFamily="18" charset="0"/>
              </a:rPr>
              <a:t>&lt;</a:t>
            </a:r>
            <a:r>
              <a:rPr lang="en-IN" sz="3600">
                <a:solidFill>
                  <a:schemeClr val="bg1"/>
                </a:solidFill>
                <a:latin typeface="Cambria Math" panose="02040503050406030204" pitchFamily="18" charset="0"/>
                <a:ea typeface="Cambria Math" panose="02040503050406030204" pitchFamily="18" charset="0"/>
              </a:rPr>
              <a:t>string.h</a:t>
            </a:r>
            <a:r>
              <a:rPr lang="en-IN" sz="360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3600">
                <a:solidFill>
                  <a:schemeClr val="bg1"/>
                </a:solidFill>
                <a:latin typeface="Cambria Math" panose="02040503050406030204" pitchFamily="18" charset="0"/>
                <a:ea typeface="Cambria Math" panose="02040503050406030204" pitchFamily="18" charset="0"/>
              </a:rPr>
            </a:br>
            <a:r>
              <a:rPr lang="en-IN" sz="36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36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36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a:solidFill>
                  <a:schemeClr val="bg1"/>
                </a:solidFill>
                <a:latin typeface="Cambria Math" panose="02040503050406030204" pitchFamily="18" charset="0"/>
                <a:ea typeface="Cambria Math" panose="02040503050406030204" pitchFamily="18" charset="0"/>
              </a:rPr>
              <a:t>	</a:t>
            </a:r>
            <a:r>
              <a:rPr lang="en-IN" sz="36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3600">
                <a:solidFill>
                  <a:schemeClr val="bg1"/>
                </a:solidFill>
                <a:latin typeface="Cambria Math" panose="02040503050406030204" pitchFamily="18" charset="0"/>
                <a:ea typeface="Cambria Math" panose="02040503050406030204" pitchFamily="18" charset="0"/>
              </a:rPr>
              <a:t> </a:t>
            </a:r>
            <a:r>
              <a:rPr lang="en-IN" sz="36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36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3600">
                <a:solidFill>
                  <a:schemeClr val="bg1"/>
                </a:solidFill>
                <a:latin typeface="Cambria Math" panose="02040503050406030204" pitchFamily="18" charset="0"/>
                <a:ea typeface="Cambria Math" panose="02040503050406030204" pitchFamily="18" charset="0"/>
              </a:rPr>
              <a:t>	</a:t>
            </a:r>
            <a:r>
              <a:rPr lang="en-IN" sz="36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a:solidFill>
                  <a:schemeClr val="bg1"/>
                </a:solidFill>
                <a:latin typeface="Cambria Math" panose="02040503050406030204" pitchFamily="18" charset="0"/>
                <a:ea typeface="Cambria Math" panose="02040503050406030204" pitchFamily="18" charset="0"/>
              </a:rPr>
              <a:t> </a:t>
            </a:r>
            <a:r>
              <a:rPr lang="en-IN" sz="36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36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a:solidFill>
                  <a:schemeClr val="bg1"/>
                </a:solidFill>
                <a:latin typeface="Cambria Math" panose="02040503050406030204" pitchFamily="18" charset="0"/>
                <a:ea typeface="Cambria Math" panose="02040503050406030204" pitchFamily="18" charset="0"/>
              </a:rPr>
              <a:t>	</a:t>
            </a:r>
            <a:r>
              <a:rPr lang="en-IN" sz="36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3600">
                <a:solidFill>
                  <a:schemeClr val="bg1"/>
                </a:solidFill>
                <a:latin typeface="Cambria Math" panose="02040503050406030204" pitchFamily="18" charset="0"/>
                <a:ea typeface="Cambria Math" panose="02040503050406030204" pitchFamily="18" charset="0"/>
              </a:rPr>
              <a:t> </a:t>
            </a:r>
            <a:r>
              <a:rPr lang="en-IN" sz="36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36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3600">
                <a:solidFill>
                  <a:schemeClr val="bg1"/>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975082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14B11-CCF8-A05B-5A82-6FEC7A2A3FC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114E8C82-006C-1382-5DE5-DAC435DCE5B8}"/>
              </a:ext>
            </a:extLst>
          </p:cNvPr>
          <p:cNvSpPr/>
          <p:nvPr/>
        </p:nvSpPr>
        <p:spPr>
          <a:xfrm>
            <a:off x="767222" y="2007765"/>
            <a:ext cx="9312443"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“Rahul”);</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 20;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 = 5000;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print</a:t>
            </a:r>
            <a:r>
              <a:rPr lang="en-IN" sz="2800" dirty="0">
                <a:solidFill>
                  <a:schemeClr val="bg1"/>
                </a:solidFill>
                <a:latin typeface="Cambria Math" panose="02040503050406030204" pitchFamily="18" charset="0"/>
                <a:ea typeface="Cambria Math" panose="02040503050406030204" pitchFamily="18" charset="0"/>
              </a:rPr>
              <a:t>( “%s %d %d”,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team</a:t>
            </a:r>
            <a:r>
              <a:rPr lang="en-IN" sz="2800" dirty="0">
                <a:solidFill>
                  <a:schemeClr val="bg1"/>
                </a:solidFill>
                <a:latin typeface="Cambria Math" panose="02040503050406030204" pitchFamily="18" charset="0"/>
                <a:ea typeface="Cambria Math" panose="02040503050406030204" pitchFamily="18" charset="0"/>
              </a:rPr>
              <a:t>[2] =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
        <p:nvSpPr>
          <p:cNvPr id="4" name="Rounded Rectangle 3">
            <a:extLst>
              <a:ext uri="{FF2B5EF4-FFF2-40B4-BE49-F238E27FC236}">
                <a16:creationId xmlns:a16="http://schemas.microsoft.com/office/drawing/2014/main" id="{BFBD7947-B979-6294-18B0-160766F225A8}"/>
              </a:ext>
            </a:extLst>
          </p:cNvPr>
          <p:cNvSpPr/>
          <p:nvPr/>
        </p:nvSpPr>
        <p:spPr>
          <a:xfrm>
            <a:off x="10930270" y="3271089"/>
            <a:ext cx="12944486" cy="654931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Let us try to pass a structure into a function</a:t>
            </a:r>
          </a:p>
          <a:p>
            <a:pPr marL="685800" indent="-685800" defTabSz="825500">
              <a:lnSpc>
                <a:spcPct val="100000"/>
              </a:lnSpc>
              <a:spcBef>
                <a:spcPts val="0"/>
              </a:spcBef>
              <a:buFont typeface="Arial" panose="020B0604020202020204" pitchFamily="34" charset="0"/>
              <a:buChar char="•"/>
            </a:pPr>
            <a:r>
              <a:rPr lang="en-US" sz="5400">
                <a:solidFill>
                  <a:schemeClr val="accent6">
                    <a:lumMod val="40000"/>
                    <a:lumOff val="60000"/>
                  </a:schemeClr>
                </a:solidFill>
                <a:latin typeface="Bradley Hand" pitchFamily="2" charset="77"/>
              </a:rPr>
              <a:t>Again, how should it be passed?</a:t>
            </a:r>
          </a:p>
          <a:p>
            <a:pPr marL="685800" indent="-685800" defTabSz="825500">
              <a:lnSpc>
                <a:spcPct val="100000"/>
              </a:lnSpc>
              <a:spcBef>
                <a:spcPts val="0"/>
              </a:spcBef>
              <a:buFont typeface="Arial" panose="020B0604020202020204" pitchFamily="34" charset="0"/>
              <a:buChar char="•"/>
            </a:pPr>
            <a:r>
              <a:rPr lang="en-US" sz="5400">
                <a:solidFill>
                  <a:schemeClr val="bg1">
                    <a:lumMod val="95000"/>
                  </a:schemeClr>
                </a:solidFill>
                <a:latin typeface="Bradley Hand" pitchFamily="2" charset="77"/>
              </a:rPr>
              <a:t>It makes sense to pass the address of the structure – like we did for arrays</a:t>
            </a:r>
          </a:p>
          <a:p>
            <a:pPr marL="685800" indent="-685800" defTabSz="825500">
              <a:lnSpc>
                <a:spcPct val="100000"/>
              </a:lnSpc>
              <a:spcBef>
                <a:spcPts val="0"/>
              </a:spcBef>
              <a:buFont typeface="Arial" panose="020B0604020202020204" pitchFamily="34" charset="0"/>
              <a:buChar char="•"/>
            </a:pPr>
            <a:r>
              <a:rPr lang="en-US" sz="5400">
                <a:solidFill>
                  <a:schemeClr val="bg1">
                    <a:lumMod val="95000"/>
                  </a:schemeClr>
                </a:solidFill>
                <a:latin typeface="Bradley Hand" pitchFamily="2" charset="77"/>
              </a:rPr>
              <a:t>Unfortunately, that is not what happens</a:t>
            </a:r>
            <a:endParaRPr lang="en-US" sz="5400" dirty="0">
              <a:solidFill>
                <a:schemeClr val="bg1">
                  <a:lumMod val="95000"/>
                </a:schemeClr>
              </a:solidFill>
              <a:latin typeface="Bradley Hand" pitchFamily="2" charset="77"/>
            </a:endParaRPr>
          </a:p>
        </p:txBody>
      </p:sp>
    </p:spTree>
    <p:extLst>
      <p:ext uri="{BB962C8B-B14F-4D97-AF65-F5344CB8AC3E}">
        <p14:creationId xmlns:p14="http://schemas.microsoft.com/office/powerpoint/2010/main" val="27025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4236C05-AB9E-4FB3-23B8-50DC13722935}"/>
              </a:ext>
            </a:extLst>
          </p:cNvPr>
          <p:cNvSpPr/>
          <p:nvPr/>
        </p:nvSpPr>
        <p:spPr>
          <a:xfrm>
            <a:off x="767223" y="2007766"/>
            <a:ext cx="9142322"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stdio.h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string.h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2800">
                <a:solidFill>
                  <a:schemeClr val="bg1"/>
                </a:solidFill>
                <a:latin typeface="Cambria Math" panose="02040503050406030204" pitchFamily="18" charset="0"/>
                <a:ea typeface="Cambria Math" panose="02040503050406030204" pitchFamily="18" charset="0"/>
              </a:rPr>
              <a:t> print(</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printf</a:t>
            </a:r>
            <a:r>
              <a:rPr lang="en-IN" sz="2800">
                <a:solidFill>
                  <a:schemeClr val="bg1"/>
                </a:solidFill>
                <a:latin typeface="Cambria Math" panose="02040503050406030204" pitchFamily="18" charset="0"/>
                <a:ea typeface="Cambria Math" panose="02040503050406030204" pitchFamily="18" charset="0"/>
              </a:rPr>
              <a:t>( “%s %d %d”,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print(p1);</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p:txBody>
      </p:sp>
      <p:sp>
        <p:nvSpPr>
          <p:cNvPr id="3" name="Rounded Rectangle 2">
            <a:extLst>
              <a:ext uri="{FF2B5EF4-FFF2-40B4-BE49-F238E27FC236}">
                <a16:creationId xmlns:a16="http://schemas.microsoft.com/office/drawing/2014/main" id="{EE214D78-EB5F-2276-6F8B-8CCF9C289F70}"/>
              </a:ext>
            </a:extLst>
          </p:cNvPr>
          <p:cNvSpPr/>
          <p:nvPr/>
        </p:nvSpPr>
        <p:spPr>
          <a:xfrm>
            <a:off x="10930270" y="3730791"/>
            <a:ext cx="12944486" cy="562991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Changing </a:t>
            </a:r>
            <a:r>
              <a:rPr lang="en-US" sz="5400">
                <a:solidFill>
                  <a:schemeClr val="accent1">
                    <a:lumMod val="40000"/>
                    <a:lumOff val="60000"/>
                  </a:schemeClr>
                </a:solidFill>
                <a:latin typeface="Bradley Hand" pitchFamily="2" charset="77"/>
              </a:rPr>
              <a:t>p </a:t>
            </a:r>
            <a:r>
              <a:rPr lang="en-US" sz="5400">
                <a:solidFill>
                  <a:schemeClr val="bg1"/>
                </a:solidFill>
                <a:latin typeface="Bradley Hand" pitchFamily="2" charset="77"/>
              </a:rPr>
              <a:t>does not change </a:t>
            </a:r>
            <a:r>
              <a:rPr lang="en-US" sz="5400">
                <a:solidFill>
                  <a:schemeClr val="accent1">
                    <a:lumMod val="40000"/>
                    <a:lumOff val="60000"/>
                  </a:schemeClr>
                </a:solidFill>
                <a:latin typeface="Bradley Hand" pitchFamily="2" charset="77"/>
              </a:rPr>
              <a:t>p1</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But this does not make any sense</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It will take a huge amount of time just to copy the arguments – making our program slow</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So, we use pointers anyway</a:t>
            </a: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3175963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FD56-37D5-3194-4FAC-20FA73BE4F6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9CE15B7-944A-17F1-3166-AC3106B87610}"/>
              </a:ext>
            </a:extLst>
          </p:cNvPr>
          <p:cNvSpPr/>
          <p:nvPr/>
        </p:nvSpPr>
        <p:spPr>
          <a:xfrm>
            <a:off x="767223" y="2007766"/>
            <a:ext cx="9142322"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stdio.h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string.h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2800">
                <a:solidFill>
                  <a:schemeClr val="bg1"/>
                </a:solidFill>
                <a:latin typeface="Cambria Math" panose="02040503050406030204" pitchFamily="18" charset="0"/>
                <a:ea typeface="Cambria Math" panose="02040503050406030204" pitchFamily="18" charset="0"/>
              </a:rPr>
              <a:t> print(</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print</a:t>
            </a:r>
            <a:r>
              <a:rPr lang="en-IN" sz="2800">
                <a:solidFill>
                  <a:schemeClr val="bg1"/>
                </a:solidFill>
                <a:latin typeface="Cambria Math" panose="02040503050406030204" pitchFamily="18" charset="0"/>
                <a:ea typeface="Cambria Math" panose="02040503050406030204" pitchFamily="18" charset="0"/>
              </a:rPr>
              <a:t>( “%s %d %d”,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print(&amp;p1);</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p:txBody>
      </p:sp>
      <p:sp>
        <p:nvSpPr>
          <p:cNvPr id="3" name="Rounded Rectangle 2">
            <a:extLst>
              <a:ext uri="{FF2B5EF4-FFF2-40B4-BE49-F238E27FC236}">
                <a16:creationId xmlns:a16="http://schemas.microsoft.com/office/drawing/2014/main" id="{B2693325-74D2-5BC2-13A5-716413D8DF48}"/>
              </a:ext>
            </a:extLst>
          </p:cNvPr>
          <p:cNvSpPr/>
          <p:nvPr/>
        </p:nvSpPr>
        <p:spPr>
          <a:xfrm>
            <a:off x="10930270" y="3730791"/>
            <a:ext cx="12944486" cy="562991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Changing </a:t>
            </a:r>
            <a:r>
              <a:rPr lang="en-US" sz="5400">
                <a:solidFill>
                  <a:schemeClr val="accent1">
                    <a:lumMod val="40000"/>
                    <a:lumOff val="60000"/>
                  </a:schemeClr>
                </a:solidFill>
                <a:latin typeface="Bradley Hand" pitchFamily="2" charset="77"/>
              </a:rPr>
              <a:t>p </a:t>
            </a:r>
            <a:r>
              <a:rPr lang="en-US" sz="5400">
                <a:solidFill>
                  <a:schemeClr val="bg1"/>
                </a:solidFill>
                <a:latin typeface="Bradley Hand" pitchFamily="2" charset="77"/>
              </a:rPr>
              <a:t>does not change </a:t>
            </a:r>
            <a:r>
              <a:rPr lang="en-US" sz="5400">
                <a:solidFill>
                  <a:schemeClr val="accent1">
                    <a:lumMod val="40000"/>
                    <a:lumOff val="60000"/>
                  </a:schemeClr>
                </a:solidFill>
                <a:latin typeface="Bradley Hand" pitchFamily="2" charset="77"/>
              </a:rPr>
              <a:t>p1</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But this does not make any sense</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It will take a huge amount of time just to copy the arguments – making our program slow</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So, we use pointers anyway</a:t>
            </a: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39636113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7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56632-89D3-E8F3-2F35-9EC50D0B888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FA6F60CF-2C25-B982-356C-828E06265BE7}"/>
              </a:ext>
            </a:extLst>
          </p:cNvPr>
          <p:cNvSpPr/>
          <p:nvPr/>
        </p:nvSpPr>
        <p:spPr>
          <a:xfrm>
            <a:off x="767223" y="2007766"/>
            <a:ext cx="9527660"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stdio.h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string.h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void</a:t>
            </a:r>
            <a:r>
              <a:rPr lang="en-IN" sz="2800">
                <a:solidFill>
                  <a:schemeClr val="bg1"/>
                </a:solidFill>
                <a:latin typeface="Cambria Math" panose="02040503050406030204" pitchFamily="18" charset="0"/>
                <a:ea typeface="Cambria Math" panose="02040503050406030204" pitchFamily="18" charset="0"/>
              </a:rPr>
              <a:t> print(</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print</a:t>
            </a:r>
            <a:r>
              <a:rPr lang="en-IN" sz="2800">
                <a:solidFill>
                  <a:schemeClr val="bg1"/>
                </a:solidFill>
                <a:latin typeface="Cambria Math" panose="02040503050406030204" pitchFamily="18" charset="0"/>
                <a:ea typeface="Cambria Math" panose="02040503050406030204" pitchFamily="18" charset="0"/>
              </a:rPr>
              <a:t>( “%s %d %d”,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print(&amp;p1);</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p:txBody>
      </p:sp>
      <p:sp>
        <p:nvSpPr>
          <p:cNvPr id="3" name="Rounded Rectangle 2">
            <a:extLst>
              <a:ext uri="{FF2B5EF4-FFF2-40B4-BE49-F238E27FC236}">
                <a16:creationId xmlns:a16="http://schemas.microsoft.com/office/drawing/2014/main" id="{D1AE9F01-E937-794C-BF88-F53FECDDF31F}"/>
              </a:ext>
            </a:extLst>
          </p:cNvPr>
          <p:cNvSpPr/>
          <p:nvPr/>
        </p:nvSpPr>
        <p:spPr>
          <a:xfrm>
            <a:off x="10930270" y="3730791"/>
            <a:ext cx="12944486" cy="562991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Changing </a:t>
            </a:r>
            <a:r>
              <a:rPr lang="en-US" sz="5400">
                <a:solidFill>
                  <a:schemeClr val="accent1">
                    <a:lumMod val="40000"/>
                    <a:lumOff val="60000"/>
                  </a:schemeClr>
                </a:solidFill>
                <a:latin typeface="Bradley Hand" pitchFamily="2" charset="77"/>
              </a:rPr>
              <a:t>p </a:t>
            </a:r>
            <a:r>
              <a:rPr lang="en-US" sz="5400">
                <a:solidFill>
                  <a:schemeClr val="bg1"/>
                </a:solidFill>
                <a:latin typeface="Bradley Hand" pitchFamily="2" charset="77"/>
              </a:rPr>
              <a:t>does not change </a:t>
            </a:r>
            <a:r>
              <a:rPr lang="en-US" sz="5400">
                <a:solidFill>
                  <a:schemeClr val="accent1">
                    <a:lumMod val="40000"/>
                    <a:lumOff val="60000"/>
                  </a:schemeClr>
                </a:solidFill>
                <a:latin typeface="Bradley Hand" pitchFamily="2" charset="77"/>
              </a:rPr>
              <a:t>p1</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But this does not make any sense</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It will take a huge amount of time just to copy the arguments – making our program slow</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So, we use pointers anyway</a:t>
            </a: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35485726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A7C39CA-AED9-7F03-DC4D-6A8F58FEDDCD}"/>
              </a:ext>
            </a:extLst>
          </p:cNvPr>
          <p:cNvSpPr/>
          <p:nvPr/>
        </p:nvSpPr>
        <p:spPr>
          <a:xfrm>
            <a:off x="1040525" y="1551885"/>
            <a:ext cx="22786935"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a:solidFill>
                  <a:schemeClr val="accent5">
                    <a:lumMod val="40000"/>
                    <a:lumOff val="60000"/>
                  </a:schemeClr>
                </a:solidFill>
                <a:latin typeface="Bradley Hand" pitchFamily="2" charset="77"/>
              </a:rPr>
              <a:t>How to return a structure?</a:t>
            </a:r>
            <a:endParaRPr lang="en-US" sz="5400" dirty="0">
              <a:solidFill>
                <a:schemeClr val="accent5">
                  <a:lumMod val="40000"/>
                  <a:lumOff val="60000"/>
                </a:schemeClr>
              </a:solidFill>
              <a:latin typeface="Bradley Hand" pitchFamily="2" charset="77"/>
            </a:endParaRPr>
          </a:p>
        </p:txBody>
      </p:sp>
      <p:sp>
        <p:nvSpPr>
          <p:cNvPr id="3" name="Rounded Rectangle 2">
            <a:extLst>
              <a:ext uri="{FF2B5EF4-FFF2-40B4-BE49-F238E27FC236}">
                <a16:creationId xmlns:a16="http://schemas.microsoft.com/office/drawing/2014/main" id="{592B05E1-1EA6-20CB-2417-B4947BB92E49}"/>
              </a:ext>
            </a:extLst>
          </p:cNvPr>
          <p:cNvSpPr/>
          <p:nvPr/>
        </p:nvSpPr>
        <p:spPr>
          <a:xfrm>
            <a:off x="798754" y="3499675"/>
            <a:ext cx="9527660" cy="8551561"/>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stdio.h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a:solidFill>
                  <a:schemeClr val="bg1"/>
                </a:solidFill>
                <a:latin typeface="Cambria Math" panose="02040503050406030204" pitchFamily="18" charset="0"/>
                <a:ea typeface="Cambria Math" panose="02040503050406030204" pitchFamily="18" charset="0"/>
              </a:rPr>
            </a:b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accent6">
                    <a:lumMod val="40000"/>
                    <a:lumOff val="60000"/>
                  </a:schemeClr>
                </a:solidFill>
                <a:latin typeface="Cambria Math" panose="02040503050406030204" pitchFamily="18" charset="0"/>
                <a:ea typeface="Cambria Math" panose="02040503050406030204" pitchFamily="18" charset="0"/>
              </a:rPr>
              <a:t> </a:t>
            </a:r>
            <a:r>
              <a:rPr lang="en-IN" sz="2800">
                <a:solidFill>
                  <a:schemeClr val="bg1"/>
                </a:solidFill>
                <a:latin typeface="Cambria Math" panose="02040503050406030204" pitchFamily="18" charset="0"/>
                <a:ea typeface="Cambria Math" panose="02040503050406030204" pitchFamily="18" charset="0"/>
              </a:rPr>
              <a:t>create()</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 = { “Ria”, 30, 10000};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return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a:solidFill>
                  <a:schemeClr val="bg1"/>
                </a:solidFill>
                <a:latin typeface="Cambria Math" panose="02040503050406030204" pitchFamily="18" charset="0"/>
                <a:ea typeface="Cambria Math" panose="02040503050406030204" pitchFamily="18" charset="0"/>
              </a:rPr>
              <a:t> = create()</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p:txBody>
      </p:sp>
      <p:sp>
        <p:nvSpPr>
          <p:cNvPr id="4" name="Rounded Rectangle 3">
            <a:extLst>
              <a:ext uri="{FF2B5EF4-FFF2-40B4-BE49-F238E27FC236}">
                <a16:creationId xmlns:a16="http://schemas.microsoft.com/office/drawing/2014/main" id="{F0B67F05-9F34-4813-EC69-8F827EC66DB3}"/>
              </a:ext>
            </a:extLst>
          </p:cNvPr>
          <p:cNvSpPr/>
          <p:nvPr/>
        </p:nvSpPr>
        <p:spPr>
          <a:xfrm>
            <a:off x="10930270" y="4650192"/>
            <a:ext cx="12944486"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Again returning a structures takes a huge amount of time</a:t>
            </a:r>
            <a:r>
              <a:rPr lang="en-US" sz="5400">
                <a:solidFill>
                  <a:schemeClr val="accent1">
                    <a:lumMod val="40000"/>
                    <a:lumOff val="60000"/>
                  </a:schemeClr>
                </a:solidFill>
                <a:latin typeface="Bradley Hand" pitchFamily="2" charset="77"/>
              </a:rPr>
              <a:t> </a:t>
            </a:r>
            <a:r>
              <a:rPr lang="en-US" sz="5400">
                <a:solidFill>
                  <a:schemeClr val="bg1"/>
                </a:solidFill>
                <a:latin typeface="Bradley Hand" pitchFamily="2" charset="77"/>
              </a:rPr>
              <a:t>--</a:t>
            </a:r>
            <a:r>
              <a:rPr lang="en-US" sz="5400">
                <a:solidFill>
                  <a:schemeClr val="accent1">
                    <a:lumMod val="40000"/>
                    <a:lumOff val="60000"/>
                  </a:schemeClr>
                </a:solidFill>
                <a:latin typeface="Bradley Hand" pitchFamily="2" charset="77"/>
              </a:rPr>
              <a:t> </a:t>
            </a:r>
            <a:r>
              <a:rPr lang="en-US" sz="5400">
                <a:solidFill>
                  <a:schemeClr val="bg1"/>
                </a:solidFill>
                <a:latin typeface="Bradley Hand" pitchFamily="2" charset="77"/>
              </a:rPr>
              <a:t>making our program slow</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So, we use pointers anyway</a:t>
            </a: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2289511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EA78B-8D28-C652-F93D-960E8291B5B1}"/>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4906CE0-5202-81E3-CFBF-ECEC521EE9B1}"/>
              </a:ext>
            </a:extLst>
          </p:cNvPr>
          <p:cNvSpPr/>
          <p:nvPr/>
        </p:nvSpPr>
        <p:spPr>
          <a:xfrm>
            <a:off x="1040525" y="1551885"/>
            <a:ext cx="22786935"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a:lnSpc>
                <a:spcPct val="100000"/>
              </a:lnSpc>
              <a:spcBef>
                <a:spcPts val="0"/>
              </a:spcBef>
            </a:pPr>
            <a:r>
              <a:rPr lang="en-US" sz="5400">
                <a:solidFill>
                  <a:schemeClr val="accent5">
                    <a:lumMod val="40000"/>
                    <a:lumOff val="60000"/>
                  </a:schemeClr>
                </a:solidFill>
                <a:latin typeface="Bradley Hand" pitchFamily="2" charset="77"/>
              </a:rPr>
              <a:t>How to return a structure?</a:t>
            </a:r>
            <a:endParaRPr lang="en-US" sz="5400" dirty="0">
              <a:solidFill>
                <a:schemeClr val="accent5">
                  <a:lumMod val="40000"/>
                  <a:lumOff val="60000"/>
                </a:schemeClr>
              </a:solidFill>
              <a:latin typeface="Bradley Hand" pitchFamily="2" charset="77"/>
            </a:endParaRPr>
          </a:p>
        </p:txBody>
      </p:sp>
      <p:sp>
        <p:nvSpPr>
          <p:cNvPr id="3" name="Rounded Rectangle 2">
            <a:extLst>
              <a:ext uri="{FF2B5EF4-FFF2-40B4-BE49-F238E27FC236}">
                <a16:creationId xmlns:a16="http://schemas.microsoft.com/office/drawing/2014/main" id="{F5D8372F-3259-9845-FB18-9549B59C68E3}"/>
              </a:ext>
            </a:extLst>
          </p:cNvPr>
          <p:cNvSpPr/>
          <p:nvPr/>
        </p:nvSpPr>
        <p:spPr>
          <a:xfrm>
            <a:off x="782988" y="3056996"/>
            <a:ext cx="9527660" cy="1031979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stdio.h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string.h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spcBef>
                <a:spcPts val="0"/>
              </a:spcBef>
            </a:pP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accent6">
                    <a:lumMod val="40000"/>
                    <a:lumOff val="60000"/>
                  </a:schemeClr>
                </a:solidFill>
                <a:latin typeface="Cambria Math" panose="02040503050406030204" pitchFamily="18" charset="0"/>
                <a:ea typeface="Cambria Math" panose="02040503050406030204" pitchFamily="18" charset="0"/>
              </a:rPr>
              <a:t> *</a:t>
            </a:r>
            <a:r>
              <a:rPr lang="en-IN" sz="2800">
                <a:solidFill>
                  <a:schemeClr val="bg1"/>
                </a:solidFill>
                <a:latin typeface="Cambria Math" panose="02040503050406030204" pitchFamily="18" charset="0"/>
                <a:ea typeface="Cambria Math" panose="02040503050406030204" pitchFamily="18" charset="0"/>
              </a:rPr>
              <a:t>create()</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 =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malloc</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 “Rahul”);</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 = 20;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 = 5000;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return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a:solidFill>
                  <a:schemeClr val="bg1"/>
                </a:solidFill>
                <a:latin typeface="Cambria Math" panose="02040503050406030204" pitchFamily="18" charset="0"/>
                <a:ea typeface="Cambria Math" panose="02040503050406030204" pitchFamily="18" charset="0"/>
              </a:rPr>
              <a:t> = create()</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p:txBody>
      </p:sp>
      <p:sp>
        <p:nvSpPr>
          <p:cNvPr id="4" name="Rounded Rectangle 3">
            <a:extLst>
              <a:ext uri="{FF2B5EF4-FFF2-40B4-BE49-F238E27FC236}">
                <a16:creationId xmlns:a16="http://schemas.microsoft.com/office/drawing/2014/main" id="{C0685F25-A373-B28D-F00B-7CFC72038654}"/>
              </a:ext>
            </a:extLst>
          </p:cNvPr>
          <p:cNvSpPr/>
          <p:nvPr/>
        </p:nvSpPr>
        <p:spPr>
          <a:xfrm>
            <a:off x="10930270" y="4650192"/>
            <a:ext cx="12944486"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Again returning a structures takes a huge amount of time</a:t>
            </a:r>
            <a:r>
              <a:rPr lang="en-US" sz="5400">
                <a:solidFill>
                  <a:schemeClr val="accent1">
                    <a:lumMod val="40000"/>
                    <a:lumOff val="60000"/>
                  </a:schemeClr>
                </a:solidFill>
                <a:latin typeface="Bradley Hand" pitchFamily="2" charset="77"/>
              </a:rPr>
              <a:t> </a:t>
            </a:r>
            <a:r>
              <a:rPr lang="en-US" sz="5400">
                <a:solidFill>
                  <a:schemeClr val="bg1"/>
                </a:solidFill>
                <a:latin typeface="Bradley Hand" pitchFamily="2" charset="77"/>
              </a:rPr>
              <a:t>--</a:t>
            </a:r>
            <a:r>
              <a:rPr lang="en-US" sz="5400">
                <a:solidFill>
                  <a:schemeClr val="accent1">
                    <a:lumMod val="40000"/>
                    <a:lumOff val="60000"/>
                  </a:schemeClr>
                </a:solidFill>
                <a:latin typeface="Bradley Hand" pitchFamily="2" charset="77"/>
              </a:rPr>
              <a:t> </a:t>
            </a:r>
            <a:r>
              <a:rPr lang="en-US" sz="5400">
                <a:solidFill>
                  <a:schemeClr val="bg1"/>
                </a:solidFill>
                <a:latin typeface="Bradley Hand" pitchFamily="2" charset="77"/>
              </a:rPr>
              <a:t>making our program slow</a:t>
            </a:r>
          </a:p>
          <a:p>
            <a:pPr marL="685800" indent="-685800" defTabSz="825500">
              <a:lnSpc>
                <a:spcPct val="100000"/>
              </a:lnSpc>
              <a:spcBef>
                <a:spcPts val="0"/>
              </a:spcBef>
              <a:buFont typeface="Arial" panose="020B0604020202020204" pitchFamily="34" charset="0"/>
              <a:buChar char="•"/>
            </a:pPr>
            <a:r>
              <a:rPr lang="en-US" sz="5400">
                <a:solidFill>
                  <a:schemeClr val="bg1"/>
                </a:solidFill>
                <a:latin typeface="Bradley Hand" pitchFamily="2" charset="77"/>
              </a:rPr>
              <a:t>So, we use pointers anyway</a:t>
            </a:r>
            <a:endParaRPr lang="en-US" sz="5400" dirty="0">
              <a:solidFill>
                <a:schemeClr val="bg1"/>
              </a:solidFill>
              <a:latin typeface="Bradley Hand" pitchFamily="2" charset="77"/>
            </a:endParaRPr>
          </a:p>
        </p:txBody>
      </p:sp>
    </p:spTree>
    <p:extLst>
      <p:ext uri="{BB962C8B-B14F-4D97-AF65-F5344CB8AC3E}">
        <p14:creationId xmlns:p14="http://schemas.microsoft.com/office/powerpoint/2010/main" val="433796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D3DF-C0CF-94CD-EF6E-6EAD62531FF4}"/>
            </a:ext>
          </a:extLst>
        </p:cNvPr>
        <p:cNvGrpSpPr/>
        <p:nvPr/>
      </p:nvGrpSpPr>
      <p:grpSpPr>
        <a:xfrm>
          <a:off x="0" y="0"/>
          <a:ext cx="0" cy="0"/>
          <a:chOff x="0" y="0"/>
          <a:chExt cx="0" cy="0"/>
        </a:xfrm>
      </p:grpSpPr>
      <p:sp>
        <p:nvSpPr>
          <p:cNvPr id="171" name="Candy: A problem on leetcode">
            <a:extLst>
              <a:ext uri="{FF2B5EF4-FFF2-40B4-BE49-F238E27FC236}">
                <a16:creationId xmlns:a16="http://schemas.microsoft.com/office/drawing/2014/main" id="{FB0F07C0-FD25-0DE3-7227-B8E790E0582F}"/>
              </a:ext>
            </a:extLst>
          </p:cNvPr>
          <p:cNvSpPr/>
          <p:nvPr/>
        </p:nvSpPr>
        <p:spPr>
          <a:xfrm>
            <a:off x="645013" y="1189806"/>
            <a:ext cx="22731560" cy="11470843"/>
          </a:xfrm>
          <a:prstGeom prst="roundRect">
            <a:avLst>
              <a:gd name="adj" fmla="val 1661"/>
            </a:avLst>
          </a:prstGeom>
          <a:noFill/>
          <a:ln w="12700">
            <a:noFill/>
            <a:miter lim="400000"/>
          </a:ln>
          <a:effectLst>
            <a:outerShdw blurRad="355600" dist="114300" rotWithShape="0">
              <a:srgbClr val="000000">
                <a:alpha val="96558"/>
              </a:srgbClr>
            </a:outerShdw>
            <a:reflection stA="50000" endPos="0" dir="5400000" sy="-100000" algn="bl" rotWithShape="0"/>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20000">
                <a:solidFill>
                  <a:srgbClr val="FFFFFF"/>
                </a:solidFill>
                <a:latin typeface="Chalkduster"/>
                <a:ea typeface="Chalkduster"/>
                <a:cs typeface="Chalkduster"/>
                <a:sym typeface="Chalkduster"/>
              </a:defRPr>
            </a:lvl1pPr>
          </a:lstStyle>
          <a:p>
            <a:r>
              <a:rPr lang="en-US" sz="17300" dirty="0">
                <a:latin typeface="Chalkduster" panose="03050602040202020205" pitchFamily="66" charset="77"/>
                <a:cs typeface="Fave Script Bold Pro" panose="020F0502020204030204" pitchFamily="34" charset="0"/>
              </a:rPr>
              <a:t>Array of Structures</a:t>
            </a:r>
            <a:endParaRPr sz="17300" dirty="0">
              <a:latin typeface="Chalkduster" panose="03050602040202020205" pitchFamily="66" charset="77"/>
              <a:cs typeface="Fave Script Bold Pro" panose="020F0502020204030204" pitchFamily="34" charset="0"/>
            </a:endParaRPr>
          </a:p>
        </p:txBody>
      </p:sp>
    </p:spTree>
    <p:extLst>
      <p:ext uri="{BB962C8B-B14F-4D97-AF65-F5344CB8AC3E}">
        <p14:creationId xmlns:p14="http://schemas.microsoft.com/office/powerpoint/2010/main" val="3635839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B8D478F-10FF-A1C2-B1BF-BDC828C5C47B}"/>
              </a:ext>
            </a:extLst>
          </p:cNvPr>
          <p:cNvSpPr/>
          <p:nvPr/>
        </p:nvSpPr>
        <p:spPr>
          <a:xfrm>
            <a:off x="767222" y="2007765"/>
            <a:ext cx="9312443" cy="907596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stdio.h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dirty="0" err="1">
                <a:solidFill>
                  <a:schemeClr val="bg1"/>
                </a:solidFill>
                <a:latin typeface="Cambria Math" panose="02040503050406030204" pitchFamily="18" charset="0"/>
                <a:ea typeface="Cambria Math" panose="02040503050406030204" pitchFamily="18" charset="0"/>
              </a:rPr>
              <a:t>string.h</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lnSpc>
                <a:spcPct val="100000"/>
              </a:lnSpc>
              <a:spcBef>
                <a:spcPts val="0"/>
              </a:spcBef>
            </a:pPr>
            <a:br>
              <a:rPr lang="en-IN" sz="2800" dirty="0">
                <a:solidFill>
                  <a:schemeClr val="bg1"/>
                </a:solidFill>
                <a:latin typeface="Cambria Math" panose="02040503050406030204" pitchFamily="18" charset="0"/>
                <a:ea typeface="Cambria Math" panose="02040503050406030204" pitchFamily="18" charset="0"/>
              </a:rPr>
            </a:b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dirty="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 = { “Ria”, 25, 10000};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err="1">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“Rahul”);</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 20;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 = 5000;</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print</a:t>
            </a:r>
            <a:r>
              <a:rPr lang="en-IN" sz="2800" dirty="0">
                <a:solidFill>
                  <a:schemeClr val="bg1"/>
                </a:solidFill>
                <a:latin typeface="Cambria Math" panose="02040503050406030204" pitchFamily="18" charset="0"/>
                <a:ea typeface="Cambria Math" panose="02040503050406030204" pitchFamily="18" charset="0"/>
              </a:rPr>
              <a:t>( “%s %d %d”,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dirty="0">
                <a:solidFill>
                  <a:schemeClr val="bg1"/>
                </a:solidFill>
                <a:latin typeface="Cambria Math" panose="02040503050406030204" pitchFamily="18" charset="0"/>
                <a:ea typeface="Cambria Math" panose="02040503050406030204" pitchFamily="18" charset="0"/>
              </a:rPr>
              <a:t>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team</a:t>
            </a:r>
            <a:r>
              <a:rPr lang="en-IN" sz="2800" dirty="0">
                <a:solidFill>
                  <a:schemeClr val="bg1"/>
                </a:solidFill>
                <a:latin typeface="Cambria Math" panose="02040503050406030204" pitchFamily="18" charset="0"/>
                <a:ea typeface="Cambria Math" panose="02040503050406030204" pitchFamily="18" charset="0"/>
              </a:rPr>
              <a:t>[2] = {</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dirty="0">
                <a:solidFill>
                  <a:schemeClr val="bg1"/>
                </a:solidFill>
                <a:latin typeface="Cambria Math" panose="02040503050406030204" pitchFamily="18" charset="0"/>
                <a:ea typeface="Cambria Math" panose="02040503050406030204" pitchFamily="18" charset="0"/>
              </a:rPr>
              <a:t>,</a:t>
            </a:r>
            <a:r>
              <a:rPr lang="en-IN" sz="2800" dirty="0">
                <a:solidFill>
                  <a:schemeClr val="accent1">
                    <a:lumMod val="40000"/>
                    <a:lumOff val="60000"/>
                  </a:schemeClr>
                </a:solidFill>
                <a:latin typeface="Cambria Math" panose="02040503050406030204" pitchFamily="18" charset="0"/>
                <a:ea typeface="Cambria Math" panose="02040503050406030204" pitchFamily="18" charset="0"/>
              </a:rPr>
              <a:t>p2</a:t>
            </a:r>
            <a:r>
              <a:rPr lang="en-IN" sz="2800" dirty="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dirty="0">
                <a:solidFill>
                  <a:schemeClr val="bg1"/>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778743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E09E852-933A-7B2F-162C-7559F92FC19B}"/>
              </a:ext>
            </a:extLst>
          </p:cNvPr>
          <p:cNvSpPr/>
          <p:nvPr/>
        </p:nvSpPr>
        <p:spPr>
          <a:xfrm>
            <a:off x="745956" y="658903"/>
            <a:ext cx="22892085" cy="3791109"/>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Write a program that maintains the information about its employees with the following operations. The information is stored dynamically in an array of structures. The input will contain multiple lines with of following type:</a:t>
            </a:r>
          </a:p>
        </p:txBody>
      </p:sp>
      <p:sp>
        <p:nvSpPr>
          <p:cNvPr id="3" name="Rounded Rectangle 2">
            <a:extLst>
              <a:ext uri="{FF2B5EF4-FFF2-40B4-BE49-F238E27FC236}">
                <a16:creationId xmlns:a16="http://schemas.microsoft.com/office/drawing/2014/main" id="{336E8A98-C0B4-3658-1DE2-FE68C0F7AD52}"/>
              </a:ext>
            </a:extLst>
          </p:cNvPr>
          <p:cNvSpPr/>
          <p:nvPr/>
        </p:nvSpPr>
        <p:spPr>
          <a:xfrm>
            <a:off x="745957" y="5127445"/>
            <a:ext cx="5654843"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0</a:t>
            </a:r>
          </a:p>
          <a:p>
            <a:pPr defTabSz="825500">
              <a:lnSpc>
                <a:spcPct val="100000"/>
              </a:lnSpc>
              <a:spcBef>
                <a:spcPts val="0"/>
              </a:spcBef>
            </a:pPr>
            <a:r>
              <a:rPr lang="en-US" sz="5400" dirty="0">
                <a:solidFill>
                  <a:schemeClr val="bg1"/>
                </a:solidFill>
                <a:latin typeface="Bradley Hand" pitchFamily="2" charset="77"/>
              </a:rPr>
              <a:t>Rahul</a:t>
            </a:r>
          </a:p>
        </p:txBody>
      </p:sp>
      <p:sp>
        <p:nvSpPr>
          <p:cNvPr id="4" name="Rounded Rectangle 3">
            <a:extLst>
              <a:ext uri="{FF2B5EF4-FFF2-40B4-BE49-F238E27FC236}">
                <a16:creationId xmlns:a16="http://schemas.microsoft.com/office/drawing/2014/main" id="{CC0A13C1-2523-914B-E2D3-F08A727C0239}"/>
              </a:ext>
            </a:extLst>
          </p:cNvPr>
          <p:cNvSpPr/>
          <p:nvPr/>
        </p:nvSpPr>
        <p:spPr>
          <a:xfrm>
            <a:off x="745956" y="7313681"/>
            <a:ext cx="5799223"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1</a:t>
            </a:r>
          </a:p>
          <a:p>
            <a:pPr defTabSz="825500">
              <a:lnSpc>
                <a:spcPct val="100000"/>
              </a:lnSpc>
              <a:spcBef>
                <a:spcPts val="0"/>
              </a:spcBef>
            </a:pPr>
            <a:r>
              <a:rPr lang="en-US" sz="5400" dirty="0">
                <a:solidFill>
                  <a:schemeClr val="bg1"/>
                </a:solidFill>
                <a:latin typeface="Bradley Hand" pitchFamily="2" charset="77"/>
              </a:rPr>
              <a:t>5</a:t>
            </a:r>
          </a:p>
        </p:txBody>
      </p:sp>
      <p:sp>
        <p:nvSpPr>
          <p:cNvPr id="5" name="Rounded Rectangle 4">
            <a:extLst>
              <a:ext uri="{FF2B5EF4-FFF2-40B4-BE49-F238E27FC236}">
                <a16:creationId xmlns:a16="http://schemas.microsoft.com/office/drawing/2014/main" id="{5724A93D-92A1-59F9-6EFA-0BC865567BF7}"/>
              </a:ext>
            </a:extLst>
          </p:cNvPr>
          <p:cNvSpPr/>
          <p:nvPr/>
        </p:nvSpPr>
        <p:spPr>
          <a:xfrm>
            <a:off x="7587915" y="5451266"/>
            <a:ext cx="12192001"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Adds Rahul to your record</a:t>
            </a:r>
          </a:p>
        </p:txBody>
      </p:sp>
      <p:sp>
        <p:nvSpPr>
          <p:cNvPr id="6" name="Rounded Rectangle 5">
            <a:extLst>
              <a:ext uri="{FF2B5EF4-FFF2-40B4-BE49-F238E27FC236}">
                <a16:creationId xmlns:a16="http://schemas.microsoft.com/office/drawing/2014/main" id="{5BB68588-B9FC-21C8-6E98-396BB455B81C}"/>
              </a:ext>
            </a:extLst>
          </p:cNvPr>
          <p:cNvSpPr/>
          <p:nvPr/>
        </p:nvSpPr>
        <p:spPr>
          <a:xfrm>
            <a:off x="7587915" y="7773381"/>
            <a:ext cx="16395032"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Remove the person from index 5 from your record</a:t>
            </a:r>
          </a:p>
        </p:txBody>
      </p:sp>
      <p:sp>
        <p:nvSpPr>
          <p:cNvPr id="7" name="Rounded Rectangle 6">
            <a:extLst>
              <a:ext uri="{FF2B5EF4-FFF2-40B4-BE49-F238E27FC236}">
                <a16:creationId xmlns:a16="http://schemas.microsoft.com/office/drawing/2014/main" id="{861D6992-A641-9576-03BA-636F5FE0E105}"/>
              </a:ext>
            </a:extLst>
          </p:cNvPr>
          <p:cNvSpPr/>
          <p:nvPr/>
        </p:nvSpPr>
        <p:spPr>
          <a:xfrm>
            <a:off x="745955" y="10555197"/>
            <a:ext cx="5799223" cy="1032907"/>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-1</a:t>
            </a:r>
          </a:p>
        </p:txBody>
      </p:sp>
      <p:sp>
        <p:nvSpPr>
          <p:cNvPr id="8" name="Rounded Rectangle 7">
            <a:extLst>
              <a:ext uri="{FF2B5EF4-FFF2-40B4-BE49-F238E27FC236}">
                <a16:creationId xmlns:a16="http://schemas.microsoft.com/office/drawing/2014/main" id="{3C43F185-B031-056D-EC3F-C0953C537B85}"/>
              </a:ext>
            </a:extLst>
          </p:cNvPr>
          <p:cNvSpPr/>
          <p:nvPr/>
        </p:nvSpPr>
        <p:spPr>
          <a:xfrm>
            <a:off x="7587915" y="10095496"/>
            <a:ext cx="16395032" cy="1952308"/>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lnSpc>
                <a:spcPct val="100000"/>
              </a:lnSpc>
              <a:spcBef>
                <a:spcPts val="0"/>
              </a:spcBef>
            </a:pPr>
            <a:r>
              <a:rPr lang="en-US" sz="5400" dirty="0">
                <a:solidFill>
                  <a:schemeClr val="bg1"/>
                </a:solidFill>
                <a:latin typeface="Bradley Hand" pitchFamily="2" charset="77"/>
              </a:rPr>
              <a:t>Stop the program and print the names of all the employees separated by a space</a:t>
            </a:r>
          </a:p>
        </p:txBody>
      </p:sp>
    </p:spTree>
    <p:extLst>
      <p:ext uri="{BB962C8B-B14F-4D97-AF65-F5344CB8AC3E}">
        <p14:creationId xmlns:p14="http://schemas.microsoft.com/office/powerpoint/2010/main" val="3904950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C6D2221B-708D-1A0A-BBCC-75EC98CD82A7}"/>
              </a:ext>
            </a:extLst>
          </p:cNvPr>
          <p:cNvSpPr/>
          <p:nvPr/>
        </p:nvSpPr>
        <p:spPr>
          <a:xfrm>
            <a:off x="943409" y="811102"/>
            <a:ext cx="9527660" cy="10319790"/>
          </a:xfrm>
          <a:prstGeom prst="roundRect">
            <a:avLst/>
          </a:prstGeom>
          <a:solidFill>
            <a:schemeClr val="tx1">
              <a:lumMod val="50000"/>
              <a:lumOff val="50000"/>
            </a:schemeClr>
          </a:solidFill>
          <a:ln w="635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stdio.h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#include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&lt;</a:t>
            </a:r>
            <a:r>
              <a:rPr lang="en-IN" sz="2800">
                <a:solidFill>
                  <a:schemeClr val="bg1"/>
                </a:solidFill>
                <a:latin typeface="Cambria Math" panose="02040503050406030204" pitchFamily="18" charset="0"/>
                <a:ea typeface="Cambria Math" panose="02040503050406030204" pitchFamily="18" charset="0"/>
              </a:rPr>
              <a:t>string.h</a:t>
            </a:r>
            <a:r>
              <a:rPr lang="en-IN" sz="2800">
                <a:solidFill>
                  <a:schemeClr val="accent1">
                    <a:lumMod val="40000"/>
                    <a:lumOff val="60000"/>
                  </a:schemeClr>
                </a:solidFill>
                <a:latin typeface="Cambria Math" panose="02040503050406030204" pitchFamily="18" charset="0"/>
                <a:ea typeface="Cambria Math" panose="02040503050406030204" pitchFamily="18" charset="0"/>
              </a:rPr>
              <a:t>&gt;</a:t>
            </a:r>
          </a:p>
          <a:p>
            <a:pPr defTabSz="825500">
              <a:spcBef>
                <a:spcPts val="0"/>
              </a:spcBef>
            </a:pPr>
            <a:br>
              <a:rPr lang="en-IN" sz="2800">
                <a:solidFill>
                  <a:schemeClr val="bg1"/>
                </a:solidFill>
                <a:latin typeface="Cambria Math" panose="02040503050406030204" pitchFamily="18" charset="0"/>
                <a:ea typeface="Cambria Math" panose="02040503050406030204" pitchFamily="18" charset="0"/>
              </a:rPr>
            </a:b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 </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char</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[50];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accent6">
                    <a:lumMod val="40000"/>
                    <a:lumOff val="60000"/>
                  </a:schemeClr>
                </a:solidFill>
                <a:latin typeface="Cambria Math" panose="02040503050406030204" pitchFamily="18" charset="0"/>
                <a:ea typeface="Cambria Math" panose="02040503050406030204" pitchFamily="18" charset="0"/>
              </a:rPr>
              <a:t> *</a:t>
            </a:r>
            <a:r>
              <a:rPr lang="en-IN" sz="2800">
                <a:solidFill>
                  <a:schemeClr val="bg1"/>
                </a:solidFill>
                <a:latin typeface="Cambria Math" panose="02040503050406030204" pitchFamily="18" charset="0"/>
                <a:ea typeface="Cambria Math" panose="02040503050406030204" pitchFamily="18" charset="0"/>
              </a:rPr>
              <a:t>create()</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 =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malloc</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sizeof</a:t>
            </a:r>
            <a:r>
              <a:rPr lang="en-IN" sz="2800">
                <a:solidFill>
                  <a:schemeClr val="bg1"/>
                </a:solidFill>
                <a:latin typeface="Cambria Math" panose="02040503050406030204" pitchFamily="18" charset="0"/>
                <a:ea typeface="Cambria Math" panose="02040503050406030204" pitchFamily="18" charset="0"/>
              </a:rPr>
              <a:t>(</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strcpy</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name</a:t>
            </a:r>
            <a:r>
              <a:rPr lang="en-IN" sz="2800">
                <a:solidFill>
                  <a:schemeClr val="bg1"/>
                </a:solidFill>
                <a:latin typeface="Cambria Math" panose="02040503050406030204" pitchFamily="18" charset="0"/>
                <a:ea typeface="Cambria Math" panose="02040503050406030204" pitchFamily="18" charset="0"/>
              </a:rPr>
              <a:t>, “Rahul”);</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age</a:t>
            </a:r>
            <a:r>
              <a:rPr lang="en-IN" sz="2800">
                <a:solidFill>
                  <a:schemeClr val="bg1"/>
                </a:solidFill>
                <a:latin typeface="Cambria Math" panose="02040503050406030204" pitchFamily="18" charset="0"/>
                <a:ea typeface="Cambria Math" panose="02040503050406030204" pitchFamily="18" charset="0"/>
              </a:rPr>
              <a:t> = 20;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-&gt;</a:t>
            </a:r>
            <a:r>
              <a:rPr lang="en-IN" sz="2800">
                <a:solidFill>
                  <a:schemeClr val="accent1">
                    <a:lumMod val="40000"/>
                    <a:lumOff val="60000"/>
                  </a:schemeClr>
                </a:solidFill>
                <a:latin typeface="Cambria Math" panose="02040503050406030204" pitchFamily="18" charset="0"/>
                <a:ea typeface="Cambria Math" panose="02040503050406030204" pitchFamily="18" charset="0"/>
              </a:rPr>
              <a:t>salary</a:t>
            </a:r>
            <a:r>
              <a:rPr lang="en-IN" sz="2800">
                <a:solidFill>
                  <a:schemeClr val="bg1"/>
                </a:solidFill>
                <a:latin typeface="Cambria Math" panose="02040503050406030204" pitchFamily="18" charset="0"/>
                <a:ea typeface="Cambria Math" panose="02040503050406030204" pitchFamily="18" charset="0"/>
              </a:rPr>
              <a:t> = 5000;</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return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endParaRPr lang="en-IN" sz="2800">
              <a:solidFill>
                <a:schemeClr val="bg1"/>
              </a:solidFill>
              <a:latin typeface="Cambria Math" panose="02040503050406030204" pitchFamily="18" charset="0"/>
              <a:ea typeface="Cambria Math" panose="02040503050406030204" pitchFamily="18" charset="0"/>
            </a:endParaRPr>
          </a:p>
          <a:p>
            <a:pPr defTabSz="825500">
              <a:lnSpc>
                <a:spcPct val="100000"/>
              </a:lnSpc>
              <a:spcBef>
                <a:spcPts val="0"/>
              </a:spcBef>
            </a:pPr>
            <a:r>
              <a:rPr lang="en-IN" sz="2800">
                <a:solidFill>
                  <a:schemeClr val="accent6">
                    <a:lumMod val="40000"/>
                    <a:lumOff val="60000"/>
                  </a:schemeClr>
                </a:solidFill>
                <a:latin typeface="Cambria Math" panose="02040503050406030204" pitchFamily="18" charset="0"/>
                <a:ea typeface="Cambria Math" panose="02040503050406030204" pitchFamily="18" charset="0"/>
              </a:rPr>
              <a:t>int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main</a:t>
            </a: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6">
                    <a:lumMod val="40000"/>
                    <a:lumOff val="60000"/>
                  </a:schemeClr>
                </a:solidFill>
                <a:latin typeface="Cambria Math" panose="02040503050406030204" pitchFamily="18" charset="0"/>
                <a:ea typeface="Cambria Math" panose="02040503050406030204" pitchFamily="18" charset="0"/>
              </a:rPr>
              <a:t>struct</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3">
                    <a:lumMod val="40000"/>
                    <a:lumOff val="60000"/>
                  </a:schemeClr>
                </a:solidFill>
                <a:latin typeface="Cambria Math" panose="02040503050406030204" pitchFamily="18" charset="0"/>
                <a:ea typeface="Cambria Math" panose="02040503050406030204" pitchFamily="18" charset="0"/>
              </a:rPr>
              <a:t>Person</a:t>
            </a:r>
            <a:r>
              <a:rPr lang="en-IN" sz="2800">
                <a:solidFill>
                  <a:schemeClr val="bg1"/>
                </a:solidFill>
                <a:latin typeface="Cambria Math" panose="02040503050406030204" pitchFamily="18" charset="0"/>
                <a:ea typeface="Cambria Math" panose="02040503050406030204" pitchFamily="18" charset="0"/>
              </a:rPr>
              <a:t> *</a:t>
            </a:r>
            <a:r>
              <a:rPr lang="en-IN" sz="2800">
                <a:solidFill>
                  <a:schemeClr val="accent1">
                    <a:lumMod val="40000"/>
                    <a:lumOff val="60000"/>
                  </a:schemeClr>
                </a:solidFill>
                <a:latin typeface="Cambria Math" panose="02040503050406030204" pitchFamily="18" charset="0"/>
                <a:ea typeface="Cambria Math" panose="02040503050406030204" pitchFamily="18" charset="0"/>
              </a:rPr>
              <a:t>p1</a:t>
            </a:r>
            <a:r>
              <a:rPr lang="en-IN" sz="2800">
                <a:solidFill>
                  <a:schemeClr val="bg1"/>
                </a:solidFill>
                <a:latin typeface="Cambria Math" panose="02040503050406030204" pitchFamily="18" charset="0"/>
                <a:ea typeface="Cambria Math" panose="02040503050406030204" pitchFamily="18" charset="0"/>
              </a:rPr>
              <a:t> = create()</a:t>
            </a:r>
          </a:p>
          <a:p>
            <a:pPr defTabSz="825500">
              <a:lnSpc>
                <a:spcPct val="100000"/>
              </a:lnSpc>
              <a:spcBef>
                <a:spcPts val="0"/>
              </a:spcBef>
            </a:pPr>
            <a:r>
              <a:rPr lang="en-IN" sz="2800">
                <a:solidFill>
                  <a:schemeClr val="bg1"/>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3362748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12502</TotalTime>
  <Words>4762</Words>
  <Application>Microsoft Macintosh PowerPoint</Application>
  <PresentationFormat>Custom</PresentationFormat>
  <Paragraphs>778</Paragraphs>
  <Slides>47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Bradley Hand</vt:lpstr>
      <vt:lpstr>Cambria Math</vt:lpstr>
      <vt:lpstr>Chalkduster</vt:lpstr>
      <vt:lpstr>Helvetica Neue</vt:lpstr>
      <vt:lpstr>Helvetica Neue Medium</vt: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Manoj Gupta</cp:lastModifiedBy>
  <cp:revision>1074</cp:revision>
  <dcterms:modified xsi:type="dcterms:W3CDTF">2026-08-31T08:01:14Z</dcterms:modified>
</cp:coreProperties>
</file>