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334" r:id="rId3"/>
    <p:sldId id="335" r:id="rId4"/>
    <p:sldId id="336" r:id="rId5"/>
    <p:sldId id="337" r:id="rId6"/>
    <p:sldId id="338" r:id="rId7"/>
    <p:sldId id="339"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5" r:id="rId31"/>
    <p:sldId id="366" r:id="rId32"/>
    <p:sldId id="376" r:id="rId33"/>
    <p:sldId id="377" r:id="rId34"/>
    <p:sldId id="371" r:id="rId35"/>
    <p:sldId id="372" r:id="rId36"/>
    <p:sldId id="364" r:id="rId37"/>
    <p:sldId id="367" r:id="rId38"/>
    <p:sldId id="368" r:id="rId39"/>
    <p:sldId id="369" r:id="rId40"/>
    <p:sldId id="370" r:id="rId41"/>
    <p:sldId id="373" r:id="rId42"/>
    <p:sldId id="374" r:id="rId43"/>
    <p:sldId id="375" r:id="rId44"/>
    <p:sldId id="381" r:id="rId45"/>
    <p:sldId id="382" r:id="rId46"/>
    <p:sldId id="378" r:id="rId47"/>
    <p:sldId id="379" r:id="rId4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1651"/>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57"/>
  </p:normalViewPr>
  <p:slideViewPr>
    <p:cSldViewPr snapToGrid="0">
      <p:cViewPr varScale="1">
        <p:scale>
          <a:sx n="64" d="100"/>
          <a:sy n="64" d="100"/>
        </p:scale>
        <p:origin x="15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oumo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Bowl with salmon cakes, salad and houmo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61595"/>
            <a:lum/>
          </a:blip>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Candy: A problem on leetcode"/>
          <p:cNvSpPr/>
          <p:nvPr/>
        </p:nvSpPr>
        <p:spPr>
          <a:xfrm>
            <a:off x="645013" y="1189806"/>
            <a:ext cx="22731560" cy="11470843"/>
          </a:xfrm>
          <a:prstGeom prst="roundRect">
            <a:avLst>
              <a:gd name="adj" fmla="val 1661"/>
            </a:avLst>
          </a:prstGeom>
          <a:noFill/>
          <a:ln w="12700">
            <a:noFill/>
            <a:miter lim="400000"/>
          </a:ln>
          <a:effectLst>
            <a:outerShdw blurRad="355600" dist="114300" rotWithShape="0">
              <a:srgbClr val="000000">
                <a:alpha val="96558"/>
              </a:srgbClr>
            </a:outerShdw>
            <a:reflection stA="50000" endPos="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20000">
                <a:solidFill>
                  <a:srgbClr val="FFFFFF"/>
                </a:solidFill>
                <a:latin typeface="Chalkduster"/>
                <a:ea typeface="Chalkduster"/>
                <a:cs typeface="Chalkduster"/>
                <a:sym typeface="Chalkduster"/>
              </a:defRPr>
            </a:lvl1pPr>
          </a:lstStyle>
          <a:p>
            <a:r>
              <a:rPr lang="en-US" sz="17300" dirty="0">
                <a:latin typeface="Chalkduster" panose="03050602040202020205" pitchFamily="66" charset="77"/>
                <a:cs typeface="Fave Script Bold Pro" panose="020F0502020204030204" pitchFamily="34" charset="0"/>
              </a:rPr>
              <a:t>Arrays and Pointers</a:t>
            </a:r>
            <a:endParaRPr sz="17300" dirty="0">
              <a:latin typeface="Chalkduster" panose="03050602040202020205" pitchFamily="66" charset="77"/>
              <a:cs typeface="Fave Script Bold Pro" panose="020F050202020403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A6DC-0AFE-EFFE-EB3B-03BF352FC95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B1B8E76D-3416-6353-5C2E-1C997423A8BF}"/>
                  </a:ext>
                </a:extLst>
              </p:cNvPr>
              <p:cNvSpPr/>
              <p:nvPr/>
            </p:nvSpPr>
            <p:spPr>
              <a:xfrm>
                <a:off x="730072" y="1882546"/>
                <a:ext cx="10710559" cy="74687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err="1">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 ;</a:t>
                </a:r>
                <a:endParaRPr lang="en-IN" sz="3600" dirty="0">
                  <a:solidFill>
                    <a:schemeClr val="accent4">
                      <a:lumMod val="40000"/>
                      <a:lumOff val="60000"/>
                    </a:schemeClr>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b="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scanf</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“%d %d”, &amp;</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,&amp;</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b</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m:t>
                    </m:r>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B1B8E76D-3416-6353-5C2E-1C997423A8BF}"/>
                  </a:ext>
                </a:extLst>
              </p:cNvPr>
              <p:cNvSpPr>
                <a:spLocks noRot="1" noChangeAspect="1" noMove="1" noResize="1" noEditPoints="1" noAdjustHandles="1" noChangeArrowheads="1" noChangeShapeType="1" noTextEdit="1"/>
              </p:cNvSpPr>
              <p:nvPr/>
            </p:nvSpPr>
            <p:spPr>
              <a:xfrm>
                <a:off x="730072" y="1882546"/>
                <a:ext cx="10710559" cy="746871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0A17E614-19C0-55A2-F52D-0212F7A27727}"/>
                  </a:ext>
                </a:extLst>
              </p:cNvPr>
              <p:cNvSpPr/>
              <p:nvPr/>
            </p:nvSpPr>
            <p:spPr>
              <a:xfrm>
                <a:off x="12943369" y="2772140"/>
                <a:ext cx="10710559"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variables </a:t>
                </a:r>
                <a14:m>
                  <m:oMath xmlns:m="http://schemas.openxmlformats.org/officeDocument/2006/math">
                    <m:r>
                      <a:rPr lang="en-US" sz="5400" i="1" dirty="0" smtClean="0">
                        <a:solidFill>
                          <a:schemeClr val="bg1"/>
                        </a:solidFill>
                        <a:latin typeface="Cambria Math" panose="02040503050406030204" pitchFamily="18" charset="0"/>
                      </a:rPr>
                      <m:t>𝑎</m:t>
                    </m:r>
                  </m:oMath>
                </a14:m>
                <a:r>
                  <a:rPr lang="en-US" sz="5400" dirty="0">
                    <a:solidFill>
                      <a:schemeClr val="bg1"/>
                    </a:solidFill>
                    <a:latin typeface="Bradley Hand" pitchFamily="2" charset="77"/>
                  </a:rPr>
                  <a:t> and </a:t>
                </a:r>
                <a14:m>
                  <m:oMath xmlns:m="http://schemas.openxmlformats.org/officeDocument/2006/math">
                    <m:r>
                      <a:rPr lang="en-US" sz="5400" i="1" dirty="0" smtClean="0">
                        <a:solidFill>
                          <a:schemeClr val="bg1"/>
                        </a:solidFill>
                        <a:latin typeface="Cambria Math" panose="02040503050406030204" pitchFamily="18" charset="0"/>
                      </a:rPr>
                      <m:t>𝑏</m:t>
                    </m:r>
                  </m:oMath>
                </a14:m>
                <a:r>
                  <a:rPr lang="en-US" sz="5400" dirty="0">
                    <a:solidFill>
                      <a:schemeClr val="bg1"/>
                    </a:solidFill>
                    <a:latin typeface="Bradley Hand" pitchFamily="2" charset="77"/>
                  </a:rPr>
                  <a:t> in </a:t>
                </a:r>
                <a:r>
                  <a:rPr lang="en-US" sz="5400" dirty="0">
                    <a:solidFill>
                      <a:schemeClr val="accent2">
                        <a:lumMod val="40000"/>
                        <a:lumOff val="60000"/>
                      </a:schemeClr>
                    </a:solidFill>
                    <a:latin typeface="Bradley Hand" pitchFamily="2" charset="77"/>
                  </a:rPr>
                  <a:t>sum </a:t>
                </a:r>
                <a:r>
                  <a:rPr lang="en-US" sz="5400" dirty="0">
                    <a:solidFill>
                      <a:schemeClr val="bg1"/>
                    </a:solidFill>
                    <a:latin typeface="Bradley Hand" pitchFamily="2" charset="77"/>
                  </a:rPr>
                  <a:t>are not the same as in main</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arguments are copied from main to </a:t>
                </a:r>
                <a:r>
                  <a:rPr lang="en-US" sz="5400" dirty="0">
                    <a:solidFill>
                      <a:schemeClr val="accent2">
                        <a:lumMod val="40000"/>
                        <a:lumOff val="60000"/>
                      </a:schemeClr>
                    </a:solidFill>
                    <a:latin typeface="Bradley Hand" pitchFamily="2" charset="77"/>
                  </a:rPr>
                  <a:t>sum</a:t>
                </a:r>
              </a:p>
            </p:txBody>
          </p:sp>
        </mc:Choice>
        <mc:Fallback xmlns="">
          <p:sp>
            <p:nvSpPr>
              <p:cNvPr id="3" name="Rounded Rectangle 2">
                <a:extLst>
                  <a:ext uri="{FF2B5EF4-FFF2-40B4-BE49-F238E27FC236}">
                    <a16:creationId xmlns:a16="http://schemas.microsoft.com/office/drawing/2014/main" id="{0A17E614-19C0-55A2-F52D-0212F7A27727}"/>
                  </a:ext>
                </a:extLst>
              </p:cNvPr>
              <p:cNvSpPr>
                <a:spLocks noRot="1" noChangeAspect="1" noMove="1" noResize="1" noEditPoints="1" noAdjustHandles="1" noChangeArrowheads="1" noChangeShapeType="1" noTextEdit="1"/>
              </p:cNvSpPr>
              <p:nvPr/>
            </p:nvSpPr>
            <p:spPr>
              <a:xfrm>
                <a:off x="12943369" y="2772140"/>
                <a:ext cx="10710559" cy="3791109"/>
              </a:xfrm>
              <a:prstGeom prst="roundRect">
                <a:avLst/>
              </a:prstGeom>
              <a:blipFill>
                <a:blip r:embed="rId3"/>
                <a:stretch>
                  <a:fillRect l="-1060" b="-3618"/>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498015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3C317CDB-7567-BCB3-B1C2-3732DCD5E9D0}"/>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3C317CDB-7567-BCB3-B1C2-3732DCD5E9D0}"/>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8D8011FB-BDA8-AAD8-677E-59BBAC916BAB}"/>
              </a:ext>
            </a:extLst>
          </p:cNvPr>
          <p:cNvSpPr/>
          <p:nvPr/>
        </p:nvSpPr>
        <p:spPr>
          <a:xfrm>
            <a:off x="10823943" y="1637347"/>
            <a:ext cx="12915044"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How is this array passed?</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Is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a copy of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Or is it same as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a:t>
            </a:r>
          </a:p>
        </p:txBody>
      </p:sp>
      <p:sp>
        <p:nvSpPr>
          <p:cNvPr id="4" name="Rounded Rectangle 3">
            <a:extLst>
              <a:ext uri="{FF2B5EF4-FFF2-40B4-BE49-F238E27FC236}">
                <a16:creationId xmlns:a16="http://schemas.microsoft.com/office/drawing/2014/main" id="{96168AE7-4BB1-2021-976E-BA66F8A1A865}"/>
              </a:ext>
            </a:extLst>
          </p:cNvPr>
          <p:cNvSpPr/>
          <p:nvPr/>
        </p:nvSpPr>
        <p:spPr>
          <a:xfrm>
            <a:off x="10823943" y="5263506"/>
            <a:ext cx="12915044"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As a designer of the language, you have these two choices.</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What will be your choice?</a:t>
            </a:r>
          </a:p>
        </p:txBody>
      </p:sp>
      <p:sp>
        <p:nvSpPr>
          <p:cNvPr id="5" name="Rounded Rectangle 4">
            <a:extLst>
              <a:ext uri="{FF2B5EF4-FFF2-40B4-BE49-F238E27FC236}">
                <a16:creationId xmlns:a16="http://schemas.microsoft.com/office/drawing/2014/main" id="{0B7B4905-B9CE-6676-6679-FE82C8F9445A}"/>
              </a:ext>
            </a:extLst>
          </p:cNvPr>
          <p:cNvSpPr/>
          <p:nvPr/>
        </p:nvSpPr>
        <p:spPr>
          <a:xfrm>
            <a:off x="10823943" y="8889665"/>
            <a:ext cx="12915044"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Copying will take huge time just to pass the argument</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 makes sense to make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same as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4175587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B5C1-2CC4-B831-17D8-AACA1F4EABF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AD934B4D-9BD6-D25D-33DB-43F712D781E7}"/>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AD934B4D-9BD6-D25D-33DB-43F712D781E7}"/>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848DA1FA-F9DF-D071-978B-FFDC39E70BB1}"/>
              </a:ext>
            </a:extLst>
          </p:cNvPr>
          <p:cNvSpPr/>
          <p:nvPr/>
        </p:nvSpPr>
        <p:spPr>
          <a:xfrm>
            <a:off x="10823943" y="3175398"/>
            <a:ext cx="12915044"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Pointers</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 is actually a pointer to an integer</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It means that A contains address of an integer</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Let us explore pointers in detail</a:t>
            </a:r>
          </a:p>
        </p:txBody>
      </p:sp>
    </p:spTree>
    <p:extLst>
      <p:ext uri="{BB962C8B-B14F-4D97-AF65-F5344CB8AC3E}">
        <p14:creationId xmlns:p14="http://schemas.microsoft.com/office/powerpoint/2010/main" val="4164816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DA8C1-2B06-CFD2-4C5C-99D5E6A050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EBC93A3E-DC42-A2D2-28FF-FBB34B894A65}"/>
                  </a:ext>
                </a:extLst>
              </p:cNvPr>
              <p:cNvSpPr/>
              <p:nvPr/>
            </p:nvSpPr>
            <p:spPr>
              <a:xfrm>
                <a:off x="645013" y="4043045"/>
                <a:ext cx="9543957"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US"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US" sz="3600" dirty="0">
                    <a:solidFill>
                      <a:schemeClr val="accent1">
                        <a:lumMod val="40000"/>
                        <a:lumOff val="60000"/>
                      </a:schemeClr>
                    </a:solidFill>
                    <a:ea typeface="Cambria Math" panose="02040503050406030204" pitchFamily="18" charset="0"/>
                  </a:rPr>
                  <a:t> </a:t>
                </a:r>
                <a14:m>
                  <m:oMath xmlns:m="http://schemas.openxmlformats.org/officeDocument/2006/math">
                    <m:r>
                      <a:rPr lang="en-US" sz="3600" b="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 3;</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𝑝𝑎</m:t>
                    </m:r>
                  </m:oMath>
                </a14:m>
                <a:r>
                  <a:rPr lang="en-IN" sz="3600" dirty="0">
                    <a:solidFill>
                      <a:schemeClr val="bg1"/>
                    </a:solidFill>
                    <a:latin typeface="Cambria Math" panose="02040503050406030204" pitchFamily="18" charset="0"/>
                    <a:ea typeface="Cambria Math" panose="02040503050406030204" pitchFamily="18" charset="0"/>
                  </a:rPr>
                  <a:t> = &amp;</a:t>
                </a:r>
                <a14:m>
                  <m:oMath xmlns:m="http://schemas.openxmlformats.org/officeDocument/2006/math">
                    <m:r>
                      <a:rPr lang="en-US" sz="360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(“%p %p”, &amp;</a:t>
                </a:r>
                <a14:m>
                  <m:oMath xmlns:m="http://schemas.openxmlformats.org/officeDocument/2006/math">
                    <m:r>
                      <a:rPr lang="en-US" sz="360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𝑝𝑎</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 %d”, </a:t>
                </a:r>
                <a14:m>
                  <m:oMath xmlns:m="http://schemas.openxmlformats.org/officeDocument/2006/math">
                    <m:r>
                      <a:rPr lang="en-US" sz="360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𝑝𝑎</m:t>
                    </m:r>
                  </m:oMath>
                </a14:m>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EBC93A3E-DC42-A2D2-28FF-FBB34B894A65}"/>
                  </a:ext>
                </a:extLst>
              </p:cNvPr>
              <p:cNvSpPr>
                <a:spLocks noRot="1" noChangeAspect="1" noMove="1" noResize="1" noEditPoints="1" noAdjustHandles="1" noChangeArrowheads="1" noChangeShapeType="1" noTextEdit="1"/>
              </p:cNvSpPr>
              <p:nvPr/>
            </p:nvSpPr>
            <p:spPr>
              <a:xfrm>
                <a:off x="645013" y="4043045"/>
                <a:ext cx="9543957" cy="5629910"/>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E4996FE-CFE9-0B66-D8E5-1C2A3BFD44DE}"/>
              </a:ext>
            </a:extLst>
          </p:cNvPr>
          <p:cNvSpPr/>
          <p:nvPr/>
        </p:nvSpPr>
        <p:spPr>
          <a:xfrm>
            <a:off x="10823943" y="5519896"/>
            <a:ext cx="12915044"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The real power of pointer manifests when we are dealing with arrays</a:t>
            </a:r>
          </a:p>
        </p:txBody>
      </p:sp>
    </p:spTree>
    <p:extLst>
      <p:ext uri="{BB962C8B-B14F-4D97-AF65-F5344CB8AC3E}">
        <p14:creationId xmlns:p14="http://schemas.microsoft.com/office/powerpoint/2010/main" val="2488838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F7432-3CA7-34FE-B006-5E46B08A50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8BD6259E-F7C9-3A24-A575-475C7C94C5FF}"/>
                  </a:ext>
                </a:extLst>
              </p:cNvPr>
              <p:cNvSpPr/>
              <p:nvPr/>
            </p:nvSpPr>
            <p:spPr>
              <a:xfrm>
                <a:off x="645013" y="3123645"/>
                <a:ext cx="9543957" cy="74687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US" sz="3600" b="0" dirty="0">
                    <a:solidFill>
                      <a:schemeClr val="accent1">
                        <a:lumMod val="40000"/>
                        <a:lumOff val="60000"/>
                      </a:schemeClr>
                    </a:solidFill>
                    <a:ea typeface="Cambria Math" panose="02040503050406030204" pitchFamily="18" charset="0"/>
                  </a:rPr>
                  <a:t> </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8BD6259E-F7C9-3A24-A575-475C7C94C5FF}"/>
                  </a:ext>
                </a:extLst>
              </p:cNvPr>
              <p:cNvSpPr>
                <a:spLocks noRot="1" noChangeAspect="1" noMove="1" noResize="1" noEditPoints="1" noAdjustHandles="1" noChangeArrowheads="1" noChangeShapeType="1" noTextEdit="1"/>
              </p:cNvSpPr>
              <p:nvPr/>
            </p:nvSpPr>
            <p:spPr>
              <a:xfrm>
                <a:off x="645013" y="3123645"/>
                <a:ext cx="9543957" cy="746871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136445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BC0E-9846-BF53-4632-240C3948FFE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6DCAA87C-5536-4735-2557-80007F5A3034}"/>
                  </a:ext>
                </a:extLst>
              </p:cNvPr>
              <p:cNvSpPr/>
              <p:nvPr/>
            </p:nvSpPr>
            <p:spPr>
              <a:xfrm>
                <a:off x="664063" y="951945"/>
                <a:ext cx="7565537" cy="74687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US" sz="3600" b="0" dirty="0">
                    <a:solidFill>
                      <a:schemeClr val="accent1">
                        <a:lumMod val="40000"/>
                        <a:lumOff val="60000"/>
                      </a:schemeClr>
                    </a:solidFill>
                    <a:ea typeface="Cambria Math" panose="02040503050406030204" pitchFamily="18" charset="0"/>
                  </a:rPr>
                  <a:t> </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6DCAA87C-5536-4735-2557-80007F5A3034}"/>
                  </a:ext>
                </a:extLst>
              </p:cNvPr>
              <p:cNvSpPr>
                <a:spLocks noRot="1" noChangeAspect="1" noMove="1" noResize="1" noEditPoints="1" noAdjustHandles="1" noChangeArrowheads="1" noChangeShapeType="1" noTextEdit="1"/>
              </p:cNvSpPr>
              <p:nvPr/>
            </p:nvSpPr>
            <p:spPr>
              <a:xfrm>
                <a:off x="664063" y="951945"/>
                <a:ext cx="7565537" cy="746871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A6E0580C-7F1F-3519-E06E-D50485C54101}"/>
                  </a:ext>
                </a:extLst>
              </p:cNvPr>
              <p:cNvSpPr/>
              <p:nvPr/>
            </p:nvSpPr>
            <p:spPr>
              <a:xfrm>
                <a:off x="8428281" y="1258411"/>
                <a:ext cx="7565537" cy="685577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A6E0580C-7F1F-3519-E06E-D50485C54101}"/>
                  </a:ext>
                </a:extLst>
              </p:cNvPr>
              <p:cNvSpPr>
                <a:spLocks noRot="1" noChangeAspect="1" noMove="1" noResize="1" noEditPoints="1" noAdjustHandles="1" noChangeArrowheads="1" noChangeShapeType="1" noTextEdit="1"/>
              </p:cNvSpPr>
              <p:nvPr/>
            </p:nvSpPr>
            <p:spPr>
              <a:xfrm>
                <a:off x="8428281" y="1258411"/>
                <a:ext cx="7565537" cy="6855778"/>
              </a:xfrm>
              <a:prstGeom prst="roundRect">
                <a:avLst/>
              </a:prstGeom>
              <a:blipFill>
                <a:blip r:embed="rId3"/>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AC7C02A7-C627-1AF2-391B-ECFEED3E01DF}"/>
                  </a:ext>
                </a:extLst>
              </p:cNvPr>
              <p:cNvSpPr/>
              <p:nvPr/>
            </p:nvSpPr>
            <p:spPr>
              <a:xfrm>
                <a:off x="16380313" y="1258411"/>
                <a:ext cx="7565537" cy="685577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4" name="Rounded Rectangle 3">
                <a:extLst>
                  <a:ext uri="{FF2B5EF4-FFF2-40B4-BE49-F238E27FC236}">
                    <a16:creationId xmlns:a16="http://schemas.microsoft.com/office/drawing/2014/main" id="{AC7C02A7-C627-1AF2-391B-ECFEED3E01DF}"/>
                  </a:ext>
                </a:extLst>
              </p:cNvPr>
              <p:cNvSpPr>
                <a:spLocks noRot="1" noChangeAspect="1" noMove="1" noResize="1" noEditPoints="1" noAdjustHandles="1" noChangeArrowheads="1" noChangeShapeType="1" noTextEdit="1"/>
              </p:cNvSpPr>
              <p:nvPr/>
            </p:nvSpPr>
            <p:spPr>
              <a:xfrm>
                <a:off x="16380313" y="1258411"/>
                <a:ext cx="7565537" cy="6855778"/>
              </a:xfrm>
              <a:prstGeom prst="roundRect">
                <a:avLst/>
              </a:prstGeom>
              <a:blipFill>
                <a:blip r:embed="rId4"/>
                <a:stretch>
                  <a:fillRect/>
                </a:stretch>
              </a:blipFill>
              <a:ln w="63500" cap="flat">
                <a:solidFill>
                  <a:schemeClr val="tx1"/>
                </a:solidFill>
                <a:miter lim="400000"/>
              </a:ln>
              <a:effectLst/>
            </p:spPr>
            <p:txBody>
              <a:bodyPr/>
              <a:lstStyle/>
              <a:p>
                <a:r>
                  <a:rPr lang="en-US">
                    <a:noFill/>
                  </a:rPr>
                  <a:t> </a:t>
                </a:r>
              </a:p>
            </p:txBody>
          </p:sp>
        </mc:Fallback>
      </mc:AlternateContent>
      <p:sp>
        <p:nvSpPr>
          <p:cNvPr id="5" name="Rounded Rectangle 4">
            <a:extLst>
              <a:ext uri="{FF2B5EF4-FFF2-40B4-BE49-F238E27FC236}">
                <a16:creationId xmlns:a16="http://schemas.microsoft.com/office/drawing/2014/main" id="{94C1BD95-1F4B-FC47-C858-F11B20492D1F}"/>
              </a:ext>
            </a:extLst>
          </p:cNvPr>
          <p:cNvSpPr/>
          <p:nvPr/>
        </p:nvSpPr>
        <p:spPr>
          <a:xfrm>
            <a:off x="664062" y="9425146"/>
            <a:ext cx="23034137"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t>
            </a:r>
            <a:r>
              <a:rPr lang="en-US" sz="5400" dirty="0" err="1">
                <a:solidFill>
                  <a:schemeClr val="bg1"/>
                </a:solidFill>
                <a:latin typeface="Bradley Hand" pitchFamily="2" charset="77"/>
              </a:rPr>
              <a:t>p+i</a:t>
            </a:r>
            <a:r>
              <a:rPr lang="en-US" sz="5400" dirty="0">
                <a:solidFill>
                  <a:schemeClr val="bg1"/>
                </a:solidFill>
                <a:latin typeface="Bradley Hand" pitchFamily="2" charset="77"/>
              </a:rPr>
              <a:t>) – go to the address (</a:t>
            </a:r>
            <a:r>
              <a:rPr lang="en-US" sz="5400" dirty="0" err="1">
                <a:solidFill>
                  <a:schemeClr val="bg1"/>
                </a:solidFill>
                <a:latin typeface="Bradley Hand" pitchFamily="2" charset="77"/>
              </a:rPr>
              <a:t>p+i</a:t>
            </a:r>
            <a:r>
              <a:rPr lang="en-US" sz="5400" dirty="0">
                <a:solidFill>
                  <a:schemeClr val="bg1"/>
                </a:solidFill>
                <a:latin typeface="Bradley Hand" pitchFamily="2" charset="77"/>
              </a:rPr>
              <a:t>) and then fetch the value there</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p[</a:t>
            </a:r>
            <a:r>
              <a:rPr lang="en-US" sz="5400" dirty="0" err="1">
                <a:solidFill>
                  <a:schemeClr val="bg1"/>
                </a:solidFill>
                <a:latin typeface="Bradley Hand" pitchFamily="2" charset="77"/>
              </a:rPr>
              <a:t>i</a:t>
            </a:r>
            <a:r>
              <a:rPr lang="en-US" sz="5400" dirty="0">
                <a:solidFill>
                  <a:schemeClr val="bg1"/>
                </a:solidFill>
                <a:latin typeface="Bradley Hand" pitchFamily="2" charset="77"/>
              </a:rPr>
              <a:t>] is same as *(</a:t>
            </a:r>
            <a:r>
              <a:rPr lang="en-US" sz="5400" dirty="0" err="1">
                <a:solidFill>
                  <a:schemeClr val="bg1"/>
                </a:solidFill>
                <a:latin typeface="Bradley Hand" pitchFamily="2" charset="77"/>
              </a:rPr>
              <a:t>p+i</a:t>
            </a:r>
            <a:r>
              <a:rPr lang="en-US" sz="5400" dirty="0">
                <a:solidFill>
                  <a:schemeClr val="bg1"/>
                </a:solidFill>
                <a:latin typeface="Bradley Hand" pitchFamily="2" charset="77"/>
              </a:rPr>
              <a:t>)</a:t>
            </a:r>
          </a:p>
        </p:txBody>
      </p:sp>
    </p:spTree>
    <p:extLst>
      <p:ext uri="{BB962C8B-B14F-4D97-AF65-F5344CB8AC3E}">
        <p14:creationId xmlns:p14="http://schemas.microsoft.com/office/powerpoint/2010/main" val="2575943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01077-EAFE-4A7D-F635-93772E68795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358CC9C7-9059-8955-0DFA-EE55B66FB193}"/>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358CC9C7-9059-8955-0DFA-EE55B66FB193}"/>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AC974EE5-BDB6-82BB-5023-2D74E1362CD2}"/>
              </a:ext>
            </a:extLst>
          </p:cNvPr>
          <p:cNvSpPr/>
          <p:nvPr/>
        </p:nvSpPr>
        <p:spPr>
          <a:xfrm>
            <a:off x="10823943" y="2556747"/>
            <a:ext cx="12915044"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is a pointer to the first element of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3979626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EFE2A-4FB2-39CF-6399-53A9D2FC39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E2E97EA1-EF93-DC54-8676-8977DD8C0CCE}"/>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E2E97EA1-EF93-DC54-8676-8977DD8C0CCE}"/>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DEAF3237-ABE1-A26C-67C4-1D82032CEE18}"/>
              </a:ext>
            </a:extLst>
          </p:cNvPr>
          <p:cNvSpPr/>
          <p:nvPr/>
        </p:nvSpPr>
        <p:spPr>
          <a:xfrm>
            <a:off x="10823943" y="2556747"/>
            <a:ext cx="12915044"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is a pointer to the first element of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3435429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7909-F676-9299-D5A9-B07B65253BA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5CDBED4D-DDFE-D338-A8EA-BBE7CCC91166}"/>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5CDBED4D-DDFE-D338-A8EA-BBE7CCC91166}"/>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E9B730F4-620D-3BB8-5467-5D684B502FCF}"/>
              </a:ext>
            </a:extLst>
          </p:cNvPr>
          <p:cNvSpPr/>
          <p:nvPr/>
        </p:nvSpPr>
        <p:spPr>
          <a:xfrm>
            <a:off x="10823943" y="2556747"/>
            <a:ext cx="12915044"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is a pointer to the first element of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56921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C509BD2-BEC3-B075-724E-2CD2AE006020}"/>
              </a:ext>
            </a:extLst>
          </p:cNvPr>
          <p:cNvSpPr/>
          <p:nvPr/>
        </p:nvSpPr>
        <p:spPr>
          <a:xfrm>
            <a:off x="684456" y="537447"/>
            <a:ext cx="23015087"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dirty="0">
                <a:solidFill>
                  <a:schemeClr val="bg1"/>
                </a:solidFill>
                <a:latin typeface="Bradley Hand" pitchFamily="2" charset="77"/>
              </a:rPr>
              <a:t>Write a function that reverses the array</a:t>
            </a:r>
          </a:p>
        </p:txBody>
      </p:sp>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D31A20E5-3914-3668-DC93-26F192ADF65B}"/>
                  </a:ext>
                </a:extLst>
              </p:cNvPr>
              <p:cNvSpPr/>
              <p:nvPr/>
            </p:nvSpPr>
            <p:spPr>
              <a:xfrm>
                <a:off x="684456" y="1963539"/>
                <a:ext cx="9543957"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D31A20E5-3914-3668-DC93-26F192ADF65B}"/>
                  </a:ext>
                </a:extLst>
              </p:cNvPr>
              <p:cNvSpPr>
                <a:spLocks noRot="1" noChangeAspect="1" noMove="1" noResize="1" noEditPoints="1" noAdjustHandles="1" noChangeArrowheads="1" noChangeShapeType="1" noTextEdit="1"/>
              </p:cNvSpPr>
              <p:nvPr/>
            </p:nvSpPr>
            <p:spPr>
              <a:xfrm>
                <a:off x="684456" y="1963539"/>
                <a:ext cx="9543957"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815505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0A35-BD3E-C160-E37F-0473D62FA0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DC88E689-8911-C23A-3B53-C12DFCFCC876}"/>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DC88E689-8911-C23A-3B53-C12DFCFCC876}"/>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5BF76697-4B1A-EF24-2DCF-E1C97F431FCA}"/>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5DB19CC3-EC0E-3D6B-7C9E-19BF8171653D}"/>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0CE6EEC5-CB0E-0E16-4AB3-CF083B689B28}"/>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90ECE364-CFB6-E38B-B684-C70059287429}"/>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2624D045-105A-1B6D-079A-6886F1D5FF0A}"/>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C95E6B38-AFF5-942A-D9CE-EEE35640BF43}"/>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5E8CBB81-6B5D-C364-A35D-7DA220DFA981}"/>
              </a:ext>
            </a:extLst>
          </p:cNvPr>
          <p:cNvSpPr/>
          <p:nvPr/>
        </p:nvSpPr>
        <p:spPr>
          <a:xfrm>
            <a:off x="589207" y="2979667"/>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313AAA9A-FE50-D3C4-89E3-2162E7F7593C}"/>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F191F6BA-B37F-9907-3DD0-54A410545A40}"/>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38027D3A-FC57-3474-E2A8-58D60D258FF9}"/>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341108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25FC-84A5-12A2-638A-56C13BA498A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AA804EE5-0090-F341-4328-6872A9323B8F}"/>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0" name="Rounded Rectangle 9">
                <a:extLst>
                  <a:ext uri="{FF2B5EF4-FFF2-40B4-BE49-F238E27FC236}">
                    <a16:creationId xmlns:a16="http://schemas.microsoft.com/office/drawing/2014/main" id="{AA804EE5-0090-F341-4328-6872A9323B8F}"/>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5A4C761B-CEBF-1377-2537-29AEACD7B5D2}"/>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45442EEB-4976-9503-FD50-3B29287D653B}"/>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65685039-71B3-B089-44A3-51201656B594}"/>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B65E7E36-7516-A8BB-16E1-BB68111B07E4}"/>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AD38CC7F-8882-CC5D-AFDC-F478781D2881}"/>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C6B479E3-335F-DBA0-C1E8-0C0B781B9101}"/>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E9431F11-F563-A5C7-2D0E-71ED28DCD69D}"/>
              </a:ext>
            </a:extLst>
          </p:cNvPr>
          <p:cNvSpPr/>
          <p:nvPr/>
        </p:nvSpPr>
        <p:spPr>
          <a:xfrm>
            <a:off x="589207" y="3461943"/>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9FC3B92B-1106-3036-6DB5-124472BBCD47}"/>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46AEEF7A-4517-357B-FC90-4BE2F4348188}"/>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FE7FDFAD-DA5A-0F9D-A98A-1A57E4ECC0C3}"/>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DCD26841-5D3C-E24E-8088-7F28E82A4874}"/>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Tree>
    <p:extLst>
      <p:ext uri="{BB962C8B-B14F-4D97-AF65-F5344CB8AC3E}">
        <p14:creationId xmlns:p14="http://schemas.microsoft.com/office/powerpoint/2010/main" val="4105933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BA412-347E-A900-AF3B-BE31E70625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39D9C77A-C2A1-250E-4C06-FC68AE271DB6}"/>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39D9C77A-C2A1-250E-4C06-FC68AE271DB6}"/>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D93567E1-FB81-E33E-9AD7-6B5F6E2E9A1D}"/>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F48B11D5-A852-C3FF-BC5C-8862ADAB45CB}"/>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3A51EAF6-2325-58A2-25DF-677CDE4396A2}"/>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4C12DCA1-7B22-6D13-5F75-67CAE9A75BEC}"/>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AD8AC7E4-EAB9-FD24-3462-F1E419E21A5E}"/>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68B00506-D7E7-24C7-ADF7-0670022A0E1B}"/>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B53BC18B-B3B7-3489-7F8D-C34FF2ADA0AC}"/>
              </a:ext>
            </a:extLst>
          </p:cNvPr>
          <p:cNvSpPr/>
          <p:nvPr/>
        </p:nvSpPr>
        <p:spPr>
          <a:xfrm>
            <a:off x="589207" y="3964791"/>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9B12A7AA-8B74-8FA5-A214-BBBB20144003}"/>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8A60BAA7-1EE7-BC5C-6898-64A007B2B8CC}"/>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BF2FEFF5-2D3E-D8BA-251F-A1E9C21FF0E4}"/>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62173C96-B45B-CE0B-578C-1267D07A8A08}"/>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1D1026BA-A8FA-CB78-BB47-8079A6400197}"/>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48EA556C-B04E-BE5F-C6AE-80C7C203B9F1}"/>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2900126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5B134-1313-1A3F-D3DB-A6D6D0D4F0B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C838447C-6BDE-9671-6E09-DFE7DEA05371}"/>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C838447C-6BDE-9671-6E09-DFE7DEA05371}"/>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BF04CF90-95F6-EC85-982F-B4030605AD11}"/>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4B53D2C0-A527-9BA0-285A-367A2D490CA9}"/>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78BC96F1-2CA4-6AEE-01F9-8171D7D125FE}"/>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92E78149-19CE-64A2-2255-C5466EDD1E9A}"/>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798098C2-0F43-5C56-EFB2-638034F20FEF}"/>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E4F82EBF-AF59-044F-7985-EF48A4EE6DE2}"/>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961CBE24-F127-10CC-E507-67182DA3ECE3}"/>
              </a:ext>
            </a:extLst>
          </p:cNvPr>
          <p:cNvSpPr/>
          <p:nvPr/>
        </p:nvSpPr>
        <p:spPr>
          <a:xfrm>
            <a:off x="589207" y="4945199"/>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AF4FFA34-3E11-ADD1-F623-D0938338CD0C}"/>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BAC11688-CA2D-5E53-7CE1-9DAEA4C72275}"/>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F40002EB-680B-94C3-CB9A-87975EC41722}"/>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862D24B0-7E20-E04F-C067-077C6030F48F}"/>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E5DF7F20-3843-ED0E-28CB-AAD052CD9693}"/>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B57D7D0D-293E-8DD5-F858-901D1F428F5E}"/>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129323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1B0E8-0D87-46E6-7C8B-1E43596B757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EA24871-14CF-6A9C-2E77-0AA7D79F4E62}"/>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BEA24871-14CF-6A9C-2E77-0AA7D79F4E62}"/>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7886FF6A-9A30-2DBB-80DF-17EDD08C9AA9}"/>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CF85A928-F112-A772-2D34-11E0F9E84BBA}"/>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AA3AE39B-B136-348C-B83F-A24821DE4C98}"/>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4B27789B-C4D9-20C1-93BC-2DA966C17B0A}"/>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ED7EBA4B-36FA-869A-2E62-FEBB7F31CE69}"/>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4FE59398-85D2-867C-F072-442B6EE58F12}"/>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03B305A3-2E24-721D-2C3A-738846EBD47F}"/>
              </a:ext>
            </a:extLst>
          </p:cNvPr>
          <p:cNvSpPr/>
          <p:nvPr/>
        </p:nvSpPr>
        <p:spPr>
          <a:xfrm>
            <a:off x="589207" y="6397178"/>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597EE09F-A606-9E01-5A2B-B63B5E3AE6E2}"/>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C734DF67-D650-EC97-7D6C-5C3FB76073DD}"/>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42276E50-0F34-1A8A-7F41-7AE570EE04DF}"/>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C799548B-628F-B438-F120-E9D7379561A7}"/>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A93EF7BB-23B7-A04E-4396-2E394C04A5A8}"/>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C98A98B1-C95A-2514-B5A2-6EA4CB511FA5}"/>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4021720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7DE2-3DB8-03B1-4231-FA30A82FE15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DE51378-7B0E-286E-9706-DCD921C089C1}"/>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BDE51378-7B0E-286E-9706-DCD921C089C1}"/>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5FBCCBF8-F3D7-21EF-24C9-49D25B48B5DB}"/>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E55D2EE8-CBFF-09AB-37BA-A2BDDE28B62C}"/>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E03225A7-52CD-B923-4131-C1BAC691BBAA}"/>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F00CCD09-828E-FBBD-6957-CFA0BFE7B82A}"/>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B0935499-7402-A56B-20E7-FECC11BCA801}"/>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144A6871-6144-73E2-1E4E-A56185869492}"/>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A5E9E875-CADE-F29D-76AE-2A3586D65B6A}"/>
              </a:ext>
            </a:extLst>
          </p:cNvPr>
          <p:cNvSpPr/>
          <p:nvPr/>
        </p:nvSpPr>
        <p:spPr>
          <a:xfrm>
            <a:off x="589207" y="697230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3E0F6DF2-57CD-363A-598A-DD30733F220F}"/>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AE45A493-C552-9FED-8A27-A93AAE5195FE}"/>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277F9808-182D-1D54-3C5E-0A1CCF1F50D7}"/>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FA7D33B7-F339-AD25-0CF5-61D6C4077110}"/>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C49331FE-A275-EB3D-9FE4-D98D07C0D91A}"/>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63FF2AB3-F708-EDC6-13F4-3693BEBD06A3}"/>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140408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CEBE-E883-DB73-1062-3724CDE688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AAA510F5-FEC5-7328-844D-AC70D60B32B5}"/>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AAA510F5-FEC5-7328-844D-AC70D60B32B5}"/>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46DB3361-6654-5EA5-7E42-304994663186}"/>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62620230-A236-F93C-F99D-6D62D9B60D99}"/>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20D47D37-92AF-E300-5ED7-3774A6733228}"/>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EBBE4A4D-C537-104C-5FED-7843D7B3CE9F}"/>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74F22A51-A4E2-70C3-0A08-02BDC050C03B}"/>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A8DBBA75-AC03-DE47-273C-55E3A85DAF60}"/>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FEC6DC51-4588-9A71-4B23-253D6DDDB884}"/>
              </a:ext>
            </a:extLst>
          </p:cNvPr>
          <p:cNvSpPr/>
          <p:nvPr/>
        </p:nvSpPr>
        <p:spPr>
          <a:xfrm>
            <a:off x="589207" y="3985023"/>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0086013C-119E-ABB9-C31D-201C9C9E74CF}"/>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ABEA894D-3F01-9095-8706-1B84E9D0B913}"/>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ABABD246-921C-8BD7-6F24-4038544199BA}"/>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46795D2E-78D6-A1B3-C4D8-6DA1B09E8269}"/>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2339246C-4D60-E191-3843-39A79A70DC2A}"/>
              </a:ext>
            </a:extLst>
          </p:cNvPr>
          <p:cNvSpPr/>
          <p:nvPr/>
        </p:nvSpPr>
        <p:spPr>
          <a:xfrm rot="16200000">
            <a:off x="18466564"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6B67EE3C-C4E3-6F6C-BFA5-1C2D2C36103A}"/>
              </a:ext>
            </a:extLst>
          </p:cNvPr>
          <p:cNvSpPr/>
          <p:nvPr/>
        </p:nvSpPr>
        <p:spPr>
          <a:xfrm>
            <a:off x="18370850"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233837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C250A-6CB8-14B6-FD5E-0781B5BA72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85594ED7-806C-66AE-113E-08272A21D6D2}"/>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85594ED7-806C-66AE-113E-08272A21D6D2}"/>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C41EED2-3FC1-6579-AC8D-EB7378A61B30}"/>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01FCB371-3EEA-A546-33FF-A554B1D8C24B}"/>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8184F0CB-C8F6-D480-3FD9-567F9A0134F6}"/>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10ADE14E-3B52-892E-C0DE-39B8FFFD0CDF}"/>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92E85367-37F6-0F2F-4CB8-505B935C24E4}"/>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6FDEFE0C-95CD-A3FA-AE29-F0DFB787A8CE}"/>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F9033998-C3E4-79B2-12DE-21C81D05551E}"/>
              </a:ext>
            </a:extLst>
          </p:cNvPr>
          <p:cNvSpPr/>
          <p:nvPr/>
        </p:nvSpPr>
        <p:spPr>
          <a:xfrm>
            <a:off x="589207" y="4960524"/>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EF3DC5AB-960C-CE7A-CBEC-01D38E951544}"/>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216F207D-EC98-D828-F766-88706BB79CBE}"/>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3AE19D3D-1528-4576-4BA5-40E803CDA0A0}"/>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E313B9C4-F570-B04B-738A-EA1D94B50104}"/>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7CDADA0C-DE64-4204-CB79-56CEEDDEA9E2}"/>
              </a:ext>
            </a:extLst>
          </p:cNvPr>
          <p:cNvSpPr/>
          <p:nvPr/>
        </p:nvSpPr>
        <p:spPr>
          <a:xfrm rot="16200000">
            <a:off x="18466564"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AB9DAB7C-D251-DD2E-5761-0563C6386738}"/>
              </a:ext>
            </a:extLst>
          </p:cNvPr>
          <p:cNvSpPr/>
          <p:nvPr/>
        </p:nvSpPr>
        <p:spPr>
          <a:xfrm>
            <a:off x="18370850"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1680576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0D73-34D9-8258-9B83-3E2BE91EA61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CD4FFD03-E49D-43A5-1DCA-75D32F9E4CE0}"/>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CD4FFD03-E49D-43A5-1DCA-75D32F9E4CE0}"/>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DF0D4ACF-2035-6732-BE7C-E121FFB5A4F6}"/>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FBC733A1-DD34-FDCB-2530-405D69A8D1E4}"/>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E6A8C5BC-2092-A4D6-71FF-236BDC236852}"/>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BCD57D07-DC3D-0ABE-3145-E2175621ED93}"/>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72E59B59-310C-4495-0AC2-CE3E1B7BE710}"/>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2D833892-3728-721F-1BE4-2E968522CF26}"/>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D94029EC-DD0D-E8C3-FE06-00FDA8022B30}"/>
              </a:ext>
            </a:extLst>
          </p:cNvPr>
          <p:cNvSpPr/>
          <p:nvPr/>
        </p:nvSpPr>
        <p:spPr>
          <a:xfrm>
            <a:off x="589207" y="641985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706EFE98-9AF6-F2C1-3C6E-161EF9358219}"/>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A99A11E5-DEFC-E82C-E3D2-B9DBBB7601D2}"/>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F944233B-3F12-7756-BF89-B1B28266EF14}"/>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C04DE7C8-006D-3134-A32E-6A54F0DB74CA}"/>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1BC68FC8-56BE-B147-FDBE-D876AF085737}"/>
              </a:ext>
            </a:extLst>
          </p:cNvPr>
          <p:cNvSpPr/>
          <p:nvPr/>
        </p:nvSpPr>
        <p:spPr>
          <a:xfrm rot="16200000">
            <a:off x="18466564"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C05F30C6-6A6F-31E0-91FF-EA0368131D46}"/>
              </a:ext>
            </a:extLst>
          </p:cNvPr>
          <p:cNvSpPr/>
          <p:nvPr/>
        </p:nvSpPr>
        <p:spPr>
          <a:xfrm>
            <a:off x="18370850"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2712121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318B-9063-9701-329E-2596C7398B2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E7E104AB-FD12-AC7B-BECE-219501141C64}"/>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E7E104AB-FD12-AC7B-BECE-219501141C64}"/>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56F5B23-245C-D10C-5EB7-4C83B320D25F}"/>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865A3CDD-589F-FC7A-5BAA-669BF91858B5}"/>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5D66729D-2D51-EB0F-1CAD-3674F8BCC10A}"/>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B3C40809-0132-E506-F136-26578781A277}"/>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9F54D6C4-A66B-E596-B8BB-FC6BEE3214C3}"/>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6FFFFCAE-65E8-AFCC-26F0-9ECD88CC80FD}"/>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3240E27E-4C48-8375-F331-69BBDD80E6D9}"/>
              </a:ext>
            </a:extLst>
          </p:cNvPr>
          <p:cNvSpPr/>
          <p:nvPr/>
        </p:nvSpPr>
        <p:spPr>
          <a:xfrm>
            <a:off x="573787" y="3978396"/>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498B1B1E-D857-AA46-5AE8-A5FC128BDD70}"/>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F5BB881F-D5CB-1FEC-133C-71400FFD9ABA}"/>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8D703DC2-5E5C-DD11-1E21-5F30EA5CB01B}"/>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4A695C51-9C0B-9D7F-7797-03AD177F813F}"/>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9238D8C7-29B8-2F61-4CA2-3FD3FEC9BE0A}"/>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40FC3738-CE0C-97D2-6B6F-DFF50605DDF7}"/>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581222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EB0A-A741-4D3C-CE55-14A33113657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9BA8FC2-E818-3D36-4A9D-35F0AB3B9DDC}"/>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B9BA8FC2-E818-3D36-4A9D-35F0AB3B9DDC}"/>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FE197C57-8563-3601-0BBC-5B64F74BC353}"/>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6BD649F0-E34B-4CA5-B986-C38108464CBE}"/>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48067910-F912-06AF-8840-0824A973C446}"/>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06E0A830-C26F-DEA0-8282-101B37B83C59}"/>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6DD2C554-6C57-46D0-4299-2C91B3A1E44B}"/>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B8C9C7E0-F08F-EB2B-5B3F-89F05DCBCFDA}"/>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B90EE719-BC54-2744-6FC9-1227B0106AE3}"/>
              </a:ext>
            </a:extLst>
          </p:cNvPr>
          <p:cNvSpPr/>
          <p:nvPr/>
        </p:nvSpPr>
        <p:spPr>
          <a:xfrm>
            <a:off x="573787" y="497456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C0FC645B-AFE0-9811-7448-32BAEC588964}"/>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71693934-7EEE-7E60-D028-97DC44F625E8}"/>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7248AA79-0E43-2AC4-C425-2E0339F3F964}"/>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D681381B-3EA1-163E-57B0-DFA2B0EAF587}"/>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3A4A15BC-A542-3ACA-4034-0254ECC6A5DD}"/>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D8BFADE2-08B3-BE6C-10A5-7094F423002C}"/>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374055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1E0C-F800-BDBD-C649-340ABB57B0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79A54636-FF12-40D5-8C2B-766D1E6A8ABA}"/>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79A54636-FF12-40D5-8C2B-766D1E6A8ABA}"/>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3FD0F6D2-8D61-5331-A8C2-F89AEF885993}"/>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2215DF19-22B4-E820-950F-48A8CC37A59A}"/>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80EF8BA9-D5D1-09B1-70C6-E45EACA03917}"/>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4</a:t>
            </a:r>
          </a:p>
        </p:txBody>
      </p:sp>
      <p:sp>
        <p:nvSpPr>
          <p:cNvPr id="7" name="Rounded Rectangle 6">
            <a:extLst>
              <a:ext uri="{FF2B5EF4-FFF2-40B4-BE49-F238E27FC236}">
                <a16:creationId xmlns:a16="http://schemas.microsoft.com/office/drawing/2014/main" id="{38B9E3A6-ADF9-37EC-6F46-C4F4CFE8F1FB}"/>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3</a:t>
            </a:r>
          </a:p>
        </p:txBody>
      </p:sp>
      <p:sp>
        <p:nvSpPr>
          <p:cNvPr id="8" name="Rounded Rectangle 7">
            <a:extLst>
              <a:ext uri="{FF2B5EF4-FFF2-40B4-BE49-F238E27FC236}">
                <a16:creationId xmlns:a16="http://schemas.microsoft.com/office/drawing/2014/main" id="{2ADC14AC-2DE4-0290-16CE-204BA8E02529}"/>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B797111E-CB9C-8F2A-A4A7-BFFB88CFBB55}"/>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FC12D2BE-A864-2709-BD48-4700F33D6508}"/>
              </a:ext>
            </a:extLst>
          </p:cNvPr>
          <p:cNvSpPr/>
          <p:nvPr/>
        </p:nvSpPr>
        <p:spPr>
          <a:xfrm>
            <a:off x="589207" y="641985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50337C0C-3F53-4C24-F425-CA8461C3EC05}"/>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63F3208D-9617-ADC4-2141-AC65E1A63088}"/>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C1E42AF3-0CE6-BEF7-A1C6-E3C2EAE6F7C1}"/>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E4DF8C58-F672-6CF0-CD45-DF19B06ECE4F}"/>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BEE3AA90-226F-4CFD-A8C8-4C445C7FC6E7}"/>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D01E1548-3D6A-9244-74A0-FA46389CC556}"/>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751823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919ED-11F1-E43D-C803-D24B74D0F03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1B3EBFCF-D381-CB28-4E6E-EC1EE078D28E}"/>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1B3EBFCF-D381-CB28-4E6E-EC1EE078D28E}"/>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D5117C9D-2BC4-D63E-BCDC-A73A17FCBF38}"/>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0C910ED6-BC64-F9DD-EAF1-CFC17AB711EA}"/>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1361E2F5-2019-2E7A-CA8B-904A19F3BBE9}"/>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4</a:t>
            </a:r>
          </a:p>
        </p:txBody>
      </p:sp>
      <p:sp>
        <p:nvSpPr>
          <p:cNvPr id="7" name="Rounded Rectangle 6">
            <a:extLst>
              <a:ext uri="{FF2B5EF4-FFF2-40B4-BE49-F238E27FC236}">
                <a16:creationId xmlns:a16="http://schemas.microsoft.com/office/drawing/2014/main" id="{068CCB26-0152-D069-AF32-2BC20818E4F6}"/>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3</a:t>
            </a:r>
          </a:p>
        </p:txBody>
      </p:sp>
      <p:sp>
        <p:nvSpPr>
          <p:cNvPr id="8" name="Rounded Rectangle 7">
            <a:extLst>
              <a:ext uri="{FF2B5EF4-FFF2-40B4-BE49-F238E27FC236}">
                <a16:creationId xmlns:a16="http://schemas.microsoft.com/office/drawing/2014/main" id="{E012BEDE-B39B-08F0-C065-26EDD8483E46}"/>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B500C415-B222-7AB0-78E8-225A6C118B05}"/>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785AFF95-D401-798A-4041-53AE0D9E8B21}"/>
              </a:ext>
            </a:extLst>
          </p:cNvPr>
          <p:cNvSpPr/>
          <p:nvPr/>
        </p:nvSpPr>
        <p:spPr>
          <a:xfrm>
            <a:off x="619267" y="3985023"/>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EB811C88-6AC9-3E4F-5087-DD0AA07E3B8F}"/>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4D67A073-5D13-78D1-1C41-38E264B89577}"/>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D0FFF6B9-7467-7760-769F-D1BA0FF0F1C6}"/>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F56E3711-7695-A0AB-F323-0C101A001C5E}"/>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
        <p:nvSpPr>
          <p:cNvPr id="10" name="Right Arrow 9">
            <a:extLst>
              <a:ext uri="{FF2B5EF4-FFF2-40B4-BE49-F238E27FC236}">
                <a16:creationId xmlns:a16="http://schemas.microsoft.com/office/drawing/2014/main" id="{92CE45F9-22A4-D429-9F6C-51C570202642}"/>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2096986A-C421-9255-C03F-CB25102264E6}"/>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Tree>
    <p:extLst>
      <p:ext uri="{BB962C8B-B14F-4D97-AF65-F5344CB8AC3E}">
        <p14:creationId xmlns:p14="http://schemas.microsoft.com/office/powerpoint/2010/main" val="1935456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5A56E52C-C35C-CD98-7BF1-EA68CC935BBF}"/>
              </a:ext>
            </a:extLst>
          </p:cNvPr>
          <p:cNvSpPr/>
          <p:nvPr/>
        </p:nvSpPr>
        <p:spPr>
          <a:xfrm>
            <a:off x="721895" y="2097047"/>
            <a:ext cx="23017092"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So far, we have </a:t>
            </a:r>
            <a:r>
              <a:rPr lang="en-US" sz="5400" dirty="0" err="1">
                <a:solidFill>
                  <a:schemeClr val="bg1"/>
                </a:solidFill>
                <a:latin typeface="Bradley Hand" pitchFamily="2" charset="77"/>
              </a:rPr>
              <a:t>focussed</a:t>
            </a:r>
            <a:r>
              <a:rPr lang="en-US" sz="5400" dirty="0">
                <a:solidFill>
                  <a:schemeClr val="bg1"/>
                </a:solidFill>
                <a:latin typeface="Bradley Hand" pitchFamily="2" charset="77"/>
              </a:rPr>
              <a:t> only on passing the array</a:t>
            </a:r>
          </a:p>
          <a:p>
            <a:pPr marL="685800" indent="-685800" defTabSz="825500">
              <a:lnSpc>
                <a:spcPct val="100000"/>
              </a:lnSpc>
              <a:spcBef>
                <a:spcPts val="0"/>
              </a:spcBef>
              <a:buFont typeface="Arial" panose="020B0604020202020204" pitchFamily="34" charset="0"/>
              <a:buChar char="•"/>
            </a:pPr>
            <a:r>
              <a:rPr lang="en-US" sz="5400" dirty="0">
                <a:solidFill>
                  <a:schemeClr val="accent6">
                    <a:lumMod val="40000"/>
                    <a:lumOff val="60000"/>
                  </a:schemeClr>
                </a:solidFill>
                <a:latin typeface="Bradley Hand" pitchFamily="2" charset="77"/>
              </a:rPr>
              <a:t>How do we return an array from a function?  </a:t>
            </a:r>
          </a:p>
        </p:txBody>
      </p:sp>
    </p:spTree>
    <p:extLst>
      <p:ext uri="{BB962C8B-B14F-4D97-AF65-F5344CB8AC3E}">
        <p14:creationId xmlns:p14="http://schemas.microsoft.com/office/powerpoint/2010/main" val="143879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3FCFA1B1-9BDC-9F5C-1BA4-B876A0C86944}"/>
              </a:ext>
            </a:extLst>
          </p:cNvPr>
          <p:cNvSpPr/>
          <p:nvPr/>
        </p:nvSpPr>
        <p:spPr>
          <a:xfrm>
            <a:off x="645013" y="3430111"/>
            <a:ext cx="9543957" cy="685577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600" dirty="0">
                <a:solidFill>
                  <a:schemeClr val="bg1"/>
                </a:solidFill>
                <a:latin typeface="Cambria Math" panose="02040503050406030204" pitchFamily="18" charset="0"/>
                <a:ea typeface="Cambria Math" panose="02040503050406030204" pitchFamily="18" charset="0"/>
              </a:rPr>
              <a:t>= create();</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3" name="Rounded Rectangle 2">
            <a:extLst>
              <a:ext uri="{FF2B5EF4-FFF2-40B4-BE49-F238E27FC236}">
                <a16:creationId xmlns:a16="http://schemas.microsoft.com/office/drawing/2014/main" id="{4ACB2618-30A8-14A9-A8EC-12CB21A2D10B}"/>
              </a:ext>
            </a:extLst>
          </p:cNvPr>
          <p:cNvSpPr/>
          <p:nvPr/>
        </p:nvSpPr>
        <p:spPr>
          <a:xfrm>
            <a:off x="11454062" y="4502745"/>
            <a:ext cx="12108461"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This does not work because num is a local array in </a:t>
            </a:r>
            <a:r>
              <a:rPr lang="en-US" sz="5400" dirty="0">
                <a:solidFill>
                  <a:schemeClr val="accent2">
                    <a:lumMod val="40000"/>
                    <a:lumOff val="60000"/>
                  </a:schemeClr>
                </a:solidFill>
                <a:latin typeface="Bradley Hand" pitchFamily="2" charset="77"/>
              </a:rPr>
              <a:t>create;</a:t>
            </a:r>
            <a:r>
              <a:rPr lang="en-US" sz="5400" dirty="0">
                <a:solidFill>
                  <a:schemeClr val="bg1"/>
                </a:solidFill>
                <a:latin typeface="Bradley Hand" pitchFamily="2" charset="77"/>
              </a:rPr>
              <a:t> its lifetime ends when </a:t>
            </a:r>
            <a:r>
              <a:rPr lang="en-US" sz="5400" dirty="0">
                <a:solidFill>
                  <a:schemeClr val="accent2">
                    <a:lumMod val="40000"/>
                    <a:lumOff val="60000"/>
                  </a:schemeClr>
                </a:solidFill>
                <a:latin typeface="Bradley Hand" pitchFamily="2" charset="77"/>
              </a:rPr>
              <a:t>create</a:t>
            </a:r>
            <a:r>
              <a:rPr lang="en-US" sz="5400" dirty="0">
                <a:solidFill>
                  <a:schemeClr val="bg1"/>
                </a:solidFill>
                <a:latin typeface="Bradley Hand" pitchFamily="2" charset="77"/>
              </a:rPr>
              <a:t> returns</a:t>
            </a:r>
          </a:p>
          <a:p>
            <a:pPr marL="685800" indent="-685800" defTabSz="825500">
              <a:lnSpc>
                <a:spcPct val="100000"/>
              </a:lnSpc>
              <a:spcBef>
                <a:spcPts val="0"/>
              </a:spcBef>
              <a:buFont typeface="Arial" panose="020B0604020202020204" pitchFamily="34" charset="0"/>
              <a:buChar char="•"/>
            </a:pPr>
            <a:r>
              <a:rPr lang="en-US" sz="5400" dirty="0">
                <a:solidFill>
                  <a:schemeClr val="accent6">
                    <a:lumMod val="40000"/>
                    <a:lumOff val="60000"/>
                  </a:schemeClr>
                </a:solidFill>
                <a:latin typeface="Bradley Hand" pitchFamily="2" charset="77"/>
              </a:rPr>
              <a:t>How do we create an array inside a function that is not a local variable?</a:t>
            </a:r>
          </a:p>
        </p:txBody>
      </p:sp>
    </p:spTree>
    <p:extLst>
      <p:ext uri="{BB962C8B-B14F-4D97-AF65-F5344CB8AC3E}">
        <p14:creationId xmlns:p14="http://schemas.microsoft.com/office/powerpoint/2010/main" val="2412718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0373F-25F0-0DBA-D26E-24E3B29560D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4305CEC-A16D-F4D4-5FA8-5BFE10D66E39}"/>
              </a:ext>
            </a:extLst>
          </p:cNvPr>
          <p:cNvSpPr/>
          <p:nvPr/>
        </p:nvSpPr>
        <p:spPr>
          <a:xfrm>
            <a:off x="645013" y="1941136"/>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if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4" name="Rounded Rectangle 3">
            <a:extLst>
              <a:ext uri="{FF2B5EF4-FFF2-40B4-BE49-F238E27FC236}">
                <a16:creationId xmlns:a16="http://schemas.microsoft.com/office/drawing/2014/main" id="{91982EB4-F8F7-B832-88B3-0794FD02BDC6}"/>
              </a:ext>
            </a:extLst>
          </p:cNvPr>
          <p:cNvSpPr/>
          <p:nvPr/>
        </p:nvSpPr>
        <p:spPr>
          <a:xfrm>
            <a:off x="11454062" y="4962445"/>
            <a:ext cx="12108461"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Heap is a region of the memory used for persistent dynamic memory allocation</a:t>
            </a:r>
          </a:p>
          <a:p>
            <a:pPr defTabSz="825500">
              <a:lnSpc>
                <a:spcPct val="100000"/>
              </a:lnSpc>
              <a:spcBef>
                <a:spcPts val="0"/>
              </a:spcBef>
            </a:pP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4100744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6703-C53E-11F6-A64F-B863DD4A36BA}"/>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C85C4B2E-B176-47D2-0A57-7A5C54F35D39}"/>
              </a:ext>
            </a:extLst>
          </p:cNvPr>
          <p:cNvSpPr/>
          <p:nvPr/>
        </p:nvSpPr>
        <p:spPr>
          <a:xfrm>
            <a:off x="645013" y="1637348"/>
            <a:ext cx="9543957" cy="10441305"/>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if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free(</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4" name="Rounded Rectangle 3">
            <a:extLst>
              <a:ext uri="{FF2B5EF4-FFF2-40B4-BE49-F238E27FC236}">
                <a16:creationId xmlns:a16="http://schemas.microsoft.com/office/drawing/2014/main" id="{A252AC99-2978-1EEF-2AA8-72D5885DB6C0}"/>
              </a:ext>
            </a:extLst>
          </p:cNvPr>
          <p:cNvSpPr/>
          <p:nvPr/>
        </p:nvSpPr>
        <p:spPr>
          <a:xfrm>
            <a:off x="11454062" y="4502745"/>
            <a:ext cx="12108461"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Heap is a region of the memory used for persistent dynamic memory allocation</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malloc requests for memory and free releases the memory </a:t>
            </a:r>
          </a:p>
        </p:txBody>
      </p:sp>
    </p:spTree>
    <p:extLst>
      <p:ext uri="{BB962C8B-B14F-4D97-AF65-F5344CB8AC3E}">
        <p14:creationId xmlns:p14="http://schemas.microsoft.com/office/powerpoint/2010/main" val="1570553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735B47E-9D74-8625-15B3-4F6A4E5AF082}"/>
              </a:ext>
            </a:extLst>
          </p:cNvPr>
          <p:cNvSpPr/>
          <p:nvPr/>
        </p:nvSpPr>
        <p:spPr>
          <a:xfrm>
            <a:off x="6981645" y="932545"/>
            <a:ext cx="9543957" cy="501697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int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600" dirty="0">
                <a:solidFill>
                  <a:schemeClr val="bg1"/>
                </a:solidFill>
                <a:latin typeface="Cambria Math" panose="02040503050406030204" pitchFamily="18" charset="0"/>
                <a:ea typeface="Cambria Math" panose="02040503050406030204" pitchFamily="18" charset="0"/>
              </a:rPr>
              <a:t>[5];</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free(</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3" name="Rounded Rectangle 2">
            <a:extLst>
              <a:ext uri="{FF2B5EF4-FFF2-40B4-BE49-F238E27FC236}">
                <a16:creationId xmlns:a16="http://schemas.microsoft.com/office/drawing/2014/main" id="{806DD7AB-0422-B12D-52BF-057374B692E2}"/>
              </a:ext>
            </a:extLst>
          </p:cNvPr>
          <p:cNvSpPr/>
          <p:nvPr/>
        </p:nvSpPr>
        <p:spPr>
          <a:xfrm>
            <a:off x="770020" y="7317700"/>
            <a:ext cx="22892085"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err="1">
                <a:solidFill>
                  <a:schemeClr val="accent1">
                    <a:lumMod val="40000"/>
                    <a:lumOff val="60000"/>
                  </a:schemeClr>
                </a:solidFill>
                <a:latin typeface="Bradley Hand" pitchFamily="2" charset="77"/>
              </a:rPr>
              <a:t>arr</a:t>
            </a:r>
            <a:r>
              <a:rPr lang="en-US" sz="5400" dirty="0">
                <a:solidFill>
                  <a:schemeClr val="bg1"/>
                </a:solidFill>
                <a:latin typeface="Bradley Hand" pitchFamily="2" charset="77"/>
              </a:rPr>
              <a:t> is allocated on the stack and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is allocated on the heap</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memory allocated to </a:t>
            </a:r>
            <a:r>
              <a:rPr lang="en-US" sz="5400" dirty="0" err="1">
                <a:solidFill>
                  <a:schemeClr val="accent1">
                    <a:lumMod val="40000"/>
                    <a:lumOff val="60000"/>
                  </a:schemeClr>
                </a:solidFill>
                <a:latin typeface="Bradley Hand" pitchFamily="2" charset="77"/>
              </a:rPr>
              <a:t>arr</a:t>
            </a:r>
            <a:r>
              <a:rPr lang="en-US" sz="5400" dirty="0">
                <a:solidFill>
                  <a:schemeClr val="bg1"/>
                </a:solidFill>
                <a:latin typeface="Bradley Hand" pitchFamily="2" charset="77"/>
              </a:rPr>
              <a:t> is released automatically but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needs to be freed explicitly</a:t>
            </a:r>
          </a:p>
        </p:txBody>
      </p:sp>
    </p:spTree>
    <p:extLst>
      <p:ext uri="{BB962C8B-B14F-4D97-AF65-F5344CB8AC3E}">
        <p14:creationId xmlns:p14="http://schemas.microsoft.com/office/powerpoint/2010/main" val="3420707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121E2C57-23F5-F77A-49C7-4D6572B47318}"/>
              </a:ext>
            </a:extLst>
          </p:cNvPr>
          <p:cNvSpPr/>
          <p:nvPr/>
        </p:nvSpPr>
        <p:spPr>
          <a:xfrm>
            <a:off x="745957" y="1205150"/>
            <a:ext cx="22892085"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function </a:t>
            </a:r>
            <a:r>
              <a:rPr lang="en-US" sz="5400" dirty="0">
                <a:solidFill>
                  <a:schemeClr val="accent6">
                    <a:lumMod val="40000"/>
                    <a:lumOff val="60000"/>
                  </a:schemeClr>
                </a:solidFill>
                <a:latin typeface="Bradley Hand" pitchFamily="2" charset="77"/>
              </a:rPr>
              <a:t>int *</a:t>
            </a:r>
            <a:r>
              <a:rPr lang="en-US" sz="5400" dirty="0">
                <a:solidFill>
                  <a:schemeClr val="accent2">
                    <a:lumMod val="40000"/>
                    <a:lumOff val="60000"/>
                  </a:schemeClr>
                </a:solidFill>
                <a:latin typeface="Bradley Hand" pitchFamily="2" charset="77"/>
              </a:rPr>
              <a:t>add</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n</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that adds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to the end of the array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and then return the array</a:t>
            </a:r>
          </a:p>
        </p:txBody>
      </p:sp>
      <p:sp>
        <p:nvSpPr>
          <p:cNvPr id="3" name="Rounded Rectangle 2">
            <a:extLst>
              <a:ext uri="{FF2B5EF4-FFF2-40B4-BE49-F238E27FC236}">
                <a16:creationId xmlns:a16="http://schemas.microsoft.com/office/drawing/2014/main" id="{4FA93B19-A60B-505D-54CB-B4611575C741}"/>
              </a:ext>
            </a:extLst>
          </p:cNvPr>
          <p:cNvSpPr/>
          <p:nvPr/>
        </p:nvSpPr>
        <p:spPr>
          <a:xfrm>
            <a:off x="745957" y="4606186"/>
            <a:ext cx="9543957" cy="501697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int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600" dirty="0">
                <a:solidFill>
                  <a:schemeClr val="bg1"/>
                </a:solidFill>
                <a:latin typeface="Cambria Math" panose="02040503050406030204" pitchFamily="18" charset="0"/>
                <a:ea typeface="Cambria Math" panose="02040503050406030204" pitchFamily="18" charset="0"/>
              </a:rPr>
              <a:t>[5];</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free(</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268164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3F26-A8F6-0806-A9F3-04C79C59013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1EF2F301-DF20-0978-8EF3-34E918C18F09}"/>
                  </a:ext>
                </a:extLst>
              </p:cNvPr>
              <p:cNvSpPr/>
              <p:nvPr/>
            </p:nvSpPr>
            <p:spPr>
              <a:xfrm>
                <a:off x="645013" y="702449"/>
                <a:ext cx="9543957" cy="123130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r>
                  <a:rPr lang="en-IN" sz="32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if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bg1"/>
                    </a:solidFill>
                    <a:latin typeface="Cambria Math" panose="02040503050406030204" pitchFamily="18" charset="0"/>
                    <a:ea typeface="Cambria Math" panose="02040503050406030204" pitchFamily="18" charset="0"/>
                  </a:rPr>
                  <a:t>printf</a:t>
                </a:r>
                <a:r>
                  <a:rPr lang="en-IN" sz="32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200" i="1" smtClean="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US"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US" sz="3200" dirty="0">
                    <a:solidFill>
                      <a:schemeClr val="bg1"/>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int A[5] = {1,2,3,4,5};</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3200" dirty="0">
                    <a:solidFill>
                      <a:schemeClr val="bg1"/>
                    </a:solidFill>
                    <a:latin typeface="Cambria Math" panose="02040503050406030204" pitchFamily="18" charset="0"/>
                    <a:ea typeface="Cambria Math" panose="02040503050406030204" pitchFamily="18" charset="0"/>
                  </a:rPr>
                  <a:t>(A, 5, 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q </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3200" dirty="0">
                    <a:solidFill>
                      <a:schemeClr val="bg1"/>
                    </a:solidFill>
                    <a:latin typeface="Cambria Math" panose="02040503050406030204" pitchFamily="18" charset="0"/>
                    <a:ea typeface="Cambria Math" panose="02040503050406030204" pitchFamily="18" charset="0"/>
                  </a:rPr>
                  <a:t>(p, 6, 7);</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1EF2F301-DF20-0978-8EF3-34E918C18F09}"/>
                  </a:ext>
                </a:extLst>
              </p:cNvPr>
              <p:cNvSpPr>
                <a:spLocks noRot="1" noChangeAspect="1" noMove="1" noResize="1" noEditPoints="1" noAdjustHandles="1" noChangeArrowheads="1" noChangeShapeType="1" noTextEdit="1"/>
              </p:cNvSpPr>
              <p:nvPr/>
            </p:nvSpPr>
            <p:spPr>
              <a:xfrm>
                <a:off x="645013" y="702449"/>
                <a:ext cx="9543957" cy="12313007"/>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775810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A56F18A6-F41E-8C87-1E1B-A0CC26BD729A}"/>
              </a:ext>
            </a:extLst>
          </p:cNvPr>
          <p:cNvSpPr/>
          <p:nvPr/>
        </p:nvSpPr>
        <p:spPr>
          <a:xfrm>
            <a:off x="745957" y="958667"/>
            <a:ext cx="22892085"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program that reads an unknown number of positive integers and  prints them in reverse.</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Each number is provided on a separate line. </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value -1 marks the end of input and must not be stored in the array</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Since the number of integers is not known in advance, dynamically resize the array</a:t>
            </a:r>
          </a:p>
        </p:txBody>
      </p:sp>
    </p:spTree>
    <p:extLst>
      <p:ext uri="{BB962C8B-B14F-4D97-AF65-F5344CB8AC3E}">
        <p14:creationId xmlns:p14="http://schemas.microsoft.com/office/powerpoint/2010/main" val="259133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DF421F35-1FEB-440D-1136-193D157B3C12}"/>
                  </a:ext>
                </a:extLst>
              </p:cNvPr>
              <p:cNvSpPr/>
              <p:nvPr/>
            </p:nvSpPr>
            <p:spPr>
              <a:xfrm>
                <a:off x="645013" y="2034941"/>
                <a:ext cx="9543957" cy="964803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2800" dirty="0">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 0,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2800" dirty="0">
                    <a:solidFill>
                      <a:schemeClr val="bg1"/>
                    </a:solidFill>
                    <a:latin typeface="Cambria Math" panose="02040503050406030204" pitchFamily="18" charset="0"/>
                    <a:ea typeface="Cambria Math" panose="02040503050406030204" pitchFamily="18" charset="0"/>
                  </a:rPr>
                  <a:t> (1)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scanf</a:t>
                </a:r>
                <a:r>
                  <a:rPr lang="en-IN" sz="2800" dirty="0">
                    <a:solidFill>
                      <a:schemeClr val="bg1"/>
                    </a:solidFill>
                    <a:latin typeface="Cambria Math" panose="02040503050406030204" pitchFamily="18" charset="0"/>
                    <a:ea typeface="Cambria Math" panose="02040503050406030204" pitchFamily="18" charset="0"/>
                  </a:rPr>
                  <a:t>( “%d”, &amp;</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 == -1)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break</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if</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“Program failed”);</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break;</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0;</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a:t>
                </a: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DF421F35-1FEB-440D-1136-193D157B3C12}"/>
                  </a:ext>
                </a:extLst>
              </p:cNvPr>
              <p:cNvSpPr>
                <a:spLocks noRot="1" noChangeAspect="1" noMove="1" noResize="1" noEditPoints="1" noAdjustHandles="1" noChangeArrowheads="1" noChangeShapeType="1" noTextEdit="1"/>
              </p:cNvSpPr>
              <p:nvPr/>
            </p:nvSpPr>
            <p:spPr>
              <a:xfrm>
                <a:off x="645013" y="2034941"/>
                <a:ext cx="9543957" cy="964803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61FBA449-185A-B9E3-4635-7069BA4CDA76}"/>
                  </a:ext>
                </a:extLst>
              </p:cNvPr>
              <p:cNvSpPr/>
              <p:nvPr/>
            </p:nvSpPr>
            <p:spPr>
              <a:xfrm>
                <a:off x="13029518" y="2307517"/>
                <a:ext cx="9543957" cy="869457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2800" dirty="0">
                    <a:solidFill>
                      <a:schemeClr val="bg1"/>
                    </a:solidFill>
                    <a:latin typeface="Cambria Math" panose="02040503050406030204" pitchFamily="18" charset="0"/>
                    <a:ea typeface="Cambria Math" panose="02040503050406030204" pitchFamily="18" charset="0"/>
                  </a:rPr>
                  <a:t>+1)*</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bg1"/>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28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2800" i="1" smtClean="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 </a:t>
                </a: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US"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US" sz="2800" dirty="0">
                    <a:solidFill>
                      <a:schemeClr val="bg1"/>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61FBA449-185A-B9E3-4635-7069BA4CDA76}"/>
                  </a:ext>
                </a:extLst>
              </p:cNvPr>
              <p:cNvSpPr>
                <a:spLocks noRot="1" noChangeAspect="1" noMove="1" noResize="1" noEditPoints="1" noAdjustHandles="1" noChangeArrowheads="1" noChangeShapeType="1" noTextEdit="1"/>
              </p:cNvSpPr>
              <p:nvPr/>
            </p:nvSpPr>
            <p:spPr>
              <a:xfrm>
                <a:off x="13029518" y="2307517"/>
                <a:ext cx="9543957" cy="8694579"/>
              </a:xfrm>
              <a:prstGeom prst="roundRect">
                <a:avLst/>
              </a:prstGeom>
              <a:blipFill>
                <a:blip r:embed="rId3"/>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197998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6D24074-35A4-06CF-58E6-FAC2DE39D3EA}"/>
              </a:ext>
            </a:extLst>
          </p:cNvPr>
          <p:cNvSpPr/>
          <p:nvPr/>
        </p:nvSpPr>
        <p:spPr>
          <a:xfrm>
            <a:off x="745957" y="1205150"/>
            <a:ext cx="22892085"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function </a:t>
            </a:r>
            <a:r>
              <a:rPr lang="en-US" sz="5400" dirty="0">
                <a:solidFill>
                  <a:schemeClr val="accent6">
                    <a:lumMod val="40000"/>
                    <a:lumOff val="60000"/>
                  </a:schemeClr>
                </a:solidFill>
                <a:latin typeface="Bradley Hand" pitchFamily="2" charset="77"/>
              </a:rPr>
              <a:t>int *</a:t>
            </a:r>
            <a:r>
              <a:rPr lang="en-US" sz="5400" dirty="0" err="1">
                <a:solidFill>
                  <a:schemeClr val="accent2">
                    <a:lumMod val="40000"/>
                    <a:lumOff val="60000"/>
                  </a:schemeClr>
                </a:solidFill>
                <a:latin typeface="Bradley Hand" pitchFamily="2" charset="77"/>
              </a:rPr>
              <a:t>removeAt</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a:t>
            </a:r>
            <a:r>
              <a:rPr lang="en-US" sz="5400" dirty="0" err="1">
                <a:solidFill>
                  <a:schemeClr val="accent1">
                    <a:lumMod val="40000"/>
                    <a:lumOff val="60000"/>
                  </a:schemeClr>
                </a:solidFill>
                <a:latin typeface="Bradley Hand" pitchFamily="2" charset="77"/>
              </a:rPr>
              <a:t>arr</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n</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index</a:t>
            </a:r>
            <a:r>
              <a:rPr lang="en-US" sz="5400" dirty="0">
                <a:solidFill>
                  <a:schemeClr val="bg1"/>
                </a:solidFill>
                <a:latin typeface="Bradley Hand" pitchFamily="2" charset="77"/>
              </a:rPr>
              <a:t>) that removes the element at </a:t>
            </a:r>
            <a:r>
              <a:rPr lang="en-US" sz="5400" dirty="0" err="1">
                <a:solidFill>
                  <a:schemeClr val="accent1">
                    <a:lumMod val="40000"/>
                    <a:lumOff val="60000"/>
                  </a:schemeClr>
                </a:solidFill>
                <a:latin typeface="Bradley Hand" pitchFamily="2" charset="77"/>
              </a:rPr>
              <a:t>arr</a:t>
            </a:r>
            <a:r>
              <a:rPr lang="en-US" sz="5400" dirty="0">
                <a:solidFill>
                  <a:schemeClr val="bg1"/>
                </a:solidFill>
                <a:latin typeface="Bradley Hand" pitchFamily="2" charset="77"/>
              </a:rPr>
              <a:t>[</a:t>
            </a:r>
            <a:r>
              <a:rPr lang="en-US" sz="5400" dirty="0">
                <a:solidFill>
                  <a:schemeClr val="accent1">
                    <a:lumMod val="40000"/>
                    <a:lumOff val="60000"/>
                  </a:schemeClr>
                </a:solidFill>
                <a:latin typeface="Bradley Hand" pitchFamily="2" charset="77"/>
              </a:rPr>
              <a:t>index</a:t>
            </a:r>
            <a:r>
              <a:rPr lang="en-US" sz="5400" dirty="0">
                <a:solidFill>
                  <a:schemeClr val="bg1"/>
                </a:solidFill>
                <a:latin typeface="Bradley Hand" pitchFamily="2" charset="77"/>
              </a:rPr>
              <a:t>] and then return the array</a:t>
            </a:r>
          </a:p>
        </p:txBody>
      </p:sp>
    </p:spTree>
    <p:extLst>
      <p:ext uri="{BB962C8B-B14F-4D97-AF65-F5344CB8AC3E}">
        <p14:creationId xmlns:p14="http://schemas.microsoft.com/office/powerpoint/2010/main" val="665856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E097F9D9-B439-9315-E8DA-104B174FCB49}"/>
                  </a:ext>
                </a:extLst>
              </p:cNvPr>
              <p:cNvSpPr/>
              <p:nvPr/>
            </p:nvSpPr>
            <p:spPr>
              <a:xfrm>
                <a:off x="645013" y="133351"/>
                <a:ext cx="9543957" cy="13451205"/>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dirty="0" err="1">
                    <a:solidFill>
                      <a:schemeClr val="accent2">
                        <a:lumMod val="40000"/>
                        <a:lumOff val="60000"/>
                      </a:schemeClr>
                    </a:solidFill>
                    <a:latin typeface="Cambria Math" panose="02040503050406030204" pitchFamily="18" charset="0"/>
                    <a:ea typeface="Cambria Math" panose="02040503050406030204" pitchFamily="18" charset="0"/>
                  </a:rPr>
                  <a:t>removeAt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index</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 −1</m:t>
                    </m:r>
                  </m:oMath>
                </a14:m>
                <a:r>
                  <a:rPr lang="en-IN" sz="2800" dirty="0">
                    <a:solidFill>
                      <a:schemeClr val="bg1"/>
                    </a:solidFill>
                    <a:latin typeface="Cambria Math" panose="02040503050406030204" pitchFamily="18" charset="0"/>
                    <a:ea typeface="Cambria Math" panose="02040503050406030204" pitchFamily="18" charset="0"/>
                  </a:rPr>
                  <a:t>)*</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bg1"/>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 =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28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r>
                      <a:rPr lang="en-US" sz="2800" i="1">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index</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continue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2800" dirty="0">
                    <a:solidFill>
                      <a:schemeClr val="bg1"/>
                    </a:solidFill>
                    <a:latin typeface="Cambria Math" panose="02040503050406030204" pitchFamily="18" charset="0"/>
                    <a:ea typeface="Cambria Math" panose="02040503050406030204" pitchFamily="18" charset="0"/>
                  </a:rPr>
                  <a:t>= </a:t>
                </a: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a:t>
                </a:r>
                <a:r>
                  <a:rPr lang="en-US"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US"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		p++;</a:t>
                </a: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int A[5] = {1,2,3,4,5};</a:t>
                </a: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2">
                        <a:lumMod val="40000"/>
                        <a:lumOff val="60000"/>
                      </a:schemeClr>
                    </a:solidFill>
                    <a:latin typeface="Cambria Math" panose="02040503050406030204" pitchFamily="18" charset="0"/>
                    <a:ea typeface="Cambria Math" panose="02040503050406030204" pitchFamily="18" charset="0"/>
                  </a:rPr>
                  <a:t>removeAt</a:t>
                </a:r>
                <a:r>
                  <a:rPr lang="en-IN" sz="2800" dirty="0">
                    <a:solidFill>
                      <a:schemeClr val="bg1"/>
                    </a:solidFill>
                    <a:latin typeface="Cambria Math" panose="02040503050406030204" pitchFamily="18" charset="0"/>
                    <a:ea typeface="Cambria Math" panose="02040503050406030204" pitchFamily="18" charset="0"/>
                  </a:rPr>
                  <a:t>(A, 5, 2);</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0;</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a:t>
                </a: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E097F9D9-B439-9315-E8DA-104B174FCB49}"/>
                  </a:ext>
                </a:extLst>
              </p:cNvPr>
              <p:cNvSpPr>
                <a:spLocks noRot="1" noChangeAspect="1" noMove="1" noResize="1" noEditPoints="1" noAdjustHandles="1" noChangeArrowheads="1" noChangeShapeType="1" noTextEdit="1"/>
              </p:cNvSpPr>
              <p:nvPr/>
            </p:nvSpPr>
            <p:spPr>
              <a:xfrm>
                <a:off x="645013" y="133351"/>
                <a:ext cx="9543957" cy="13451205"/>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740292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6" end="1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7" end="1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8" end="1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9" end="1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3E2E2-53C7-FC28-76DC-0526E3FCD6C1}"/>
            </a:ext>
          </a:extLst>
        </p:cNvPr>
        <p:cNvGrpSpPr/>
        <p:nvPr/>
      </p:nvGrpSpPr>
      <p:grpSpPr>
        <a:xfrm>
          <a:off x="0" y="0"/>
          <a:ext cx="0" cy="0"/>
          <a:chOff x="0" y="0"/>
          <a:chExt cx="0" cy="0"/>
        </a:xfrm>
      </p:grpSpPr>
      <p:sp>
        <p:nvSpPr>
          <p:cNvPr id="171" name="Candy: A problem on leetcode">
            <a:extLst>
              <a:ext uri="{FF2B5EF4-FFF2-40B4-BE49-F238E27FC236}">
                <a16:creationId xmlns:a16="http://schemas.microsoft.com/office/drawing/2014/main" id="{0A9AED6F-A1B9-EFDC-CABC-7A037EFAC91C}"/>
              </a:ext>
            </a:extLst>
          </p:cNvPr>
          <p:cNvSpPr/>
          <p:nvPr/>
        </p:nvSpPr>
        <p:spPr>
          <a:xfrm>
            <a:off x="645013" y="1189806"/>
            <a:ext cx="22731560" cy="11470843"/>
          </a:xfrm>
          <a:prstGeom prst="roundRect">
            <a:avLst>
              <a:gd name="adj" fmla="val 1661"/>
            </a:avLst>
          </a:prstGeom>
          <a:noFill/>
          <a:ln w="12700">
            <a:noFill/>
            <a:miter lim="400000"/>
          </a:ln>
          <a:effectLst>
            <a:outerShdw blurRad="355600" dist="114300" rotWithShape="0">
              <a:srgbClr val="000000">
                <a:alpha val="96558"/>
              </a:srgbClr>
            </a:outerShdw>
            <a:reflection stA="50000" endPos="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20000">
                <a:solidFill>
                  <a:srgbClr val="FFFFFF"/>
                </a:solidFill>
                <a:latin typeface="Chalkduster"/>
                <a:ea typeface="Chalkduster"/>
                <a:cs typeface="Chalkduster"/>
                <a:sym typeface="Chalkduster"/>
              </a:defRPr>
            </a:lvl1pPr>
          </a:lstStyle>
          <a:p>
            <a:r>
              <a:rPr lang="en-US" sz="17300" dirty="0">
                <a:latin typeface="Chalkduster" panose="03050602040202020205" pitchFamily="66" charset="77"/>
                <a:cs typeface="Fave Script Bold Pro" panose="020F0502020204030204" pitchFamily="34" charset="0"/>
              </a:rPr>
              <a:t>Structures</a:t>
            </a:r>
            <a:endParaRPr sz="17300" dirty="0">
              <a:latin typeface="Chalkduster" panose="03050602040202020205" pitchFamily="66" charset="77"/>
              <a:cs typeface="Fave Script Bold Pro" panose="020F0502020204030204" pitchFamily="34" charset="0"/>
            </a:endParaRPr>
          </a:p>
        </p:txBody>
      </p:sp>
    </p:spTree>
    <p:extLst>
      <p:ext uri="{BB962C8B-B14F-4D97-AF65-F5344CB8AC3E}">
        <p14:creationId xmlns:p14="http://schemas.microsoft.com/office/powerpoint/2010/main" val="3897578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6BFA3C9-477B-3BE9-3847-12AAE7D7D94F}"/>
              </a:ext>
            </a:extLst>
          </p:cNvPr>
          <p:cNvSpPr/>
          <p:nvPr/>
        </p:nvSpPr>
        <p:spPr>
          <a:xfrm>
            <a:off x="745957" y="1664850"/>
            <a:ext cx="22892085"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dirty="0">
                <a:solidFill>
                  <a:schemeClr val="bg1"/>
                </a:solidFill>
                <a:latin typeface="Bradley Hand" pitchFamily="2" charset="77"/>
              </a:rPr>
              <a:t>Structures are the primitive version of </a:t>
            </a:r>
            <a:r>
              <a:rPr lang="en-US" sz="5400" dirty="0">
                <a:solidFill>
                  <a:schemeClr val="accent3">
                    <a:lumMod val="40000"/>
                    <a:lumOff val="60000"/>
                  </a:schemeClr>
                </a:solidFill>
                <a:latin typeface="Bradley Hand" pitchFamily="2" charset="77"/>
              </a:rPr>
              <a:t>classes </a:t>
            </a:r>
            <a:r>
              <a:rPr lang="en-US" sz="5400" dirty="0">
                <a:solidFill>
                  <a:schemeClr val="bg1"/>
                </a:solidFill>
                <a:latin typeface="Bradley Hand" pitchFamily="2" charset="77"/>
              </a:rPr>
              <a:t>in programming</a:t>
            </a:r>
          </a:p>
        </p:txBody>
      </p:sp>
      <p:sp>
        <p:nvSpPr>
          <p:cNvPr id="3" name="Rounded Rectangle 2">
            <a:extLst>
              <a:ext uri="{FF2B5EF4-FFF2-40B4-BE49-F238E27FC236}">
                <a16:creationId xmlns:a16="http://schemas.microsoft.com/office/drawing/2014/main" id="{96ADC94C-71E6-598A-E08B-133B62374F07}"/>
              </a:ext>
            </a:extLst>
          </p:cNvPr>
          <p:cNvSpPr/>
          <p:nvPr/>
        </p:nvSpPr>
        <p:spPr>
          <a:xfrm>
            <a:off x="745957" y="4058520"/>
            <a:ext cx="9543957" cy="501697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string.h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36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36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975082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14B11-CCF8-A05B-5A82-6FEC7A2A3FC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114E8C82-006C-1382-5DE5-DAC435DCE5B8}"/>
              </a:ext>
            </a:extLst>
          </p:cNvPr>
          <p:cNvSpPr/>
          <p:nvPr/>
        </p:nvSpPr>
        <p:spPr>
          <a:xfrm>
            <a:off x="767222" y="2007765"/>
            <a:ext cx="9312443"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“%s %d %d”,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team</a:t>
            </a:r>
            <a:r>
              <a:rPr lang="en-IN" sz="2800" dirty="0">
                <a:solidFill>
                  <a:schemeClr val="bg1"/>
                </a:solidFill>
                <a:latin typeface="Cambria Math" panose="02040503050406030204" pitchFamily="18" charset="0"/>
                <a:ea typeface="Cambria Math" panose="02040503050406030204" pitchFamily="18" charset="0"/>
              </a:rPr>
              <a:t>[2] =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
        <p:nvSpPr>
          <p:cNvPr id="4" name="Rounded Rectangle 3">
            <a:extLst>
              <a:ext uri="{FF2B5EF4-FFF2-40B4-BE49-F238E27FC236}">
                <a16:creationId xmlns:a16="http://schemas.microsoft.com/office/drawing/2014/main" id="{BFBD7947-B979-6294-18B0-160766F225A8}"/>
              </a:ext>
            </a:extLst>
          </p:cNvPr>
          <p:cNvSpPr/>
          <p:nvPr/>
        </p:nvSpPr>
        <p:spPr>
          <a:xfrm>
            <a:off x="10930270" y="3271089"/>
            <a:ext cx="12944486" cy="65493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Let us try to pass a structure into a function</a:t>
            </a:r>
          </a:p>
          <a:p>
            <a:pPr marL="685800" indent="-685800" defTabSz="825500">
              <a:lnSpc>
                <a:spcPct val="100000"/>
              </a:lnSpc>
              <a:spcBef>
                <a:spcPts val="0"/>
              </a:spcBef>
              <a:buFont typeface="Arial" panose="020B0604020202020204" pitchFamily="34" charset="0"/>
              <a:buChar char="•"/>
            </a:pPr>
            <a:r>
              <a:rPr lang="en-US" sz="5400" dirty="0">
                <a:solidFill>
                  <a:schemeClr val="accent6">
                    <a:lumMod val="40000"/>
                    <a:lumOff val="60000"/>
                  </a:schemeClr>
                </a:solidFill>
                <a:latin typeface="Bradley Hand" pitchFamily="2" charset="77"/>
              </a:rPr>
              <a:t>Again, how should it be passed?</a:t>
            </a:r>
          </a:p>
          <a:p>
            <a:pPr marL="685800" indent="-685800" defTabSz="825500">
              <a:lnSpc>
                <a:spcPct val="100000"/>
              </a:lnSpc>
              <a:spcBef>
                <a:spcPts val="0"/>
              </a:spcBef>
              <a:buFont typeface="Arial" panose="020B0604020202020204" pitchFamily="34" charset="0"/>
              <a:buChar char="•"/>
            </a:pPr>
            <a:r>
              <a:rPr lang="en-US" sz="5400" dirty="0">
                <a:solidFill>
                  <a:schemeClr val="bg1">
                    <a:lumMod val="95000"/>
                  </a:schemeClr>
                </a:solidFill>
                <a:latin typeface="Bradley Hand" pitchFamily="2" charset="77"/>
              </a:rPr>
              <a:t>It makes sense to pass the address of the structure – like we did for arrays</a:t>
            </a:r>
          </a:p>
          <a:p>
            <a:pPr marL="685800" indent="-685800" defTabSz="825500">
              <a:lnSpc>
                <a:spcPct val="100000"/>
              </a:lnSpc>
              <a:spcBef>
                <a:spcPts val="0"/>
              </a:spcBef>
              <a:buFont typeface="Arial" panose="020B0604020202020204" pitchFamily="34" charset="0"/>
              <a:buChar char="•"/>
            </a:pPr>
            <a:r>
              <a:rPr lang="en-US" sz="5400" dirty="0">
                <a:solidFill>
                  <a:schemeClr val="bg1">
                    <a:lumMod val="95000"/>
                  </a:schemeClr>
                </a:solidFill>
                <a:latin typeface="Bradley Hand" pitchFamily="2" charset="77"/>
              </a:rPr>
              <a:t>Unfortunately, that is not what happens</a:t>
            </a:r>
          </a:p>
        </p:txBody>
      </p:sp>
    </p:spTree>
    <p:extLst>
      <p:ext uri="{BB962C8B-B14F-4D97-AF65-F5344CB8AC3E}">
        <p14:creationId xmlns:p14="http://schemas.microsoft.com/office/powerpoint/2010/main" val="27025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4236C05-AB9E-4FB3-23B8-50DC13722935}"/>
              </a:ext>
            </a:extLst>
          </p:cNvPr>
          <p:cNvSpPr/>
          <p:nvPr/>
        </p:nvSpPr>
        <p:spPr>
          <a:xfrm>
            <a:off x="767223" y="2007766"/>
            <a:ext cx="9142322"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string.h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2800">
                <a:solidFill>
                  <a:schemeClr val="bg1"/>
                </a:solidFill>
                <a:latin typeface="Cambria Math" panose="02040503050406030204" pitchFamily="18" charset="0"/>
                <a:ea typeface="Cambria Math" panose="02040503050406030204" pitchFamily="18" charset="0"/>
              </a:rPr>
              <a:t> print(</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a:solidFill>
                  <a:schemeClr val="bg1"/>
                </a:solidFill>
                <a:latin typeface="Cambria Math" panose="02040503050406030204" pitchFamily="18" charset="0"/>
                <a:ea typeface="Cambria Math" panose="02040503050406030204" pitchFamily="18" charset="0"/>
              </a:rPr>
              <a:t>( “%s %d %d”,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print(p1);</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
        <p:nvSpPr>
          <p:cNvPr id="3" name="Rounded Rectangle 2">
            <a:extLst>
              <a:ext uri="{FF2B5EF4-FFF2-40B4-BE49-F238E27FC236}">
                <a16:creationId xmlns:a16="http://schemas.microsoft.com/office/drawing/2014/main" id="{EE214D78-EB5F-2276-6F8B-8CCF9C289F70}"/>
              </a:ext>
            </a:extLst>
          </p:cNvPr>
          <p:cNvSpPr/>
          <p:nvPr/>
        </p:nvSpPr>
        <p:spPr>
          <a:xfrm>
            <a:off x="10930270" y="4190491"/>
            <a:ext cx="12944486"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Changing </a:t>
            </a:r>
            <a:r>
              <a:rPr lang="en-US" sz="5400" dirty="0">
                <a:solidFill>
                  <a:schemeClr val="accent1">
                    <a:lumMod val="40000"/>
                    <a:lumOff val="60000"/>
                  </a:schemeClr>
                </a:solidFill>
                <a:latin typeface="Bradley Hand" pitchFamily="2" charset="77"/>
              </a:rPr>
              <a:t>p </a:t>
            </a:r>
            <a:r>
              <a:rPr lang="en-US" sz="5400" dirty="0">
                <a:solidFill>
                  <a:schemeClr val="bg1"/>
                </a:solidFill>
                <a:latin typeface="Bradley Hand" pitchFamily="2" charset="77"/>
              </a:rPr>
              <a:t>does not change </a:t>
            </a:r>
            <a:r>
              <a:rPr lang="en-US" sz="5400" dirty="0">
                <a:solidFill>
                  <a:schemeClr val="accent1">
                    <a:lumMod val="40000"/>
                    <a:lumOff val="60000"/>
                  </a:schemeClr>
                </a:solidFill>
                <a:latin typeface="Bradley Hand" pitchFamily="2" charset="77"/>
              </a:rPr>
              <a:t>p1</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It will take a huge amount of time just to copy the arguments – making our program slow</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So, we use pointers anyway</a:t>
            </a:r>
          </a:p>
        </p:txBody>
      </p:sp>
    </p:spTree>
    <p:extLst>
      <p:ext uri="{BB962C8B-B14F-4D97-AF65-F5344CB8AC3E}">
        <p14:creationId xmlns:p14="http://schemas.microsoft.com/office/powerpoint/2010/main" val="3175963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FD56-37D5-3194-4FAC-20FA73BE4F6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9CE15B7-944A-17F1-3166-AC3106B87610}"/>
              </a:ext>
            </a:extLst>
          </p:cNvPr>
          <p:cNvSpPr/>
          <p:nvPr/>
        </p:nvSpPr>
        <p:spPr>
          <a:xfrm>
            <a:off x="767223" y="2007766"/>
            <a:ext cx="9142322"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2800" dirty="0">
                <a:solidFill>
                  <a:schemeClr val="bg1"/>
                </a:solidFill>
                <a:latin typeface="Cambria Math" panose="02040503050406030204" pitchFamily="18" charset="0"/>
                <a:ea typeface="Cambria Math" panose="02040503050406030204" pitchFamily="18" charset="0"/>
              </a:rPr>
              <a:t> print(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“%s %d %d”,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err="1">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err="1">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err="1">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print(&amp;p1);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
        <p:nvSpPr>
          <p:cNvPr id="3" name="Rounded Rectangle 2">
            <a:extLst>
              <a:ext uri="{FF2B5EF4-FFF2-40B4-BE49-F238E27FC236}">
                <a16:creationId xmlns:a16="http://schemas.microsoft.com/office/drawing/2014/main" id="{B2693325-74D2-5BC2-13A5-716413D8DF48}"/>
              </a:ext>
            </a:extLst>
          </p:cNvPr>
          <p:cNvSpPr/>
          <p:nvPr/>
        </p:nvSpPr>
        <p:spPr>
          <a:xfrm>
            <a:off x="10930270" y="4190491"/>
            <a:ext cx="12944486"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Changing </a:t>
            </a:r>
            <a:r>
              <a:rPr lang="en-US" sz="5400" dirty="0">
                <a:solidFill>
                  <a:schemeClr val="accent1">
                    <a:lumMod val="40000"/>
                    <a:lumOff val="60000"/>
                  </a:schemeClr>
                </a:solidFill>
                <a:latin typeface="Bradley Hand" pitchFamily="2" charset="77"/>
              </a:rPr>
              <a:t>p </a:t>
            </a:r>
            <a:r>
              <a:rPr lang="en-US" sz="5400" dirty="0">
                <a:solidFill>
                  <a:schemeClr val="bg1"/>
                </a:solidFill>
                <a:latin typeface="Bradley Hand" pitchFamily="2" charset="77"/>
              </a:rPr>
              <a:t>does not change </a:t>
            </a:r>
            <a:r>
              <a:rPr lang="en-US" sz="5400" dirty="0">
                <a:solidFill>
                  <a:schemeClr val="accent1">
                    <a:lumMod val="40000"/>
                    <a:lumOff val="60000"/>
                  </a:schemeClr>
                </a:solidFill>
                <a:latin typeface="Bradley Hand" pitchFamily="2" charset="77"/>
              </a:rPr>
              <a:t>p1</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It will take a huge amount of time just to copy the arguments – making our program slow</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So, we use pointers anyway</a:t>
            </a:r>
          </a:p>
        </p:txBody>
      </p:sp>
    </p:spTree>
    <p:extLst>
      <p:ext uri="{BB962C8B-B14F-4D97-AF65-F5344CB8AC3E}">
        <p14:creationId xmlns:p14="http://schemas.microsoft.com/office/powerpoint/2010/main" val="3963611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56632-89D3-E8F3-2F35-9EC50D0B888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FA6F60CF-2C25-B982-356C-828E06265BE7}"/>
              </a:ext>
            </a:extLst>
          </p:cNvPr>
          <p:cNvSpPr/>
          <p:nvPr/>
        </p:nvSpPr>
        <p:spPr>
          <a:xfrm>
            <a:off x="767222" y="2007766"/>
            <a:ext cx="9729327"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2800" dirty="0">
                <a:solidFill>
                  <a:schemeClr val="bg1"/>
                </a:solidFill>
                <a:latin typeface="Cambria Math" panose="02040503050406030204" pitchFamily="18" charset="0"/>
                <a:ea typeface="Cambria Math" panose="02040503050406030204" pitchFamily="18" charset="0"/>
              </a:rPr>
              <a:t> print(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“%s %d %d”,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-&gt;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-&gt;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-&gt;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print(&amp;p1);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
        <p:nvSpPr>
          <p:cNvPr id="3" name="Rounded Rectangle 2">
            <a:extLst>
              <a:ext uri="{FF2B5EF4-FFF2-40B4-BE49-F238E27FC236}">
                <a16:creationId xmlns:a16="http://schemas.microsoft.com/office/drawing/2014/main" id="{D1AE9F01-E937-794C-BF88-F53FECDDF31F}"/>
              </a:ext>
            </a:extLst>
          </p:cNvPr>
          <p:cNvSpPr/>
          <p:nvPr/>
        </p:nvSpPr>
        <p:spPr>
          <a:xfrm>
            <a:off x="10930270" y="4190491"/>
            <a:ext cx="12944486"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Changing </a:t>
            </a:r>
            <a:r>
              <a:rPr lang="en-US" sz="5400" dirty="0">
                <a:solidFill>
                  <a:schemeClr val="accent1">
                    <a:lumMod val="40000"/>
                    <a:lumOff val="60000"/>
                  </a:schemeClr>
                </a:solidFill>
                <a:latin typeface="Bradley Hand" pitchFamily="2" charset="77"/>
              </a:rPr>
              <a:t>p </a:t>
            </a:r>
            <a:r>
              <a:rPr lang="en-US" sz="5400" dirty="0">
                <a:solidFill>
                  <a:schemeClr val="bg1"/>
                </a:solidFill>
                <a:latin typeface="Bradley Hand" pitchFamily="2" charset="77"/>
              </a:rPr>
              <a:t>does not change </a:t>
            </a:r>
            <a:r>
              <a:rPr lang="en-US" sz="5400" dirty="0">
                <a:solidFill>
                  <a:schemeClr val="accent1">
                    <a:lumMod val="40000"/>
                    <a:lumOff val="60000"/>
                  </a:schemeClr>
                </a:solidFill>
                <a:latin typeface="Bradley Hand" pitchFamily="2" charset="77"/>
              </a:rPr>
              <a:t>p1</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It will take a huge amount of time just to copy the arguments – making our program slow</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So, we use pointers anyway</a:t>
            </a:r>
          </a:p>
        </p:txBody>
      </p:sp>
    </p:spTree>
    <p:extLst>
      <p:ext uri="{BB962C8B-B14F-4D97-AF65-F5344CB8AC3E}">
        <p14:creationId xmlns:p14="http://schemas.microsoft.com/office/powerpoint/2010/main" val="3548572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A7C39CA-AED9-7F03-DC4D-6A8F58FEDDCD}"/>
              </a:ext>
            </a:extLst>
          </p:cNvPr>
          <p:cNvSpPr/>
          <p:nvPr/>
        </p:nvSpPr>
        <p:spPr>
          <a:xfrm>
            <a:off x="1040525" y="1551885"/>
            <a:ext cx="22786935"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a:solidFill>
                  <a:schemeClr val="accent5">
                    <a:lumMod val="40000"/>
                    <a:lumOff val="60000"/>
                  </a:schemeClr>
                </a:solidFill>
                <a:latin typeface="Bradley Hand" pitchFamily="2" charset="77"/>
              </a:rPr>
              <a:t>How to return a structure?</a:t>
            </a:r>
            <a:endParaRPr lang="en-US" sz="5400" dirty="0">
              <a:solidFill>
                <a:schemeClr val="accent5">
                  <a:lumMod val="40000"/>
                  <a:lumOff val="60000"/>
                </a:schemeClr>
              </a:solidFill>
              <a:latin typeface="Bradley Hand" pitchFamily="2" charset="77"/>
            </a:endParaRPr>
          </a:p>
        </p:txBody>
      </p:sp>
      <p:sp>
        <p:nvSpPr>
          <p:cNvPr id="3" name="Rounded Rectangle 2">
            <a:extLst>
              <a:ext uri="{FF2B5EF4-FFF2-40B4-BE49-F238E27FC236}">
                <a16:creationId xmlns:a16="http://schemas.microsoft.com/office/drawing/2014/main" id="{592B05E1-1EA6-20CB-2417-B4947BB92E49}"/>
              </a:ext>
            </a:extLst>
          </p:cNvPr>
          <p:cNvSpPr/>
          <p:nvPr/>
        </p:nvSpPr>
        <p:spPr>
          <a:xfrm>
            <a:off x="798754" y="3499675"/>
            <a:ext cx="9527660" cy="855156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create()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 = { “Ria”, 30,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return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create();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
        <p:nvSpPr>
          <p:cNvPr id="4" name="Rounded Rectangle 3">
            <a:extLst>
              <a:ext uri="{FF2B5EF4-FFF2-40B4-BE49-F238E27FC236}">
                <a16:creationId xmlns:a16="http://schemas.microsoft.com/office/drawing/2014/main" id="{F0B67F05-9F34-4813-EC69-8F827EC66DB3}"/>
              </a:ext>
            </a:extLst>
          </p:cNvPr>
          <p:cNvSpPr/>
          <p:nvPr/>
        </p:nvSpPr>
        <p:spPr>
          <a:xfrm>
            <a:off x="10930270" y="4650192"/>
            <a:ext cx="12944486"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Again, returning a structure takes a huge amount of time</a:t>
            </a:r>
            <a:r>
              <a:rPr lang="en-US" sz="5400" dirty="0">
                <a:solidFill>
                  <a:schemeClr val="accent1">
                    <a:lumMod val="40000"/>
                    <a:lumOff val="60000"/>
                  </a:schemeClr>
                </a:solidFill>
                <a:latin typeface="Bradley Hand" pitchFamily="2" charset="77"/>
              </a:rPr>
              <a:t> </a:t>
            </a:r>
            <a:r>
              <a:rPr lang="en-US" sz="5400" dirty="0">
                <a:solidFill>
                  <a:schemeClr val="bg1"/>
                </a:solidFill>
                <a:latin typeface="Bradley Hand" pitchFamily="2" charset="77"/>
              </a:rPr>
              <a:t>--</a:t>
            </a:r>
            <a:r>
              <a:rPr lang="en-US" sz="5400" dirty="0">
                <a:solidFill>
                  <a:schemeClr val="accent1">
                    <a:lumMod val="40000"/>
                    <a:lumOff val="60000"/>
                  </a:schemeClr>
                </a:solidFill>
                <a:latin typeface="Bradley Hand" pitchFamily="2" charset="77"/>
              </a:rPr>
              <a:t> </a:t>
            </a:r>
            <a:r>
              <a:rPr lang="en-US" sz="5400" dirty="0">
                <a:solidFill>
                  <a:schemeClr val="bg1"/>
                </a:solidFill>
                <a:latin typeface="Bradley Hand" pitchFamily="2" charset="77"/>
              </a:rPr>
              <a:t>making our program slow</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So, we use pointers anyway</a:t>
            </a:r>
          </a:p>
        </p:txBody>
      </p:sp>
    </p:spTree>
    <p:extLst>
      <p:ext uri="{BB962C8B-B14F-4D97-AF65-F5344CB8AC3E}">
        <p14:creationId xmlns:p14="http://schemas.microsoft.com/office/powerpoint/2010/main" val="2289511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EA78B-8D28-C652-F93D-960E8291B5B1}"/>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4906CE0-5202-81E3-CFBF-ECEC521EE9B1}"/>
              </a:ext>
            </a:extLst>
          </p:cNvPr>
          <p:cNvSpPr/>
          <p:nvPr/>
        </p:nvSpPr>
        <p:spPr>
          <a:xfrm>
            <a:off x="1040525" y="1551885"/>
            <a:ext cx="22786935"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a:solidFill>
                  <a:schemeClr val="accent5">
                    <a:lumMod val="40000"/>
                    <a:lumOff val="60000"/>
                  </a:schemeClr>
                </a:solidFill>
                <a:latin typeface="Bradley Hand" pitchFamily="2" charset="77"/>
              </a:rPr>
              <a:t>How to return a structure?</a:t>
            </a:r>
            <a:endParaRPr lang="en-US" sz="5400" dirty="0">
              <a:solidFill>
                <a:schemeClr val="accent5">
                  <a:lumMod val="40000"/>
                  <a:lumOff val="60000"/>
                </a:schemeClr>
              </a:solidFill>
              <a:latin typeface="Bradley Hand" pitchFamily="2" charset="77"/>
            </a:endParaRPr>
          </a:p>
        </p:txBody>
      </p:sp>
      <p:sp>
        <p:nvSpPr>
          <p:cNvPr id="3" name="Rounded Rectangle 2">
            <a:extLst>
              <a:ext uri="{FF2B5EF4-FFF2-40B4-BE49-F238E27FC236}">
                <a16:creationId xmlns:a16="http://schemas.microsoft.com/office/drawing/2014/main" id="{F5D8372F-3259-9845-FB18-9549B59C68E3}"/>
              </a:ext>
            </a:extLst>
          </p:cNvPr>
          <p:cNvSpPr/>
          <p:nvPr/>
        </p:nvSpPr>
        <p:spPr>
          <a:xfrm>
            <a:off x="782988" y="3056996"/>
            <a:ext cx="9527660" cy="1031979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create()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malloc</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-&gt;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-&gt;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-&gt;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return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create();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
        <p:nvSpPr>
          <p:cNvPr id="4" name="Rounded Rectangle 3">
            <a:extLst>
              <a:ext uri="{FF2B5EF4-FFF2-40B4-BE49-F238E27FC236}">
                <a16:creationId xmlns:a16="http://schemas.microsoft.com/office/drawing/2014/main" id="{C0685F25-A373-B28D-F00B-7CFC72038654}"/>
              </a:ext>
            </a:extLst>
          </p:cNvPr>
          <p:cNvSpPr/>
          <p:nvPr/>
        </p:nvSpPr>
        <p:spPr>
          <a:xfrm>
            <a:off x="10930270" y="4650192"/>
            <a:ext cx="12944486"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Again, returning a structure takes a huge amount of time</a:t>
            </a:r>
            <a:r>
              <a:rPr lang="en-US" sz="5400" dirty="0">
                <a:solidFill>
                  <a:schemeClr val="accent1">
                    <a:lumMod val="40000"/>
                    <a:lumOff val="60000"/>
                  </a:schemeClr>
                </a:solidFill>
                <a:latin typeface="Bradley Hand" pitchFamily="2" charset="77"/>
              </a:rPr>
              <a:t> </a:t>
            </a:r>
            <a:r>
              <a:rPr lang="en-US" sz="5400" dirty="0">
                <a:solidFill>
                  <a:schemeClr val="bg1"/>
                </a:solidFill>
                <a:latin typeface="Bradley Hand" pitchFamily="2" charset="77"/>
              </a:rPr>
              <a:t>--</a:t>
            </a:r>
            <a:r>
              <a:rPr lang="en-US" sz="5400" dirty="0">
                <a:solidFill>
                  <a:schemeClr val="accent1">
                    <a:lumMod val="40000"/>
                    <a:lumOff val="60000"/>
                  </a:schemeClr>
                </a:solidFill>
                <a:latin typeface="Bradley Hand" pitchFamily="2" charset="77"/>
              </a:rPr>
              <a:t> </a:t>
            </a:r>
            <a:r>
              <a:rPr lang="en-US" sz="5400" dirty="0">
                <a:solidFill>
                  <a:schemeClr val="bg1"/>
                </a:solidFill>
                <a:latin typeface="Bradley Hand" pitchFamily="2" charset="77"/>
              </a:rPr>
              <a:t>making our program slow</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So, we use pointers anyway</a:t>
            </a:r>
          </a:p>
        </p:txBody>
      </p:sp>
    </p:spTree>
    <p:extLst>
      <p:ext uri="{BB962C8B-B14F-4D97-AF65-F5344CB8AC3E}">
        <p14:creationId xmlns:p14="http://schemas.microsoft.com/office/powerpoint/2010/main" val="433796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D3DF-C0CF-94CD-EF6E-6EAD62531FF4}"/>
            </a:ext>
          </a:extLst>
        </p:cNvPr>
        <p:cNvGrpSpPr/>
        <p:nvPr/>
      </p:nvGrpSpPr>
      <p:grpSpPr>
        <a:xfrm>
          <a:off x="0" y="0"/>
          <a:ext cx="0" cy="0"/>
          <a:chOff x="0" y="0"/>
          <a:chExt cx="0" cy="0"/>
        </a:xfrm>
      </p:grpSpPr>
      <p:sp>
        <p:nvSpPr>
          <p:cNvPr id="171" name="Candy: A problem on leetcode">
            <a:extLst>
              <a:ext uri="{FF2B5EF4-FFF2-40B4-BE49-F238E27FC236}">
                <a16:creationId xmlns:a16="http://schemas.microsoft.com/office/drawing/2014/main" id="{FB0F07C0-FD25-0DE3-7227-B8E790E0582F}"/>
              </a:ext>
            </a:extLst>
          </p:cNvPr>
          <p:cNvSpPr/>
          <p:nvPr/>
        </p:nvSpPr>
        <p:spPr>
          <a:xfrm>
            <a:off x="645013" y="1189806"/>
            <a:ext cx="22731560" cy="11470843"/>
          </a:xfrm>
          <a:prstGeom prst="roundRect">
            <a:avLst>
              <a:gd name="adj" fmla="val 1661"/>
            </a:avLst>
          </a:prstGeom>
          <a:noFill/>
          <a:ln w="12700">
            <a:noFill/>
            <a:miter lim="400000"/>
          </a:ln>
          <a:effectLst>
            <a:outerShdw blurRad="355600" dist="114300" rotWithShape="0">
              <a:srgbClr val="000000">
                <a:alpha val="96558"/>
              </a:srgbClr>
            </a:outerShdw>
            <a:reflection stA="50000" endPos="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20000">
                <a:solidFill>
                  <a:srgbClr val="FFFFFF"/>
                </a:solidFill>
                <a:latin typeface="Chalkduster"/>
                <a:ea typeface="Chalkduster"/>
                <a:cs typeface="Chalkduster"/>
                <a:sym typeface="Chalkduster"/>
              </a:defRPr>
            </a:lvl1pPr>
          </a:lstStyle>
          <a:p>
            <a:r>
              <a:rPr lang="en-US" sz="17300" dirty="0">
                <a:latin typeface="Chalkduster" panose="03050602040202020205" pitchFamily="66" charset="77"/>
                <a:cs typeface="Fave Script Bold Pro" panose="020F0502020204030204" pitchFamily="34" charset="0"/>
              </a:rPr>
              <a:t>Array of Structures</a:t>
            </a:r>
            <a:endParaRPr sz="17300" dirty="0">
              <a:latin typeface="Chalkduster" panose="03050602040202020205" pitchFamily="66" charset="77"/>
              <a:cs typeface="Fave Script Bold Pro" panose="020F0502020204030204" pitchFamily="34" charset="0"/>
            </a:endParaRPr>
          </a:p>
        </p:txBody>
      </p:sp>
    </p:spTree>
    <p:extLst>
      <p:ext uri="{BB962C8B-B14F-4D97-AF65-F5344CB8AC3E}">
        <p14:creationId xmlns:p14="http://schemas.microsoft.com/office/powerpoint/2010/main" val="3635839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B8D478F-10FF-A1C2-B1BF-BDC828C5C47B}"/>
              </a:ext>
            </a:extLst>
          </p:cNvPr>
          <p:cNvSpPr/>
          <p:nvPr/>
        </p:nvSpPr>
        <p:spPr>
          <a:xfrm>
            <a:off x="767222" y="2007765"/>
            <a:ext cx="9312443"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“%s %d %d”,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team</a:t>
            </a:r>
            <a:r>
              <a:rPr lang="en-IN" sz="2800" dirty="0">
                <a:solidFill>
                  <a:schemeClr val="bg1"/>
                </a:solidFill>
                <a:latin typeface="Cambria Math" panose="02040503050406030204" pitchFamily="18" charset="0"/>
                <a:ea typeface="Cambria Math" panose="02040503050406030204" pitchFamily="18" charset="0"/>
              </a:rPr>
              <a:t>[2] =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778743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E09E852-933A-7B2F-162C-7559F92FC19B}"/>
              </a:ext>
            </a:extLst>
          </p:cNvPr>
          <p:cNvSpPr/>
          <p:nvPr/>
        </p:nvSpPr>
        <p:spPr>
          <a:xfrm>
            <a:off x="745956" y="658903"/>
            <a:ext cx="22892085"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program that maintains the information about its employees with the following operations. The information is stored dynamically in an array of structures. The input will contain multiple lines of the following form:</a:t>
            </a:r>
          </a:p>
        </p:txBody>
      </p:sp>
      <p:sp>
        <p:nvSpPr>
          <p:cNvPr id="3" name="Rounded Rectangle 2">
            <a:extLst>
              <a:ext uri="{FF2B5EF4-FFF2-40B4-BE49-F238E27FC236}">
                <a16:creationId xmlns:a16="http://schemas.microsoft.com/office/drawing/2014/main" id="{336E8A98-C0B4-3658-1DE2-FE68C0F7AD52}"/>
              </a:ext>
            </a:extLst>
          </p:cNvPr>
          <p:cNvSpPr/>
          <p:nvPr/>
        </p:nvSpPr>
        <p:spPr>
          <a:xfrm>
            <a:off x="745957" y="5127445"/>
            <a:ext cx="5654843"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0</a:t>
            </a:r>
          </a:p>
          <a:p>
            <a:pPr defTabSz="825500">
              <a:lnSpc>
                <a:spcPct val="100000"/>
              </a:lnSpc>
              <a:spcBef>
                <a:spcPts val="0"/>
              </a:spcBef>
            </a:pPr>
            <a:r>
              <a:rPr lang="en-US" sz="5400" dirty="0">
                <a:solidFill>
                  <a:schemeClr val="bg1"/>
                </a:solidFill>
                <a:latin typeface="Bradley Hand" pitchFamily="2" charset="77"/>
              </a:rPr>
              <a:t>Rahul</a:t>
            </a:r>
          </a:p>
        </p:txBody>
      </p:sp>
      <p:sp>
        <p:nvSpPr>
          <p:cNvPr id="4" name="Rounded Rectangle 3">
            <a:extLst>
              <a:ext uri="{FF2B5EF4-FFF2-40B4-BE49-F238E27FC236}">
                <a16:creationId xmlns:a16="http://schemas.microsoft.com/office/drawing/2014/main" id="{CC0A13C1-2523-914B-E2D3-F08A727C0239}"/>
              </a:ext>
            </a:extLst>
          </p:cNvPr>
          <p:cNvSpPr/>
          <p:nvPr/>
        </p:nvSpPr>
        <p:spPr>
          <a:xfrm>
            <a:off x="745956" y="7313681"/>
            <a:ext cx="5799223"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1</a:t>
            </a:r>
          </a:p>
          <a:p>
            <a:pPr defTabSz="825500">
              <a:lnSpc>
                <a:spcPct val="100000"/>
              </a:lnSpc>
              <a:spcBef>
                <a:spcPts val="0"/>
              </a:spcBef>
            </a:pPr>
            <a:r>
              <a:rPr lang="en-US" sz="5400" dirty="0">
                <a:solidFill>
                  <a:schemeClr val="bg1"/>
                </a:solidFill>
                <a:latin typeface="Bradley Hand" pitchFamily="2" charset="77"/>
              </a:rPr>
              <a:t>5</a:t>
            </a:r>
          </a:p>
        </p:txBody>
      </p:sp>
      <p:sp>
        <p:nvSpPr>
          <p:cNvPr id="5" name="Rounded Rectangle 4">
            <a:extLst>
              <a:ext uri="{FF2B5EF4-FFF2-40B4-BE49-F238E27FC236}">
                <a16:creationId xmlns:a16="http://schemas.microsoft.com/office/drawing/2014/main" id="{5724A93D-92A1-59F9-6EFA-0BC865567BF7}"/>
              </a:ext>
            </a:extLst>
          </p:cNvPr>
          <p:cNvSpPr/>
          <p:nvPr/>
        </p:nvSpPr>
        <p:spPr>
          <a:xfrm>
            <a:off x="7587915" y="5451266"/>
            <a:ext cx="12192001"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Adds Rahul to your record</a:t>
            </a:r>
          </a:p>
        </p:txBody>
      </p:sp>
      <p:sp>
        <p:nvSpPr>
          <p:cNvPr id="6" name="Rounded Rectangle 5">
            <a:extLst>
              <a:ext uri="{FF2B5EF4-FFF2-40B4-BE49-F238E27FC236}">
                <a16:creationId xmlns:a16="http://schemas.microsoft.com/office/drawing/2014/main" id="{5BB68588-B9FC-21C8-6E98-396BB455B81C}"/>
              </a:ext>
            </a:extLst>
          </p:cNvPr>
          <p:cNvSpPr/>
          <p:nvPr/>
        </p:nvSpPr>
        <p:spPr>
          <a:xfrm>
            <a:off x="7587915" y="7773381"/>
            <a:ext cx="16395032"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Remove the person from index 5 from your record</a:t>
            </a:r>
          </a:p>
        </p:txBody>
      </p:sp>
      <p:sp>
        <p:nvSpPr>
          <p:cNvPr id="7" name="Rounded Rectangle 6">
            <a:extLst>
              <a:ext uri="{FF2B5EF4-FFF2-40B4-BE49-F238E27FC236}">
                <a16:creationId xmlns:a16="http://schemas.microsoft.com/office/drawing/2014/main" id="{861D6992-A641-9576-03BA-636F5FE0E105}"/>
              </a:ext>
            </a:extLst>
          </p:cNvPr>
          <p:cNvSpPr/>
          <p:nvPr/>
        </p:nvSpPr>
        <p:spPr>
          <a:xfrm>
            <a:off x="745955" y="10555197"/>
            <a:ext cx="5799223"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-1</a:t>
            </a:r>
          </a:p>
        </p:txBody>
      </p:sp>
      <p:sp>
        <p:nvSpPr>
          <p:cNvPr id="8" name="Rounded Rectangle 7">
            <a:extLst>
              <a:ext uri="{FF2B5EF4-FFF2-40B4-BE49-F238E27FC236}">
                <a16:creationId xmlns:a16="http://schemas.microsoft.com/office/drawing/2014/main" id="{3C43F185-B031-056D-EC3F-C0953C537B85}"/>
              </a:ext>
            </a:extLst>
          </p:cNvPr>
          <p:cNvSpPr/>
          <p:nvPr/>
        </p:nvSpPr>
        <p:spPr>
          <a:xfrm>
            <a:off x="7587915" y="10095496"/>
            <a:ext cx="16395032"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Stop the program and print the names of all the employees separated by a space</a:t>
            </a:r>
          </a:p>
        </p:txBody>
      </p:sp>
    </p:spTree>
    <p:extLst>
      <p:ext uri="{BB962C8B-B14F-4D97-AF65-F5344CB8AC3E}">
        <p14:creationId xmlns:p14="http://schemas.microsoft.com/office/powerpoint/2010/main" val="3904950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40E03106-B936-F719-C8EF-2A72B1CC9194}"/>
                  </a:ext>
                </a:extLst>
              </p:cNvPr>
              <p:cNvSpPr/>
              <p:nvPr/>
            </p:nvSpPr>
            <p:spPr>
              <a:xfrm>
                <a:off x="645013" y="179363"/>
                <a:ext cx="9543957" cy="13359194"/>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 0,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2800" dirty="0">
                    <a:solidFill>
                      <a:schemeClr val="bg1"/>
                    </a:solidFill>
                    <a:latin typeface="Cambria Math" panose="02040503050406030204" pitchFamily="18" charset="0"/>
                    <a:ea typeface="Cambria Math" panose="02040503050406030204" pitchFamily="18" charset="0"/>
                  </a:rPr>
                  <a:t> (1)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scanf</a:t>
                </a:r>
                <a:r>
                  <a:rPr lang="en-IN" sz="2800" dirty="0">
                    <a:solidFill>
                      <a:schemeClr val="bg1"/>
                    </a:solidFill>
                    <a:latin typeface="Cambria Math" panose="02040503050406030204" pitchFamily="18" charset="0"/>
                    <a:ea typeface="Cambria Math" panose="02040503050406030204" pitchFamily="18" charset="0"/>
                  </a:rPr>
                  <a:t>( “%d”, &amp;</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if</a:t>
                </a:r>
                <a:r>
                  <a:rPr lang="en-IN" sz="2800" dirty="0">
                    <a:solidFill>
                      <a:schemeClr val="bg1"/>
                    </a:solidFill>
                    <a:latin typeface="Cambria Math" panose="02040503050406030204" pitchFamily="18" charset="0"/>
                    <a:ea typeface="Cambria Math" panose="02040503050406030204" pitchFamily="18" charset="0"/>
                  </a:rPr>
                  <a:t> (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 == -1)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break</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if</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scanf</a:t>
                </a:r>
                <a:r>
                  <a:rPr lang="en-IN" sz="2800" dirty="0">
                    <a:solidFill>
                      <a:schemeClr val="bg1"/>
                    </a:solidFill>
                    <a:latin typeface="Cambria Math" panose="02040503050406030204" pitchFamily="18" charset="0"/>
                    <a:ea typeface="Cambria Math" panose="02040503050406030204" pitchFamily="18" charset="0"/>
                  </a:rPr>
                  <a:t>( “%s</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if</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“Program failed”);</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break;</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0;</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a:t>
                </a: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40E03106-B936-F719-C8EF-2A72B1CC9194}"/>
                  </a:ext>
                </a:extLst>
              </p:cNvPr>
              <p:cNvSpPr>
                <a:spLocks noRot="1" noChangeAspect="1" noMove="1" noResize="1" noEditPoints="1" noAdjustHandles="1" noChangeArrowheads="1" noChangeShapeType="1" noTextEdit="1"/>
              </p:cNvSpPr>
              <p:nvPr/>
            </p:nvSpPr>
            <p:spPr>
              <a:xfrm>
                <a:off x="645013" y="179363"/>
                <a:ext cx="9543957" cy="13359194"/>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E613DEC8-7ED2-E34A-E69F-6F2C99605C63}"/>
                  </a:ext>
                </a:extLst>
              </p:cNvPr>
              <p:cNvSpPr/>
              <p:nvPr/>
            </p:nvSpPr>
            <p:spPr>
              <a:xfrm>
                <a:off x="11905568" y="2288467"/>
                <a:ext cx="11226806" cy="869457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2800" dirty="0">
                    <a:solidFill>
                      <a:schemeClr val="bg1"/>
                    </a:solidFill>
                    <a:latin typeface="Cambria Math" panose="02040503050406030204" pitchFamily="18" charset="0"/>
                    <a:ea typeface="Cambria Math" panose="02040503050406030204" pitchFamily="18" charset="0"/>
                  </a:rPr>
                  <a:t>+1)*</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bg1"/>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28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2800" i="1" smtClean="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 </a:t>
                </a: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US"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US" sz="2800" dirty="0">
                    <a:solidFill>
                      <a:schemeClr val="bg1"/>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dirty="0">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4" name="Rounded Rectangle 3">
                <a:extLst>
                  <a:ext uri="{FF2B5EF4-FFF2-40B4-BE49-F238E27FC236}">
                    <a16:creationId xmlns:a16="http://schemas.microsoft.com/office/drawing/2014/main" id="{E613DEC8-7ED2-E34A-E69F-6F2C99605C63}"/>
                  </a:ext>
                </a:extLst>
              </p:cNvPr>
              <p:cNvSpPr>
                <a:spLocks noRot="1" noChangeAspect="1" noMove="1" noResize="1" noEditPoints="1" noAdjustHandles="1" noChangeArrowheads="1" noChangeShapeType="1" noTextEdit="1"/>
              </p:cNvSpPr>
              <p:nvPr/>
            </p:nvSpPr>
            <p:spPr>
              <a:xfrm>
                <a:off x="11905568" y="2288467"/>
                <a:ext cx="11226806" cy="8694579"/>
              </a:xfrm>
              <a:prstGeom prst="roundRect">
                <a:avLst/>
              </a:prstGeom>
              <a:blipFill>
                <a:blip r:embed="rId3"/>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362748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16787</TotalTime>
  <Words>4877</Words>
  <Application>Microsoft Macintosh PowerPoint</Application>
  <PresentationFormat>Custom</PresentationFormat>
  <Paragraphs>796</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Bradley Hand</vt:lpstr>
      <vt:lpstr>Cambria Math</vt:lpstr>
      <vt:lpstr>Chalkduster</vt:lpstr>
      <vt:lpstr>Helvetica Neue</vt:lpstr>
      <vt:lpstr>Helvetica Neue Medium</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Manoj Gupta</cp:lastModifiedBy>
  <cp:revision>1134</cp:revision>
  <dcterms:modified xsi:type="dcterms:W3CDTF">2026-09-11T03:49:08Z</dcterms:modified>
</cp:coreProperties>
</file>